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0:00-0:01
FACILITATOR: Welcome participants and set the promise: this is a build-along, not a product lecture. By the end of the hour, the room will have converted a source document into a Copilot Studio solution and tested the resulting agent.
SAY: For this workshop, RAPP means the guided Documents to Copilot Studio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0:01-0:02
FACILITATOR: Read the four outcomes. Ask participants to keep one source document and one target environment in mind.
SUCCESS: Every participant can name the input, the two generated solution twins, and the target deployment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0:02-0:04
FACILITATOR: Walk the timeline quickly. Protect the MVP, deploy, and test blocks; compress the opening explanation if the room is late.
TIP: Pair participants so one drives while one reads the source and checks the generated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0:04-0:07
FACILITATOR: Position RAPP as an accelerator that feeds the Microsoft ecosystem. The broader platform can translate into multiple destinations; this hour intentionally narrows the path to Copilot Studio.
SAY: We are preserving portability: agent logic and packages can be reviewed and shared instead of being trapped in a single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0:07-0:10
FACILITATOR: Introduce the five steps and point out the three human decision gates. Participants can navigate back to completed steps; future steps stay locked until reached.
CHECK: Ask the room which step prevents a poor interpretation from becoming an agent. Expected answer: the MVP confirmation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0:10-0:15
FACILITATOR: Read the transcript excerpt. Ask participants to identify the user, problem, desired outcome, and guardrail. Use this same scenario for the demonstration so the room sees one complete thread from input to deployed agent.
PARTICIPANT: If using their own case, rewrite it into this same shape before continuing.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0:15-0:18
FACILITATOR: Answer the common input question precisely. Narrative can arrive in many supported document formats, but the current workshop uploader does not accept PNG or JPG directly. Convert image-only notes with OCR or place the recognized text into PDF or DOCX.
DATA: Uploaded content is processed by Azure OpenAI and screened by Azure AI Content Safety. Participants must use only information they are permitted to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0:18-0:21
FACILITATOR: Ask everyone to sign in. Generation requires a signed-in Entra ID account. Deployment also requires access to an operator-tenant Dataverse environment.
WATCH FOR: Popup blocking, signing into the wrong tenant, or no maker role. Pair a blocked participant with a working driver while the facilitator resolves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0:21-0:26
FACILITATOR: Have participants upload the scenario transcript and any supporting evidence. The solution name is optional; if omitted, RAPP names it from the MVP.
DO: Ask participants to say what each file contributes. Remove anything that does not help the MVP.
DATA NOTICE: Files are sent to Azure OpenAI for capability identification and screened by Azure AI Content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0:26-0:34
FACILITATOR: Pause the room. Have one participant read the derived MVP aloud. Compare it with the source scenario and edit anything inaccurate. Use Re-derive only when the source changed materially.
DECISION: Confirm only when the MVP names the user, problem, priority capabilities, and safety boundary. The confirmed title and statement anchor capability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0:34-0:39
FACILITATOR: Start generation and narrate the progress stages: capability distillation, one portable agent file per capability, and Copilot Studio solution packaging.
WATCH FOR: A capability count that is too high usually means the source contains future-state ideas. Return to the MVP and narrow it rather than accepting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0:39-0:44
FACILITATOR: Compare the twins. The demo twin uses synthetic data and zero connections so it can be tested immediately. The live prototype carries real connector steps and may require connection-reference binding after import.
DECISION: Review capability names, source systems, write actions, and generated files. Do not proceed if the generated scope does not match the confirmed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0:44-0:52
FACILITATOR: Use the signed-in account, list environments, and select the workshop target. RAPP imports live first and demo second because Dataverse handles one solution import at a time.
DEFAULT: Leave Publish unchecked for a review-first workshop. After import, open the target environment in Copilot Studio. If live flows show pending connections, bind connection references and activate the flows; the demo twin remains available meanwhile.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0:52-0:56
FACILITATOR: Test one happy path, one edge case, and one unknown value. Score the agent against the confirmed MVP, not against every future idea.
REFINE: If behavior is wrong, fix the source evidence or MVP statement, regenerate, and retest. Capture observations and a pass, fail, or mixed verdict if debug telemetry is enabled.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0:56-0:58
FACILITATOR: Reinforce the three gates. RAPP accelerates prototyping; it does not remove responsibility for data permission, factual review, security, connection governance, or publication approval.
SAY: A fast prototype is valuable because it creates evidence sooner - not because it skips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0:58-1:00
FACILITATOR: Pair participants. Each person gets 90 seconds: name the five steps, show one artifact, and name the next change. Close by checking the definition of done.
CAPTURE: Ask for one sentence of feedback: What made the process feel fast, and where did confidence 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Thank the room. Remind participants that the workshop output is a prototype and evidence package, not an automatic production approval. Point facilitators to the appendix for the BOM, pre-survey, pilot handoffs, troubleshooting, and quick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PREP: Run the exact scenario end to end before the session. Confirm account access, environment discovery, generation, import, Copilot Studio test, and fallback artifacts. Keep a clean demo twin ZIP ready so the workshop can continue during a service or permission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COPY/PASTE SURVEY:
1. What business problem should the agent solve?
2. Who uses the process today?
3. What happens from trigger to outcome?
4. What are the top one to three capabilities?
5. Which systems or approved knowledge are involved?
6. What sanitized sample file can you safely provide, and what is its data classification?
7. What one measurable signal means the prototype worked?
8. Will attendees have Copilot Studio maker access to the target environment?
Use responses to select one scenario; do not turn the survey into a second discovery 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PILOT COORDINATION: Treat this as a proposed division of labor and confirm it with pilot leadership. Share a distilled RAPP module so partners do not repeat the mechanics of source upload, MVP confirmation, generation, deployment, or test. RAPP should consume the confirmed scenario produced by discovery, then hand prototype evidence to delivery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Use the three-minute rule. If a blocker cannot be fixed quickly, pair the participant or switch to the prebuilt demo twin. Keep debug telemetry enabled for runs that need diagnosis and export the self-contained test case after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OR EXPORT: This slide is the participant one-page reference. Pair it with the scenario source and the pre-session survey. The quality check is the minimum evidence expected from a completed workshop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sv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3" Type="http://schemas.openxmlformats.org/officeDocument/2006/relationships/hyperlink" Target="https://aka.ms/rappinstall" TargetMode="External"/><Relationship Id="rId4" Type="http://schemas.openxmlformats.org/officeDocument/2006/relationships/hyperlink" Target="https://blazingbeard.github.io/quests/rapp-brainstem.html" TargetMode="External"/><Relationship Id="rId1" Type="http://schemas.openxmlformats.org/officeDocument/2006/relationships/image" Target="../media/image-17-1.png"/><Relationship Id="rId2" Type="http://schemas.openxmlformats.org/officeDocument/2006/relationships/image" Target="../media/image-17-2.sv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0" y="0"/>
            <a:ext cx="12191695" cy="6858000"/>
          </a:xfrm>
          <a:prstGeom prst="rect">
            <a:avLst/>
          </a:prstGeom>
        </p:spPr>
      </p:pic>
      <p:sp>
        <p:nvSpPr>
          <p:cNvPr id="3" name="Shape 0"/>
          <p:cNvSpPr/>
          <p:nvPr/>
        </p:nvSpPr>
        <p:spPr>
          <a:xfrm>
            <a:off x="11201400" y="420624"/>
            <a:ext cx="96012" cy="96012"/>
          </a:xfrm>
          <a:prstGeom prst="rect">
            <a:avLst/>
          </a:prstGeom>
          <a:solidFill>
            <a:srgbClr val="F25022"/>
          </a:solidFill>
          <a:ln w="12700">
            <a:solidFill>
              <a:srgbClr val="F25022">
                <a:alpha val="0"/>
              </a:srgbClr>
            </a:solidFill>
            <a:prstDash val="solid"/>
          </a:ln>
        </p:spPr>
      </p:sp>
      <p:sp>
        <p:nvSpPr>
          <p:cNvPr id="4" name="Shape 1"/>
          <p:cNvSpPr/>
          <p:nvPr/>
        </p:nvSpPr>
        <p:spPr>
          <a:xfrm>
            <a:off x="11314694" y="420624"/>
            <a:ext cx="96012" cy="96012"/>
          </a:xfrm>
          <a:prstGeom prst="rect">
            <a:avLst/>
          </a:prstGeom>
          <a:solidFill>
            <a:srgbClr val="7FBA00"/>
          </a:solidFill>
          <a:ln w="12700">
            <a:solidFill>
              <a:srgbClr val="7FBA00">
                <a:alpha val="0"/>
              </a:srgbClr>
            </a:solidFill>
            <a:prstDash val="solid"/>
          </a:ln>
        </p:spPr>
      </p:sp>
      <p:sp>
        <p:nvSpPr>
          <p:cNvPr id="5" name="Shape 2"/>
          <p:cNvSpPr/>
          <p:nvPr/>
        </p:nvSpPr>
        <p:spPr>
          <a:xfrm>
            <a:off x="11201400" y="533918"/>
            <a:ext cx="96012" cy="96012"/>
          </a:xfrm>
          <a:prstGeom prst="rect">
            <a:avLst/>
          </a:prstGeom>
          <a:solidFill>
            <a:srgbClr val="00A4EF"/>
          </a:solidFill>
          <a:ln w="12700">
            <a:solidFill>
              <a:srgbClr val="00A4EF">
                <a:alpha val="0"/>
              </a:srgbClr>
            </a:solidFill>
            <a:prstDash val="solid"/>
          </a:ln>
        </p:spPr>
      </p:sp>
      <p:sp>
        <p:nvSpPr>
          <p:cNvPr id="6" name="Shape 3"/>
          <p:cNvSpPr/>
          <p:nvPr/>
        </p:nvSpPr>
        <p:spPr>
          <a:xfrm>
            <a:off x="11314694" y="533918"/>
            <a:ext cx="96012" cy="96012"/>
          </a:xfrm>
          <a:prstGeom prst="rect">
            <a:avLst/>
          </a:prstGeom>
          <a:solidFill>
            <a:srgbClr val="FFB900"/>
          </a:solidFill>
          <a:ln w="12700">
            <a:solidFill>
              <a:srgbClr val="FFB900">
                <a:alpha val="0"/>
              </a:srgbClr>
            </a:solidFill>
            <a:prstDash val="solid"/>
          </a:ln>
        </p:spPr>
      </p:sp>
      <p:sp>
        <p:nvSpPr>
          <p:cNvPr id="7" name="Text 4"/>
          <p:cNvSpPr/>
          <p:nvPr/>
        </p:nvSpPr>
        <p:spPr>
          <a:xfrm>
            <a:off x="713232" y="530352"/>
            <a:ext cx="2926080" cy="182880"/>
          </a:xfrm>
          <a:prstGeom prst="rect">
            <a:avLst/>
          </a:prstGeom>
          <a:noFill/>
          <a:ln/>
        </p:spPr>
        <p:txBody>
          <a:bodyPr wrap="square" lIns="0" tIns="0" rIns="0" bIns="0" rtlCol="0" anchor="ctr"/>
          <a:lstStyle/>
          <a:p>
            <a:pPr indent="0" marL="0">
              <a:buNone/>
            </a:pPr>
            <a:r>
              <a:rPr lang="en-US" sz="950" spc="110" kern="0" dirty="0">
                <a:solidFill>
                  <a:srgbClr val="BFE6FF"/>
                </a:solidFill>
                <a:latin typeface="Segoe UI Semibold" pitchFamily="34" charset="0"/>
                <a:ea typeface="Segoe UI Semibold" pitchFamily="34" charset="-122"/>
                <a:cs typeface="Segoe UI Semibold" pitchFamily="34" charset="-120"/>
              </a:rPr>
              <a:t>MICROSOFT  |  MCAPS AIBAST</a:t>
            </a:r>
            <a:endParaRPr lang="en-US" sz="950" dirty="0"/>
          </a:p>
        </p:txBody>
      </p:sp>
      <p:sp>
        <p:nvSpPr>
          <p:cNvPr id="8" name="Text 5"/>
          <p:cNvSpPr/>
          <p:nvPr/>
        </p:nvSpPr>
        <p:spPr>
          <a:xfrm>
            <a:off x="713232" y="1298448"/>
            <a:ext cx="6400800" cy="141732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Segoe UI Semibold" pitchFamily="34" charset="0"/>
                <a:ea typeface="Segoe UI Semibold" pitchFamily="34" charset="-122"/>
                <a:cs typeface="Segoe UI Semibold" pitchFamily="34" charset="-120"/>
              </a:rPr>
              <a:t>FY27 RAPP</a:t>
            </a:r>
            <a:endParaRPr lang="en-US" sz="3500" dirty="0"/>
          </a:p>
          <a:p>
            <a:pPr indent="0" marL="0">
              <a:buNone/>
            </a:pPr>
            <a:r>
              <a:rPr lang="en-US" sz="3500" b="1" dirty="0">
                <a:solidFill>
                  <a:srgbClr val="FFFFFF"/>
                </a:solidFill>
                <a:latin typeface="Segoe UI Semibold" pitchFamily="34" charset="0"/>
                <a:ea typeface="Segoe UI Semibold" pitchFamily="34" charset="-122"/>
                <a:cs typeface="Segoe UI Semibold" pitchFamily="34" charset="-120"/>
              </a:rPr>
              <a:t>Workshop</a:t>
            </a:r>
            <a:endParaRPr lang="en-US" sz="3500" dirty="0"/>
          </a:p>
        </p:txBody>
      </p:sp>
      <p:sp>
        <p:nvSpPr>
          <p:cNvPr id="9" name="Text 6"/>
          <p:cNvSpPr/>
          <p:nvPr/>
        </p:nvSpPr>
        <p:spPr>
          <a:xfrm>
            <a:off x="731520" y="2880360"/>
            <a:ext cx="5760720" cy="438912"/>
          </a:xfrm>
          <a:prstGeom prst="rect">
            <a:avLst/>
          </a:prstGeom>
          <a:noFill/>
          <a:ln/>
        </p:spPr>
        <p:txBody>
          <a:bodyPr wrap="square" lIns="0" tIns="0" rIns="0" bIns="0" rtlCol="0" anchor="ctr"/>
          <a:lstStyle/>
          <a:p>
            <a:pPr indent="0" marL="0">
              <a:buNone/>
            </a:pPr>
            <a:r>
              <a:rPr lang="en-US" sz="2000" b="1" dirty="0">
                <a:solidFill>
                  <a:srgbClr val="50E6FF"/>
                </a:solidFill>
                <a:latin typeface="Segoe UI Semibold" pitchFamily="34" charset="0"/>
                <a:ea typeface="Segoe UI Semibold" pitchFamily="34" charset="-122"/>
                <a:cs typeface="Segoe UI Semibold" pitchFamily="34" charset="-120"/>
              </a:rPr>
              <a:t>Documents → Copilot Studio in 60 minutes</a:t>
            </a:r>
            <a:endParaRPr lang="en-US" sz="2000" dirty="0"/>
          </a:p>
        </p:txBody>
      </p:sp>
      <p:sp>
        <p:nvSpPr>
          <p:cNvPr id="10" name="Text 7"/>
          <p:cNvSpPr/>
          <p:nvPr/>
        </p:nvSpPr>
        <p:spPr>
          <a:xfrm>
            <a:off x="731520" y="3493008"/>
            <a:ext cx="6217920" cy="786384"/>
          </a:xfrm>
          <a:prstGeom prst="rect">
            <a:avLst/>
          </a:prstGeom>
          <a:noFill/>
          <a:ln/>
        </p:spPr>
        <p:txBody>
          <a:bodyPr wrap="square" lIns="0" tIns="0" rIns="0" bIns="0" rtlCol="0" anchor="ctr">
            <a:normAutofit/>
          </a:bodyPr>
          <a:lstStyle/>
          <a:p>
            <a:pPr indent="0" marL="0">
              <a:buNone/>
            </a:pPr>
            <a:r>
              <a:rPr lang="en-US" sz="1550" dirty="0">
                <a:solidFill>
                  <a:srgbClr val="DCEEFF"/>
                </a:solidFill>
                <a:latin typeface="Segoe UI" pitchFamily="34" charset="0"/>
                <a:ea typeface="Segoe UI" pitchFamily="34" charset="-122"/>
                <a:cs typeface="Segoe UI" pitchFamily="34" charset="-120"/>
              </a:rPr>
              <a:t>A facilitator-ready, hands-on path from a customer discovery document to a reviewable Copilot Studio solution.</a:t>
            </a:r>
            <a:endParaRPr lang="en-US" sz="1550" dirty="0"/>
          </a:p>
        </p:txBody>
      </p:sp>
      <p:sp>
        <p:nvSpPr>
          <p:cNvPr id="11" name="Shape 8"/>
          <p:cNvSpPr/>
          <p:nvPr/>
        </p:nvSpPr>
        <p:spPr>
          <a:xfrm>
            <a:off x="7818120" y="1234440"/>
            <a:ext cx="3337560" cy="3337560"/>
          </a:xfrm>
          <a:prstGeom prst="roundRect">
            <a:avLst/>
          </a:prstGeom>
          <a:solidFill>
            <a:srgbClr val="0B2A4A">
              <a:alpha val="84000"/>
            </a:srgbClr>
          </a:solidFill>
          <a:ln w="15240">
            <a:solidFill>
              <a:srgbClr val="BFE6FF">
                <a:alpha val="48000"/>
              </a:srgbClr>
            </a:solidFill>
            <a:prstDash val="solid"/>
          </a:ln>
        </p:spPr>
      </p:sp>
      <p:sp>
        <p:nvSpPr>
          <p:cNvPr id="12" name="Text 9"/>
          <p:cNvSpPr/>
          <p:nvPr/>
        </p:nvSpPr>
        <p:spPr>
          <a:xfrm>
            <a:off x="8101584" y="1755648"/>
            <a:ext cx="2743200" cy="1243584"/>
          </a:xfrm>
          <a:prstGeom prst="rect">
            <a:avLst/>
          </a:prstGeom>
          <a:noFill/>
          <a:ln/>
        </p:spPr>
        <p:txBody>
          <a:bodyPr wrap="square" lIns="0" tIns="0" rIns="0" bIns="0" rtlCol="0" anchor="ctr"/>
          <a:lstStyle/>
          <a:p>
            <a:pPr algn="ctr" indent="0" marL="0">
              <a:buNone/>
            </a:pPr>
            <a:r>
              <a:rPr lang="en-US" sz="6800" b="1" dirty="0">
                <a:solidFill>
                  <a:srgbClr val="FFFFFF"/>
                </a:solidFill>
                <a:latin typeface="Segoe UI Semibold" pitchFamily="34" charset="0"/>
                <a:ea typeface="Segoe UI Semibold" pitchFamily="34" charset="-122"/>
                <a:cs typeface="Segoe UI Semibold" pitchFamily="34" charset="-120"/>
              </a:rPr>
              <a:t>60</a:t>
            </a:r>
            <a:endParaRPr lang="en-US" sz="6800" dirty="0"/>
          </a:p>
        </p:txBody>
      </p:sp>
      <p:sp>
        <p:nvSpPr>
          <p:cNvPr id="13" name="Text 10"/>
          <p:cNvSpPr/>
          <p:nvPr/>
        </p:nvSpPr>
        <p:spPr>
          <a:xfrm>
            <a:off x="8302752" y="3127248"/>
            <a:ext cx="2340864" cy="566928"/>
          </a:xfrm>
          <a:prstGeom prst="rect">
            <a:avLst/>
          </a:prstGeom>
          <a:noFill/>
          <a:ln/>
        </p:spPr>
        <p:txBody>
          <a:bodyPr wrap="square" lIns="0" tIns="0" rIns="0" bIns="0" rtlCol="0" anchor="ctr"/>
          <a:lstStyle/>
          <a:p>
            <a:pPr algn="ctr" indent="0" marL="0">
              <a:buNone/>
            </a:pPr>
            <a:r>
              <a:rPr lang="en-US" sz="1150" b="1" spc="90" kern="0" dirty="0">
                <a:solidFill>
                  <a:srgbClr val="50E6FF"/>
                </a:solidFill>
                <a:latin typeface="Segoe UI Semibold" pitchFamily="34" charset="0"/>
                <a:ea typeface="Segoe UI Semibold" pitchFamily="34" charset="-122"/>
                <a:cs typeface="Segoe UI Semibold" pitchFamily="34" charset="-120"/>
              </a:rPr>
              <a:t>MINUTES TO</a:t>
            </a:r>
            <a:endParaRPr lang="en-US" sz="1150" dirty="0"/>
          </a:p>
          <a:p>
            <a:pPr algn="ctr" indent="0" marL="0">
              <a:buNone/>
            </a:pPr>
            <a:r>
              <a:rPr lang="en-US" sz="1150" b="1" spc="90" kern="0" dirty="0">
                <a:solidFill>
                  <a:srgbClr val="50E6FF"/>
                </a:solidFill>
                <a:latin typeface="Segoe UI Semibold" pitchFamily="34" charset="0"/>
                <a:ea typeface="Segoe UI Semibold" pitchFamily="34" charset="-122"/>
                <a:cs typeface="Segoe UI Semibold" pitchFamily="34" charset="-120"/>
              </a:rPr>
              <a:t>A WORKING PROTOTYPE</a:t>
            </a:r>
            <a:endParaRPr lang="en-US" sz="1150" dirty="0"/>
          </a:p>
        </p:txBody>
      </p:sp>
      <p:sp>
        <p:nvSpPr>
          <p:cNvPr id="14" name="Shape 11"/>
          <p:cNvSpPr/>
          <p:nvPr/>
        </p:nvSpPr>
        <p:spPr>
          <a:xfrm>
            <a:off x="7479792" y="5102352"/>
            <a:ext cx="292608" cy="292608"/>
          </a:xfrm>
          <a:prstGeom prst="ellipse">
            <a:avLst/>
          </a:prstGeom>
          <a:solidFill>
            <a:srgbClr val="FFFFFF"/>
          </a:solidFill>
          <a:ln w="12700">
            <a:solidFill>
              <a:srgbClr val="FFFFFF">
                <a:alpha val="0"/>
              </a:srgbClr>
            </a:solidFill>
            <a:prstDash val="solid"/>
          </a:ln>
        </p:spPr>
      </p:sp>
      <p:sp>
        <p:nvSpPr>
          <p:cNvPr id="15" name="Text 12"/>
          <p:cNvSpPr/>
          <p:nvPr/>
        </p:nvSpPr>
        <p:spPr>
          <a:xfrm>
            <a:off x="7296912" y="5541264"/>
            <a:ext cx="658368" cy="137160"/>
          </a:xfrm>
          <a:prstGeom prst="rect">
            <a:avLst/>
          </a:prstGeom>
          <a:noFill/>
          <a:ln/>
        </p:spPr>
        <p:txBody>
          <a:bodyPr wrap="square" lIns="0" tIns="0" rIns="0" bIns="0" rtlCol="0" anchor="ctr"/>
          <a:lstStyle/>
          <a:p>
            <a:pPr algn="ctr" indent="0" marL="0">
              <a:buNone/>
            </a:pPr>
            <a:r>
              <a:rPr lang="en-US" sz="830" b="1" dirty="0">
                <a:solidFill>
                  <a:srgbClr val="DCEEFF"/>
                </a:solidFill>
                <a:latin typeface="Segoe UI Semibold" pitchFamily="34" charset="0"/>
                <a:ea typeface="Segoe UI Semibold" pitchFamily="34" charset="-122"/>
                <a:cs typeface="Segoe UI Semibold" pitchFamily="34" charset="-120"/>
              </a:rPr>
              <a:t>DOCUMENT</a:t>
            </a:r>
            <a:endParaRPr lang="en-US" sz="830" dirty="0"/>
          </a:p>
        </p:txBody>
      </p:sp>
      <p:sp>
        <p:nvSpPr>
          <p:cNvPr id="16" name="Shape 13"/>
          <p:cNvSpPr/>
          <p:nvPr/>
        </p:nvSpPr>
        <p:spPr>
          <a:xfrm>
            <a:off x="7982712" y="5152644"/>
            <a:ext cx="1097280" cy="201168"/>
          </a:xfrm>
          <a:prstGeom prst="chevron">
            <a:avLst/>
          </a:prstGeom>
          <a:solidFill>
            <a:srgbClr val="FFFFFF">
              <a:alpha val="52000"/>
            </a:srgbClr>
          </a:solidFill>
          <a:ln w="12700">
            <a:solidFill>
              <a:srgbClr val="FFFFFF">
                <a:alpha val="0"/>
              </a:srgbClr>
            </a:solidFill>
            <a:prstDash val="solid"/>
          </a:ln>
        </p:spPr>
      </p:sp>
      <p:sp>
        <p:nvSpPr>
          <p:cNvPr id="17" name="Shape 14"/>
          <p:cNvSpPr/>
          <p:nvPr/>
        </p:nvSpPr>
        <p:spPr>
          <a:xfrm>
            <a:off x="9235440" y="5102352"/>
            <a:ext cx="292608" cy="292608"/>
          </a:xfrm>
          <a:prstGeom prst="ellipse">
            <a:avLst/>
          </a:prstGeom>
          <a:solidFill>
            <a:srgbClr val="50E6FF"/>
          </a:solidFill>
          <a:ln w="12700">
            <a:solidFill>
              <a:srgbClr val="FFFFFF">
                <a:alpha val="0"/>
              </a:srgbClr>
            </a:solidFill>
            <a:prstDash val="solid"/>
          </a:ln>
        </p:spPr>
      </p:sp>
      <p:sp>
        <p:nvSpPr>
          <p:cNvPr id="18" name="Text 15"/>
          <p:cNvSpPr/>
          <p:nvPr/>
        </p:nvSpPr>
        <p:spPr>
          <a:xfrm>
            <a:off x="9052560" y="5541264"/>
            <a:ext cx="658368" cy="137160"/>
          </a:xfrm>
          <a:prstGeom prst="rect">
            <a:avLst/>
          </a:prstGeom>
          <a:noFill/>
          <a:ln/>
        </p:spPr>
        <p:txBody>
          <a:bodyPr wrap="square" lIns="0" tIns="0" rIns="0" bIns="0" rtlCol="0" anchor="ctr"/>
          <a:lstStyle/>
          <a:p>
            <a:pPr algn="ctr" indent="0" marL="0">
              <a:buNone/>
            </a:pPr>
            <a:r>
              <a:rPr lang="en-US" sz="830" b="1" dirty="0">
                <a:solidFill>
                  <a:srgbClr val="DCEEFF"/>
                </a:solidFill>
                <a:latin typeface="Segoe UI Semibold" pitchFamily="34" charset="0"/>
                <a:ea typeface="Segoe UI Semibold" pitchFamily="34" charset="-122"/>
                <a:cs typeface="Segoe UI Semibold" pitchFamily="34" charset="-120"/>
              </a:rPr>
              <a:t>MVP</a:t>
            </a:r>
            <a:endParaRPr lang="en-US" sz="830" dirty="0"/>
          </a:p>
        </p:txBody>
      </p:sp>
      <p:sp>
        <p:nvSpPr>
          <p:cNvPr id="19" name="Shape 16"/>
          <p:cNvSpPr/>
          <p:nvPr/>
        </p:nvSpPr>
        <p:spPr>
          <a:xfrm>
            <a:off x="9738360" y="5152644"/>
            <a:ext cx="749808" cy="201168"/>
          </a:xfrm>
          <a:prstGeom prst="chevron">
            <a:avLst/>
          </a:prstGeom>
          <a:solidFill>
            <a:srgbClr val="FFFFFF">
              <a:alpha val="52000"/>
            </a:srgbClr>
          </a:solidFill>
          <a:ln w="12700">
            <a:solidFill>
              <a:srgbClr val="FFFFFF">
                <a:alpha val="0"/>
              </a:srgbClr>
            </a:solidFill>
            <a:prstDash val="solid"/>
          </a:ln>
        </p:spPr>
      </p:sp>
      <p:sp>
        <p:nvSpPr>
          <p:cNvPr id="20" name="Shape 17"/>
          <p:cNvSpPr/>
          <p:nvPr/>
        </p:nvSpPr>
        <p:spPr>
          <a:xfrm>
            <a:off x="10625328" y="5102352"/>
            <a:ext cx="292608" cy="292608"/>
          </a:xfrm>
          <a:prstGeom prst="ellipse">
            <a:avLst/>
          </a:prstGeom>
          <a:solidFill>
            <a:srgbClr val="FFFFFF"/>
          </a:solidFill>
          <a:ln w="12700">
            <a:solidFill>
              <a:srgbClr val="FFFFFF">
                <a:alpha val="0"/>
              </a:srgbClr>
            </a:solidFill>
            <a:prstDash val="solid"/>
          </a:ln>
        </p:spPr>
      </p:sp>
      <p:sp>
        <p:nvSpPr>
          <p:cNvPr id="21" name="Text 18"/>
          <p:cNvSpPr/>
          <p:nvPr/>
        </p:nvSpPr>
        <p:spPr>
          <a:xfrm>
            <a:off x="10442448" y="5541264"/>
            <a:ext cx="658368" cy="137160"/>
          </a:xfrm>
          <a:prstGeom prst="rect">
            <a:avLst/>
          </a:prstGeom>
          <a:noFill/>
          <a:ln/>
        </p:spPr>
        <p:txBody>
          <a:bodyPr wrap="square" lIns="0" tIns="0" rIns="0" bIns="0" rtlCol="0" anchor="ctr"/>
          <a:lstStyle/>
          <a:p>
            <a:pPr algn="ctr" indent="0" marL="0">
              <a:buNone/>
            </a:pPr>
            <a:r>
              <a:rPr lang="en-US" sz="830" b="1" dirty="0">
                <a:solidFill>
                  <a:srgbClr val="DCEEFF"/>
                </a:solidFill>
                <a:latin typeface="Segoe UI Semibold" pitchFamily="34" charset="0"/>
                <a:ea typeface="Segoe UI Semibold" pitchFamily="34" charset="-122"/>
                <a:cs typeface="Segoe UI Semibold" pitchFamily="34" charset="-120"/>
              </a:rPr>
              <a:t>SOLUTION</a:t>
            </a:r>
            <a:endParaRPr lang="en-US" sz="830" dirty="0"/>
          </a:p>
        </p:txBody>
      </p:sp>
      <p:sp>
        <p:nvSpPr>
          <p:cNvPr id="22" name="Text 19"/>
          <p:cNvSpPr/>
          <p:nvPr/>
        </p:nvSpPr>
        <p:spPr>
          <a:xfrm>
            <a:off x="731520" y="6236208"/>
            <a:ext cx="4206240" cy="164592"/>
          </a:xfrm>
          <a:prstGeom prst="rect">
            <a:avLst/>
          </a:prstGeom>
          <a:noFill/>
          <a:ln/>
        </p:spPr>
        <p:txBody>
          <a:bodyPr wrap="square" lIns="0" tIns="0" rIns="0" bIns="0" rtlCol="0" anchor="ctr"/>
          <a:lstStyle/>
          <a:p>
            <a:pPr indent="0" marL="0">
              <a:buNone/>
            </a:pPr>
            <a:r>
              <a:rPr lang="en-US" sz="950" dirty="0">
                <a:solidFill>
                  <a:srgbClr val="BFE6FF"/>
                </a:solidFill>
                <a:latin typeface="Segoe UI" pitchFamily="34" charset="0"/>
                <a:ea typeface="Segoe UI" pitchFamily="34" charset="-122"/>
                <a:cs typeface="Segoe UI" pitchFamily="34" charset="-120"/>
              </a:rPr>
              <a:t>Facilitator + participant deck  |  FY27</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0078D4"/>
          </a:solidFill>
          <a:ln w="12700">
            <a:solidFill>
              <a:srgbClr val="0078D4">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0078D4"/>
                </a:solidFill>
                <a:latin typeface="Segoe UI Semibold" pitchFamily="34" charset="0"/>
                <a:ea typeface="Segoe UI Semibold" pitchFamily="34" charset="-122"/>
                <a:cs typeface="Segoe UI Semibold" pitchFamily="34" charset="-120"/>
              </a:rPr>
              <a:t>THE WORKSHOP PROMISE</a:t>
            </a:r>
            <a:endParaRPr lang="en-US" sz="900" dirty="0"/>
          </a:p>
        </p:txBody>
      </p:sp>
      <p:sp>
        <p:nvSpPr>
          <p:cNvPr id="9" name="Text 7"/>
          <p:cNvSpPr/>
          <p:nvPr/>
        </p:nvSpPr>
        <p:spPr>
          <a:xfrm>
            <a:off x="566928" y="1033272"/>
            <a:ext cx="7452360" cy="1097280"/>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 xml:space="preserve">By minute 60, </a:t>
            </a:r>
            <a:pPr indent="0" marL="0">
              <a:buNone/>
            </a:pPr>
            <a:r>
              <a:rPr lang="en-US" sz="2800" b="1" dirty="0">
                <a:solidFill>
                  <a:srgbClr val="0078D4"/>
                </a:solidFill>
                <a:latin typeface="Segoe UI Semibold" pitchFamily="34" charset="0"/>
                <a:ea typeface="Segoe UI Semibold" pitchFamily="34" charset="-122"/>
                <a:cs typeface="Segoe UI Semibold" pitchFamily="34" charset="-120"/>
              </a:rPr>
              <a:t>one document</a:t>
            </a:r>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 xml:space="preserve"> becomes a working Copilot Studio prototype.</a:t>
            </a:r>
            <a:endParaRPr lang="en-US" sz="2800" dirty="0"/>
          </a:p>
        </p:txBody>
      </p:sp>
      <p:sp>
        <p:nvSpPr>
          <p:cNvPr id="10" name="Shape 8"/>
          <p:cNvSpPr/>
          <p:nvPr/>
        </p:nvSpPr>
        <p:spPr>
          <a:xfrm>
            <a:off x="658368" y="2350008"/>
            <a:ext cx="228600" cy="228600"/>
          </a:xfrm>
          <a:prstGeom prst="ellipse">
            <a:avLst/>
          </a:prstGeom>
          <a:solidFill>
            <a:srgbClr val="DCEEFF"/>
          </a:solidFill>
          <a:ln w="12700">
            <a:solidFill>
              <a:srgbClr val="0078D4"/>
            </a:solidFill>
            <a:prstDash val="solid"/>
          </a:ln>
        </p:spPr>
      </p:sp>
      <p:sp>
        <p:nvSpPr>
          <p:cNvPr id="11" name="Text 9"/>
          <p:cNvSpPr/>
          <p:nvPr/>
        </p:nvSpPr>
        <p:spPr>
          <a:xfrm>
            <a:off x="696773" y="2364638"/>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12" name="Text 10"/>
          <p:cNvSpPr/>
          <p:nvPr/>
        </p:nvSpPr>
        <p:spPr>
          <a:xfrm>
            <a:off x="987552" y="2331720"/>
            <a:ext cx="588873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Frame</a:t>
            </a:r>
            <a:pPr indent="0" marL="0">
              <a:buNone/>
            </a:pPr>
            <a:r>
              <a:rPr lang="en-US" sz="1320" dirty="0">
                <a:solidFill>
                  <a:srgbClr val="3B3A39"/>
                </a:solidFill>
                <a:latin typeface="Segoe UI" pitchFamily="34" charset="0"/>
                <a:ea typeface="Segoe UI" pitchFamily="34" charset="-122"/>
                <a:cs typeface="Segoe UI" pitchFamily="34" charset="-120"/>
              </a:rPr>
              <a:t xml:space="preserve">  a focused MVP from customer evidence.</a:t>
            </a:r>
            <a:endParaRPr lang="en-US" sz="1320" dirty="0"/>
          </a:p>
        </p:txBody>
      </p:sp>
      <p:sp>
        <p:nvSpPr>
          <p:cNvPr id="13" name="Shape 11"/>
          <p:cNvSpPr/>
          <p:nvPr/>
        </p:nvSpPr>
        <p:spPr>
          <a:xfrm>
            <a:off x="658368" y="2990088"/>
            <a:ext cx="228600" cy="228600"/>
          </a:xfrm>
          <a:prstGeom prst="ellipse">
            <a:avLst/>
          </a:prstGeom>
          <a:solidFill>
            <a:srgbClr val="DFF6DD"/>
          </a:solidFill>
          <a:ln w="12700">
            <a:solidFill>
              <a:srgbClr val="107C10"/>
            </a:solidFill>
            <a:prstDash val="solid"/>
          </a:ln>
        </p:spPr>
      </p:sp>
      <p:sp>
        <p:nvSpPr>
          <p:cNvPr id="14" name="Text 12"/>
          <p:cNvSpPr/>
          <p:nvPr/>
        </p:nvSpPr>
        <p:spPr>
          <a:xfrm>
            <a:off x="696773" y="3004718"/>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15" name="Text 13"/>
          <p:cNvSpPr/>
          <p:nvPr/>
        </p:nvSpPr>
        <p:spPr>
          <a:xfrm>
            <a:off x="987552" y="2971800"/>
            <a:ext cx="588873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Generate</a:t>
            </a:r>
            <a:pPr indent="0" marL="0">
              <a:buNone/>
            </a:pPr>
            <a:r>
              <a:rPr lang="en-US" sz="1320" dirty="0">
                <a:solidFill>
                  <a:srgbClr val="3B3A39"/>
                </a:solidFill>
                <a:latin typeface="Segoe UI" pitchFamily="34" charset="0"/>
                <a:ea typeface="Segoe UI" pitchFamily="34" charset="-122"/>
                <a:cs typeface="Segoe UI" pitchFamily="34" charset="-120"/>
              </a:rPr>
              <a:t xml:space="preserve">  agent files plus live and demo solution twins.</a:t>
            </a:r>
            <a:endParaRPr lang="en-US" sz="1320" dirty="0"/>
          </a:p>
        </p:txBody>
      </p:sp>
      <p:sp>
        <p:nvSpPr>
          <p:cNvPr id="16" name="Shape 14"/>
          <p:cNvSpPr/>
          <p:nvPr/>
        </p:nvSpPr>
        <p:spPr>
          <a:xfrm>
            <a:off x="658368" y="3630168"/>
            <a:ext cx="228600" cy="228600"/>
          </a:xfrm>
          <a:prstGeom prst="ellipse">
            <a:avLst/>
          </a:prstGeom>
          <a:solidFill>
            <a:srgbClr val="DCEEFF"/>
          </a:solidFill>
          <a:ln w="12700">
            <a:solidFill>
              <a:srgbClr val="D83B01"/>
            </a:solidFill>
            <a:prstDash val="solid"/>
          </a:ln>
        </p:spPr>
      </p:sp>
      <p:sp>
        <p:nvSpPr>
          <p:cNvPr id="17" name="Text 15"/>
          <p:cNvSpPr/>
          <p:nvPr/>
        </p:nvSpPr>
        <p:spPr>
          <a:xfrm>
            <a:off x="696773" y="3644798"/>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18" name="Text 16"/>
          <p:cNvSpPr/>
          <p:nvPr/>
        </p:nvSpPr>
        <p:spPr>
          <a:xfrm>
            <a:off x="987552" y="3611880"/>
            <a:ext cx="588873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Deploy</a:t>
            </a:r>
            <a:pPr indent="0" marL="0">
              <a:buNone/>
            </a:pPr>
            <a:r>
              <a:rPr lang="en-US" sz="1320" dirty="0">
                <a:solidFill>
                  <a:srgbClr val="3B3A39"/>
                </a:solidFill>
                <a:latin typeface="Segoe UI" pitchFamily="34" charset="0"/>
                <a:ea typeface="Segoe UI" pitchFamily="34" charset="-122"/>
                <a:cs typeface="Segoe UI" pitchFamily="34" charset="-120"/>
              </a:rPr>
              <a:t xml:space="preserve">  to a chosen environment and test in Copilot Studio.</a:t>
            </a:r>
            <a:endParaRPr lang="en-US" sz="1320" dirty="0"/>
          </a:p>
        </p:txBody>
      </p:sp>
      <p:sp>
        <p:nvSpPr>
          <p:cNvPr id="19" name="Shape 17"/>
          <p:cNvSpPr/>
          <p:nvPr/>
        </p:nvSpPr>
        <p:spPr>
          <a:xfrm>
            <a:off x="658368" y="4270248"/>
            <a:ext cx="228600" cy="228600"/>
          </a:xfrm>
          <a:prstGeom prst="ellipse">
            <a:avLst/>
          </a:prstGeom>
          <a:solidFill>
            <a:srgbClr val="DCEEFF"/>
          </a:solidFill>
          <a:ln w="12700">
            <a:solidFill>
              <a:srgbClr val="8661C5"/>
            </a:solidFill>
            <a:prstDash val="solid"/>
          </a:ln>
        </p:spPr>
      </p:sp>
      <p:sp>
        <p:nvSpPr>
          <p:cNvPr id="20" name="Text 18"/>
          <p:cNvSpPr/>
          <p:nvPr/>
        </p:nvSpPr>
        <p:spPr>
          <a:xfrm>
            <a:off x="696773" y="4284878"/>
            <a:ext cx="155448" cy="128016"/>
          </a:xfrm>
          <a:prstGeom prst="rect">
            <a:avLst/>
          </a:prstGeom>
          <a:noFill/>
          <a:ln/>
        </p:spPr>
        <p:txBody>
          <a:bodyPr wrap="square" lIns="0" tIns="0" rIns="0" bIns="0" rtlCol="0" anchor="ctr"/>
          <a:lstStyle/>
          <a:p>
            <a:pPr algn="ctr" indent="0" marL="0">
              <a:buNone/>
            </a:pPr>
            <a:r>
              <a:rPr lang="en-US" sz="950" b="1" dirty="0">
                <a:solidFill>
                  <a:srgbClr val="8661C5"/>
                </a:solidFill>
                <a:latin typeface="Segoe UI Semibold" pitchFamily="34" charset="0"/>
                <a:ea typeface="Segoe UI Semibold" pitchFamily="34" charset="-122"/>
                <a:cs typeface="Segoe UI Semibold" pitchFamily="34" charset="-120"/>
              </a:rPr>
              <a:t>✓</a:t>
            </a:r>
            <a:endParaRPr lang="en-US" sz="950" dirty="0"/>
          </a:p>
        </p:txBody>
      </p:sp>
      <p:sp>
        <p:nvSpPr>
          <p:cNvPr id="21" name="Text 19"/>
          <p:cNvSpPr/>
          <p:nvPr/>
        </p:nvSpPr>
        <p:spPr>
          <a:xfrm>
            <a:off x="987552" y="4251960"/>
            <a:ext cx="588873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Explain</a:t>
            </a:r>
            <a:pPr indent="0" marL="0">
              <a:buNone/>
            </a:pPr>
            <a:r>
              <a:rPr lang="en-US" sz="1320" dirty="0">
                <a:solidFill>
                  <a:srgbClr val="3B3A39"/>
                </a:solidFill>
                <a:latin typeface="Segoe UI" pitchFamily="34" charset="0"/>
                <a:ea typeface="Segoe UI" pitchFamily="34" charset="-122"/>
                <a:cs typeface="Segoe UI" pitchFamily="34" charset="-120"/>
              </a:rPr>
              <a:t xml:space="preserve">  the five-step RAPP process to someone else.</a:t>
            </a:r>
            <a:endParaRPr lang="en-US" sz="1320" dirty="0"/>
          </a:p>
        </p:txBody>
      </p:sp>
      <p:sp>
        <p:nvSpPr>
          <p:cNvPr id="22" name="Shape 20"/>
          <p:cNvSpPr/>
          <p:nvPr/>
        </p:nvSpPr>
        <p:spPr>
          <a:xfrm>
            <a:off x="7635240" y="1152144"/>
            <a:ext cx="3822192" cy="4480560"/>
          </a:xfrm>
          <a:prstGeom prst="roundRect">
            <a:avLst/>
          </a:prstGeom>
          <a:solidFill>
            <a:srgbClr val="0078D4"/>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23" name="Text 21"/>
          <p:cNvSpPr/>
          <p:nvPr/>
        </p:nvSpPr>
        <p:spPr>
          <a:xfrm>
            <a:off x="7955280" y="1618488"/>
            <a:ext cx="749808"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Segoe UI Semibold" pitchFamily="34" charset="0"/>
                <a:ea typeface="Segoe UI Semibold" pitchFamily="34" charset="-122"/>
                <a:cs typeface="Segoe UI Semibold" pitchFamily="34" charset="-120"/>
              </a:rPr>
              <a:t>1</a:t>
            </a:r>
            <a:endParaRPr lang="en-US" sz="4400" dirty="0"/>
          </a:p>
        </p:txBody>
      </p:sp>
      <p:sp>
        <p:nvSpPr>
          <p:cNvPr id="24" name="Text 22"/>
          <p:cNvSpPr/>
          <p:nvPr/>
        </p:nvSpPr>
        <p:spPr>
          <a:xfrm>
            <a:off x="8759952" y="1874520"/>
            <a:ext cx="1645920" cy="219456"/>
          </a:xfrm>
          <a:prstGeom prst="rect">
            <a:avLst/>
          </a:prstGeom>
          <a:noFill/>
          <a:ln/>
        </p:spPr>
        <p:txBody>
          <a:bodyPr wrap="square" lIns="0" tIns="0" rIns="0" bIns="0" rtlCol="0" anchor="ctr"/>
          <a:lstStyle/>
          <a:p>
            <a:pPr indent="0" marL="0">
              <a:buNone/>
            </a:pPr>
            <a:r>
              <a:rPr lang="en-US" sz="1300" b="1" dirty="0">
                <a:solidFill>
                  <a:srgbClr val="FFFFFF"/>
                </a:solidFill>
                <a:latin typeface="Segoe UI Semibold" pitchFamily="34" charset="0"/>
                <a:ea typeface="Segoe UI Semibold" pitchFamily="34" charset="-122"/>
                <a:cs typeface="Segoe UI Semibold" pitchFamily="34" charset="-120"/>
              </a:rPr>
              <a:t>SOURCE INPUT</a:t>
            </a:r>
            <a:endParaRPr lang="en-US" sz="1300" dirty="0"/>
          </a:p>
        </p:txBody>
      </p:sp>
      <p:sp>
        <p:nvSpPr>
          <p:cNvPr id="25" name="Shape 23"/>
          <p:cNvSpPr/>
          <p:nvPr/>
        </p:nvSpPr>
        <p:spPr>
          <a:xfrm>
            <a:off x="8348472" y="2542032"/>
            <a:ext cx="2377440" cy="310896"/>
          </a:xfrm>
          <a:prstGeom prst="chevron">
            <a:avLst/>
          </a:prstGeom>
          <a:solidFill>
            <a:srgbClr val="FFFFFF">
              <a:alpha val="78000"/>
            </a:srgbClr>
          </a:solidFill>
          <a:ln w="12700">
            <a:solidFill>
              <a:srgbClr val="FFFFFF">
                <a:alpha val="0"/>
              </a:srgbClr>
            </a:solidFill>
            <a:prstDash val="solid"/>
          </a:ln>
        </p:spPr>
      </p:sp>
      <p:sp>
        <p:nvSpPr>
          <p:cNvPr id="26" name="Text 24"/>
          <p:cNvSpPr/>
          <p:nvPr/>
        </p:nvSpPr>
        <p:spPr>
          <a:xfrm>
            <a:off x="7955280" y="3054096"/>
            <a:ext cx="749808"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Segoe UI Semibold" pitchFamily="34" charset="0"/>
                <a:ea typeface="Segoe UI Semibold" pitchFamily="34" charset="-122"/>
                <a:cs typeface="Segoe UI Semibold" pitchFamily="34" charset="-120"/>
              </a:rPr>
              <a:t>2</a:t>
            </a:r>
            <a:endParaRPr lang="en-US" sz="4400" dirty="0"/>
          </a:p>
        </p:txBody>
      </p:sp>
      <p:sp>
        <p:nvSpPr>
          <p:cNvPr id="27" name="Text 25"/>
          <p:cNvSpPr/>
          <p:nvPr/>
        </p:nvSpPr>
        <p:spPr>
          <a:xfrm>
            <a:off x="8759952" y="3310128"/>
            <a:ext cx="2011680" cy="219456"/>
          </a:xfrm>
          <a:prstGeom prst="rect">
            <a:avLst/>
          </a:prstGeom>
          <a:noFill/>
          <a:ln/>
        </p:spPr>
        <p:txBody>
          <a:bodyPr wrap="square" lIns="0" tIns="0" rIns="0" bIns="0" rtlCol="0" anchor="ctr"/>
          <a:lstStyle/>
          <a:p>
            <a:pPr indent="0" marL="0">
              <a:buNone/>
            </a:pPr>
            <a:r>
              <a:rPr lang="en-US" sz="1300" b="1" dirty="0">
                <a:solidFill>
                  <a:srgbClr val="FFFFFF"/>
                </a:solidFill>
                <a:latin typeface="Segoe UI Semibold" pitchFamily="34" charset="0"/>
                <a:ea typeface="Segoe UI Semibold" pitchFamily="34" charset="-122"/>
                <a:cs typeface="Segoe UI Semibold" pitchFamily="34" charset="-120"/>
              </a:rPr>
              <a:t>SOLUTION TWINS</a:t>
            </a:r>
            <a:endParaRPr lang="en-US" sz="1300" dirty="0"/>
          </a:p>
        </p:txBody>
      </p:sp>
      <p:sp>
        <p:nvSpPr>
          <p:cNvPr id="28" name="Shape 26"/>
          <p:cNvSpPr/>
          <p:nvPr/>
        </p:nvSpPr>
        <p:spPr>
          <a:xfrm>
            <a:off x="8348472" y="3977640"/>
            <a:ext cx="2377440" cy="310896"/>
          </a:xfrm>
          <a:prstGeom prst="chevron">
            <a:avLst/>
          </a:prstGeom>
          <a:solidFill>
            <a:srgbClr val="FFFFFF">
              <a:alpha val="78000"/>
            </a:srgbClr>
          </a:solidFill>
          <a:ln w="12700">
            <a:solidFill>
              <a:srgbClr val="FFFFFF">
                <a:alpha val="0"/>
              </a:srgbClr>
            </a:solidFill>
            <a:prstDash val="solid"/>
          </a:ln>
        </p:spPr>
      </p:sp>
      <p:sp>
        <p:nvSpPr>
          <p:cNvPr id="29" name="Text 27"/>
          <p:cNvSpPr/>
          <p:nvPr/>
        </p:nvSpPr>
        <p:spPr>
          <a:xfrm>
            <a:off x="7955280" y="4480560"/>
            <a:ext cx="749808"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Segoe UI Semibold" pitchFamily="34" charset="0"/>
                <a:ea typeface="Segoe UI Semibold" pitchFamily="34" charset="-122"/>
                <a:cs typeface="Segoe UI Semibold" pitchFamily="34" charset="-120"/>
              </a:rPr>
              <a:t>1</a:t>
            </a:r>
            <a:endParaRPr lang="en-US" sz="4400" dirty="0"/>
          </a:p>
        </p:txBody>
      </p:sp>
      <p:sp>
        <p:nvSpPr>
          <p:cNvPr id="30" name="Text 28"/>
          <p:cNvSpPr/>
          <p:nvPr/>
        </p:nvSpPr>
        <p:spPr>
          <a:xfrm>
            <a:off x="8759952" y="4736592"/>
            <a:ext cx="2011680" cy="219456"/>
          </a:xfrm>
          <a:prstGeom prst="rect">
            <a:avLst/>
          </a:prstGeom>
          <a:noFill/>
          <a:ln/>
        </p:spPr>
        <p:txBody>
          <a:bodyPr wrap="square" lIns="0" tIns="0" rIns="0" bIns="0" rtlCol="0" anchor="ctr"/>
          <a:lstStyle/>
          <a:p>
            <a:pPr indent="0" marL="0">
              <a:buNone/>
            </a:pPr>
            <a:r>
              <a:rPr lang="en-US" sz="1300" b="1" dirty="0">
                <a:solidFill>
                  <a:srgbClr val="FFFFFF"/>
                </a:solidFill>
                <a:latin typeface="Segoe UI Semibold" pitchFamily="34" charset="0"/>
                <a:ea typeface="Segoe UI Semibold" pitchFamily="34" charset="-122"/>
                <a:cs typeface="Segoe UI Semibold" pitchFamily="34" charset="-120"/>
              </a:rPr>
              <a:t>DEPLOYMENT</a:t>
            </a:r>
            <a:endParaRPr lang="en-US" sz="1300" dirty="0"/>
          </a:p>
        </p:txBody>
      </p:sp>
      <p:sp>
        <p:nvSpPr>
          <p:cNvPr id="31" name="Shape 29"/>
          <p:cNvSpPr/>
          <p:nvPr/>
        </p:nvSpPr>
        <p:spPr>
          <a:xfrm>
            <a:off x="8577072" y="5166360"/>
            <a:ext cx="1965960" cy="310896"/>
          </a:xfrm>
          <a:prstGeom prst="roundRect">
            <a:avLst/>
          </a:prstGeom>
          <a:solidFill>
            <a:srgbClr val="FFFFFF"/>
          </a:solidFill>
          <a:ln w="12700">
            <a:solidFill>
              <a:srgbClr val="FFFFFF">
                <a:alpha val="0"/>
              </a:srgbClr>
            </a:solidFill>
            <a:prstDash val="solid"/>
          </a:ln>
        </p:spPr>
      </p:sp>
      <p:sp>
        <p:nvSpPr>
          <p:cNvPr id="32" name="Text 30"/>
          <p:cNvSpPr/>
          <p:nvPr/>
        </p:nvSpPr>
        <p:spPr>
          <a:xfrm>
            <a:off x="8641080" y="5221224"/>
            <a:ext cx="1837944" cy="164592"/>
          </a:xfrm>
          <a:prstGeom prst="rect">
            <a:avLst/>
          </a:prstGeom>
          <a:noFill/>
          <a:ln/>
        </p:spPr>
        <p:txBody>
          <a:bodyPr wrap="square" lIns="0" tIns="0" rIns="0" bIns="0" rtlCol="0" anchor="ctr">
            <a:normAutofit/>
          </a:bodyPr>
          <a:lstStyle/>
          <a:p>
            <a:pPr algn="ctr" indent="0" marL="0">
              <a:buNone/>
            </a:pPr>
            <a:r>
              <a:rPr lang="en-US" sz="1050" b="1" dirty="0">
                <a:solidFill>
                  <a:srgbClr val="0078D4"/>
                </a:solidFill>
                <a:latin typeface="Segoe UI Semibold" pitchFamily="34" charset="0"/>
                <a:ea typeface="Segoe UI Semibold" pitchFamily="34" charset="-122"/>
                <a:cs typeface="Segoe UI Semibold" pitchFamily="34" charset="-120"/>
              </a:rPr>
              <a:t>BUILD ALONG</a:t>
            </a:r>
            <a:endParaRPr lang="en-US" sz="1050" dirty="0"/>
          </a:p>
        </p:txBody>
      </p:sp>
      <p:sp>
        <p:nvSpPr>
          <p:cNvPr id="33" name="Text 31"/>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02</a:t>
            </a:r>
            <a:endParaRPr lang="en-US" sz="8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0" y="0"/>
            <a:ext cx="12191695" cy="6858000"/>
          </a:xfrm>
          <a:prstGeom prst="rect">
            <a:avLst/>
          </a:prstGeom>
        </p:spPr>
      </p:pic>
      <p:sp>
        <p:nvSpPr>
          <p:cNvPr id="3"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4"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5"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6"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7"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8" name="Shape 5"/>
          <p:cNvSpPr/>
          <p:nvPr/>
        </p:nvSpPr>
        <p:spPr>
          <a:xfrm>
            <a:off x="566928" y="822960"/>
            <a:ext cx="155448" cy="41148"/>
          </a:xfrm>
          <a:prstGeom prst="rect">
            <a:avLst/>
          </a:prstGeom>
          <a:solidFill>
            <a:srgbClr val="0078D4"/>
          </a:solidFill>
          <a:ln w="12700">
            <a:solidFill>
              <a:srgbClr val="0078D4">
                <a:alpha val="0"/>
              </a:srgbClr>
            </a:solidFill>
            <a:prstDash val="solid"/>
          </a:ln>
        </p:spPr>
      </p:sp>
      <p:sp>
        <p:nvSpPr>
          <p:cNvPr id="9"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0078D4"/>
                </a:solidFill>
                <a:latin typeface="Segoe UI Semibold" pitchFamily="34" charset="0"/>
                <a:ea typeface="Segoe UI Semibold" pitchFamily="34" charset="-122"/>
                <a:cs typeface="Segoe UI Semibold" pitchFamily="34" charset="-120"/>
              </a:rPr>
              <a:t>RUN OF SHOW</a:t>
            </a:r>
            <a:endParaRPr lang="en-US" sz="900" dirty="0"/>
          </a:p>
        </p:txBody>
      </p:sp>
      <p:sp>
        <p:nvSpPr>
          <p:cNvPr id="10"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One hour, weighted toward hands-on work.</a:t>
            </a:r>
            <a:endParaRPr lang="en-US" sz="2800" dirty="0"/>
          </a:p>
        </p:txBody>
      </p:sp>
      <p:sp>
        <p:nvSpPr>
          <p:cNvPr id="11" name="Shape 8"/>
          <p:cNvSpPr/>
          <p:nvPr/>
        </p:nvSpPr>
        <p:spPr>
          <a:xfrm>
            <a:off x="658368" y="2286000"/>
            <a:ext cx="1813560" cy="914400"/>
          </a:xfrm>
          <a:prstGeom prst="roundRect">
            <a:avLst/>
          </a:prstGeom>
          <a:solidFill>
            <a:srgbClr val="103A6B"/>
          </a:solidFill>
          <a:ln w="13970">
            <a:solidFill>
              <a:srgbClr val="FFFFFF"/>
            </a:solidFill>
            <a:prstDash val="solid"/>
          </a:ln>
        </p:spPr>
      </p:sp>
      <p:sp>
        <p:nvSpPr>
          <p:cNvPr id="12" name="Text 9"/>
          <p:cNvSpPr/>
          <p:nvPr/>
        </p:nvSpPr>
        <p:spPr>
          <a:xfrm>
            <a:off x="704088" y="2459736"/>
            <a:ext cx="1722120" cy="17373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00-10</a:t>
            </a:r>
            <a:endParaRPr lang="en-US" sz="1100" dirty="0"/>
          </a:p>
        </p:txBody>
      </p:sp>
      <p:sp>
        <p:nvSpPr>
          <p:cNvPr id="13" name="Text 10"/>
          <p:cNvSpPr/>
          <p:nvPr/>
        </p:nvSpPr>
        <p:spPr>
          <a:xfrm>
            <a:off x="704088" y="2724912"/>
            <a:ext cx="1722120" cy="173736"/>
          </a:xfrm>
          <a:prstGeom prst="rect">
            <a:avLst/>
          </a:prstGeom>
          <a:noFill/>
          <a:ln/>
        </p:spPr>
        <p:txBody>
          <a:bodyPr wrap="square" lIns="0" tIns="0" rIns="0" bIns="0" rtlCol="0" anchor="ctr">
            <a:normAutofit/>
          </a:bodyPr>
          <a:lstStyle/>
          <a:p>
            <a:pPr algn="ctr" indent="0" marL="0">
              <a:buNone/>
            </a:pPr>
            <a:r>
              <a:rPr lang="en-US" sz="880" b="1" dirty="0">
                <a:solidFill>
                  <a:srgbClr val="DCEEFF"/>
                </a:solidFill>
                <a:latin typeface="Segoe UI Semibold" pitchFamily="34" charset="0"/>
                <a:ea typeface="Segoe UI Semibold" pitchFamily="34" charset="-122"/>
                <a:cs typeface="Segoe UI Semibold" pitchFamily="34" charset="-120"/>
              </a:rPr>
              <a:t>ALIGN</a:t>
            </a:r>
            <a:endParaRPr lang="en-US" sz="880" dirty="0"/>
          </a:p>
        </p:txBody>
      </p:sp>
      <p:sp>
        <p:nvSpPr>
          <p:cNvPr id="14" name="Shape 11"/>
          <p:cNvSpPr/>
          <p:nvPr/>
        </p:nvSpPr>
        <p:spPr>
          <a:xfrm>
            <a:off x="2471928" y="2286000"/>
            <a:ext cx="906780" cy="914400"/>
          </a:xfrm>
          <a:prstGeom prst="rect">
            <a:avLst/>
          </a:prstGeom>
          <a:solidFill>
            <a:srgbClr val="D83B01"/>
          </a:solidFill>
          <a:ln w="13970">
            <a:solidFill>
              <a:srgbClr val="FFFFFF"/>
            </a:solidFill>
            <a:prstDash val="solid"/>
          </a:ln>
        </p:spPr>
      </p:sp>
      <p:sp>
        <p:nvSpPr>
          <p:cNvPr id="15" name="Text 12"/>
          <p:cNvSpPr/>
          <p:nvPr/>
        </p:nvSpPr>
        <p:spPr>
          <a:xfrm>
            <a:off x="2517648" y="2459736"/>
            <a:ext cx="815340" cy="17373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10-15</a:t>
            </a:r>
            <a:endParaRPr lang="en-US" sz="1100" dirty="0"/>
          </a:p>
        </p:txBody>
      </p:sp>
      <p:sp>
        <p:nvSpPr>
          <p:cNvPr id="16" name="Text 13"/>
          <p:cNvSpPr/>
          <p:nvPr/>
        </p:nvSpPr>
        <p:spPr>
          <a:xfrm>
            <a:off x="2517648" y="2724912"/>
            <a:ext cx="815340" cy="173736"/>
          </a:xfrm>
          <a:prstGeom prst="rect">
            <a:avLst/>
          </a:prstGeom>
          <a:noFill/>
          <a:ln/>
        </p:spPr>
        <p:txBody>
          <a:bodyPr wrap="square" lIns="0" tIns="0" rIns="0" bIns="0" rtlCol="0" anchor="ctr">
            <a:normAutofit/>
          </a:bodyPr>
          <a:lstStyle/>
          <a:p>
            <a:pPr algn="ctr" indent="0" marL="0">
              <a:buNone/>
            </a:pPr>
            <a:r>
              <a:rPr lang="en-US" sz="880" b="1" dirty="0">
                <a:solidFill>
                  <a:srgbClr val="DCEEFF"/>
                </a:solidFill>
                <a:latin typeface="Segoe UI Semibold" pitchFamily="34" charset="0"/>
                <a:ea typeface="Segoe UI Semibold" pitchFamily="34" charset="-122"/>
                <a:cs typeface="Segoe UI Semibold" pitchFamily="34" charset="-120"/>
              </a:rPr>
              <a:t>SCENARIO</a:t>
            </a:r>
            <a:endParaRPr lang="en-US" sz="880" dirty="0"/>
          </a:p>
        </p:txBody>
      </p:sp>
      <p:sp>
        <p:nvSpPr>
          <p:cNvPr id="17" name="Shape 14"/>
          <p:cNvSpPr/>
          <p:nvPr/>
        </p:nvSpPr>
        <p:spPr>
          <a:xfrm>
            <a:off x="3378708" y="2286000"/>
            <a:ext cx="1450848" cy="914400"/>
          </a:xfrm>
          <a:prstGeom prst="rect">
            <a:avLst/>
          </a:prstGeom>
          <a:solidFill>
            <a:srgbClr val="0078D4"/>
          </a:solidFill>
          <a:ln w="13970">
            <a:solidFill>
              <a:srgbClr val="FFFFFF"/>
            </a:solidFill>
            <a:prstDash val="solid"/>
          </a:ln>
        </p:spPr>
      </p:sp>
      <p:sp>
        <p:nvSpPr>
          <p:cNvPr id="18" name="Text 15"/>
          <p:cNvSpPr/>
          <p:nvPr/>
        </p:nvSpPr>
        <p:spPr>
          <a:xfrm>
            <a:off x="3424428" y="2459736"/>
            <a:ext cx="1359408" cy="17373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15-23</a:t>
            </a:r>
            <a:endParaRPr lang="en-US" sz="1100" dirty="0"/>
          </a:p>
        </p:txBody>
      </p:sp>
      <p:sp>
        <p:nvSpPr>
          <p:cNvPr id="19" name="Text 16"/>
          <p:cNvSpPr/>
          <p:nvPr/>
        </p:nvSpPr>
        <p:spPr>
          <a:xfrm>
            <a:off x="3424428" y="2724912"/>
            <a:ext cx="1359408" cy="173736"/>
          </a:xfrm>
          <a:prstGeom prst="rect">
            <a:avLst/>
          </a:prstGeom>
          <a:noFill/>
          <a:ln/>
        </p:spPr>
        <p:txBody>
          <a:bodyPr wrap="square" lIns="0" tIns="0" rIns="0" bIns="0" rtlCol="0" anchor="ctr">
            <a:normAutofit/>
          </a:bodyPr>
          <a:lstStyle/>
          <a:p>
            <a:pPr algn="ctr" indent="0" marL="0">
              <a:buNone/>
            </a:pPr>
            <a:r>
              <a:rPr lang="en-US" sz="880" b="1" dirty="0">
                <a:solidFill>
                  <a:srgbClr val="DCEEFF"/>
                </a:solidFill>
                <a:latin typeface="Segoe UI Semibold" pitchFamily="34" charset="0"/>
                <a:ea typeface="Segoe UI Semibold" pitchFamily="34" charset="-122"/>
                <a:cs typeface="Segoe UI Semibold" pitchFamily="34" charset="-120"/>
              </a:rPr>
              <a:t>SIGN IN + DOCS</a:t>
            </a:r>
            <a:endParaRPr lang="en-US" sz="880" dirty="0"/>
          </a:p>
        </p:txBody>
      </p:sp>
      <p:sp>
        <p:nvSpPr>
          <p:cNvPr id="20" name="Shape 17"/>
          <p:cNvSpPr/>
          <p:nvPr/>
        </p:nvSpPr>
        <p:spPr>
          <a:xfrm>
            <a:off x="4829556" y="2286000"/>
            <a:ext cx="1450848" cy="914400"/>
          </a:xfrm>
          <a:prstGeom prst="rect">
            <a:avLst/>
          </a:prstGeom>
          <a:solidFill>
            <a:srgbClr val="107C10"/>
          </a:solidFill>
          <a:ln w="13970">
            <a:solidFill>
              <a:srgbClr val="FFFFFF"/>
            </a:solidFill>
            <a:prstDash val="solid"/>
          </a:ln>
        </p:spPr>
      </p:sp>
      <p:sp>
        <p:nvSpPr>
          <p:cNvPr id="21" name="Text 18"/>
          <p:cNvSpPr/>
          <p:nvPr/>
        </p:nvSpPr>
        <p:spPr>
          <a:xfrm>
            <a:off x="4875276" y="2459736"/>
            <a:ext cx="1359408" cy="17373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23-31</a:t>
            </a:r>
            <a:endParaRPr lang="en-US" sz="1100" dirty="0"/>
          </a:p>
        </p:txBody>
      </p:sp>
      <p:sp>
        <p:nvSpPr>
          <p:cNvPr id="22" name="Text 19"/>
          <p:cNvSpPr/>
          <p:nvPr/>
        </p:nvSpPr>
        <p:spPr>
          <a:xfrm>
            <a:off x="4875276" y="2724912"/>
            <a:ext cx="1359408" cy="173736"/>
          </a:xfrm>
          <a:prstGeom prst="rect">
            <a:avLst/>
          </a:prstGeom>
          <a:noFill/>
          <a:ln/>
        </p:spPr>
        <p:txBody>
          <a:bodyPr wrap="square" lIns="0" tIns="0" rIns="0" bIns="0" rtlCol="0" anchor="ctr">
            <a:normAutofit/>
          </a:bodyPr>
          <a:lstStyle/>
          <a:p>
            <a:pPr algn="ctr" indent="0" marL="0">
              <a:buNone/>
            </a:pPr>
            <a:r>
              <a:rPr lang="en-US" sz="880" b="1" dirty="0">
                <a:solidFill>
                  <a:srgbClr val="DCEEFF"/>
                </a:solidFill>
                <a:latin typeface="Segoe UI Semibold" pitchFamily="34" charset="0"/>
                <a:ea typeface="Segoe UI Semibold" pitchFamily="34" charset="-122"/>
                <a:cs typeface="Segoe UI Semibold" pitchFamily="34" charset="-120"/>
              </a:rPr>
              <a:t>MVP GATE</a:t>
            </a:r>
            <a:endParaRPr lang="en-US" sz="880" dirty="0"/>
          </a:p>
        </p:txBody>
      </p:sp>
      <p:sp>
        <p:nvSpPr>
          <p:cNvPr id="23" name="Shape 20"/>
          <p:cNvSpPr/>
          <p:nvPr/>
        </p:nvSpPr>
        <p:spPr>
          <a:xfrm>
            <a:off x="6280404" y="2286000"/>
            <a:ext cx="1813560" cy="914400"/>
          </a:xfrm>
          <a:prstGeom prst="rect">
            <a:avLst/>
          </a:prstGeom>
          <a:solidFill>
            <a:srgbClr val="8661C5"/>
          </a:solidFill>
          <a:ln w="13970">
            <a:solidFill>
              <a:srgbClr val="FFFFFF"/>
            </a:solidFill>
            <a:prstDash val="solid"/>
          </a:ln>
        </p:spPr>
      </p:sp>
      <p:sp>
        <p:nvSpPr>
          <p:cNvPr id="24" name="Text 21"/>
          <p:cNvSpPr/>
          <p:nvPr/>
        </p:nvSpPr>
        <p:spPr>
          <a:xfrm>
            <a:off x="6326124" y="2459736"/>
            <a:ext cx="1722120" cy="17373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31-41</a:t>
            </a:r>
            <a:endParaRPr lang="en-US" sz="1100" dirty="0"/>
          </a:p>
        </p:txBody>
      </p:sp>
      <p:sp>
        <p:nvSpPr>
          <p:cNvPr id="25" name="Text 22"/>
          <p:cNvSpPr/>
          <p:nvPr/>
        </p:nvSpPr>
        <p:spPr>
          <a:xfrm>
            <a:off x="6326124" y="2724912"/>
            <a:ext cx="1722120" cy="173736"/>
          </a:xfrm>
          <a:prstGeom prst="rect">
            <a:avLst/>
          </a:prstGeom>
          <a:noFill/>
          <a:ln/>
        </p:spPr>
        <p:txBody>
          <a:bodyPr wrap="square" lIns="0" tIns="0" rIns="0" bIns="0" rtlCol="0" anchor="ctr">
            <a:normAutofit/>
          </a:bodyPr>
          <a:lstStyle/>
          <a:p>
            <a:pPr algn="ctr" indent="0" marL="0">
              <a:buNone/>
            </a:pPr>
            <a:r>
              <a:rPr lang="en-US" sz="880" b="1" dirty="0">
                <a:solidFill>
                  <a:srgbClr val="DCEEFF"/>
                </a:solidFill>
                <a:latin typeface="Segoe UI Semibold" pitchFamily="34" charset="0"/>
                <a:ea typeface="Segoe UI Semibold" pitchFamily="34" charset="-122"/>
                <a:cs typeface="Segoe UI Semibold" pitchFamily="34" charset="-120"/>
              </a:rPr>
              <a:t>GENERATE + REVIEW</a:t>
            </a:r>
            <a:endParaRPr lang="en-US" sz="880" dirty="0"/>
          </a:p>
        </p:txBody>
      </p:sp>
      <p:sp>
        <p:nvSpPr>
          <p:cNvPr id="26" name="Shape 23"/>
          <p:cNvSpPr/>
          <p:nvPr/>
        </p:nvSpPr>
        <p:spPr>
          <a:xfrm>
            <a:off x="8093964" y="2286000"/>
            <a:ext cx="1813560" cy="914400"/>
          </a:xfrm>
          <a:prstGeom prst="rect">
            <a:avLst/>
          </a:prstGeom>
          <a:solidFill>
            <a:srgbClr val="005A9E"/>
          </a:solidFill>
          <a:ln w="13970">
            <a:solidFill>
              <a:srgbClr val="FFFFFF"/>
            </a:solidFill>
            <a:prstDash val="solid"/>
          </a:ln>
        </p:spPr>
      </p:sp>
      <p:sp>
        <p:nvSpPr>
          <p:cNvPr id="27" name="Text 24"/>
          <p:cNvSpPr/>
          <p:nvPr/>
        </p:nvSpPr>
        <p:spPr>
          <a:xfrm>
            <a:off x="8139684" y="2459736"/>
            <a:ext cx="1722120" cy="17373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41-51</a:t>
            </a:r>
            <a:endParaRPr lang="en-US" sz="1100" dirty="0"/>
          </a:p>
        </p:txBody>
      </p:sp>
      <p:sp>
        <p:nvSpPr>
          <p:cNvPr id="28" name="Text 25"/>
          <p:cNvSpPr/>
          <p:nvPr/>
        </p:nvSpPr>
        <p:spPr>
          <a:xfrm>
            <a:off x="8139684" y="2724912"/>
            <a:ext cx="1722120" cy="173736"/>
          </a:xfrm>
          <a:prstGeom prst="rect">
            <a:avLst/>
          </a:prstGeom>
          <a:noFill/>
          <a:ln/>
        </p:spPr>
        <p:txBody>
          <a:bodyPr wrap="square" lIns="0" tIns="0" rIns="0" bIns="0" rtlCol="0" anchor="ctr">
            <a:normAutofit/>
          </a:bodyPr>
          <a:lstStyle/>
          <a:p>
            <a:pPr algn="ctr" indent="0" marL="0">
              <a:buNone/>
            </a:pPr>
            <a:r>
              <a:rPr lang="en-US" sz="880" b="1" dirty="0">
                <a:solidFill>
                  <a:srgbClr val="DCEEFF"/>
                </a:solidFill>
                <a:latin typeface="Segoe UI Semibold" pitchFamily="34" charset="0"/>
                <a:ea typeface="Segoe UI Semibold" pitchFamily="34" charset="-122"/>
                <a:cs typeface="Segoe UI Semibold" pitchFamily="34" charset="-120"/>
              </a:rPr>
              <a:t>DEPLOY</a:t>
            </a:r>
            <a:endParaRPr lang="en-US" sz="880" dirty="0"/>
          </a:p>
        </p:txBody>
      </p:sp>
      <p:sp>
        <p:nvSpPr>
          <p:cNvPr id="29" name="Shape 26"/>
          <p:cNvSpPr/>
          <p:nvPr/>
        </p:nvSpPr>
        <p:spPr>
          <a:xfrm>
            <a:off x="9907524" y="2286000"/>
            <a:ext cx="1088136" cy="914400"/>
          </a:xfrm>
          <a:prstGeom prst="rect">
            <a:avLst/>
          </a:prstGeom>
          <a:solidFill>
            <a:srgbClr val="D83B01"/>
          </a:solidFill>
          <a:ln w="13970">
            <a:solidFill>
              <a:srgbClr val="FFFFFF"/>
            </a:solidFill>
            <a:prstDash val="solid"/>
          </a:ln>
        </p:spPr>
      </p:sp>
      <p:sp>
        <p:nvSpPr>
          <p:cNvPr id="30" name="Text 27"/>
          <p:cNvSpPr/>
          <p:nvPr/>
        </p:nvSpPr>
        <p:spPr>
          <a:xfrm>
            <a:off x="9953244" y="2459736"/>
            <a:ext cx="996696" cy="17373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Segoe UI Semibold" pitchFamily="34" charset="0"/>
                <a:ea typeface="Segoe UI Semibold" pitchFamily="34" charset="-122"/>
                <a:cs typeface="Segoe UI Semibold" pitchFamily="34" charset="-120"/>
              </a:rPr>
              <a:t>51-57</a:t>
            </a:r>
            <a:endParaRPr lang="en-US" sz="1100" dirty="0"/>
          </a:p>
        </p:txBody>
      </p:sp>
      <p:sp>
        <p:nvSpPr>
          <p:cNvPr id="31" name="Text 28"/>
          <p:cNvSpPr/>
          <p:nvPr/>
        </p:nvSpPr>
        <p:spPr>
          <a:xfrm>
            <a:off x="9953244" y="2724912"/>
            <a:ext cx="996696" cy="173736"/>
          </a:xfrm>
          <a:prstGeom prst="rect">
            <a:avLst/>
          </a:prstGeom>
          <a:noFill/>
          <a:ln/>
        </p:spPr>
        <p:txBody>
          <a:bodyPr wrap="square" lIns="0" tIns="0" rIns="0" bIns="0" rtlCol="0" anchor="ctr">
            <a:normAutofit/>
          </a:bodyPr>
          <a:lstStyle/>
          <a:p>
            <a:pPr algn="ctr" indent="0" marL="0">
              <a:buNone/>
            </a:pPr>
            <a:r>
              <a:rPr lang="en-US" sz="880" b="1" dirty="0">
                <a:solidFill>
                  <a:srgbClr val="DCEEFF"/>
                </a:solidFill>
                <a:latin typeface="Segoe UI Semibold" pitchFamily="34" charset="0"/>
                <a:ea typeface="Segoe UI Semibold" pitchFamily="34" charset="-122"/>
                <a:cs typeface="Segoe UI Semibold" pitchFamily="34" charset="-120"/>
              </a:rPr>
              <a:t>TEST</a:t>
            </a:r>
            <a:endParaRPr lang="en-US" sz="880" dirty="0"/>
          </a:p>
        </p:txBody>
      </p:sp>
      <p:sp>
        <p:nvSpPr>
          <p:cNvPr id="32" name="Shape 29"/>
          <p:cNvSpPr/>
          <p:nvPr/>
        </p:nvSpPr>
        <p:spPr>
          <a:xfrm>
            <a:off x="10995660" y="2286000"/>
            <a:ext cx="544068" cy="914400"/>
          </a:xfrm>
          <a:prstGeom prst="roundRect">
            <a:avLst/>
          </a:prstGeom>
          <a:solidFill>
            <a:srgbClr val="0B560B"/>
          </a:solidFill>
          <a:ln w="13970">
            <a:solidFill>
              <a:srgbClr val="FFFFFF"/>
            </a:solidFill>
            <a:prstDash val="solid"/>
          </a:ln>
        </p:spPr>
      </p:sp>
      <p:sp>
        <p:nvSpPr>
          <p:cNvPr id="33" name="Text 30"/>
          <p:cNvSpPr/>
          <p:nvPr/>
        </p:nvSpPr>
        <p:spPr>
          <a:xfrm>
            <a:off x="11041380" y="2459736"/>
            <a:ext cx="452628" cy="173736"/>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Segoe UI Semibold" pitchFamily="34" charset="0"/>
                <a:ea typeface="Segoe UI Semibold" pitchFamily="34" charset="-122"/>
                <a:cs typeface="Segoe UI Semibold" pitchFamily="34" charset="-120"/>
              </a:rPr>
              <a:t>57-60</a:t>
            </a:r>
            <a:endParaRPr lang="en-US" sz="850" dirty="0"/>
          </a:p>
        </p:txBody>
      </p:sp>
      <p:sp>
        <p:nvSpPr>
          <p:cNvPr id="34" name="Text 31"/>
          <p:cNvSpPr/>
          <p:nvPr/>
        </p:nvSpPr>
        <p:spPr>
          <a:xfrm>
            <a:off x="11041380" y="2724912"/>
            <a:ext cx="452628" cy="173736"/>
          </a:xfrm>
          <a:prstGeom prst="rect">
            <a:avLst/>
          </a:prstGeom>
          <a:noFill/>
          <a:ln/>
        </p:spPr>
        <p:txBody>
          <a:bodyPr wrap="square" lIns="0" tIns="0" rIns="0" bIns="0" rtlCol="0" anchor="ctr">
            <a:normAutofit/>
          </a:bodyPr>
          <a:lstStyle/>
          <a:p>
            <a:pPr algn="ctr" indent="0" marL="0">
              <a:buNone/>
            </a:pPr>
            <a:r>
              <a:rPr lang="en-US" sz="750" b="1" dirty="0">
                <a:solidFill>
                  <a:srgbClr val="DCEEFF"/>
                </a:solidFill>
                <a:latin typeface="Segoe UI Semibold" pitchFamily="34" charset="0"/>
                <a:ea typeface="Segoe UI Semibold" pitchFamily="34" charset="-122"/>
                <a:cs typeface="Segoe UI Semibold" pitchFamily="34" charset="-120"/>
              </a:rPr>
              <a:t>CLOSE</a:t>
            </a:r>
            <a:endParaRPr lang="en-US" sz="750" dirty="0"/>
          </a:p>
        </p:txBody>
      </p:sp>
      <p:sp>
        <p:nvSpPr>
          <p:cNvPr id="35" name="Shape 32"/>
          <p:cNvSpPr/>
          <p:nvPr/>
        </p:nvSpPr>
        <p:spPr>
          <a:xfrm>
            <a:off x="822960" y="3749040"/>
            <a:ext cx="2240280" cy="1280160"/>
          </a:xfrm>
          <a:prstGeom prst="roundRect">
            <a:avLst/>
          </a:prstGeom>
          <a:solidFill>
            <a:srgbClr val="FFFFFF"/>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36" name="Text 33"/>
          <p:cNvSpPr/>
          <p:nvPr/>
        </p:nvSpPr>
        <p:spPr>
          <a:xfrm>
            <a:off x="960120" y="3931920"/>
            <a:ext cx="658368" cy="438912"/>
          </a:xfrm>
          <a:prstGeom prst="rect">
            <a:avLst/>
          </a:prstGeom>
          <a:noFill/>
          <a:ln/>
        </p:spPr>
        <p:txBody>
          <a:bodyPr wrap="square" lIns="0" tIns="0" rIns="0" bIns="0" rtlCol="0" anchor="ctr"/>
          <a:lstStyle/>
          <a:p>
            <a:pPr algn="ctr" indent="0" marL="0">
              <a:buNone/>
            </a:pPr>
            <a:r>
              <a:rPr lang="en-US" sz="2500" b="1" dirty="0">
                <a:solidFill>
                  <a:srgbClr val="D83B01"/>
                </a:solidFill>
                <a:latin typeface="Segoe UI Semibold" pitchFamily="34" charset="0"/>
                <a:ea typeface="Segoe UI Semibold" pitchFamily="34" charset="-122"/>
                <a:cs typeface="Segoe UI Semibold" pitchFamily="34" charset="-120"/>
              </a:rPr>
              <a:t>15</a:t>
            </a:r>
            <a:endParaRPr lang="en-US" sz="2500" dirty="0"/>
          </a:p>
        </p:txBody>
      </p:sp>
      <p:sp>
        <p:nvSpPr>
          <p:cNvPr id="37" name="Text 34"/>
          <p:cNvSpPr/>
          <p:nvPr/>
        </p:nvSpPr>
        <p:spPr>
          <a:xfrm>
            <a:off x="1645920" y="3968496"/>
            <a:ext cx="1234440" cy="228600"/>
          </a:xfrm>
          <a:prstGeom prst="rect">
            <a:avLst/>
          </a:prstGeom>
          <a:noFill/>
          <a:ln/>
        </p:spPr>
        <p:txBody>
          <a:bodyPr wrap="square" lIns="0" tIns="0" rIns="0" bIns="0" rtlCol="0" anchor="ctr">
            <a:normAutofit/>
          </a:bodyPr>
          <a:lstStyle/>
          <a:p>
            <a:pPr indent="0" marL="0">
              <a:buNone/>
            </a:pPr>
            <a:r>
              <a:rPr lang="en-US" sz="1250" b="1" dirty="0">
                <a:solidFill>
                  <a:srgbClr val="1B1A19"/>
                </a:solidFill>
                <a:latin typeface="Segoe UI Semibold" pitchFamily="34" charset="0"/>
                <a:ea typeface="Segoe UI Semibold" pitchFamily="34" charset="-122"/>
                <a:cs typeface="Segoe UI Semibold" pitchFamily="34" charset="-120"/>
              </a:rPr>
              <a:t>Source ready</a:t>
            </a:r>
            <a:endParaRPr lang="en-US" sz="1250" dirty="0"/>
          </a:p>
        </p:txBody>
      </p:sp>
      <p:sp>
        <p:nvSpPr>
          <p:cNvPr id="38" name="Text 35"/>
          <p:cNvSpPr/>
          <p:nvPr/>
        </p:nvSpPr>
        <p:spPr>
          <a:xfrm>
            <a:off x="1645920" y="4361688"/>
            <a:ext cx="1234440" cy="320040"/>
          </a:xfrm>
          <a:prstGeom prst="rect">
            <a:avLst/>
          </a:prstGeom>
          <a:noFill/>
          <a:ln/>
        </p:spPr>
        <p:txBody>
          <a:bodyPr wrap="square" lIns="0" tIns="0" rIns="0" bIns="0" rtlCol="0" anchor="ctr">
            <a:normAutofit/>
          </a:bodyPr>
          <a:lstStyle/>
          <a:p>
            <a:pPr indent="0" marL="0">
              <a:buNone/>
            </a:pPr>
            <a:r>
              <a:rPr lang="en-US" sz="1050" dirty="0">
                <a:solidFill>
                  <a:srgbClr val="605E5C"/>
                </a:solidFill>
                <a:latin typeface="Segoe UI" pitchFamily="34" charset="0"/>
                <a:ea typeface="Segoe UI" pitchFamily="34" charset="-122"/>
                <a:cs typeface="Segoe UI" pitchFamily="34" charset="-120"/>
              </a:rPr>
              <a:t>One clear scenario</a:t>
            </a:r>
            <a:endParaRPr lang="en-US" sz="1050" dirty="0"/>
          </a:p>
        </p:txBody>
      </p:sp>
      <p:sp>
        <p:nvSpPr>
          <p:cNvPr id="39" name="Shape 36"/>
          <p:cNvSpPr/>
          <p:nvPr/>
        </p:nvSpPr>
        <p:spPr>
          <a:xfrm>
            <a:off x="3429000" y="3749040"/>
            <a:ext cx="2240280" cy="1280160"/>
          </a:xfrm>
          <a:prstGeom prst="roundRect">
            <a:avLst/>
          </a:prstGeom>
          <a:solidFill>
            <a:srgbClr val="FFFFFF"/>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40" name="Text 37"/>
          <p:cNvSpPr/>
          <p:nvPr/>
        </p:nvSpPr>
        <p:spPr>
          <a:xfrm>
            <a:off x="3566160" y="3931920"/>
            <a:ext cx="658368" cy="438912"/>
          </a:xfrm>
          <a:prstGeom prst="rect">
            <a:avLst/>
          </a:prstGeom>
          <a:noFill/>
          <a:ln/>
        </p:spPr>
        <p:txBody>
          <a:bodyPr wrap="square" lIns="0" tIns="0" rIns="0" bIns="0" rtlCol="0" anchor="ctr"/>
          <a:lstStyle/>
          <a:p>
            <a:pPr algn="ctr" indent="0" marL="0">
              <a:buNone/>
            </a:pPr>
            <a:r>
              <a:rPr lang="en-US" sz="2500" b="1" dirty="0">
                <a:solidFill>
                  <a:srgbClr val="107C10"/>
                </a:solidFill>
                <a:latin typeface="Segoe UI Semibold" pitchFamily="34" charset="0"/>
                <a:ea typeface="Segoe UI Semibold" pitchFamily="34" charset="-122"/>
                <a:cs typeface="Segoe UI Semibold" pitchFamily="34" charset="-120"/>
              </a:rPr>
              <a:t>31</a:t>
            </a:r>
            <a:endParaRPr lang="en-US" sz="2500" dirty="0"/>
          </a:p>
        </p:txBody>
      </p:sp>
      <p:sp>
        <p:nvSpPr>
          <p:cNvPr id="41" name="Text 38"/>
          <p:cNvSpPr/>
          <p:nvPr/>
        </p:nvSpPr>
        <p:spPr>
          <a:xfrm>
            <a:off x="4251960" y="3968496"/>
            <a:ext cx="1234440" cy="228600"/>
          </a:xfrm>
          <a:prstGeom prst="rect">
            <a:avLst/>
          </a:prstGeom>
          <a:noFill/>
          <a:ln/>
        </p:spPr>
        <p:txBody>
          <a:bodyPr wrap="square" lIns="0" tIns="0" rIns="0" bIns="0" rtlCol="0" anchor="ctr">
            <a:normAutofit/>
          </a:bodyPr>
          <a:lstStyle/>
          <a:p>
            <a:pPr indent="0" marL="0">
              <a:buNone/>
            </a:pPr>
            <a:r>
              <a:rPr lang="en-US" sz="1250" b="1" dirty="0">
                <a:solidFill>
                  <a:srgbClr val="1B1A19"/>
                </a:solidFill>
                <a:latin typeface="Segoe UI Semibold" pitchFamily="34" charset="0"/>
                <a:ea typeface="Segoe UI Semibold" pitchFamily="34" charset="-122"/>
                <a:cs typeface="Segoe UI Semibold" pitchFamily="34" charset="-120"/>
              </a:rPr>
              <a:t>MVP confirmed</a:t>
            </a:r>
            <a:endParaRPr lang="en-US" sz="1250" dirty="0"/>
          </a:p>
        </p:txBody>
      </p:sp>
      <p:sp>
        <p:nvSpPr>
          <p:cNvPr id="42" name="Text 39"/>
          <p:cNvSpPr/>
          <p:nvPr/>
        </p:nvSpPr>
        <p:spPr>
          <a:xfrm>
            <a:off x="4251960" y="4361688"/>
            <a:ext cx="1234440" cy="320040"/>
          </a:xfrm>
          <a:prstGeom prst="rect">
            <a:avLst/>
          </a:prstGeom>
          <a:noFill/>
          <a:ln/>
        </p:spPr>
        <p:txBody>
          <a:bodyPr wrap="square" lIns="0" tIns="0" rIns="0" bIns="0" rtlCol="0" anchor="ctr">
            <a:normAutofit/>
          </a:bodyPr>
          <a:lstStyle/>
          <a:p>
            <a:pPr indent="0" marL="0">
              <a:buNone/>
            </a:pPr>
            <a:r>
              <a:rPr lang="en-US" sz="1050" dirty="0">
                <a:solidFill>
                  <a:srgbClr val="605E5C"/>
                </a:solidFill>
                <a:latin typeface="Segoe UI" pitchFamily="34" charset="0"/>
                <a:ea typeface="Segoe UI" pitchFamily="34" charset="-122"/>
                <a:cs typeface="Segoe UI" pitchFamily="34" charset="-120"/>
              </a:rPr>
              <a:t>Human gate passed</a:t>
            </a:r>
            <a:endParaRPr lang="en-US" sz="1050" dirty="0"/>
          </a:p>
        </p:txBody>
      </p:sp>
      <p:sp>
        <p:nvSpPr>
          <p:cNvPr id="43" name="Shape 40"/>
          <p:cNvSpPr/>
          <p:nvPr/>
        </p:nvSpPr>
        <p:spPr>
          <a:xfrm>
            <a:off x="6035040" y="3749040"/>
            <a:ext cx="2240280" cy="1280160"/>
          </a:xfrm>
          <a:prstGeom prst="roundRect">
            <a:avLst/>
          </a:prstGeom>
          <a:solidFill>
            <a:srgbClr val="FFFFFF"/>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44" name="Text 41"/>
          <p:cNvSpPr/>
          <p:nvPr/>
        </p:nvSpPr>
        <p:spPr>
          <a:xfrm>
            <a:off x="6172200" y="3931920"/>
            <a:ext cx="658368" cy="438912"/>
          </a:xfrm>
          <a:prstGeom prst="rect">
            <a:avLst/>
          </a:prstGeom>
          <a:noFill/>
          <a:ln/>
        </p:spPr>
        <p:txBody>
          <a:bodyPr wrap="square" lIns="0" tIns="0" rIns="0" bIns="0" rtlCol="0" anchor="ctr"/>
          <a:lstStyle/>
          <a:p>
            <a:pPr algn="ctr" indent="0" marL="0">
              <a:buNone/>
            </a:pPr>
            <a:r>
              <a:rPr lang="en-US" sz="2500" b="1" dirty="0">
                <a:solidFill>
                  <a:srgbClr val="8661C5"/>
                </a:solidFill>
                <a:latin typeface="Segoe UI Semibold" pitchFamily="34" charset="0"/>
                <a:ea typeface="Segoe UI Semibold" pitchFamily="34" charset="-122"/>
                <a:cs typeface="Segoe UI Semibold" pitchFamily="34" charset="-120"/>
              </a:rPr>
              <a:t>41</a:t>
            </a:r>
            <a:endParaRPr lang="en-US" sz="2500" dirty="0"/>
          </a:p>
        </p:txBody>
      </p:sp>
      <p:sp>
        <p:nvSpPr>
          <p:cNvPr id="45" name="Text 42"/>
          <p:cNvSpPr/>
          <p:nvPr/>
        </p:nvSpPr>
        <p:spPr>
          <a:xfrm>
            <a:off x="6858000" y="3968496"/>
            <a:ext cx="1234440" cy="228600"/>
          </a:xfrm>
          <a:prstGeom prst="rect">
            <a:avLst/>
          </a:prstGeom>
          <a:noFill/>
          <a:ln/>
        </p:spPr>
        <p:txBody>
          <a:bodyPr wrap="square" lIns="0" tIns="0" rIns="0" bIns="0" rtlCol="0" anchor="ctr">
            <a:normAutofit/>
          </a:bodyPr>
          <a:lstStyle/>
          <a:p>
            <a:pPr indent="0" marL="0">
              <a:buNone/>
            </a:pPr>
            <a:r>
              <a:rPr lang="en-US" sz="1250" b="1" dirty="0">
                <a:solidFill>
                  <a:srgbClr val="1B1A19"/>
                </a:solidFill>
                <a:latin typeface="Segoe UI Semibold" pitchFamily="34" charset="0"/>
                <a:ea typeface="Segoe UI Semibold" pitchFamily="34" charset="-122"/>
                <a:cs typeface="Segoe UI Semibold" pitchFamily="34" charset="-120"/>
              </a:rPr>
              <a:t>Assets packaged</a:t>
            </a:r>
            <a:endParaRPr lang="en-US" sz="1250" dirty="0"/>
          </a:p>
        </p:txBody>
      </p:sp>
      <p:sp>
        <p:nvSpPr>
          <p:cNvPr id="46" name="Text 43"/>
          <p:cNvSpPr/>
          <p:nvPr/>
        </p:nvSpPr>
        <p:spPr>
          <a:xfrm>
            <a:off x="6858000" y="4361688"/>
            <a:ext cx="1234440" cy="320040"/>
          </a:xfrm>
          <a:prstGeom prst="rect">
            <a:avLst/>
          </a:prstGeom>
          <a:noFill/>
          <a:ln/>
        </p:spPr>
        <p:txBody>
          <a:bodyPr wrap="square" lIns="0" tIns="0" rIns="0" bIns="0" rtlCol="0" anchor="ctr">
            <a:normAutofit/>
          </a:bodyPr>
          <a:lstStyle/>
          <a:p>
            <a:pPr indent="0" marL="0">
              <a:buNone/>
            </a:pPr>
            <a:r>
              <a:rPr lang="en-US" sz="1050" dirty="0">
                <a:solidFill>
                  <a:srgbClr val="605E5C"/>
                </a:solidFill>
                <a:latin typeface="Segoe UI" pitchFamily="34" charset="0"/>
                <a:ea typeface="Segoe UI" pitchFamily="34" charset="-122"/>
                <a:cs typeface="Segoe UI" pitchFamily="34" charset="-120"/>
              </a:rPr>
              <a:t>Demo + live twins</a:t>
            </a:r>
            <a:endParaRPr lang="en-US" sz="1050" dirty="0"/>
          </a:p>
        </p:txBody>
      </p:sp>
      <p:sp>
        <p:nvSpPr>
          <p:cNvPr id="47" name="Shape 44"/>
          <p:cNvSpPr/>
          <p:nvPr/>
        </p:nvSpPr>
        <p:spPr>
          <a:xfrm>
            <a:off x="8641080" y="3749040"/>
            <a:ext cx="2240280" cy="1280160"/>
          </a:xfrm>
          <a:prstGeom prst="roundRect">
            <a:avLst/>
          </a:prstGeom>
          <a:solidFill>
            <a:srgbClr val="FFFFFF"/>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48" name="Text 45"/>
          <p:cNvSpPr/>
          <p:nvPr/>
        </p:nvSpPr>
        <p:spPr>
          <a:xfrm>
            <a:off x="8778240" y="3931920"/>
            <a:ext cx="658368" cy="438912"/>
          </a:xfrm>
          <a:prstGeom prst="rect">
            <a:avLst/>
          </a:prstGeom>
          <a:noFill/>
          <a:ln/>
        </p:spPr>
        <p:txBody>
          <a:bodyPr wrap="square" lIns="0" tIns="0" rIns="0" bIns="0" rtlCol="0" anchor="ctr"/>
          <a:lstStyle/>
          <a:p>
            <a:pPr algn="ctr" indent="0" marL="0">
              <a:buNone/>
            </a:pPr>
            <a:r>
              <a:rPr lang="en-US" sz="2500" b="1" dirty="0">
                <a:solidFill>
                  <a:srgbClr val="0078D4"/>
                </a:solidFill>
                <a:latin typeface="Segoe UI Semibold" pitchFamily="34" charset="0"/>
                <a:ea typeface="Segoe UI Semibold" pitchFamily="34" charset="-122"/>
                <a:cs typeface="Segoe UI Semibold" pitchFamily="34" charset="-120"/>
              </a:rPr>
              <a:t>57</a:t>
            </a:r>
            <a:endParaRPr lang="en-US" sz="2500" dirty="0"/>
          </a:p>
        </p:txBody>
      </p:sp>
      <p:sp>
        <p:nvSpPr>
          <p:cNvPr id="49" name="Text 46"/>
          <p:cNvSpPr/>
          <p:nvPr/>
        </p:nvSpPr>
        <p:spPr>
          <a:xfrm>
            <a:off x="9464040" y="3968496"/>
            <a:ext cx="1234440" cy="228600"/>
          </a:xfrm>
          <a:prstGeom prst="rect">
            <a:avLst/>
          </a:prstGeom>
          <a:noFill/>
          <a:ln/>
        </p:spPr>
        <p:txBody>
          <a:bodyPr wrap="square" lIns="0" tIns="0" rIns="0" bIns="0" rtlCol="0" anchor="ctr">
            <a:normAutofit/>
          </a:bodyPr>
          <a:lstStyle/>
          <a:p>
            <a:pPr indent="0" marL="0">
              <a:buNone/>
            </a:pPr>
            <a:r>
              <a:rPr lang="en-US" sz="1250" b="1" dirty="0">
                <a:solidFill>
                  <a:srgbClr val="1B1A19"/>
                </a:solidFill>
                <a:latin typeface="Segoe UI Semibold" pitchFamily="34" charset="0"/>
                <a:ea typeface="Segoe UI Semibold" pitchFamily="34" charset="-122"/>
                <a:cs typeface="Segoe UI Semibold" pitchFamily="34" charset="-120"/>
              </a:rPr>
              <a:t>Agent tested</a:t>
            </a:r>
            <a:endParaRPr lang="en-US" sz="1250" dirty="0"/>
          </a:p>
        </p:txBody>
      </p:sp>
      <p:sp>
        <p:nvSpPr>
          <p:cNvPr id="50" name="Text 47"/>
          <p:cNvSpPr/>
          <p:nvPr/>
        </p:nvSpPr>
        <p:spPr>
          <a:xfrm>
            <a:off x="9464040" y="4361688"/>
            <a:ext cx="1234440" cy="320040"/>
          </a:xfrm>
          <a:prstGeom prst="rect">
            <a:avLst/>
          </a:prstGeom>
          <a:noFill/>
          <a:ln/>
        </p:spPr>
        <p:txBody>
          <a:bodyPr wrap="square" lIns="0" tIns="0" rIns="0" bIns="0" rtlCol="0" anchor="ctr">
            <a:normAutofit/>
          </a:bodyPr>
          <a:lstStyle/>
          <a:p>
            <a:pPr indent="0" marL="0">
              <a:buNone/>
            </a:pPr>
            <a:r>
              <a:rPr lang="en-US" sz="1050" dirty="0">
                <a:solidFill>
                  <a:srgbClr val="605E5C"/>
                </a:solidFill>
                <a:latin typeface="Segoe UI" pitchFamily="34" charset="0"/>
                <a:ea typeface="Segoe UI" pitchFamily="34" charset="-122"/>
                <a:cs typeface="Segoe UI" pitchFamily="34" charset="-120"/>
              </a:rPr>
              <a:t>Evidence captured</a:t>
            </a:r>
            <a:endParaRPr lang="en-US" sz="1050" dirty="0"/>
          </a:p>
        </p:txBody>
      </p:sp>
      <p:sp>
        <p:nvSpPr>
          <p:cNvPr id="51" name="Shape 48"/>
          <p:cNvSpPr/>
          <p:nvPr/>
        </p:nvSpPr>
        <p:spPr>
          <a:xfrm>
            <a:off x="3794760" y="5559552"/>
            <a:ext cx="4617720" cy="310896"/>
          </a:xfrm>
          <a:prstGeom prst="roundRect">
            <a:avLst/>
          </a:prstGeom>
          <a:solidFill>
            <a:srgbClr val="DCEEFF"/>
          </a:solidFill>
          <a:ln w="12700">
            <a:solidFill>
              <a:srgbClr val="DCEEFF">
                <a:alpha val="0"/>
              </a:srgbClr>
            </a:solidFill>
            <a:prstDash val="solid"/>
          </a:ln>
        </p:spPr>
      </p:sp>
      <p:sp>
        <p:nvSpPr>
          <p:cNvPr id="52" name="Text 49"/>
          <p:cNvSpPr/>
          <p:nvPr/>
        </p:nvSpPr>
        <p:spPr>
          <a:xfrm>
            <a:off x="3858768" y="5614416"/>
            <a:ext cx="4489704" cy="164592"/>
          </a:xfrm>
          <a:prstGeom prst="rect">
            <a:avLst/>
          </a:prstGeom>
          <a:noFill/>
          <a:ln/>
        </p:spPr>
        <p:txBody>
          <a:bodyPr wrap="square" lIns="0" tIns="0" rIns="0" bIns="0" rtlCol="0" anchor="ctr">
            <a:normAutofit/>
          </a:bodyPr>
          <a:lstStyle/>
          <a:p>
            <a:pPr algn="ctr" indent="0" marL="0">
              <a:buNone/>
            </a:pPr>
            <a:r>
              <a:rPr lang="en-US" sz="1100" b="1" dirty="0">
                <a:solidFill>
                  <a:srgbClr val="005A9E"/>
                </a:solidFill>
                <a:latin typeface="Segoe UI Semibold" pitchFamily="34" charset="0"/>
                <a:ea typeface="Segoe UI Semibold" pitchFamily="34" charset="-122"/>
                <a:cs typeface="Segoe UI Semibold" pitchFamily="34" charset="-120"/>
              </a:rPr>
              <a:t>45 MINUTES HANDS-ON AFTER ALIGNMENT</a:t>
            </a:r>
            <a:endParaRPr lang="en-US" sz="1100" dirty="0"/>
          </a:p>
        </p:txBody>
      </p:sp>
      <p:sp>
        <p:nvSpPr>
          <p:cNvPr id="53" name="Text 50"/>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03</a:t>
            </a:r>
            <a:endParaRPr lang="en-US" sz="8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0078D4"/>
          </a:solidFill>
          <a:ln w="12700">
            <a:solidFill>
              <a:srgbClr val="0078D4">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0078D4"/>
                </a:solidFill>
                <a:latin typeface="Segoe UI Semibold" pitchFamily="34" charset="0"/>
                <a:ea typeface="Segoe UI Semibold" pitchFamily="34" charset="-122"/>
                <a:cs typeface="Segoe UI Semibold" pitchFamily="34" charset="-120"/>
              </a:rPr>
              <a:t>THE MENTAL MODEL</a:t>
            </a:r>
            <a:endParaRPr lang="en-US" sz="900" dirty="0"/>
          </a:p>
        </p:txBody>
      </p:sp>
      <p:sp>
        <p:nvSpPr>
          <p:cNvPr id="9" name="Text 7"/>
          <p:cNvSpPr/>
          <p:nvPr/>
        </p:nvSpPr>
        <p:spPr>
          <a:xfrm>
            <a:off x="566928" y="1033272"/>
            <a:ext cx="8961120" cy="749808"/>
          </a:xfrm>
          <a:prstGeom prst="rect">
            <a:avLst/>
          </a:prstGeom>
          <a:noFill/>
          <a:ln/>
        </p:spPr>
        <p:txBody>
          <a:bodyPr wrap="square" lIns="0" tIns="0" rIns="0" bIns="0" rtlCol="0" anchor="ctr">
            <a:normAutofit/>
          </a:bodyPr>
          <a:lstStyle/>
          <a:p>
            <a:pPr indent="0" marL="0">
              <a:buNone/>
            </a:pPr>
            <a:r>
              <a:rPr lang="en-US" sz="2600" b="1" dirty="0">
                <a:solidFill>
                  <a:srgbClr val="1B1A19"/>
                </a:solidFill>
                <a:latin typeface="Segoe UI Semibold" pitchFamily="34" charset="0"/>
                <a:ea typeface="Segoe UI Semibold" pitchFamily="34" charset="-122"/>
                <a:cs typeface="Segoe UI Semibold" pitchFamily="34" charset="-120"/>
              </a:rPr>
              <a:t xml:space="preserve">RAPP is the </a:t>
            </a:r>
            <a:pPr indent="0" marL="0">
              <a:buNone/>
            </a:pPr>
            <a:r>
              <a:rPr lang="en-US" sz="2600" b="1" dirty="0">
                <a:solidFill>
                  <a:srgbClr val="0078D4"/>
                </a:solidFill>
                <a:latin typeface="Segoe UI Semibold" pitchFamily="34" charset="0"/>
                <a:ea typeface="Segoe UI Semibold" pitchFamily="34" charset="-122"/>
                <a:cs typeface="Segoe UI Semibold" pitchFamily="34" charset="-120"/>
              </a:rPr>
              <a:t>on-ramp</a:t>
            </a:r>
            <a:pPr indent="0" marL="0">
              <a:buNone/>
            </a:pPr>
            <a:r>
              <a:rPr lang="en-US" sz="2600" b="1" dirty="0">
                <a:solidFill>
                  <a:srgbClr val="1B1A19"/>
                </a:solidFill>
                <a:latin typeface="Segoe UI Semibold" pitchFamily="34" charset="0"/>
                <a:ea typeface="Segoe UI Semibold" pitchFamily="34" charset="-122"/>
                <a:cs typeface="Segoe UI Semibold" pitchFamily="34" charset="-120"/>
              </a:rPr>
              <a:t>, not another destination.</a:t>
            </a:r>
            <a:endParaRPr lang="en-US" sz="2600" dirty="0"/>
          </a:p>
        </p:txBody>
      </p:sp>
      <p:sp>
        <p:nvSpPr>
          <p:cNvPr id="10" name="Text 8"/>
          <p:cNvSpPr/>
          <p:nvPr/>
        </p:nvSpPr>
        <p:spPr>
          <a:xfrm>
            <a:off x="594360" y="1993392"/>
            <a:ext cx="5212080" cy="658368"/>
          </a:xfrm>
          <a:prstGeom prst="rect">
            <a:avLst/>
          </a:prstGeom>
          <a:noFill/>
          <a:ln/>
        </p:spPr>
        <p:txBody>
          <a:bodyPr wrap="square" lIns="0" tIns="0" rIns="0" bIns="0" rtlCol="0" anchor="ctr">
            <a:normAutofit/>
          </a:bodyPr>
          <a:lstStyle/>
          <a:p>
            <a:pPr indent="0" marL="0">
              <a:buNone/>
            </a:pPr>
            <a:r>
              <a:rPr lang="en-US" sz="1500" dirty="0">
                <a:solidFill>
                  <a:srgbClr val="3B3A39"/>
                </a:solidFill>
                <a:latin typeface="Segoe UI" pitchFamily="34" charset="0"/>
                <a:ea typeface="Segoe UI" pitchFamily="34" charset="-122"/>
                <a:cs typeface="Segoe UI" pitchFamily="34" charset="-120"/>
              </a:rPr>
              <a:t>It turns customer evidence into portable agent logic, then translates that work into the Microsoft stack that fits.</a:t>
            </a:r>
            <a:endParaRPr lang="en-US" sz="1500" dirty="0"/>
          </a:p>
        </p:txBody>
      </p:sp>
      <p:sp>
        <p:nvSpPr>
          <p:cNvPr id="11" name="Shape 9"/>
          <p:cNvSpPr/>
          <p:nvPr/>
        </p:nvSpPr>
        <p:spPr>
          <a:xfrm>
            <a:off x="594360" y="2907792"/>
            <a:ext cx="4892040" cy="2148840"/>
          </a:xfrm>
          <a:prstGeom prst="roundRect">
            <a:avLst/>
          </a:prstGeom>
          <a:solidFill>
            <a:srgbClr val="EAF4FD"/>
          </a:solidFill>
          <a:ln w="12700">
            <a:solidFill>
              <a:srgbClr val="BFE6FF"/>
            </a:solidFill>
            <a:prstDash val="solid"/>
          </a:ln>
          <a:effectLst>
            <a:outerShdw sx="100000" sy="100000" kx="0" ky="0" algn="bl" rotWithShape="0" blurRad="63500" dist="50800" dir="8100000">
              <a:srgbClr val="000000">
                <a:alpha val="12000"/>
              </a:srgbClr>
            </a:outerShdw>
          </a:effectLst>
        </p:spPr>
      </p:sp>
      <p:sp>
        <p:nvSpPr>
          <p:cNvPr id="12" name="Shape 10"/>
          <p:cNvSpPr/>
          <p:nvPr/>
        </p:nvSpPr>
        <p:spPr>
          <a:xfrm>
            <a:off x="868680" y="3246120"/>
            <a:ext cx="566928" cy="566928"/>
          </a:xfrm>
          <a:prstGeom prst="ellipse">
            <a:avLst/>
          </a:prstGeom>
          <a:solidFill>
            <a:srgbClr val="FFFFFF"/>
          </a:solidFill>
          <a:ln w="15240">
            <a:solidFill>
              <a:srgbClr val="0078D4"/>
            </a:solidFill>
            <a:prstDash val="solid"/>
          </a:ln>
        </p:spPr>
      </p:sp>
      <p:sp>
        <p:nvSpPr>
          <p:cNvPr id="13" name="Text 11"/>
          <p:cNvSpPr/>
          <p:nvPr/>
        </p:nvSpPr>
        <p:spPr>
          <a:xfrm>
            <a:off x="950976" y="3401568"/>
            <a:ext cx="402336" cy="164592"/>
          </a:xfrm>
          <a:prstGeom prst="rect">
            <a:avLst/>
          </a:prstGeom>
          <a:noFill/>
          <a:ln/>
        </p:spPr>
        <p:txBody>
          <a:bodyPr wrap="square" lIns="0" tIns="0" rIns="0" bIns="0" rtlCol="0" anchor="ctr"/>
          <a:lstStyle/>
          <a:p>
            <a:pPr algn="ctr" indent="0" marL="0">
              <a:buNone/>
            </a:pPr>
            <a:r>
              <a:rPr lang="en-US" sz="1200" b="1" dirty="0">
                <a:solidFill>
                  <a:srgbClr val="0078D4"/>
                </a:solidFill>
                <a:latin typeface="Segoe UI Semibold" pitchFamily="34" charset="0"/>
                <a:ea typeface="Segoe UI Semibold" pitchFamily="34" charset="-122"/>
                <a:cs typeface="Segoe UI Semibold" pitchFamily="34" charset="-120"/>
              </a:rPr>
              <a:t>IN</a:t>
            </a:r>
            <a:endParaRPr lang="en-US" sz="1200" dirty="0"/>
          </a:p>
        </p:txBody>
      </p:sp>
      <p:sp>
        <p:nvSpPr>
          <p:cNvPr id="14" name="Text 12"/>
          <p:cNvSpPr/>
          <p:nvPr/>
        </p:nvSpPr>
        <p:spPr>
          <a:xfrm>
            <a:off x="1627632" y="3227832"/>
            <a:ext cx="2286000" cy="256032"/>
          </a:xfrm>
          <a:prstGeom prst="rect">
            <a:avLst/>
          </a:prstGeom>
          <a:noFill/>
          <a:ln/>
        </p:spPr>
        <p:txBody>
          <a:bodyPr wrap="square" lIns="0" tIns="0" rIns="0" bIns="0" rtlCol="0" anchor="ctr"/>
          <a:lstStyle/>
          <a:p>
            <a:pPr indent="0" marL="0">
              <a:buNone/>
            </a:pPr>
            <a:r>
              <a:rPr lang="en-US" sz="1600" b="1" dirty="0">
                <a:solidFill>
                  <a:srgbClr val="103A6B"/>
                </a:solidFill>
                <a:latin typeface="Segoe UI Semibold" pitchFamily="34" charset="0"/>
                <a:ea typeface="Segoe UI Semibold" pitchFamily="34" charset="-122"/>
                <a:cs typeface="Segoe UI Semibold" pitchFamily="34" charset="-120"/>
              </a:rPr>
              <a:t>Customer evidence</a:t>
            </a:r>
            <a:endParaRPr lang="en-US" sz="1600" dirty="0"/>
          </a:p>
        </p:txBody>
      </p:sp>
      <p:sp>
        <p:nvSpPr>
          <p:cNvPr id="15" name="Text 13"/>
          <p:cNvSpPr/>
          <p:nvPr/>
        </p:nvSpPr>
        <p:spPr>
          <a:xfrm>
            <a:off x="1627632" y="3621024"/>
            <a:ext cx="3383280" cy="502920"/>
          </a:xfrm>
          <a:prstGeom prst="rect">
            <a:avLst/>
          </a:prstGeom>
          <a:noFill/>
          <a:ln/>
        </p:spPr>
        <p:txBody>
          <a:bodyPr wrap="square" lIns="0" tIns="0" rIns="0" bIns="0" rtlCol="0" anchor="ctr">
            <a:normAutofit/>
          </a:bodyPr>
          <a:lstStyle/>
          <a:p>
            <a:pPr indent="0" marL="0">
              <a:buNone/>
            </a:pPr>
            <a:r>
              <a:rPr lang="en-US" sz="1300" dirty="0">
                <a:solidFill>
                  <a:srgbClr val="3B3A39"/>
                </a:solidFill>
                <a:latin typeface="Segoe UI" pitchFamily="34" charset="0"/>
                <a:ea typeface="Segoe UI" pitchFamily="34" charset="-122"/>
                <a:cs typeface="Segoe UI" pitchFamily="34" charset="-120"/>
              </a:rPr>
              <a:t>Transcript, requirements, notes, tables, or existing agent source.</a:t>
            </a:r>
            <a:endParaRPr lang="en-US" sz="1300" dirty="0"/>
          </a:p>
        </p:txBody>
      </p:sp>
      <p:sp>
        <p:nvSpPr>
          <p:cNvPr id="16" name="Text 14"/>
          <p:cNvSpPr/>
          <p:nvPr/>
        </p:nvSpPr>
        <p:spPr>
          <a:xfrm>
            <a:off x="868680" y="4407408"/>
            <a:ext cx="4023360" cy="329184"/>
          </a:xfrm>
          <a:prstGeom prst="rect">
            <a:avLst/>
          </a:prstGeom>
          <a:noFill/>
          <a:ln/>
        </p:spPr>
        <p:txBody>
          <a:bodyPr wrap="square" lIns="0" tIns="0" rIns="0" bIns="0" rtlCol="0" anchor="ctr">
            <a:normAutofit/>
          </a:bodyPr>
          <a:lstStyle/>
          <a:p>
            <a:pPr indent="0" marL="0">
              <a:buNone/>
            </a:pPr>
            <a:r>
              <a:rPr lang="en-US" sz="1120" b="1" dirty="0">
                <a:solidFill>
                  <a:srgbClr val="005A9E"/>
                </a:solidFill>
                <a:latin typeface="Segoe UI Semibold" pitchFamily="34" charset="0"/>
                <a:ea typeface="Segoe UI Semibold" pitchFamily="34" charset="-122"/>
                <a:cs typeface="Segoe UI Semibold" pitchFamily="34" charset="-120"/>
              </a:rPr>
              <a:t>For this workshop: RAPP = the five-step Documents → Copilot Studio workflow.</a:t>
            </a:r>
            <a:endParaRPr lang="en-US" sz="1120" dirty="0"/>
          </a:p>
        </p:txBody>
      </p:sp>
      <p:sp>
        <p:nvSpPr>
          <p:cNvPr id="17" name="Shape 15"/>
          <p:cNvSpPr/>
          <p:nvPr/>
        </p:nvSpPr>
        <p:spPr>
          <a:xfrm>
            <a:off x="6080760" y="1920240"/>
            <a:ext cx="1572768" cy="1508760"/>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pic>
        <p:nvPicPr>
          <p:cNvPr id="18" name="Image 0" descr="Power Apps"/>
          <p:cNvPicPr>
            <a:picLocks noChangeAspect="1"/>
          </p:cNvPicPr>
          <p:nvPr/>
        </p:nvPicPr>
        <p:blipFill>
          <a:blip r:embed="rId1">
            <a:alphaModFix amt="65000"/>
          </a:blip>
          <a:stretch>
            <a:fillRect/>
          </a:stretch>
        </p:blipFill>
        <p:spPr>
          <a:xfrm>
            <a:off x="6528816" y="2148840"/>
            <a:ext cx="676656" cy="676656"/>
          </a:xfrm>
          <a:prstGeom prst="rect">
            <a:avLst/>
          </a:prstGeom>
        </p:spPr>
      </p:pic>
      <p:sp>
        <p:nvSpPr>
          <p:cNvPr id="19" name="Text 16"/>
          <p:cNvSpPr/>
          <p:nvPr/>
        </p:nvSpPr>
        <p:spPr>
          <a:xfrm>
            <a:off x="6190488" y="2971800"/>
            <a:ext cx="1353312" cy="210312"/>
          </a:xfrm>
          <a:prstGeom prst="rect">
            <a:avLst/>
          </a:prstGeom>
          <a:noFill/>
          <a:ln/>
        </p:spPr>
        <p:txBody>
          <a:bodyPr wrap="square" lIns="0" tIns="0" rIns="0" bIns="0" rtlCol="0" anchor="ctr">
            <a:normAutofit/>
          </a:bodyPr>
          <a:lstStyle/>
          <a:p>
            <a:pPr algn="ctr" indent="0" marL="0">
              <a:buNone/>
            </a:pPr>
            <a:r>
              <a:rPr lang="en-US" sz="950" b="1" dirty="0">
                <a:solidFill>
                  <a:srgbClr val="605E5C"/>
                </a:solidFill>
                <a:latin typeface="Segoe UI Semibold" pitchFamily="34" charset="0"/>
                <a:ea typeface="Segoe UI Semibold" pitchFamily="34" charset="-122"/>
                <a:cs typeface="Segoe UI Semibold" pitchFamily="34" charset="-120"/>
              </a:rPr>
              <a:t>Power Apps</a:t>
            </a:r>
            <a:endParaRPr lang="en-US" sz="950" dirty="0"/>
          </a:p>
        </p:txBody>
      </p:sp>
      <p:sp>
        <p:nvSpPr>
          <p:cNvPr id="20" name="Shape 17"/>
          <p:cNvSpPr/>
          <p:nvPr/>
        </p:nvSpPr>
        <p:spPr>
          <a:xfrm>
            <a:off x="7927848" y="1920240"/>
            <a:ext cx="1572768" cy="1508760"/>
          </a:xfrm>
          <a:prstGeom prst="roundRect">
            <a:avLst/>
          </a:prstGeom>
          <a:solidFill>
            <a:srgbClr val="DCEEFF"/>
          </a:solidFill>
          <a:ln w="12700">
            <a:solidFill>
              <a:srgbClr val="0078D4"/>
            </a:solidFill>
            <a:prstDash val="solid"/>
          </a:ln>
          <a:effectLst>
            <a:outerShdw sx="100000" sy="100000" kx="0" ky="0" algn="bl" rotWithShape="0" blurRad="63500" dist="50800" dir="8100000">
              <a:srgbClr val="000000">
                <a:alpha val="12000"/>
              </a:srgbClr>
            </a:outerShdw>
          </a:effectLst>
        </p:spPr>
      </p:sp>
      <p:pic>
        <p:nvPicPr>
          <p:cNvPr id="21" name="Image 1" descr="Copilot Studio"/>
          <p:cNvPicPr>
            <a:picLocks noChangeAspect="1"/>
          </p:cNvPicPr>
          <p:nvPr/>
        </p:nvPicPr>
        <p:blipFill>
          <a:blip r:embed="rId2"/>
          <a:stretch>
            <a:fillRect/>
          </a:stretch>
        </p:blipFill>
        <p:spPr>
          <a:xfrm>
            <a:off x="8375904" y="2148840"/>
            <a:ext cx="676656" cy="676656"/>
          </a:xfrm>
          <a:prstGeom prst="rect">
            <a:avLst/>
          </a:prstGeom>
        </p:spPr>
      </p:pic>
      <p:sp>
        <p:nvSpPr>
          <p:cNvPr id="22" name="Text 18"/>
          <p:cNvSpPr/>
          <p:nvPr/>
        </p:nvSpPr>
        <p:spPr>
          <a:xfrm>
            <a:off x="8037576" y="2971800"/>
            <a:ext cx="1353312" cy="210312"/>
          </a:xfrm>
          <a:prstGeom prst="rect">
            <a:avLst/>
          </a:prstGeom>
          <a:noFill/>
          <a:ln/>
        </p:spPr>
        <p:txBody>
          <a:bodyPr wrap="square" lIns="0" tIns="0" rIns="0" bIns="0" rtlCol="0" anchor="ctr">
            <a:normAutofit/>
          </a:bodyPr>
          <a:lstStyle/>
          <a:p>
            <a:pPr algn="ctr" indent="0" marL="0">
              <a:buNone/>
            </a:pPr>
            <a:r>
              <a:rPr lang="en-US" sz="950" b="1" dirty="0">
                <a:solidFill>
                  <a:srgbClr val="005A9E"/>
                </a:solidFill>
                <a:latin typeface="Segoe UI Semibold" pitchFamily="34" charset="0"/>
                <a:ea typeface="Segoe UI Semibold" pitchFamily="34" charset="-122"/>
                <a:cs typeface="Segoe UI Semibold" pitchFamily="34" charset="-120"/>
              </a:rPr>
              <a:t>Copilot Studio</a:t>
            </a:r>
            <a:endParaRPr lang="en-US" sz="950" dirty="0"/>
          </a:p>
        </p:txBody>
      </p:sp>
      <p:sp>
        <p:nvSpPr>
          <p:cNvPr id="23" name="Shape 19"/>
          <p:cNvSpPr/>
          <p:nvPr/>
        </p:nvSpPr>
        <p:spPr>
          <a:xfrm>
            <a:off x="9774936" y="1920240"/>
            <a:ext cx="1572768" cy="1508760"/>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pic>
        <p:nvPicPr>
          <p:cNvPr id="24" name="Image 2" descr="Power Automate"/>
          <p:cNvPicPr>
            <a:picLocks noChangeAspect="1"/>
          </p:cNvPicPr>
          <p:nvPr/>
        </p:nvPicPr>
        <p:blipFill>
          <a:blip r:embed="rId3">
            <a:alphaModFix amt="65000"/>
          </a:blip>
          <a:stretch>
            <a:fillRect/>
          </a:stretch>
        </p:blipFill>
        <p:spPr>
          <a:xfrm>
            <a:off x="10222992" y="2148840"/>
            <a:ext cx="676656" cy="676656"/>
          </a:xfrm>
          <a:prstGeom prst="rect">
            <a:avLst/>
          </a:prstGeom>
        </p:spPr>
      </p:pic>
      <p:sp>
        <p:nvSpPr>
          <p:cNvPr id="25" name="Text 20"/>
          <p:cNvSpPr/>
          <p:nvPr/>
        </p:nvSpPr>
        <p:spPr>
          <a:xfrm>
            <a:off x="9884664" y="2971800"/>
            <a:ext cx="1353312" cy="210312"/>
          </a:xfrm>
          <a:prstGeom prst="rect">
            <a:avLst/>
          </a:prstGeom>
          <a:noFill/>
          <a:ln/>
        </p:spPr>
        <p:txBody>
          <a:bodyPr wrap="square" lIns="0" tIns="0" rIns="0" bIns="0" rtlCol="0" anchor="ctr">
            <a:normAutofit/>
          </a:bodyPr>
          <a:lstStyle/>
          <a:p>
            <a:pPr algn="ctr" indent="0" marL="0">
              <a:buNone/>
            </a:pPr>
            <a:r>
              <a:rPr lang="en-US" sz="950" b="1" dirty="0">
                <a:solidFill>
                  <a:srgbClr val="605E5C"/>
                </a:solidFill>
                <a:latin typeface="Segoe UI Semibold" pitchFamily="34" charset="0"/>
                <a:ea typeface="Segoe UI Semibold" pitchFamily="34" charset="-122"/>
                <a:cs typeface="Segoe UI Semibold" pitchFamily="34" charset="-120"/>
              </a:rPr>
              <a:t>Power Automate</a:t>
            </a:r>
            <a:endParaRPr lang="en-US" sz="950" dirty="0"/>
          </a:p>
        </p:txBody>
      </p:sp>
      <p:sp>
        <p:nvSpPr>
          <p:cNvPr id="26" name="Shape 21"/>
          <p:cNvSpPr/>
          <p:nvPr/>
        </p:nvSpPr>
        <p:spPr>
          <a:xfrm>
            <a:off x="6080760" y="3749040"/>
            <a:ext cx="1572768" cy="1508760"/>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pic>
        <p:nvPicPr>
          <p:cNvPr id="27" name="Image 3" descr="Power BI"/>
          <p:cNvPicPr>
            <a:picLocks noChangeAspect="1"/>
          </p:cNvPicPr>
          <p:nvPr/>
        </p:nvPicPr>
        <p:blipFill>
          <a:blip r:embed="rId4">
            <a:alphaModFix amt="65000"/>
          </a:blip>
          <a:stretch>
            <a:fillRect/>
          </a:stretch>
        </p:blipFill>
        <p:spPr>
          <a:xfrm>
            <a:off x="6528816" y="3977640"/>
            <a:ext cx="676656" cy="676656"/>
          </a:xfrm>
          <a:prstGeom prst="rect">
            <a:avLst/>
          </a:prstGeom>
        </p:spPr>
      </p:pic>
      <p:sp>
        <p:nvSpPr>
          <p:cNvPr id="28" name="Text 22"/>
          <p:cNvSpPr/>
          <p:nvPr/>
        </p:nvSpPr>
        <p:spPr>
          <a:xfrm>
            <a:off x="6190488" y="4800600"/>
            <a:ext cx="1353312" cy="210312"/>
          </a:xfrm>
          <a:prstGeom prst="rect">
            <a:avLst/>
          </a:prstGeom>
          <a:noFill/>
          <a:ln/>
        </p:spPr>
        <p:txBody>
          <a:bodyPr wrap="square" lIns="0" tIns="0" rIns="0" bIns="0" rtlCol="0" anchor="ctr">
            <a:normAutofit/>
          </a:bodyPr>
          <a:lstStyle/>
          <a:p>
            <a:pPr algn="ctr" indent="0" marL="0">
              <a:buNone/>
            </a:pPr>
            <a:r>
              <a:rPr lang="en-US" sz="950" b="1" dirty="0">
                <a:solidFill>
                  <a:srgbClr val="605E5C"/>
                </a:solidFill>
                <a:latin typeface="Segoe UI Semibold" pitchFamily="34" charset="0"/>
                <a:ea typeface="Segoe UI Semibold" pitchFamily="34" charset="-122"/>
                <a:cs typeface="Segoe UI Semibold" pitchFamily="34" charset="-120"/>
              </a:rPr>
              <a:t>Power BI</a:t>
            </a:r>
            <a:endParaRPr lang="en-US" sz="950" dirty="0"/>
          </a:p>
        </p:txBody>
      </p:sp>
      <p:sp>
        <p:nvSpPr>
          <p:cNvPr id="29" name="Shape 23"/>
          <p:cNvSpPr/>
          <p:nvPr/>
        </p:nvSpPr>
        <p:spPr>
          <a:xfrm>
            <a:off x="7927848" y="3749040"/>
            <a:ext cx="1572768" cy="1508760"/>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pic>
        <p:nvPicPr>
          <p:cNvPr id="30" name="Image 4" descr="Dataverse"/>
          <p:cNvPicPr>
            <a:picLocks noChangeAspect="1"/>
          </p:cNvPicPr>
          <p:nvPr/>
        </p:nvPicPr>
        <p:blipFill>
          <a:blip r:embed="rId5">
            <a:alphaModFix amt="65000"/>
          </a:blip>
          <a:stretch>
            <a:fillRect/>
          </a:stretch>
        </p:blipFill>
        <p:spPr>
          <a:xfrm>
            <a:off x="8375904" y="3977640"/>
            <a:ext cx="676656" cy="676656"/>
          </a:xfrm>
          <a:prstGeom prst="rect">
            <a:avLst/>
          </a:prstGeom>
        </p:spPr>
      </p:pic>
      <p:sp>
        <p:nvSpPr>
          <p:cNvPr id="31" name="Text 24"/>
          <p:cNvSpPr/>
          <p:nvPr/>
        </p:nvSpPr>
        <p:spPr>
          <a:xfrm>
            <a:off x="8037576" y="4800600"/>
            <a:ext cx="1353312" cy="210312"/>
          </a:xfrm>
          <a:prstGeom prst="rect">
            <a:avLst/>
          </a:prstGeom>
          <a:noFill/>
          <a:ln/>
        </p:spPr>
        <p:txBody>
          <a:bodyPr wrap="square" lIns="0" tIns="0" rIns="0" bIns="0" rtlCol="0" anchor="ctr">
            <a:normAutofit/>
          </a:bodyPr>
          <a:lstStyle/>
          <a:p>
            <a:pPr algn="ctr" indent="0" marL="0">
              <a:buNone/>
            </a:pPr>
            <a:r>
              <a:rPr lang="en-US" sz="950" b="1" dirty="0">
                <a:solidFill>
                  <a:srgbClr val="605E5C"/>
                </a:solidFill>
                <a:latin typeface="Segoe UI Semibold" pitchFamily="34" charset="0"/>
                <a:ea typeface="Segoe UI Semibold" pitchFamily="34" charset="-122"/>
                <a:cs typeface="Segoe UI Semibold" pitchFamily="34" charset="-120"/>
              </a:rPr>
              <a:t>Dataverse</a:t>
            </a:r>
            <a:endParaRPr lang="en-US" sz="950" dirty="0"/>
          </a:p>
        </p:txBody>
      </p:sp>
      <p:sp>
        <p:nvSpPr>
          <p:cNvPr id="32" name="Shape 25"/>
          <p:cNvSpPr/>
          <p:nvPr/>
        </p:nvSpPr>
        <p:spPr>
          <a:xfrm>
            <a:off x="9774936" y="3749040"/>
            <a:ext cx="1572768" cy="1508760"/>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pic>
        <p:nvPicPr>
          <p:cNvPr id="33" name="Image 5" descr="Azure AI Foundry"/>
          <p:cNvPicPr>
            <a:picLocks noChangeAspect="1"/>
          </p:cNvPicPr>
          <p:nvPr/>
        </p:nvPicPr>
        <p:blipFill>
          <a:blip r:embed="rId6">
            <a:alphaModFix amt="65000"/>
          </a:blip>
          <a:stretch>
            <a:fillRect/>
          </a:stretch>
        </p:blipFill>
        <p:spPr>
          <a:xfrm>
            <a:off x="10222992" y="3977640"/>
            <a:ext cx="676656" cy="676656"/>
          </a:xfrm>
          <a:prstGeom prst="rect">
            <a:avLst/>
          </a:prstGeom>
        </p:spPr>
      </p:pic>
      <p:sp>
        <p:nvSpPr>
          <p:cNvPr id="34" name="Text 26"/>
          <p:cNvSpPr/>
          <p:nvPr/>
        </p:nvSpPr>
        <p:spPr>
          <a:xfrm>
            <a:off x="9884664" y="4800600"/>
            <a:ext cx="1353312" cy="210312"/>
          </a:xfrm>
          <a:prstGeom prst="rect">
            <a:avLst/>
          </a:prstGeom>
          <a:noFill/>
          <a:ln/>
        </p:spPr>
        <p:txBody>
          <a:bodyPr wrap="square" lIns="0" tIns="0" rIns="0" bIns="0" rtlCol="0" anchor="ctr">
            <a:normAutofit/>
          </a:bodyPr>
          <a:lstStyle/>
          <a:p>
            <a:pPr algn="ctr" indent="0" marL="0">
              <a:buNone/>
            </a:pPr>
            <a:r>
              <a:rPr lang="en-US" sz="950" b="1" dirty="0">
                <a:solidFill>
                  <a:srgbClr val="605E5C"/>
                </a:solidFill>
                <a:latin typeface="Segoe UI Semibold" pitchFamily="34" charset="0"/>
                <a:ea typeface="Segoe UI Semibold" pitchFamily="34" charset="-122"/>
                <a:cs typeface="Segoe UI Semibold" pitchFamily="34" charset="-120"/>
              </a:rPr>
              <a:t>Azure AI Foundry</a:t>
            </a:r>
            <a:endParaRPr lang="en-US" sz="950" dirty="0"/>
          </a:p>
        </p:txBody>
      </p:sp>
      <p:sp>
        <p:nvSpPr>
          <p:cNvPr id="35" name="Shape 27"/>
          <p:cNvSpPr/>
          <p:nvPr/>
        </p:nvSpPr>
        <p:spPr>
          <a:xfrm>
            <a:off x="5321808" y="3154680"/>
            <a:ext cx="411480" cy="457200"/>
          </a:xfrm>
          <a:prstGeom prst="chevron">
            <a:avLst/>
          </a:prstGeom>
          <a:solidFill>
            <a:srgbClr val="0078D4"/>
          </a:solidFill>
          <a:ln w="12700">
            <a:solidFill>
              <a:srgbClr val="0078D4">
                <a:alpha val="0"/>
              </a:srgbClr>
            </a:solidFill>
            <a:prstDash val="solid"/>
          </a:ln>
        </p:spPr>
      </p:sp>
      <p:sp>
        <p:nvSpPr>
          <p:cNvPr id="36" name="Text 28"/>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04</a:t>
            </a:r>
            <a:endParaRPr lang="en-US" sz="8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0078D4"/>
          </a:solidFill>
          <a:ln w="12700">
            <a:solidFill>
              <a:srgbClr val="0078D4">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0078D4"/>
                </a:solidFill>
                <a:latin typeface="Segoe UI Semibold" pitchFamily="34" charset="0"/>
                <a:ea typeface="Segoe UI Semibold" pitchFamily="34" charset="-122"/>
                <a:cs typeface="Segoe UI Semibold" pitchFamily="34" charset="-120"/>
              </a:rPr>
              <a:t>THE RAPP PROCESS</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Five guided steps. Three explicit human decisions.</a:t>
            </a:r>
            <a:endParaRPr lang="en-US" sz="2800" dirty="0"/>
          </a:p>
        </p:txBody>
      </p:sp>
      <p:sp>
        <p:nvSpPr>
          <p:cNvPr id="10" name="Shape 8"/>
          <p:cNvSpPr/>
          <p:nvPr/>
        </p:nvSpPr>
        <p:spPr>
          <a:xfrm>
            <a:off x="658368" y="1993392"/>
            <a:ext cx="1965960" cy="2560320"/>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11" name="Shape 9"/>
          <p:cNvSpPr/>
          <p:nvPr/>
        </p:nvSpPr>
        <p:spPr>
          <a:xfrm>
            <a:off x="1293876" y="2267712"/>
            <a:ext cx="694944" cy="694944"/>
          </a:xfrm>
          <a:prstGeom prst="ellipse">
            <a:avLst/>
          </a:prstGeom>
          <a:solidFill>
            <a:srgbClr val="DCEEFF"/>
          </a:solidFill>
          <a:ln w="17780">
            <a:solidFill>
              <a:srgbClr val="0078D4"/>
            </a:solidFill>
            <a:prstDash val="solid"/>
          </a:ln>
        </p:spPr>
      </p:sp>
      <p:sp>
        <p:nvSpPr>
          <p:cNvPr id="12" name="Text 10"/>
          <p:cNvSpPr/>
          <p:nvPr/>
        </p:nvSpPr>
        <p:spPr>
          <a:xfrm>
            <a:off x="1458468" y="2432304"/>
            <a:ext cx="365760" cy="219456"/>
          </a:xfrm>
          <a:prstGeom prst="rect">
            <a:avLst/>
          </a:prstGeom>
          <a:noFill/>
          <a:ln/>
        </p:spPr>
        <p:txBody>
          <a:bodyPr wrap="square" lIns="0" tIns="0" rIns="0" bIns="0" rtlCol="0" anchor="ctr"/>
          <a:lstStyle/>
          <a:p>
            <a:pPr algn="ctr" indent="0" marL="0">
              <a:buNone/>
            </a:pPr>
            <a:r>
              <a:rPr lang="en-US" sz="1700" b="1" dirty="0">
                <a:solidFill>
                  <a:srgbClr val="0078D4"/>
                </a:solidFill>
                <a:latin typeface="Segoe UI Semibold" pitchFamily="34" charset="0"/>
                <a:ea typeface="Segoe UI Semibold" pitchFamily="34" charset="-122"/>
                <a:cs typeface="Segoe UI Semibold" pitchFamily="34" charset="-120"/>
              </a:rPr>
              <a:t>1</a:t>
            </a:r>
            <a:endParaRPr lang="en-US" sz="1700" dirty="0"/>
          </a:p>
        </p:txBody>
      </p:sp>
      <p:sp>
        <p:nvSpPr>
          <p:cNvPr id="13" name="Text 11"/>
          <p:cNvSpPr/>
          <p:nvPr/>
        </p:nvSpPr>
        <p:spPr>
          <a:xfrm>
            <a:off x="804672" y="3182112"/>
            <a:ext cx="1673352" cy="228600"/>
          </a:xfrm>
          <a:prstGeom prst="rect">
            <a:avLst/>
          </a:prstGeom>
          <a:noFill/>
          <a:ln/>
        </p:spPr>
        <p:txBody>
          <a:bodyPr wrap="square" lIns="0" tIns="0" rIns="0" bIns="0" rtlCol="0" anchor="ctr"/>
          <a:lstStyle/>
          <a:p>
            <a:pPr algn="ctr" indent="0" marL="0">
              <a:buNone/>
            </a:pPr>
            <a:r>
              <a:rPr lang="en-US" sz="1350" b="1" spc="80" kern="0" dirty="0">
                <a:solidFill>
                  <a:srgbClr val="0078D4"/>
                </a:solidFill>
                <a:latin typeface="Segoe UI Semibold" pitchFamily="34" charset="0"/>
                <a:ea typeface="Segoe UI Semibold" pitchFamily="34" charset="-122"/>
                <a:cs typeface="Segoe UI Semibold" pitchFamily="34" charset="-120"/>
              </a:rPr>
              <a:t>SIGN IN</a:t>
            </a:r>
            <a:endParaRPr lang="en-US" sz="1350" dirty="0"/>
          </a:p>
        </p:txBody>
      </p:sp>
      <p:sp>
        <p:nvSpPr>
          <p:cNvPr id="14" name="Text 12"/>
          <p:cNvSpPr/>
          <p:nvPr/>
        </p:nvSpPr>
        <p:spPr>
          <a:xfrm>
            <a:off x="822960" y="3611880"/>
            <a:ext cx="1636776" cy="640080"/>
          </a:xfrm>
          <a:prstGeom prst="rect">
            <a:avLst/>
          </a:prstGeom>
          <a:noFill/>
          <a:ln/>
        </p:spPr>
        <p:txBody>
          <a:bodyPr wrap="square" lIns="0" tIns="0" rIns="0" bIns="0" rtlCol="0" anchor="ctr">
            <a:normAutofit/>
          </a:bodyPr>
          <a:lstStyle/>
          <a:p>
            <a:pPr algn="ctr" indent="0" marL="0">
              <a:buNone/>
            </a:pPr>
            <a:r>
              <a:rPr lang="en-US" sz="1150" dirty="0">
                <a:solidFill>
                  <a:srgbClr val="3B3A39"/>
                </a:solidFill>
                <a:latin typeface="Segoe UI" pitchFamily="34" charset="0"/>
                <a:ea typeface="Segoe UI" pitchFamily="34" charset="-122"/>
                <a:cs typeface="Segoe UI" pitchFamily="34" charset="-120"/>
              </a:rPr>
              <a:t>Authenticate generation and environment access.</a:t>
            </a:r>
            <a:endParaRPr lang="en-US" sz="1150" dirty="0"/>
          </a:p>
        </p:txBody>
      </p:sp>
      <p:sp>
        <p:nvSpPr>
          <p:cNvPr id="15" name="Shape 13"/>
          <p:cNvSpPr/>
          <p:nvPr/>
        </p:nvSpPr>
        <p:spPr>
          <a:xfrm>
            <a:off x="2688336" y="2990088"/>
            <a:ext cx="182880" cy="411480"/>
          </a:xfrm>
          <a:prstGeom prst="chevron">
            <a:avLst/>
          </a:prstGeom>
          <a:solidFill>
            <a:srgbClr val="8A8886">
              <a:alpha val="65000"/>
            </a:srgbClr>
          </a:solidFill>
          <a:ln w="12700">
            <a:solidFill>
              <a:srgbClr val="8A8886">
                <a:alpha val="0"/>
              </a:srgbClr>
            </a:solidFill>
            <a:prstDash val="solid"/>
          </a:ln>
        </p:spPr>
      </p:sp>
      <p:sp>
        <p:nvSpPr>
          <p:cNvPr id="16" name="Shape 14"/>
          <p:cNvSpPr/>
          <p:nvPr/>
        </p:nvSpPr>
        <p:spPr>
          <a:xfrm>
            <a:off x="2926080" y="1993392"/>
            <a:ext cx="1965960" cy="2560320"/>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17" name="Shape 15"/>
          <p:cNvSpPr/>
          <p:nvPr/>
        </p:nvSpPr>
        <p:spPr>
          <a:xfrm>
            <a:off x="3561588" y="2267712"/>
            <a:ext cx="694944" cy="694944"/>
          </a:xfrm>
          <a:prstGeom prst="ellipse">
            <a:avLst/>
          </a:prstGeom>
          <a:solidFill>
            <a:srgbClr val="DFF6DD"/>
          </a:solidFill>
          <a:ln w="17780">
            <a:solidFill>
              <a:srgbClr val="107C10"/>
            </a:solidFill>
            <a:prstDash val="solid"/>
          </a:ln>
        </p:spPr>
      </p:sp>
      <p:sp>
        <p:nvSpPr>
          <p:cNvPr id="18" name="Text 16"/>
          <p:cNvSpPr/>
          <p:nvPr/>
        </p:nvSpPr>
        <p:spPr>
          <a:xfrm>
            <a:off x="3726180" y="2432304"/>
            <a:ext cx="365760" cy="219456"/>
          </a:xfrm>
          <a:prstGeom prst="rect">
            <a:avLst/>
          </a:prstGeom>
          <a:noFill/>
          <a:ln/>
        </p:spPr>
        <p:txBody>
          <a:bodyPr wrap="square" lIns="0" tIns="0" rIns="0" bIns="0" rtlCol="0" anchor="ctr"/>
          <a:lstStyle/>
          <a:p>
            <a:pPr algn="ctr" indent="0" marL="0">
              <a:buNone/>
            </a:pPr>
            <a:r>
              <a:rPr lang="en-US" sz="1700" b="1" dirty="0">
                <a:solidFill>
                  <a:srgbClr val="107C10"/>
                </a:solidFill>
                <a:latin typeface="Segoe UI Semibold" pitchFamily="34" charset="0"/>
                <a:ea typeface="Segoe UI Semibold" pitchFamily="34" charset="-122"/>
                <a:cs typeface="Segoe UI Semibold" pitchFamily="34" charset="-120"/>
              </a:rPr>
              <a:t>2</a:t>
            </a:r>
            <a:endParaRPr lang="en-US" sz="1700" dirty="0"/>
          </a:p>
        </p:txBody>
      </p:sp>
      <p:sp>
        <p:nvSpPr>
          <p:cNvPr id="19" name="Text 17"/>
          <p:cNvSpPr/>
          <p:nvPr/>
        </p:nvSpPr>
        <p:spPr>
          <a:xfrm>
            <a:off x="3072384" y="3182112"/>
            <a:ext cx="1673352" cy="228600"/>
          </a:xfrm>
          <a:prstGeom prst="rect">
            <a:avLst/>
          </a:prstGeom>
          <a:noFill/>
          <a:ln/>
        </p:spPr>
        <p:txBody>
          <a:bodyPr wrap="square" lIns="0" tIns="0" rIns="0" bIns="0" rtlCol="0" anchor="ctr"/>
          <a:lstStyle/>
          <a:p>
            <a:pPr algn="ctr" indent="0" marL="0">
              <a:buNone/>
            </a:pPr>
            <a:r>
              <a:rPr lang="en-US" sz="1350" b="1" spc="80" kern="0" dirty="0">
                <a:solidFill>
                  <a:srgbClr val="107C10"/>
                </a:solidFill>
                <a:latin typeface="Segoe UI Semibold" pitchFamily="34" charset="0"/>
                <a:ea typeface="Segoe UI Semibold" pitchFamily="34" charset="-122"/>
                <a:cs typeface="Segoe UI Semibold" pitchFamily="34" charset="-120"/>
              </a:rPr>
              <a:t>DOCUMENTS</a:t>
            </a:r>
            <a:endParaRPr lang="en-US" sz="1350" dirty="0"/>
          </a:p>
        </p:txBody>
      </p:sp>
      <p:sp>
        <p:nvSpPr>
          <p:cNvPr id="20" name="Text 18"/>
          <p:cNvSpPr/>
          <p:nvPr/>
        </p:nvSpPr>
        <p:spPr>
          <a:xfrm>
            <a:off x="3090672" y="3611880"/>
            <a:ext cx="1636776" cy="640080"/>
          </a:xfrm>
          <a:prstGeom prst="rect">
            <a:avLst/>
          </a:prstGeom>
          <a:noFill/>
          <a:ln/>
        </p:spPr>
        <p:txBody>
          <a:bodyPr wrap="square" lIns="0" tIns="0" rIns="0" bIns="0" rtlCol="0" anchor="ctr">
            <a:normAutofit/>
          </a:bodyPr>
          <a:lstStyle/>
          <a:p>
            <a:pPr algn="ctr" indent="0" marL="0">
              <a:buNone/>
            </a:pPr>
            <a:r>
              <a:rPr lang="en-US" sz="1150" dirty="0">
                <a:solidFill>
                  <a:srgbClr val="3B3A39"/>
                </a:solidFill>
                <a:latin typeface="Segoe UI" pitchFamily="34" charset="0"/>
                <a:ea typeface="Segoe UI" pitchFamily="34" charset="-122"/>
                <a:cs typeface="Segoe UI" pitchFamily="34" charset="-120"/>
              </a:rPr>
              <a:t>Upload evidence and name the solution.</a:t>
            </a:r>
            <a:endParaRPr lang="en-US" sz="1150" dirty="0"/>
          </a:p>
        </p:txBody>
      </p:sp>
      <p:sp>
        <p:nvSpPr>
          <p:cNvPr id="21" name="Shape 19"/>
          <p:cNvSpPr/>
          <p:nvPr/>
        </p:nvSpPr>
        <p:spPr>
          <a:xfrm>
            <a:off x="4956048" y="2990088"/>
            <a:ext cx="182880" cy="411480"/>
          </a:xfrm>
          <a:prstGeom prst="chevron">
            <a:avLst/>
          </a:prstGeom>
          <a:solidFill>
            <a:srgbClr val="8A8886">
              <a:alpha val="65000"/>
            </a:srgbClr>
          </a:solidFill>
          <a:ln w="12700">
            <a:solidFill>
              <a:srgbClr val="8A8886">
                <a:alpha val="0"/>
              </a:srgbClr>
            </a:solidFill>
            <a:prstDash val="solid"/>
          </a:ln>
        </p:spPr>
      </p:sp>
      <p:sp>
        <p:nvSpPr>
          <p:cNvPr id="22" name="Shape 20"/>
          <p:cNvSpPr/>
          <p:nvPr/>
        </p:nvSpPr>
        <p:spPr>
          <a:xfrm>
            <a:off x="5193792" y="1993392"/>
            <a:ext cx="1965960" cy="2560320"/>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23" name="Shape 21"/>
          <p:cNvSpPr/>
          <p:nvPr/>
        </p:nvSpPr>
        <p:spPr>
          <a:xfrm>
            <a:off x="5829300" y="2267712"/>
            <a:ext cx="694944" cy="694944"/>
          </a:xfrm>
          <a:prstGeom prst="ellipse">
            <a:avLst/>
          </a:prstGeom>
          <a:solidFill>
            <a:srgbClr val="F9E3DB"/>
          </a:solidFill>
          <a:ln w="17780">
            <a:solidFill>
              <a:srgbClr val="D83B01"/>
            </a:solidFill>
            <a:prstDash val="solid"/>
          </a:ln>
        </p:spPr>
      </p:sp>
      <p:sp>
        <p:nvSpPr>
          <p:cNvPr id="24" name="Text 22"/>
          <p:cNvSpPr/>
          <p:nvPr/>
        </p:nvSpPr>
        <p:spPr>
          <a:xfrm>
            <a:off x="5993892" y="2432304"/>
            <a:ext cx="365760" cy="219456"/>
          </a:xfrm>
          <a:prstGeom prst="rect">
            <a:avLst/>
          </a:prstGeom>
          <a:noFill/>
          <a:ln/>
        </p:spPr>
        <p:txBody>
          <a:bodyPr wrap="square" lIns="0" tIns="0" rIns="0" bIns="0" rtlCol="0" anchor="ctr"/>
          <a:lstStyle/>
          <a:p>
            <a:pPr algn="ctr" indent="0" marL="0">
              <a:buNone/>
            </a:pPr>
            <a:r>
              <a:rPr lang="en-US" sz="1700" b="1" dirty="0">
                <a:solidFill>
                  <a:srgbClr val="D83B01"/>
                </a:solidFill>
                <a:latin typeface="Segoe UI Semibold" pitchFamily="34" charset="0"/>
                <a:ea typeface="Segoe UI Semibold" pitchFamily="34" charset="-122"/>
                <a:cs typeface="Segoe UI Semibold" pitchFamily="34" charset="-120"/>
              </a:rPr>
              <a:t>3</a:t>
            </a:r>
            <a:endParaRPr lang="en-US" sz="1700" dirty="0"/>
          </a:p>
        </p:txBody>
      </p:sp>
      <p:sp>
        <p:nvSpPr>
          <p:cNvPr id="25" name="Text 23"/>
          <p:cNvSpPr/>
          <p:nvPr/>
        </p:nvSpPr>
        <p:spPr>
          <a:xfrm>
            <a:off x="5340096" y="3182112"/>
            <a:ext cx="1673352" cy="228600"/>
          </a:xfrm>
          <a:prstGeom prst="rect">
            <a:avLst/>
          </a:prstGeom>
          <a:noFill/>
          <a:ln/>
        </p:spPr>
        <p:txBody>
          <a:bodyPr wrap="square" lIns="0" tIns="0" rIns="0" bIns="0" rtlCol="0" anchor="ctr"/>
          <a:lstStyle/>
          <a:p>
            <a:pPr algn="ctr" indent="0" marL="0">
              <a:buNone/>
            </a:pPr>
            <a:r>
              <a:rPr lang="en-US" sz="1350" b="1" spc="80" kern="0" dirty="0">
                <a:solidFill>
                  <a:srgbClr val="D83B01"/>
                </a:solidFill>
                <a:latin typeface="Segoe UI Semibold" pitchFamily="34" charset="0"/>
                <a:ea typeface="Segoe UI Semibold" pitchFamily="34" charset="-122"/>
                <a:cs typeface="Segoe UI Semibold" pitchFamily="34" charset="-120"/>
              </a:rPr>
              <a:t>MVP</a:t>
            </a:r>
            <a:endParaRPr lang="en-US" sz="1350" dirty="0"/>
          </a:p>
        </p:txBody>
      </p:sp>
      <p:sp>
        <p:nvSpPr>
          <p:cNvPr id="26" name="Text 24"/>
          <p:cNvSpPr/>
          <p:nvPr/>
        </p:nvSpPr>
        <p:spPr>
          <a:xfrm>
            <a:off x="5358384" y="3611880"/>
            <a:ext cx="1636776" cy="640080"/>
          </a:xfrm>
          <a:prstGeom prst="rect">
            <a:avLst/>
          </a:prstGeom>
          <a:noFill/>
          <a:ln/>
        </p:spPr>
        <p:txBody>
          <a:bodyPr wrap="square" lIns="0" tIns="0" rIns="0" bIns="0" rtlCol="0" anchor="ctr">
            <a:normAutofit/>
          </a:bodyPr>
          <a:lstStyle/>
          <a:p>
            <a:pPr algn="ctr" indent="0" marL="0">
              <a:buNone/>
            </a:pPr>
            <a:r>
              <a:rPr lang="en-US" sz="1150" dirty="0">
                <a:solidFill>
                  <a:srgbClr val="3B3A39"/>
                </a:solidFill>
                <a:latin typeface="Segoe UI" pitchFamily="34" charset="0"/>
                <a:ea typeface="Segoe UI" pitchFamily="34" charset="-122"/>
                <a:cs typeface="Segoe UI" pitchFamily="34" charset="-120"/>
              </a:rPr>
              <a:t>Edit or confirm the derived use case.</a:t>
            </a:r>
            <a:endParaRPr lang="en-US" sz="1150" dirty="0"/>
          </a:p>
        </p:txBody>
      </p:sp>
      <p:sp>
        <p:nvSpPr>
          <p:cNvPr id="27" name="Shape 25"/>
          <p:cNvSpPr/>
          <p:nvPr/>
        </p:nvSpPr>
        <p:spPr>
          <a:xfrm>
            <a:off x="7223760" y="2990088"/>
            <a:ext cx="182880" cy="411480"/>
          </a:xfrm>
          <a:prstGeom prst="chevron">
            <a:avLst/>
          </a:prstGeom>
          <a:solidFill>
            <a:srgbClr val="8A8886">
              <a:alpha val="65000"/>
            </a:srgbClr>
          </a:solidFill>
          <a:ln w="12700">
            <a:solidFill>
              <a:srgbClr val="8A8886">
                <a:alpha val="0"/>
              </a:srgbClr>
            </a:solidFill>
            <a:prstDash val="solid"/>
          </a:ln>
        </p:spPr>
      </p:sp>
      <p:sp>
        <p:nvSpPr>
          <p:cNvPr id="28" name="Shape 26"/>
          <p:cNvSpPr/>
          <p:nvPr/>
        </p:nvSpPr>
        <p:spPr>
          <a:xfrm>
            <a:off x="7461504" y="1993392"/>
            <a:ext cx="1965960" cy="2560320"/>
          </a:xfrm>
          <a:prstGeom prst="roundRect">
            <a:avLst/>
          </a:prstGeom>
          <a:solidFill>
            <a:srgbClr val="FFFFFF"/>
          </a:solidFill>
          <a:ln w="12700">
            <a:solidFill>
              <a:srgbClr val="8661C5"/>
            </a:solidFill>
            <a:prstDash val="solid"/>
          </a:ln>
          <a:effectLst>
            <a:outerShdw sx="100000" sy="100000" kx="0" ky="0" algn="bl" rotWithShape="0" blurRad="63500" dist="50800" dir="8100000">
              <a:srgbClr val="000000">
                <a:alpha val="12000"/>
              </a:srgbClr>
            </a:outerShdw>
          </a:effectLst>
        </p:spPr>
      </p:sp>
      <p:sp>
        <p:nvSpPr>
          <p:cNvPr id="29" name="Shape 27"/>
          <p:cNvSpPr/>
          <p:nvPr/>
        </p:nvSpPr>
        <p:spPr>
          <a:xfrm>
            <a:off x="8097012" y="2267712"/>
            <a:ext cx="694944" cy="694944"/>
          </a:xfrm>
          <a:prstGeom prst="ellipse">
            <a:avLst/>
          </a:prstGeom>
          <a:solidFill>
            <a:srgbClr val="EDE7F6"/>
          </a:solidFill>
          <a:ln w="17780">
            <a:solidFill>
              <a:srgbClr val="8661C5"/>
            </a:solidFill>
            <a:prstDash val="solid"/>
          </a:ln>
        </p:spPr>
      </p:sp>
      <p:sp>
        <p:nvSpPr>
          <p:cNvPr id="30" name="Text 28"/>
          <p:cNvSpPr/>
          <p:nvPr/>
        </p:nvSpPr>
        <p:spPr>
          <a:xfrm>
            <a:off x="8261604" y="2432304"/>
            <a:ext cx="365760" cy="219456"/>
          </a:xfrm>
          <a:prstGeom prst="rect">
            <a:avLst/>
          </a:prstGeom>
          <a:noFill/>
          <a:ln/>
        </p:spPr>
        <p:txBody>
          <a:bodyPr wrap="square" lIns="0" tIns="0" rIns="0" bIns="0" rtlCol="0" anchor="ctr"/>
          <a:lstStyle/>
          <a:p>
            <a:pPr algn="ctr" indent="0" marL="0">
              <a:buNone/>
            </a:pPr>
            <a:r>
              <a:rPr lang="en-US" sz="1700" b="1" dirty="0">
                <a:solidFill>
                  <a:srgbClr val="8661C5"/>
                </a:solidFill>
                <a:latin typeface="Segoe UI Semibold" pitchFamily="34" charset="0"/>
                <a:ea typeface="Segoe UI Semibold" pitchFamily="34" charset="-122"/>
                <a:cs typeface="Segoe UI Semibold" pitchFamily="34" charset="-120"/>
              </a:rPr>
              <a:t>4</a:t>
            </a:r>
            <a:endParaRPr lang="en-US" sz="1700" dirty="0"/>
          </a:p>
        </p:txBody>
      </p:sp>
      <p:sp>
        <p:nvSpPr>
          <p:cNvPr id="31" name="Text 29"/>
          <p:cNvSpPr/>
          <p:nvPr/>
        </p:nvSpPr>
        <p:spPr>
          <a:xfrm>
            <a:off x="7607808" y="3182112"/>
            <a:ext cx="1673352" cy="228600"/>
          </a:xfrm>
          <a:prstGeom prst="rect">
            <a:avLst/>
          </a:prstGeom>
          <a:noFill/>
          <a:ln/>
        </p:spPr>
        <p:txBody>
          <a:bodyPr wrap="square" lIns="0" tIns="0" rIns="0" bIns="0" rtlCol="0" anchor="ctr"/>
          <a:lstStyle/>
          <a:p>
            <a:pPr algn="ctr" indent="0" marL="0">
              <a:buNone/>
            </a:pPr>
            <a:r>
              <a:rPr lang="en-US" sz="1350" b="1" spc="80" kern="0" dirty="0">
                <a:solidFill>
                  <a:srgbClr val="8661C5"/>
                </a:solidFill>
                <a:latin typeface="Segoe UI Semibold" pitchFamily="34" charset="0"/>
                <a:ea typeface="Segoe UI Semibold" pitchFamily="34" charset="-122"/>
                <a:cs typeface="Segoe UI Semibold" pitchFamily="34" charset="-120"/>
              </a:rPr>
              <a:t>REVIEW</a:t>
            </a:r>
            <a:endParaRPr lang="en-US" sz="1350" dirty="0"/>
          </a:p>
        </p:txBody>
      </p:sp>
      <p:sp>
        <p:nvSpPr>
          <p:cNvPr id="32" name="Text 30"/>
          <p:cNvSpPr/>
          <p:nvPr/>
        </p:nvSpPr>
        <p:spPr>
          <a:xfrm>
            <a:off x="7626096" y="3611880"/>
            <a:ext cx="1636776" cy="640080"/>
          </a:xfrm>
          <a:prstGeom prst="rect">
            <a:avLst/>
          </a:prstGeom>
          <a:noFill/>
          <a:ln/>
        </p:spPr>
        <p:txBody>
          <a:bodyPr wrap="square" lIns="0" tIns="0" rIns="0" bIns="0" rtlCol="0" anchor="ctr">
            <a:normAutofit/>
          </a:bodyPr>
          <a:lstStyle/>
          <a:p>
            <a:pPr algn="ctr" indent="0" marL="0">
              <a:buNone/>
            </a:pPr>
            <a:r>
              <a:rPr lang="en-US" sz="1150" dirty="0">
                <a:solidFill>
                  <a:srgbClr val="3B3A39"/>
                </a:solidFill>
                <a:latin typeface="Segoe UI" pitchFamily="34" charset="0"/>
                <a:ea typeface="Segoe UI" pitchFamily="34" charset="-122"/>
                <a:cs typeface="Segoe UI" pitchFamily="34" charset="-120"/>
              </a:rPr>
              <a:t>Inspect agents, twins, and connector plan.</a:t>
            </a:r>
            <a:endParaRPr lang="en-US" sz="1150" dirty="0"/>
          </a:p>
        </p:txBody>
      </p:sp>
      <p:sp>
        <p:nvSpPr>
          <p:cNvPr id="33" name="Shape 31"/>
          <p:cNvSpPr/>
          <p:nvPr/>
        </p:nvSpPr>
        <p:spPr>
          <a:xfrm>
            <a:off x="9491472" y="2990088"/>
            <a:ext cx="182880" cy="411480"/>
          </a:xfrm>
          <a:prstGeom prst="chevron">
            <a:avLst/>
          </a:prstGeom>
          <a:solidFill>
            <a:srgbClr val="8A8886">
              <a:alpha val="65000"/>
            </a:srgbClr>
          </a:solidFill>
          <a:ln w="12700">
            <a:solidFill>
              <a:srgbClr val="8A8886">
                <a:alpha val="0"/>
              </a:srgbClr>
            </a:solidFill>
            <a:prstDash val="solid"/>
          </a:ln>
        </p:spPr>
      </p:sp>
      <p:sp>
        <p:nvSpPr>
          <p:cNvPr id="34" name="Shape 32"/>
          <p:cNvSpPr/>
          <p:nvPr/>
        </p:nvSpPr>
        <p:spPr>
          <a:xfrm>
            <a:off x="9729216" y="1993392"/>
            <a:ext cx="1965960" cy="2560320"/>
          </a:xfrm>
          <a:prstGeom prst="roundRect">
            <a:avLst/>
          </a:prstGeom>
          <a:solidFill>
            <a:srgbClr val="FFFFFF"/>
          </a:solidFill>
          <a:ln w="12700">
            <a:solidFill>
              <a:srgbClr val="103A6B"/>
            </a:solidFill>
            <a:prstDash val="solid"/>
          </a:ln>
          <a:effectLst>
            <a:outerShdw sx="100000" sy="100000" kx="0" ky="0" algn="bl" rotWithShape="0" blurRad="63500" dist="50800" dir="8100000">
              <a:srgbClr val="000000">
                <a:alpha val="12000"/>
              </a:srgbClr>
            </a:outerShdw>
          </a:effectLst>
        </p:spPr>
      </p:sp>
      <p:sp>
        <p:nvSpPr>
          <p:cNvPr id="35" name="Shape 33"/>
          <p:cNvSpPr/>
          <p:nvPr/>
        </p:nvSpPr>
        <p:spPr>
          <a:xfrm>
            <a:off x="10364724" y="2267712"/>
            <a:ext cx="694944" cy="694944"/>
          </a:xfrm>
          <a:prstGeom prst="ellipse">
            <a:avLst/>
          </a:prstGeom>
          <a:solidFill>
            <a:srgbClr val="EAF4FD"/>
          </a:solidFill>
          <a:ln w="17780">
            <a:solidFill>
              <a:srgbClr val="103A6B"/>
            </a:solidFill>
            <a:prstDash val="solid"/>
          </a:ln>
        </p:spPr>
      </p:sp>
      <p:sp>
        <p:nvSpPr>
          <p:cNvPr id="36" name="Text 34"/>
          <p:cNvSpPr/>
          <p:nvPr/>
        </p:nvSpPr>
        <p:spPr>
          <a:xfrm>
            <a:off x="10529316" y="2432304"/>
            <a:ext cx="365760" cy="219456"/>
          </a:xfrm>
          <a:prstGeom prst="rect">
            <a:avLst/>
          </a:prstGeom>
          <a:noFill/>
          <a:ln/>
        </p:spPr>
        <p:txBody>
          <a:bodyPr wrap="square" lIns="0" tIns="0" rIns="0" bIns="0" rtlCol="0" anchor="ctr"/>
          <a:lstStyle/>
          <a:p>
            <a:pPr algn="ctr" indent="0" marL="0">
              <a:buNone/>
            </a:pPr>
            <a:r>
              <a:rPr lang="en-US" sz="1700" b="1" dirty="0">
                <a:solidFill>
                  <a:srgbClr val="103A6B"/>
                </a:solidFill>
                <a:latin typeface="Segoe UI Semibold" pitchFamily="34" charset="0"/>
                <a:ea typeface="Segoe UI Semibold" pitchFamily="34" charset="-122"/>
                <a:cs typeface="Segoe UI Semibold" pitchFamily="34" charset="-120"/>
              </a:rPr>
              <a:t>5</a:t>
            </a:r>
            <a:endParaRPr lang="en-US" sz="1700" dirty="0"/>
          </a:p>
        </p:txBody>
      </p:sp>
      <p:sp>
        <p:nvSpPr>
          <p:cNvPr id="37" name="Text 35"/>
          <p:cNvSpPr/>
          <p:nvPr/>
        </p:nvSpPr>
        <p:spPr>
          <a:xfrm>
            <a:off x="9875520" y="3182112"/>
            <a:ext cx="1673352" cy="228600"/>
          </a:xfrm>
          <a:prstGeom prst="rect">
            <a:avLst/>
          </a:prstGeom>
          <a:noFill/>
          <a:ln/>
        </p:spPr>
        <p:txBody>
          <a:bodyPr wrap="square" lIns="0" tIns="0" rIns="0" bIns="0" rtlCol="0" anchor="ctr"/>
          <a:lstStyle/>
          <a:p>
            <a:pPr algn="ctr" indent="0" marL="0">
              <a:buNone/>
            </a:pPr>
            <a:r>
              <a:rPr lang="en-US" sz="1350" b="1" spc="80" kern="0" dirty="0">
                <a:solidFill>
                  <a:srgbClr val="103A6B"/>
                </a:solidFill>
                <a:latin typeface="Segoe UI Semibold" pitchFamily="34" charset="0"/>
                <a:ea typeface="Segoe UI Semibold" pitchFamily="34" charset="-122"/>
                <a:cs typeface="Segoe UI Semibold" pitchFamily="34" charset="-120"/>
              </a:rPr>
              <a:t>DEPLOY</a:t>
            </a:r>
            <a:endParaRPr lang="en-US" sz="1350" dirty="0"/>
          </a:p>
        </p:txBody>
      </p:sp>
      <p:sp>
        <p:nvSpPr>
          <p:cNvPr id="38" name="Text 36"/>
          <p:cNvSpPr/>
          <p:nvPr/>
        </p:nvSpPr>
        <p:spPr>
          <a:xfrm>
            <a:off x="9893808" y="3611880"/>
            <a:ext cx="1636776" cy="640080"/>
          </a:xfrm>
          <a:prstGeom prst="rect">
            <a:avLst/>
          </a:prstGeom>
          <a:noFill/>
          <a:ln/>
        </p:spPr>
        <p:txBody>
          <a:bodyPr wrap="square" lIns="0" tIns="0" rIns="0" bIns="0" rtlCol="0" anchor="ctr">
            <a:normAutofit/>
          </a:bodyPr>
          <a:lstStyle/>
          <a:p>
            <a:pPr algn="ctr" indent="0" marL="0">
              <a:buNone/>
            </a:pPr>
            <a:r>
              <a:rPr lang="en-US" sz="1150" dirty="0">
                <a:solidFill>
                  <a:srgbClr val="3B3A39"/>
                </a:solidFill>
                <a:latin typeface="Segoe UI" pitchFamily="34" charset="0"/>
                <a:ea typeface="Segoe UI" pitchFamily="34" charset="-122"/>
                <a:cs typeface="Segoe UI" pitchFamily="34" charset="-120"/>
              </a:rPr>
              <a:t>Choose environment, import, then publish.</a:t>
            </a:r>
            <a:endParaRPr lang="en-US" sz="1150" dirty="0"/>
          </a:p>
        </p:txBody>
      </p:sp>
      <p:sp>
        <p:nvSpPr>
          <p:cNvPr id="39" name="Shape 37"/>
          <p:cNvSpPr/>
          <p:nvPr/>
        </p:nvSpPr>
        <p:spPr>
          <a:xfrm>
            <a:off x="5193792" y="4892040"/>
            <a:ext cx="1627632" cy="310896"/>
          </a:xfrm>
          <a:prstGeom prst="roundRect">
            <a:avLst/>
          </a:prstGeom>
          <a:solidFill>
            <a:srgbClr val="FFF4CE"/>
          </a:solidFill>
          <a:ln w="12700">
            <a:solidFill>
              <a:srgbClr val="FFF4CE">
                <a:alpha val="0"/>
              </a:srgbClr>
            </a:solidFill>
            <a:prstDash val="solid"/>
          </a:ln>
        </p:spPr>
      </p:sp>
      <p:sp>
        <p:nvSpPr>
          <p:cNvPr id="40" name="Text 38"/>
          <p:cNvSpPr/>
          <p:nvPr/>
        </p:nvSpPr>
        <p:spPr>
          <a:xfrm>
            <a:off x="5257800" y="4946904"/>
            <a:ext cx="1499616" cy="164592"/>
          </a:xfrm>
          <a:prstGeom prst="rect">
            <a:avLst/>
          </a:prstGeom>
          <a:noFill/>
          <a:ln/>
        </p:spPr>
        <p:txBody>
          <a:bodyPr wrap="square" lIns="0" tIns="0" rIns="0" bIns="0" rtlCol="0" anchor="ctr">
            <a:normAutofit/>
          </a:bodyPr>
          <a:lstStyle/>
          <a:p>
            <a:pPr algn="ctr" indent="0" marL="0">
              <a:buNone/>
            </a:pPr>
            <a:r>
              <a:rPr lang="en-US" sz="880" b="1" dirty="0">
                <a:solidFill>
                  <a:srgbClr val="3B3A39"/>
                </a:solidFill>
                <a:latin typeface="Segoe UI Semibold" pitchFamily="34" charset="0"/>
                <a:ea typeface="Segoe UI Semibold" pitchFamily="34" charset="-122"/>
                <a:cs typeface="Segoe UI Semibold" pitchFamily="34" charset="-120"/>
              </a:rPr>
              <a:t>CONFIRM SCOPE</a:t>
            </a:r>
            <a:endParaRPr lang="en-US" sz="880" dirty="0"/>
          </a:p>
        </p:txBody>
      </p:sp>
      <p:sp>
        <p:nvSpPr>
          <p:cNvPr id="41" name="Shape 39"/>
          <p:cNvSpPr/>
          <p:nvPr/>
        </p:nvSpPr>
        <p:spPr>
          <a:xfrm>
            <a:off x="7461504" y="4892040"/>
            <a:ext cx="1627632" cy="310896"/>
          </a:xfrm>
          <a:prstGeom prst="roundRect">
            <a:avLst/>
          </a:prstGeom>
          <a:solidFill>
            <a:srgbClr val="FFF4CE"/>
          </a:solidFill>
          <a:ln w="12700">
            <a:solidFill>
              <a:srgbClr val="FFF4CE">
                <a:alpha val="0"/>
              </a:srgbClr>
            </a:solidFill>
            <a:prstDash val="solid"/>
          </a:ln>
        </p:spPr>
      </p:sp>
      <p:sp>
        <p:nvSpPr>
          <p:cNvPr id="42" name="Text 40"/>
          <p:cNvSpPr/>
          <p:nvPr/>
        </p:nvSpPr>
        <p:spPr>
          <a:xfrm>
            <a:off x="7525512" y="4946904"/>
            <a:ext cx="1499616" cy="164592"/>
          </a:xfrm>
          <a:prstGeom prst="rect">
            <a:avLst/>
          </a:prstGeom>
          <a:noFill/>
          <a:ln/>
        </p:spPr>
        <p:txBody>
          <a:bodyPr wrap="square" lIns="0" tIns="0" rIns="0" bIns="0" rtlCol="0" anchor="ctr">
            <a:normAutofit/>
          </a:bodyPr>
          <a:lstStyle/>
          <a:p>
            <a:pPr algn="ctr" indent="0" marL="0">
              <a:buNone/>
            </a:pPr>
            <a:r>
              <a:rPr lang="en-US" sz="880" b="1" dirty="0">
                <a:solidFill>
                  <a:srgbClr val="3B3A39"/>
                </a:solidFill>
                <a:latin typeface="Segoe UI Semibold" pitchFamily="34" charset="0"/>
                <a:ea typeface="Segoe UI Semibold" pitchFamily="34" charset="-122"/>
                <a:cs typeface="Segoe UI Semibold" pitchFamily="34" charset="-120"/>
              </a:rPr>
              <a:t>APPROVE ASSETS</a:t>
            </a:r>
            <a:endParaRPr lang="en-US" sz="880" dirty="0"/>
          </a:p>
        </p:txBody>
      </p:sp>
      <p:sp>
        <p:nvSpPr>
          <p:cNvPr id="43" name="Shape 41"/>
          <p:cNvSpPr/>
          <p:nvPr/>
        </p:nvSpPr>
        <p:spPr>
          <a:xfrm>
            <a:off x="9729216" y="4892040"/>
            <a:ext cx="1627632" cy="310896"/>
          </a:xfrm>
          <a:prstGeom prst="roundRect">
            <a:avLst/>
          </a:prstGeom>
          <a:solidFill>
            <a:srgbClr val="FFF4CE"/>
          </a:solidFill>
          <a:ln w="12700">
            <a:solidFill>
              <a:srgbClr val="FFF4CE">
                <a:alpha val="0"/>
              </a:srgbClr>
            </a:solidFill>
            <a:prstDash val="solid"/>
          </a:ln>
        </p:spPr>
      </p:sp>
      <p:sp>
        <p:nvSpPr>
          <p:cNvPr id="44" name="Text 42"/>
          <p:cNvSpPr/>
          <p:nvPr/>
        </p:nvSpPr>
        <p:spPr>
          <a:xfrm>
            <a:off x="9793224" y="4946904"/>
            <a:ext cx="1499616" cy="164592"/>
          </a:xfrm>
          <a:prstGeom prst="rect">
            <a:avLst/>
          </a:prstGeom>
          <a:noFill/>
          <a:ln/>
        </p:spPr>
        <p:txBody>
          <a:bodyPr wrap="square" lIns="0" tIns="0" rIns="0" bIns="0" rtlCol="0" anchor="ctr">
            <a:normAutofit/>
          </a:bodyPr>
          <a:lstStyle/>
          <a:p>
            <a:pPr algn="ctr" indent="0" marL="0">
              <a:buNone/>
            </a:pPr>
            <a:r>
              <a:rPr lang="en-US" sz="880" b="1" dirty="0">
                <a:solidFill>
                  <a:srgbClr val="3B3A39"/>
                </a:solidFill>
                <a:latin typeface="Segoe UI Semibold" pitchFamily="34" charset="0"/>
                <a:ea typeface="Segoe UI Semibold" pitchFamily="34" charset="-122"/>
                <a:cs typeface="Segoe UI Semibold" pitchFamily="34" charset="-120"/>
              </a:rPr>
              <a:t>CHOOSE DEPLOY</a:t>
            </a:r>
            <a:endParaRPr lang="en-US" sz="880" dirty="0"/>
          </a:p>
        </p:txBody>
      </p:sp>
      <p:sp>
        <p:nvSpPr>
          <p:cNvPr id="45" name="Text 43"/>
          <p:cNvSpPr/>
          <p:nvPr/>
        </p:nvSpPr>
        <p:spPr>
          <a:xfrm>
            <a:off x="2880360" y="5440680"/>
            <a:ext cx="6400800" cy="310896"/>
          </a:xfrm>
          <a:prstGeom prst="rect">
            <a:avLst/>
          </a:prstGeom>
          <a:noFill/>
          <a:ln/>
        </p:spPr>
        <p:txBody>
          <a:bodyPr wrap="square" lIns="0" tIns="0" rIns="0" bIns="0" rtlCol="0" anchor="ctr"/>
          <a:lstStyle/>
          <a:p>
            <a:pPr algn="ctr" indent="0" marL="0">
              <a:buNone/>
            </a:pPr>
            <a:r>
              <a:rPr lang="en-US" sz="1600" b="1" dirty="0">
                <a:solidFill>
                  <a:srgbClr val="103A6B"/>
                </a:solidFill>
                <a:latin typeface="Segoe UI Semibold" pitchFamily="34" charset="0"/>
                <a:ea typeface="Segoe UI Semibold" pitchFamily="34" charset="-122"/>
                <a:cs typeface="Segoe UI Semibold" pitchFamily="34" charset="-120"/>
              </a:rPr>
              <a:t>Nothing is built or deployed without your say-so.</a:t>
            </a:r>
            <a:endParaRPr lang="en-US" sz="1600" dirty="0"/>
          </a:p>
        </p:txBody>
      </p:sp>
      <p:sp>
        <p:nvSpPr>
          <p:cNvPr id="46" name="Text 44"/>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05</a:t>
            </a:r>
            <a:endParaRPr lang="en-US" sz="8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D83B01"/>
          </a:solidFill>
          <a:ln w="12700">
            <a:solidFill>
              <a:srgbClr val="D83B01">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D83B01"/>
                </a:solidFill>
                <a:latin typeface="Segoe UI Semibold" pitchFamily="34" charset="0"/>
                <a:ea typeface="Segoe UI Semibold" pitchFamily="34" charset="-122"/>
                <a:cs typeface="Segoe UI Semibold" pitchFamily="34" charset="-120"/>
              </a:rPr>
              <a:t>WORKSHOP SCENARIO</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 xml:space="preserve">Our build: </a:t>
            </a:r>
            <a:pPr indent="0" marL="0">
              <a:buNone/>
            </a:pPr>
            <a:r>
              <a:rPr lang="en-US" sz="2800" b="1" dirty="0">
                <a:solidFill>
                  <a:srgbClr val="D83B01"/>
                </a:solidFill>
                <a:latin typeface="Segoe UI Semibold" pitchFamily="34" charset="0"/>
                <a:ea typeface="Segoe UI Semibold" pitchFamily="34" charset="-122"/>
                <a:cs typeface="Segoe UI Semibold" pitchFamily="34" charset="-120"/>
              </a:rPr>
              <a:t>Facilities Service Request Assistant</a:t>
            </a:r>
            <a:endParaRPr lang="en-US" sz="2800" dirty="0"/>
          </a:p>
        </p:txBody>
      </p:sp>
      <p:sp>
        <p:nvSpPr>
          <p:cNvPr id="10" name="Shape 8"/>
          <p:cNvSpPr/>
          <p:nvPr/>
        </p:nvSpPr>
        <p:spPr>
          <a:xfrm>
            <a:off x="10515600" y="713232"/>
            <a:ext cx="1097280" cy="365760"/>
          </a:xfrm>
          <a:prstGeom prst="roundRect">
            <a:avLst/>
          </a:prstGeom>
          <a:solidFill>
            <a:srgbClr val="D83B01"/>
          </a:solidFill>
          <a:ln w="12700">
            <a:solidFill>
              <a:srgbClr val="D83B01">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5 MIN</a:t>
            </a:r>
            <a:endParaRPr lang="en-US" sz="1000" dirty="0"/>
          </a:p>
        </p:txBody>
      </p:sp>
      <p:sp>
        <p:nvSpPr>
          <p:cNvPr id="12" name="Shape 10"/>
          <p:cNvSpPr/>
          <p:nvPr/>
        </p:nvSpPr>
        <p:spPr>
          <a:xfrm>
            <a:off x="594360" y="1874520"/>
            <a:ext cx="5074920" cy="3611880"/>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13" name="Shape 11"/>
          <p:cNvSpPr/>
          <p:nvPr/>
        </p:nvSpPr>
        <p:spPr>
          <a:xfrm>
            <a:off x="896112" y="2139696"/>
            <a:ext cx="2468880" cy="310896"/>
          </a:xfrm>
          <a:prstGeom prst="roundRect">
            <a:avLst/>
          </a:prstGeom>
          <a:solidFill>
            <a:srgbClr val="F9E3DB"/>
          </a:solidFill>
          <a:ln w="12700">
            <a:solidFill>
              <a:srgbClr val="F9E3DB">
                <a:alpha val="0"/>
              </a:srgbClr>
            </a:solidFill>
            <a:prstDash val="solid"/>
          </a:ln>
        </p:spPr>
      </p:sp>
      <p:sp>
        <p:nvSpPr>
          <p:cNvPr id="14" name="Text 12"/>
          <p:cNvSpPr/>
          <p:nvPr/>
        </p:nvSpPr>
        <p:spPr>
          <a:xfrm>
            <a:off x="960120" y="2194560"/>
            <a:ext cx="2340864" cy="164592"/>
          </a:xfrm>
          <a:prstGeom prst="rect">
            <a:avLst/>
          </a:prstGeom>
          <a:noFill/>
          <a:ln/>
        </p:spPr>
        <p:txBody>
          <a:bodyPr wrap="square" lIns="0" tIns="0" rIns="0" bIns="0" rtlCol="0" anchor="ctr">
            <a:normAutofit/>
          </a:bodyPr>
          <a:lstStyle/>
          <a:p>
            <a:pPr algn="ctr" indent="0" marL="0">
              <a:buNone/>
            </a:pPr>
            <a:r>
              <a:rPr lang="en-US" sz="940" b="1" dirty="0">
                <a:solidFill>
                  <a:srgbClr val="972900"/>
                </a:solidFill>
                <a:latin typeface="Segoe UI Semibold" pitchFamily="34" charset="0"/>
                <a:ea typeface="Segoe UI Semibold" pitchFamily="34" charset="-122"/>
                <a:cs typeface="Segoe UI Semibold" pitchFamily="34" charset="-120"/>
              </a:rPr>
              <a:t>MEETING TRANSCRIPT EXCERPT</a:t>
            </a:r>
            <a:endParaRPr lang="en-US" sz="940" dirty="0"/>
          </a:p>
        </p:txBody>
      </p:sp>
      <p:sp>
        <p:nvSpPr>
          <p:cNvPr id="15" name="Text 13"/>
          <p:cNvSpPr/>
          <p:nvPr/>
        </p:nvSpPr>
        <p:spPr>
          <a:xfrm>
            <a:off x="914400" y="2761488"/>
            <a:ext cx="1280160" cy="201168"/>
          </a:xfrm>
          <a:prstGeom prst="rect">
            <a:avLst/>
          </a:prstGeom>
          <a:noFill/>
          <a:ln/>
        </p:spPr>
        <p:txBody>
          <a:bodyPr wrap="square" lIns="0" tIns="0" rIns="0" bIns="0" rtlCol="0" anchor="ctr"/>
          <a:lstStyle/>
          <a:p>
            <a:pPr indent="0" marL="0">
              <a:buNone/>
            </a:pPr>
            <a:r>
              <a:rPr lang="en-US" sz="1050" b="1" dirty="0">
                <a:solidFill>
                  <a:srgbClr val="972900"/>
                </a:solidFill>
                <a:latin typeface="Segoe UI Semibold" pitchFamily="34" charset="0"/>
                <a:ea typeface="Segoe UI Semibold" pitchFamily="34" charset="-122"/>
                <a:cs typeface="Segoe UI Semibold" pitchFamily="34" charset="-120"/>
              </a:rPr>
              <a:t>Facilities lead</a:t>
            </a:r>
            <a:endParaRPr lang="en-US" sz="1050" dirty="0"/>
          </a:p>
        </p:txBody>
      </p:sp>
      <p:sp>
        <p:nvSpPr>
          <p:cNvPr id="16" name="Shape 14"/>
          <p:cNvSpPr/>
          <p:nvPr/>
        </p:nvSpPr>
        <p:spPr>
          <a:xfrm>
            <a:off x="914400" y="3054096"/>
            <a:ext cx="4160520" cy="1325880"/>
          </a:xfrm>
          <a:prstGeom prst="roundRect">
            <a:avLst/>
          </a:prstGeom>
          <a:solidFill>
            <a:srgbClr val="FFFFFF"/>
          </a:solidFill>
          <a:ln w="12700">
            <a:solidFill>
              <a:srgbClr val="E1DFDD"/>
            </a:solidFill>
            <a:prstDash val="solid"/>
          </a:ln>
        </p:spPr>
      </p:sp>
      <p:sp>
        <p:nvSpPr>
          <p:cNvPr id="17" name="Text 15"/>
          <p:cNvSpPr/>
          <p:nvPr/>
        </p:nvSpPr>
        <p:spPr>
          <a:xfrm>
            <a:off x="1143000" y="3291840"/>
            <a:ext cx="3703320" cy="822960"/>
          </a:xfrm>
          <a:prstGeom prst="rect">
            <a:avLst/>
          </a:prstGeom>
          <a:noFill/>
          <a:ln/>
        </p:spPr>
        <p:txBody>
          <a:bodyPr wrap="square" lIns="0" tIns="0" rIns="0" bIns="0" rtlCol="0" anchor="ctr">
            <a:normAutofit/>
          </a:bodyPr>
          <a:lstStyle/>
          <a:p>
            <a:pPr indent="0" marL="0">
              <a:buNone/>
            </a:pPr>
            <a:r>
              <a:rPr lang="en-US" sz="1300" dirty="0">
                <a:solidFill>
                  <a:srgbClr val="3B3A39"/>
                </a:solidFill>
                <a:latin typeface="Segoe UI" pitchFamily="34" charset="0"/>
                <a:ea typeface="Segoe UI" pitchFamily="34" charset="-122"/>
                <a:cs typeface="Segoe UI" pitchFamily="34" charset="-120"/>
              </a:rPr>
              <a:t>"Employees report building issues through email and chat. The assistant should collect location, issue type, and urgency; summarize the request; answer from the maintenance FAQ; and create a synthetic service-request receipt."</a:t>
            </a:r>
            <a:endParaRPr lang="en-US" sz="1300" dirty="0"/>
          </a:p>
        </p:txBody>
      </p:sp>
      <p:sp>
        <p:nvSpPr>
          <p:cNvPr id="18" name="Text 16"/>
          <p:cNvSpPr/>
          <p:nvPr/>
        </p:nvSpPr>
        <p:spPr>
          <a:xfrm>
            <a:off x="914400" y="4736592"/>
            <a:ext cx="4251960" cy="384048"/>
          </a:xfrm>
          <a:prstGeom prst="rect">
            <a:avLst/>
          </a:prstGeom>
          <a:noFill/>
          <a:ln/>
        </p:spPr>
        <p:txBody>
          <a:bodyPr wrap="square" lIns="0" tIns="0" rIns="0" bIns="0" rtlCol="0" anchor="ctr">
            <a:normAutofit/>
          </a:bodyPr>
          <a:lstStyle/>
          <a:p>
            <a:pPr indent="0" marL="0">
              <a:buNone/>
            </a:pPr>
            <a:r>
              <a:rPr lang="en-US" sz="1100" b="1" dirty="0">
                <a:solidFill>
                  <a:srgbClr val="103A6B"/>
                </a:solidFill>
                <a:latin typeface="Segoe UI Semibold" pitchFamily="34" charset="0"/>
                <a:ea typeface="Segoe UI Semibold" pitchFamily="34" charset="-122"/>
                <a:cs typeface="Segoe UI Semibold" pitchFamily="34" charset="-120"/>
              </a:rPr>
              <a:t>This is enough signal to begin because it names the user, problem, workflow, outputs, and safety boundary.</a:t>
            </a:r>
            <a:endParaRPr lang="en-US" sz="1100" dirty="0"/>
          </a:p>
        </p:txBody>
      </p:sp>
      <p:sp>
        <p:nvSpPr>
          <p:cNvPr id="19" name="Shape 17"/>
          <p:cNvSpPr/>
          <p:nvPr/>
        </p:nvSpPr>
        <p:spPr>
          <a:xfrm>
            <a:off x="6080760" y="1993392"/>
            <a:ext cx="2331720" cy="1170432"/>
          </a:xfrm>
          <a:prstGeom prst="roundRect">
            <a:avLst/>
          </a:prstGeom>
          <a:solidFill>
            <a:srgbClr val="DCEE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20" name="Text 18"/>
          <p:cNvSpPr/>
          <p:nvPr/>
        </p:nvSpPr>
        <p:spPr>
          <a:xfrm>
            <a:off x="6263640" y="2194560"/>
            <a:ext cx="1965960" cy="228600"/>
          </a:xfrm>
          <a:prstGeom prst="rect">
            <a:avLst/>
          </a:prstGeom>
          <a:noFill/>
          <a:ln/>
        </p:spPr>
        <p:txBody>
          <a:bodyPr wrap="square" lIns="0" tIns="0" rIns="0" bIns="0" rtlCol="0" anchor="ctr"/>
          <a:lstStyle/>
          <a:p>
            <a:pPr indent="0" marL="0">
              <a:buNone/>
            </a:pPr>
            <a:r>
              <a:rPr lang="en-US" sz="1500" b="1" dirty="0">
                <a:solidFill>
                  <a:srgbClr val="0078D4"/>
                </a:solidFill>
                <a:latin typeface="Segoe UI Semibold" pitchFamily="34" charset="0"/>
                <a:ea typeface="Segoe UI Semibold" pitchFamily="34" charset="-122"/>
                <a:cs typeface="Segoe UI Semibold" pitchFamily="34" charset="-120"/>
              </a:rPr>
              <a:t>Intake</a:t>
            </a:r>
            <a:endParaRPr lang="en-US" sz="1500" dirty="0"/>
          </a:p>
        </p:txBody>
      </p:sp>
      <p:sp>
        <p:nvSpPr>
          <p:cNvPr id="21" name="Text 19"/>
          <p:cNvSpPr/>
          <p:nvPr/>
        </p:nvSpPr>
        <p:spPr>
          <a:xfrm>
            <a:off x="6263640" y="2560320"/>
            <a:ext cx="1965960" cy="384048"/>
          </a:xfrm>
          <a:prstGeom prst="rect">
            <a:avLst/>
          </a:prstGeom>
          <a:noFill/>
          <a:ln/>
        </p:spPr>
        <p:txBody>
          <a:bodyPr wrap="square" lIns="0" tIns="0" rIns="0" bIns="0" rtlCol="0" anchor="ctr">
            <a:normAutofit/>
          </a:bodyPr>
          <a:lstStyle/>
          <a:p>
            <a:pPr indent="0" marL="0">
              <a:buNone/>
            </a:pPr>
            <a:r>
              <a:rPr lang="en-US" sz="1080" dirty="0">
                <a:solidFill>
                  <a:srgbClr val="3B3A39"/>
                </a:solidFill>
                <a:latin typeface="Segoe UI" pitchFamily="34" charset="0"/>
                <a:ea typeface="Segoe UI" pitchFamily="34" charset="-122"/>
                <a:cs typeface="Segoe UI" pitchFamily="34" charset="-120"/>
              </a:rPr>
              <a:t>Ask for location, type, urgency.</a:t>
            </a:r>
            <a:endParaRPr lang="en-US" sz="1080" dirty="0"/>
          </a:p>
        </p:txBody>
      </p:sp>
      <p:sp>
        <p:nvSpPr>
          <p:cNvPr id="22" name="Shape 20"/>
          <p:cNvSpPr/>
          <p:nvPr/>
        </p:nvSpPr>
        <p:spPr>
          <a:xfrm>
            <a:off x="8686800" y="1993392"/>
            <a:ext cx="2331720" cy="1170432"/>
          </a:xfrm>
          <a:prstGeom prst="roundRect">
            <a:avLst/>
          </a:prstGeom>
          <a:solidFill>
            <a:srgbClr val="F9E3DB"/>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23" name="Text 21"/>
          <p:cNvSpPr/>
          <p:nvPr/>
        </p:nvSpPr>
        <p:spPr>
          <a:xfrm>
            <a:off x="8869680" y="2194560"/>
            <a:ext cx="1965960" cy="228600"/>
          </a:xfrm>
          <a:prstGeom prst="rect">
            <a:avLst/>
          </a:prstGeom>
          <a:noFill/>
          <a:ln/>
        </p:spPr>
        <p:txBody>
          <a:bodyPr wrap="square" lIns="0" tIns="0" rIns="0" bIns="0" rtlCol="0" anchor="ctr"/>
          <a:lstStyle/>
          <a:p>
            <a:pPr indent="0" marL="0">
              <a:buNone/>
            </a:pPr>
            <a:r>
              <a:rPr lang="en-US" sz="1500" b="1" dirty="0">
                <a:solidFill>
                  <a:srgbClr val="D83B01"/>
                </a:solidFill>
                <a:latin typeface="Segoe UI Semibold" pitchFamily="34" charset="0"/>
                <a:ea typeface="Segoe UI Semibold" pitchFamily="34" charset="-122"/>
                <a:cs typeface="Segoe UI Semibold" pitchFamily="34" charset="-120"/>
              </a:rPr>
              <a:t>Triage</a:t>
            </a:r>
            <a:endParaRPr lang="en-US" sz="1500" dirty="0"/>
          </a:p>
        </p:txBody>
      </p:sp>
      <p:sp>
        <p:nvSpPr>
          <p:cNvPr id="24" name="Text 22"/>
          <p:cNvSpPr/>
          <p:nvPr/>
        </p:nvSpPr>
        <p:spPr>
          <a:xfrm>
            <a:off x="8869680" y="2560320"/>
            <a:ext cx="1965960" cy="384048"/>
          </a:xfrm>
          <a:prstGeom prst="rect">
            <a:avLst/>
          </a:prstGeom>
          <a:noFill/>
          <a:ln/>
        </p:spPr>
        <p:txBody>
          <a:bodyPr wrap="square" lIns="0" tIns="0" rIns="0" bIns="0" rtlCol="0" anchor="ctr">
            <a:normAutofit/>
          </a:bodyPr>
          <a:lstStyle/>
          <a:p>
            <a:pPr indent="0" marL="0">
              <a:buNone/>
            </a:pPr>
            <a:r>
              <a:rPr lang="en-US" sz="1080" dirty="0">
                <a:solidFill>
                  <a:srgbClr val="3B3A39"/>
                </a:solidFill>
                <a:latin typeface="Segoe UI" pitchFamily="34" charset="0"/>
                <a:ea typeface="Segoe UI" pitchFamily="34" charset="-122"/>
                <a:cs typeface="Segoe UI" pitchFamily="34" charset="-120"/>
              </a:rPr>
              <a:t>Classify and summarize the issue.</a:t>
            </a:r>
            <a:endParaRPr lang="en-US" sz="1080" dirty="0"/>
          </a:p>
        </p:txBody>
      </p:sp>
      <p:sp>
        <p:nvSpPr>
          <p:cNvPr id="25" name="Shape 23"/>
          <p:cNvSpPr/>
          <p:nvPr/>
        </p:nvSpPr>
        <p:spPr>
          <a:xfrm>
            <a:off x="6080760" y="3410712"/>
            <a:ext cx="2331720" cy="1170432"/>
          </a:xfrm>
          <a:prstGeom prst="roundRect">
            <a:avLst/>
          </a:prstGeom>
          <a:solidFill>
            <a:srgbClr val="DFF6DD"/>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26" name="Text 24"/>
          <p:cNvSpPr/>
          <p:nvPr/>
        </p:nvSpPr>
        <p:spPr>
          <a:xfrm>
            <a:off x="6263640" y="3611880"/>
            <a:ext cx="1965960" cy="228600"/>
          </a:xfrm>
          <a:prstGeom prst="rect">
            <a:avLst/>
          </a:prstGeom>
          <a:noFill/>
          <a:ln/>
        </p:spPr>
        <p:txBody>
          <a:bodyPr wrap="square" lIns="0" tIns="0" rIns="0" bIns="0" rtlCol="0" anchor="ctr"/>
          <a:lstStyle/>
          <a:p>
            <a:pPr indent="0" marL="0">
              <a:buNone/>
            </a:pPr>
            <a:r>
              <a:rPr lang="en-US" sz="1500" b="1" dirty="0">
                <a:solidFill>
                  <a:srgbClr val="107C10"/>
                </a:solidFill>
                <a:latin typeface="Segoe UI Semibold" pitchFamily="34" charset="0"/>
                <a:ea typeface="Segoe UI Semibold" pitchFamily="34" charset="-122"/>
                <a:cs typeface="Segoe UI Semibold" pitchFamily="34" charset="-120"/>
              </a:rPr>
              <a:t>Answer</a:t>
            </a:r>
            <a:endParaRPr lang="en-US" sz="1500" dirty="0"/>
          </a:p>
        </p:txBody>
      </p:sp>
      <p:sp>
        <p:nvSpPr>
          <p:cNvPr id="27" name="Text 25"/>
          <p:cNvSpPr/>
          <p:nvPr/>
        </p:nvSpPr>
        <p:spPr>
          <a:xfrm>
            <a:off x="6263640" y="3977640"/>
            <a:ext cx="1965960" cy="384048"/>
          </a:xfrm>
          <a:prstGeom prst="rect">
            <a:avLst/>
          </a:prstGeom>
          <a:noFill/>
          <a:ln/>
        </p:spPr>
        <p:txBody>
          <a:bodyPr wrap="square" lIns="0" tIns="0" rIns="0" bIns="0" rtlCol="0" anchor="ctr">
            <a:normAutofit/>
          </a:bodyPr>
          <a:lstStyle/>
          <a:p>
            <a:pPr indent="0" marL="0">
              <a:buNone/>
            </a:pPr>
            <a:r>
              <a:rPr lang="en-US" sz="1080" dirty="0">
                <a:solidFill>
                  <a:srgbClr val="3B3A39"/>
                </a:solidFill>
                <a:latin typeface="Segoe UI" pitchFamily="34" charset="0"/>
                <a:ea typeface="Segoe UI" pitchFamily="34" charset="-122"/>
                <a:cs typeface="Segoe UI" pitchFamily="34" charset="-120"/>
              </a:rPr>
              <a:t>Ground replies in maintenance guidance.</a:t>
            </a:r>
            <a:endParaRPr lang="en-US" sz="1080" dirty="0"/>
          </a:p>
        </p:txBody>
      </p:sp>
      <p:sp>
        <p:nvSpPr>
          <p:cNvPr id="28" name="Shape 26"/>
          <p:cNvSpPr/>
          <p:nvPr/>
        </p:nvSpPr>
        <p:spPr>
          <a:xfrm>
            <a:off x="8686800" y="3410712"/>
            <a:ext cx="2331720" cy="1170432"/>
          </a:xfrm>
          <a:prstGeom prst="roundRect">
            <a:avLst/>
          </a:prstGeom>
          <a:solidFill>
            <a:srgbClr val="EDE7F6"/>
          </a:solidFill>
          <a:ln w="12700">
            <a:solidFill>
              <a:srgbClr val="8661C5"/>
            </a:solidFill>
            <a:prstDash val="solid"/>
          </a:ln>
          <a:effectLst>
            <a:outerShdw sx="100000" sy="100000" kx="0" ky="0" algn="bl" rotWithShape="0" blurRad="63500" dist="50800" dir="8100000">
              <a:srgbClr val="000000">
                <a:alpha val="12000"/>
              </a:srgbClr>
            </a:outerShdw>
          </a:effectLst>
        </p:spPr>
      </p:sp>
      <p:sp>
        <p:nvSpPr>
          <p:cNvPr id="29" name="Text 27"/>
          <p:cNvSpPr/>
          <p:nvPr/>
        </p:nvSpPr>
        <p:spPr>
          <a:xfrm>
            <a:off x="8869680" y="3611880"/>
            <a:ext cx="1965960" cy="228600"/>
          </a:xfrm>
          <a:prstGeom prst="rect">
            <a:avLst/>
          </a:prstGeom>
          <a:noFill/>
          <a:ln/>
        </p:spPr>
        <p:txBody>
          <a:bodyPr wrap="square" lIns="0" tIns="0" rIns="0" bIns="0" rtlCol="0" anchor="ctr"/>
          <a:lstStyle/>
          <a:p>
            <a:pPr indent="0" marL="0">
              <a:buNone/>
            </a:pPr>
            <a:r>
              <a:rPr lang="en-US" sz="1500" b="1" dirty="0">
                <a:solidFill>
                  <a:srgbClr val="8661C5"/>
                </a:solidFill>
                <a:latin typeface="Segoe UI Semibold" pitchFamily="34" charset="0"/>
                <a:ea typeface="Segoe UI Semibold" pitchFamily="34" charset="-122"/>
                <a:cs typeface="Segoe UI Semibold" pitchFamily="34" charset="-120"/>
              </a:rPr>
              <a:t>Create</a:t>
            </a:r>
            <a:endParaRPr lang="en-US" sz="1500" dirty="0"/>
          </a:p>
        </p:txBody>
      </p:sp>
      <p:sp>
        <p:nvSpPr>
          <p:cNvPr id="30" name="Text 28"/>
          <p:cNvSpPr/>
          <p:nvPr/>
        </p:nvSpPr>
        <p:spPr>
          <a:xfrm>
            <a:off x="8869680" y="3977640"/>
            <a:ext cx="1965960" cy="384048"/>
          </a:xfrm>
          <a:prstGeom prst="rect">
            <a:avLst/>
          </a:prstGeom>
          <a:noFill/>
          <a:ln/>
        </p:spPr>
        <p:txBody>
          <a:bodyPr wrap="square" lIns="0" tIns="0" rIns="0" bIns="0" rtlCol="0" anchor="ctr">
            <a:normAutofit/>
          </a:bodyPr>
          <a:lstStyle/>
          <a:p>
            <a:pPr indent="0" marL="0">
              <a:buNone/>
            </a:pPr>
            <a:r>
              <a:rPr lang="en-US" sz="1080" dirty="0">
                <a:solidFill>
                  <a:srgbClr val="3B3A39"/>
                </a:solidFill>
                <a:latin typeface="Segoe UI" pitchFamily="34" charset="0"/>
                <a:ea typeface="Segoe UI" pitchFamily="34" charset="-122"/>
                <a:cs typeface="Segoe UI" pitchFamily="34" charset="-120"/>
              </a:rPr>
              <a:t>Simulate or create a service request.</a:t>
            </a:r>
            <a:endParaRPr lang="en-US" sz="1080" dirty="0"/>
          </a:p>
        </p:txBody>
      </p:sp>
      <p:sp>
        <p:nvSpPr>
          <p:cNvPr id="31" name="Shape 29"/>
          <p:cNvSpPr/>
          <p:nvPr/>
        </p:nvSpPr>
        <p:spPr>
          <a:xfrm>
            <a:off x="6080760" y="4800600"/>
            <a:ext cx="4937760" cy="749808"/>
          </a:xfrm>
          <a:prstGeom prst="roundRect">
            <a:avLst/>
          </a:prstGeom>
          <a:solidFill>
            <a:srgbClr val="103A6B"/>
          </a:solidFill>
          <a:ln w="12700">
            <a:solidFill>
              <a:srgbClr val="103A6B"/>
            </a:solidFill>
            <a:prstDash val="solid"/>
          </a:ln>
          <a:effectLst>
            <a:outerShdw sx="100000" sy="100000" kx="0" ky="0" algn="bl" rotWithShape="0" blurRad="63500" dist="50800" dir="8100000">
              <a:srgbClr val="000000">
                <a:alpha val="12000"/>
              </a:srgbClr>
            </a:outerShdw>
          </a:effectLst>
        </p:spPr>
      </p:sp>
      <p:sp>
        <p:nvSpPr>
          <p:cNvPr id="32" name="Text 30"/>
          <p:cNvSpPr/>
          <p:nvPr/>
        </p:nvSpPr>
        <p:spPr>
          <a:xfrm>
            <a:off x="6336792" y="5010912"/>
            <a:ext cx="4425696" cy="274320"/>
          </a:xfrm>
          <a:prstGeom prst="rect">
            <a:avLst/>
          </a:prstGeom>
          <a:noFill/>
          <a:ln/>
        </p:spPr>
        <p:txBody>
          <a:bodyPr wrap="square" lIns="0" tIns="0" rIns="0" bIns="0" rtlCol="0" anchor="ctr">
            <a:normAutofit/>
          </a:bodyPr>
          <a:lstStyle/>
          <a:p>
            <a:pPr indent="0" marL="0">
              <a:buNone/>
            </a:pPr>
            <a:r>
              <a:rPr lang="en-US" sz="1200" b="1" dirty="0">
                <a:solidFill>
                  <a:srgbClr val="FFFFFF"/>
                </a:solidFill>
                <a:latin typeface="Segoe UI Semibold" pitchFamily="34" charset="0"/>
                <a:ea typeface="Segoe UI Semibold" pitchFamily="34" charset="-122"/>
                <a:cs typeface="Segoe UI Semibold" pitchFamily="34" charset="-120"/>
              </a:rPr>
              <a:t>SUCCESS  |  Under 2 min; critical flagged; no production actions.</a:t>
            </a:r>
            <a:endParaRPr lang="en-US" sz="1200" dirty="0"/>
          </a:p>
        </p:txBody>
      </p:sp>
      <p:sp>
        <p:nvSpPr>
          <p:cNvPr id="33" name="Text 31"/>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06</a:t>
            </a:r>
            <a:endParaRPr lang="en-US" sz="8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107C10"/>
          </a:solidFill>
          <a:ln w="12700">
            <a:solidFill>
              <a:srgbClr val="107C10">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107C10"/>
                </a:solidFill>
                <a:latin typeface="Segoe UI Semibold" pitchFamily="34" charset="0"/>
                <a:ea typeface="Segoe UI Semibold" pitchFamily="34" charset="-122"/>
                <a:cs typeface="Segoe UI Semibold" pitchFamily="34" charset="-120"/>
              </a:rPr>
              <a:t>WHAT GOES INTO THE HOPPER?</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More detail helps. More noise does not.</a:t>
            </a:r>
            <a:endParaRPr lang="en-US" sz="2800" dirty="0"/>
          </a:p>
        </p:txBody>
      </p:sp>
      <p:sp>
        <p:nvSpPr>
          <p:cNvPr id="10" name="Shape 8"/>
          <p:cNvSpPr/>
          <p:nvPr/>
        </p:nvSpPr>
        <p:spPr>
          <a:xfrm>
            <a:off x="594360" y="1847088"/>
            <a:ext cx="3456432" cy="3246120"/>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11" name="Shape 9"/>
          <p:cNvSpPr/>
          <p:nvPr/>
        </p:nvSpPr>
        <p:spPr>
          <a:xfrm>
            <a:off x="850392" y="2103120"/>
            <a:ext cx="1737360" cy="310896"/>
          </a:xfrm>
          <a:prstGeom prst="roundRect">
            <a:avLst/>
          </a:prstGeom>
          <a:solidFill>
            <a:srgbClr val="DFF6DD"/>
          </a:solidFill>
          <a:ln w="12700">
            <a:solidFill>
              <a:srgbClr val="DFF6DD">
                <a:alpha val="0"/>
              </a:srgbClr>
            </a:solidFill>
            <a:prstDash val="solid"/>
          </a:ln>
        </p:spPr>
      </p:sp>
      <p:sp>
        <p:nvSpPr>
          <p:cNvPr id="12" name="Text 10"/>
          <p:cNvSpPr/>
          <p:nvPr/>
        </p:nvSpPr>
        <p:spPr>
          <a:xfrm>
            <a:off x="914400" y="2157984"/>
            <a:ext cx="1609344" cy="164592"/>
          </a:xfrm>
          <a:prstGeom prst="rect">
            <a:avLst/>
          </a:prstGeom>
          <a:noFill/>
          <a:ln/>
        </p:spPr>
        <p:txBody>
          <a:bodyPr wrap="square" lIns="0" tIns="0" rIns="0" bIns="0" rtlCol="0" anchor="ctr">
            <a:normAutofit/>
          </a:bodyPr>
          <a:lstStyle/>
          <a:p>
            <a:pPr algn="ctr" indent="0" marL="0">
              <a:buNone/>
            </a:pPr>
            <a:r>
              <a:rPr lang="en-US" sz="920" b="1" dirty="0">
                <a:solidFill>
                  <a:srgbClr val="107C10"/>
                </a:solidFill>
                <a:latin typeface="Segoe UI Semibold" pitchFamily="34" charset="0"/>
                <a:ea typeface="Segoe UI Semibold" pitchFamily="34" charset="-122"/>
                <a:cs typeface="Segoe UI Semibold" pitchFamily="34" charset="-120"/>
              </a:rPr>
              <a:t>MUST INCLUDE</a:t>
            </a:r>
            <a:endParaRPr lang="en-US" sz="920" dirty="0"/>
          </a:p>
        </p:txBody>
      </p:sp>
      <p:sp>
        <p:nvSpPr>
          <p:cNvPr id="13" name="Shape 11"/>
          <p:cNvSpPr/>
          <p:nvPr/>
        </p:nvSpPr>
        <p:spPr>
          <a:xfrm>
            <a:off x="850392" y="2743200"/>
            <a:ext cx="228600" cy="228600"/>
          </a:xfrm>
          <a:prstGeom prst="ellipse">
            <a:avLst/>
          </a:prstGeom>
          <a:solidFill>
            <a:srgbClr val="DFF6DD"/>
          </a:solidFill>
          <a:ln w="12700">
            <a:solidFill>
              <a:srgbClr val="107C10"/>
            </a:solidFill>
            <a:prstDash val="solid"/>
          </a:ln>
        </p:spPr>
      </p:sp>
      <p:sp>
        <p:nvSpPr>
          <p:cNvPr id="14" name="Text 12"/>
          <p:cNvSpPr/>
          <p:nvPr/>
        </p:nvSpPr>
        <p:spPr>
          <a:xfrm>
            <a:off x="888797" y="2757830"/>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15" name="Text 13"/>
          <p:cNvSpPr/>
          <p:nvPr/>
        </p:nvSpPr>
        <p:spPr>
          <a:xfrm>
            <a:off x="1179576" y="2724912"/>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Business problem + desired outcome</a:t>
            </a:r>
            <a:endParaRPr lang="en-US" sz="1320" dirty="0"/>
          </a:p>
        </p:txBody>
      </p:sp>
      <p:sp>
        <p:nvSpPr>
          <p:cNvPr id="16" name="Shape 14"/>
          <p:cNvSpPr/>
          <p:nvPr/>
        </p:nvSpPr>
        <p:spPr>
          <a:xfrm>
            <a:off x="850392" y="3273552"/>
            <a:ext cx="228600" cy="228600"/>
          </a:xfrm>
          <a:prstGeom prst="ellipse">
            <a:avLst/>
          </a:prstGeom>
          <a:solidFill>
            <a:srgbClr val="DFF6DD"/>
          </a:solidFill>
          <a:ln w="12700">
            <a:solidFill>
              <a:srgbClr val="107C10"/>
            </a:solidFill>
            <a:prstDash val="solid"/>
          </a:ln>
        </p:spPr>
      </p:sp>
      <p:sp>
        <p:nvSpPr>
          <p:cNvPr id="17" name="Text 15"/>
          <p:cNvSpPr/>
          <p:nvPr/>
        </p:nvSpPr>
        <p:spPr>
          <a:xfrm>
            <a:off x="888797" y="3288182"/>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18" name="Text 16"/>
          <p:cNvSpPr/>
          <p:nvPr/>
        </p:nvSpPr>
        <p:spPr>
          <a:xfrm>
            <a:off x="1179576" y="3255264"/>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Primary users and current workflow</a:t>
            </a:r>
            <a:endParaRPr lang="en-US" sz="1320" dirty="0"/>
          </a:p>
        </p:txBody>
      </p:sp>
      <p:sp>
        <p:nvSpPr>
          <p:cNvPr id="19" name="Shape 17"/>
          <p:cNvSpPr/>
          <p:nvPr/>
        </p:nvSpPr>
        <p:spPr>
          <a:xfrm>
            <a:off x="850392" y="3803904"/>
            <a:ext cx="228600" cy="228600"/>
          </a:xfrm>
          <a:prstGeom prst="ellipse">
            <a:avLst/>
          </a:prstGeom>
          <a:solidFill>
            <a:srgbClr val="DFF6DD"/>
          </a:solidFill>
          <a:ln w="12700">
            <a:solidFill>
              <a:srgbClr val="107C10"/>
            </a:solidFill>
            <a:prstDash val="solid"/>
          </a:ln>
        </p:spPr>
      </p:sp>
      <p:sp>
        <p:nvSpPr>
          <p:cNvPr id="20" name="Text 18"/>
          <p:cNvSpPr/>
          <p:nvPr/>
        </p:nvSpPr>
        <p:spPr>
          <a:xfrm>
            <a:off x="888797" y="3818534"/>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21" name="Text 19"/>
          <p:cNvSpPr/>
          <p:nvPr/>
        </p:nvSpPr>
        <p:spPr>
          <a:xfrm>
            <a:off x="1179576" y="3785616"/>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One to three priority capabilities</a:t>
            </a:r>
            <a:endParaRPr lang="en-US" sz="1320" dirty="0"/>
          </a:p>
        </p:txBody>
      </p:sp>
      <p:sp>
        <p:nvSpPr>
          <p:cNvPr id="22" name="Shape 20"/>
          <p:cNvSpPr/>
          <p:nvPr/>
        </p:nvSpPr>
        <p:spPr>
          <a:xfrm>
            <a:off x="850392" y="4334256"/>
            <a:ext cx="228600" cy="228600"/>
          </a:xfrm>
          <a:prstGeom prst="ellipse">
            <a:avLst/>
          </a:prstGeom>
          <a:solidFill>
            <a:srgbClr val="DFF6DD"/>
          </a:solidFill>
          <a:ln w="12700">
            <a:solidFill>
              <a:srgbClr val="107C10"/>
            </a:solidFill>
            <a:prstDash val="solid"/>
          </a:ln>
        </p:spPr>
      </p:sp>
      <p:sp>
        <p:nvSpPr>
          <p:cNvPr id="23" name="Text 21"/>
          <p:cNvSpPr/>
          <p:nvPr/>
        </p:nvSpPr>
        <p:spPr>
          <a:xfrm>
            <a:off x="888797" y="4348886"/>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24" name="Text 22"/>
          <p:cNvSpPr/>
          <p:nvPr/>
        </p:nvSpPr>
        <p:spPr>
          <a:xfrm>
            <a:off x="1179576" y="4315968"/>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Constraints, systems, and success measure</a:t>
            </a:r>
            <a:endParaRPr lang="en-US" sz="1320" dirty="0"/>
          </a:p>
        </p:txBody>
      </p:sp>
      <p:sp>
        <p:nvSpPr>
          <p:cNvPr id="25" name="Shape 23"/>
          <p:cNvSpPr/>
          <p:nvPr/>
        </p:nvSpPr>
        <p:spPr>
          <a:xfrm>
            <a:off x="4361688" y="1847088"/>
            <a:ext cx="3456432" cy="3246120"/>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26" name="Shape 24"/>
          <p:cNvSpPr/>
          <p:nvPr/>
        </p:nvSpPr>
        <p:spPr>
          <a:xfrm>
            <a:off x="4617720" y="2103120"/>
            <a:ext cx="1737360" cy="310896"/>
          </a:xfrm>
          <a:prstGeom prst="roundRect">
            <a:avLst/>
          </a:prstGeom>
          <a:solidFill>
            <a:srgbClr val="DCEEFF"/>
          </a:solidFill>
          <a:ln w="12700">
            <a:solidFill>
              <a:srgbClr val="DCEEFF">
                <a:alpha val="0"/>
              </a:srgbClr>
            </a:solidFill>
            <a:prstDash val="solid"/>
          </a:ln>
        </p:spPr>
      </p:sp>
      <p:sp>
        <p:nvSpPr>
          <p:cNvPr id="27" name="Text 25"/>
          <p:cNvSpPr/>
          <p:nvPr/>
        </p:nvSpPr>
        <p:spPr>
          <a:xfrm>
            <a:off x="4681728" y="2157984"/>
            <a:ext cx="1609344" cy="164592"/>
          </a:xfrm>
          <a:prstGeom prst="rect">
            <a:avLst/>
          </a:prstGeom>
          <a:noFill/>
          <a:ln/>
        </p:spPr>
        <p:txBody>
          <a:bodyPr wrap="square" lIns="0" tIns="0" rIns="0" bIns="0" rtlCol="0" anchor="ctr">
            <a:normAutofit/>
          </a:bodyPr>
          <a:lstStyle/>
          <a:p>
            <a:pPr algn="ctr" indent="0" marL="0">
              <a:buNone/>
            </a:pPr>
            <a:r>
              <a:rPr lang="en-US" sz="920" b="1" dirty="0">
                <a:solidFill>
                  <a:srgbClr val="0078D4"/>
                </a:solidFill>
                <a:latin typeface="Segoe UI Semibold" pitchFamily="34" charset="0"/>
                <a:ea typeface="Segoe UI Semibold" pitchFamily="34" charset="-122"/>
                <a:cs typeface="Segoe UI Semibold" pitchFamily="34" charset="-120"/>
              </a:rPr>
              <a:t>HELPFUL EVIDENCE</a:t>
            </a:r>
            <a:endParaRPr lang="en-US" sz="920" dirty="0"/>
          </a:p>
        </p:txBody>
      </p:sp>
      <p:sp>
        <p:nvSpPr>
          <p:cNvPr id="28" name="Shape 26"/>
          <p:cNvSpPr/>
          <p:nvPr/>
        </p:nvSpPr>
        <p:spPr>
          <a:xfrm>
            <a:off x="4617720" y="2743200"/>
            <a:ext cx="228600" cy="228600"/>
          </a:xfrm>
          <a:prstGeom prst="ellipse">
            <a:avLst/>
          </a:prstGeom>
          <a:solidFill>
            <a:srgbClr val="DCEEFF"/>
          </a:solidFill>
          <a:ln w="12700">
            <a:solidFill>
              <a:srgbClr val="0078D4"/>
            </a:solidFill>
            <a:prstDash val="solid"/>
          </a:ln>
        </p:spPr>
      </p:sp>
      <p:sp>
        <p:nvSpPr>
          <p:cNvPr id="29" name="Text 27"/>
          <p:cNvSpPr/>
          <p:nvPr/>
        </p:nvSpPr>
        <p:spPr>
          <a:xfrm>
            <a:off x="4656125" y="2757830"/>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30" name="Text 28"/>
          <p:cNvSpPr/>
          <p:nvPr/>
        </p:nvSpPr>
        <p:spPr>
          <a:xfrm>
            <a:off x="4946904" y="2724912"/>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Example requests and expected replies</a:t>
            </a:r>
            <a:endParaRPr lang="en-US" sz="1320" dirty="0"/>
          </a:p>
        </p:txBody>
      </p:sp>
      <p:sp>
        <p:nvSpPr>
          <p:cNvPr id="31" name="Shape 29"/>
          <p:cNvSpPr/>
          <p:nvPr/>
        </p:nvSpPr>
        <p:spPr>
          <a:xfrm>
            <a:off x="4617720" y="3273552"/>
            <a:ext cx="228600" cy="228600"/>
          </a:xfrm>
          <a:prstGeom prst="ellipse">
            <a:avLst/>
          </a:prstGeom>
          <a:solidFill>
            <a:srgbClr val="DCEEFF"/>
          </a:solidFill>
          <a:ln w="12700">
            <a:solidFill>
              <a:srgbClr val="0078D4"/>
            </a:solidFill>
            <a:prstDash val="solid"/>
          </a:ln>
        </p:spPr>
      </p:sp>
      <p:sp>
        <p:nvSpPr>
          <p:cNvPr id="32" name="Text 30"/>
          <p:cNvSpPr/>
          <p:nvPr/>
        </p:nvSpPr>
        <p:spPr>
          <a:xfrm>
            <a:off x="4656125" y="3288182"/>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33" name="Text 31"/>
          <p:cNvSpPr/>
          <p:nvPr/>
        </p:nvSpPr>
        <p:spPr>
          <a:xfrm>
            <a:off x="4946904" y="3255264"/>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Domain terms, policies, or tables</a:t>
            </a:r>
            <a:endParaRPr lang="en-US" sz="1320" dirty="0"/>
          </a:p>
        </p:txBody>
      </p:sp>
      <p:sp>
        <p:nvSpPr>
          <p:cNvPr id="34" name="Shape 32"/>
          <p:cNvSpPr/>
          <p:nvPr/>
        </p:nvSpPr>
        <p:spPr>
          <a:xfrm>
            <a:off x="4617720" y="3803904"/>
            <a:ext cx="228600" cy="228600"/>
          </a:xfrm>
          <a:prstGeom prst="ellipse">
            <a:avLst/>
          </a:prstGeom>
          <a:solidFill>
            <a:srgbClr val="DCEEFF"/>
          </a:solidFill>
          <a:ln w="12700">
            <a:solidFill>
              <a:srgbClr val="0078D4"/>
            </a:solidFill>
            <a:prstDash val="solid"/>
          </a:ln>
        </p:spPr>
      </p:sp>
      <p:sp>
        <p:nvSpPr>
          <p:cNvPr id="35" name="Text 33"/>
          <p:cNvSpPr/>
          <p:nvPr/>
        </p:nvSpPr>
        <p:spPr>
          <a:xfrm>
            <a:off x="4656125" y="3818534"/>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36" name="Text 34"/>
          <p:cNvSpPr/>
          <p:nvPr/>
        </p:nvSpPr>
        <p:spPr>
          <a:xfrm>
            <a:off x="4946904" y="3785616"/>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Named systems of record</a:t>
            </a:r>
            <a:endParaRPr lang="en-US" sz="1320" dirty="0"/>
          </a:p>
        </p:txBody>
      </p:sp>
      <p:sp>
        <p:nvSpPr>
          <p:cNvPr id="37" name="Shape 35"/>
          <p:cNvSpPr/>
          <p:nvPr/>
        </p:nvSpPr>
        <p:spPr>
          <a:xfrm>
            <a:off x="4617720" y="4334256"/>
            <a:ext cx="228600" cy="228600"/>
          </a:xfrm>
          <a:prstGeom prst="ellipse">
            <a:avLst/>
          </a:prstGeom>
          <a:solidFill>
            <a:srgbClr val="DCEEFF"/>
          </a:solidFill>
          <a:ln w="12700">
            <a:solidFill>
              <a:srgbClr val="0078D4"/>
            </a:solidFill>
            <a:prstDash val="solid"/>
          </a:ln>
        </p:spPr>
      </p:sp>
      <p:sp>
        <p:nvSpPr>
          <p:cNvPr id="38" name="Text 36"/>
          <p:cNvSpPr/>
          <p:nvPr/>
        </p:nvSpPr>
        <p:spPr>
          <a:xfrm>
            <a:off x="4656125" y="4348886"/>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39" name="Text 37"/>
          <p:cNvSpPr/>
          <p:nvPr/>
        </p:nvSpPr>
        <p:spPr>
          <a:xfrm>
            <a:off x="4946904" y="4315968"/>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Synthetic sample records</a:t>
            </a:r>
            <a:endParaRPr lang="en-US" sz="1320" dirty="0"/>
          </a:p>
        </p:txBody>
      </p:sp>
      <p:sp>
        <p:nvSpPr>
          <p:cNvPr id="40" name="Shape 38"/>
          <p:cNvSpPr/>
          <p:nvPr/>
        </p:nvSpPr>
        <p:spPr>
          <a:xfrm>
            <a:off x="8129016" y="1847088"/>
            <a:ext cx="3456432" cy="3246120"/>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41" name="Shape 39"/>
          <p:cNvSpPr/>
          <p:nvPr/>
        </p:nvSpPr>
        <p:spPr>
          <a:xfrm>
            <a:off x="8385048" y="2103120"/>
            <a:ext cx="1737360" cy="310896"/>
          </a:xfrm>
          <a:prstGeom prst="roundRect">
            <a:avLst/>
          </a:prstGeom>
          <a:solidFill>
            <a:srgbClr val="F9E3DB"/>
          </a:solidFill>
          <a:ln w="12700">
            <a:solidFill>
              <a:srgbClr val="F9E3DB">
                <a:alpha val="0"/>
              </a:srgbClr>
            </a:solidFill>
            <a:prstDash val="solid"/>
          </a:ln>
        </p:spPr>
      </p:sp>
      <p:sp>
        <p:nvSpPr>
          <p:cNvPr id="42" name="Text 40"/>
          <p:cNvSpPr/>
          <p:nvPr/>
        </p:nvSpPr>
        <p:spPr>
          <a:xfrm>
            <a:off x="8449056" y="2157984"/>
            <a:ext cx="1609344" cy="164592"/>
          </a:xfrm>
          <a:prstGeom prst="rect">
            <a:avLst/>
          </a:prstGeom>
          <a:noFill/>
          <a:ln/>
        </p:spPr>
        <p:txBody>
          <a:bodyPr wrap="square" lIns="0" tIns="0" rIns="0" bIns="0" rtlCol="0" anchor="ctr">
            <a:normAutofit/>
          </a:bodyPr>
          <a:lstStyle/>
          <a:p>
            <a:pPr algn="ctr" indent="0" marL="0">
              <a:buNone/>
            </a:pPr>
            <a:r>
              <a:rPr lang="en-US" sz="920" b="1" dirty="0">
                <a:solidFill>
                  <a:srgbClr val="D83B01"/>
                </a:solidFill>
                <a:latin typeface="Segoe UI Semibold" pitchFamily="34" charset="0"/>
                <a:ea typeface="Segoe UI Semibold" pitchFamily="34" charset="-122"/>
                <a:cs typeface="Segoe UI Semibold" pitchFamily="34" charset="-120"/>
              </a:rPr>
              <a:t>PREP FIRST</a:t>
            </a:r>
            <a:endParaRPr lang="en-US" sz="920" dirty="0"/>
          </a:p>
        </p:txBody>
      </p:sp>
      <p:sp>
        <p:nvSpPr>
          <p:cNvPr id="43" name="Shape 41"/>
          <p:cNvSpPr/>
          <p:nvPr/>
        </p:nvSpPr>
        <p:spPr>
          <a:xfrm>
            <a:off x="8385048" y="2743200"/>
            <a:ext cx="228600" cy="228600"/>
          </a:xfrm>
          <a:prstGeom prst="ellipse">
            <a:avLst/>
          </a:prstGeom>
          <a:solidFill>
            <a:srgbClr val="DCEEFF"/>
          </a:solidFill>
          <a:ln w="12700">
            <a:solidFill>
              <a:srgbClr val="D83B01"/>
            </a:solidFill>
            <a:prstDash val="solid"/>
          </a:ln>
        </p:spPr>
      </p:sp>
      <p:sp>
        <p:nvSpPr>
          <p:cNvPr id="44" name="Text 42"/>
          <p:cNvSpPr/>
          <p:nvPr/>
        </p:nvSpPr>
        <p:spPr>
          <a:xfrm>
            <a:off x="8423453" y="2757830"/>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45" name="Text 43"/>
          <p:cNvSpPr/>
          <p:nvPr/>
        </p:nvSpPr>
        <p:spPr>
          <a:xfrm>
            <a:off x="8714232" y="2724912"/>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Remove data you are not allowed to process</a:t>
            </a:r>
            <a:endParaRPr lang="en-US" sz="1320" dirty="0"/>
          </a:p>
        </p:txBody>
      </p:sp>
      <p:sp>
        <p:nvSpPr>
          <p:cNvPr id="46" name="Shape 44"/>
          <p:cNvSpPr/>
          <p:nvPr/>
        </p:nvSpPr>
        <p:spPr>
          <a:xfrm>
            <a:off x="8385048" y="3273552"/>
            <a:ext cx="228600" cy="228600"/>
          </a:xfrm>
          <a:prstGeom prst="ellipse">
            <a:avLst/>
          </a:prstGeom>
          <a:solidFill>
            <a:srgbClr val="DCEEFF"/>
          </a:solidFill>
          <a:ln w="12700">
            <a:solidFill>
              <a:srgbClr val="D83B01"/>
            </a:solidFill>
            <a:prstDash val="solid"/>
          </a:ln>
        </p:spPr>
      </p:sp>
      <p:sp>
        <p:nvSpPr>
          <p:cNvPr id="47" name="Text 45"/>
          <p:cNvSpPr/>
          <p:nvPr/>
        </p:nvSpPr>
        <p:spPr>
          <a:xfrm>
            <a:off x="8423453" y="3288182"/>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48" name="Text 46"/>
          <p:cNvSpPr/>
          <p:nvPr/>
        </p:nvSpPr>
        <p:spPr>
          <a:xfrm>
            <a:off x="8714232" y="3255264"/>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OCR image-only or handwritten notes</a:t>
            </a:r>
            <a:endParaRPr lang="en-US" sz="1320" dirty="0"/>
          </a:p>
        </p:txBody>
      </p:sp>
      <p:sp>
        <p:nvSpPr>
          <p:cNvPr id="49" name="Shape 47"/>
          <p:cNvSpPr/>
          <p:nvPr/>
        </p:nvSpPr>
        <p:spPr>
          <a:xfrm>
            <a:off x="8385048" y="3803904"/>
            <a:ext cx="228600" cy="228600"/>
          </a:xfrm>
          <a:prstGeom prst="ellipse">
            <a:avLst/>
          </a:prstGeom>
          <a:solidFill>
            <a:srgbClr val="DCEEFF"/>
          </a:solidFill>
          <a:ln w="12700">
            <a:solidFill>
              <a:srgbClr val="D83B01"/>
            </a:solidFill>
            <a:prstDash val="solid"/>
          </a:ln>
        </p:spPr>
      </p:sp>
      <p:sp>
        <p:nvSpPr>
          <p:cNvPr id="50" name="Text 48"/>
          <p:cNvSpPr/>
          <p:nvPr/>
        </p:nvSpPr>
        <p:spPr>
          <a:xfrm>
            <a:off x="8423453" y="3818534"/>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51" name="Text 49"/>
          <p:cNvSpPr/>
          <p:nvPr/>
        </p:nvSpPr>
        <p:spPr>
          <a:xfrm>
            <a:off x="8714232" y="3785616"/>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Summarize giant document dumps</a:t>
            </a:r>
            <a:endParaRPr lang="en-US" sz="1320" dirty="0"/>
          </a:p>
        </p:txBody>
      </p:sp>
      <p:sp>
        <p:nvSpPr>
          <p:cNvPr id="52" name="Shape 50"/>
          <p:cNvSpPr/>
          <p:nvPr/>
        </p:nvSpPr>
        <p:spPr>
          <a:xfrm>
            <a:off x="8385048" y="4334256"/>
            <a:ext cx="228600" cy="228600"/>
          </a:xfrm>
          <a:prstGeom prst="ellipse">
            <a:avLst/>
          </a:prstGeom>
          <a:solidFill>
            <a:srgbClr val="DCEEFF"/>
          </a:solidFill>
          <a:ln w="12700">
            <a:solidFill>
              <a:srgbClr val="D83B01"/>
            </a:solidFill>
            <a:prstDash val="solid"/>
          </a:ln>
        </p:spPr>
      </p:sp>
      <p:sp>
        <p:nvSpPr>
          <p:cNvPr id="53" name="Text 51"/>
          <p:cNvSpPr/>
          <p:nvPr/>
        </p:nvSpPr>
        <p:spPr>
          <a:xfrm>
            <a:off x="8423453" y="4348886"/>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54" name="Text 52"/>
          <p:cNvSpPr/>
          <p:nvPr/>
        </p:nvSpPr>
        <p:spPr>
          <a:xfrm>
            <a:off x="8714232" y="4315968"/>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Separate must-have from future ideas</a:t>
            </a:r>
            <a:endParaRPr lang="en-US" sz="1320" dirty="0"/>
          </a:p>
        </p:txBody>
      </p:sp>
      <p:sp>
        <p:nvSpPr>
          <p:cNvPr id="55" name="Text 53"/>
          <p:cNvSpPr/>
          <p:nvPr/>
        </p:nvSpPr>
        <p:spPr>
          <a:xfrm>
            <a:off x="621792" y="5431536"/>
            <a:ext cx="1645920" cy="182880"/>
          </a:xfrm>
          <a:prstGeom prst="rect">
            <a:avLst/>
          </a:prstGeom>
          <a:noFill/>
          <a:ln/>
        </p:spPr>
        <p:txBody>
          <a:bodyPr wrap="square" lIns="0" tIns="0" rIns="0" bIns="0" rtlCol="0" anchor="ctr"/>
          <a:lstStyle/>
          <a:p>
            <a:pPr indent="0" marL="0">
              <a:buNone/>
            </a:pPr>
            <a:r>
              <a:rPr lang="en-US" sz="950" b="1" spc="100" kern="0" dirty="0">
                <a:solidFill>
                  <a:srgbClr val="605E5C"/>
                </a:solidFill>
                <a:latin typeface="Segoe UI Semibold" pitchFamily="34" charset="0"/>
                <a:ea typeface="Segoe UI Semibold" pitchFamily="34" charset="-122"/>
                <a:cs typeface="Segoe UI Semibold" pitchFamily="34" charset="-120"/>
              </a:rPr>
              <a:t>WORKSHOP UPLOADER</a:t>
            </a:r>
            <a:endParaRPr lang="en-US" sz="950" dirty="0"/>
          </a:p>
        </p:txBody>
      </p:sp>
      <p:sp>
        <p:nvSpPr>
          <p:cNvPr id="56" name="Shape 54"/>
          <p:cNvSpPr/>
          <p:nvPr/>
        </p:nvSpPr>
        <p:spPr>
          <a:xfrm>
            <a:off x="2423160" y="5358384"/>
            <a:ext cx="932688" cy="310896"/>
          </a:xfrm>
          <a:prstGeom prst="roundRect">
            <a:avLst/>
          </a:prstGeom>
          <a:solidFill>
            <a:srgbClr val="F3F2F1"/>
          </a:solidFill>
          <a:ln w="12700">
            <a:solidFill>
              <a:srgbClr val="F3F2F1">
                <a:alpha val="0"/>
              </a:srgbClr>
            </a:solidFill>
            <a:prstDash val="solid"/>
          </a:ln>
        </p:spPr>
      </p:sp>
      <p:sp>
        <p:nvSpPr>
          <p:cNvPr id="57" name="Text 55"/>
          <p:cNvSpPr/>
          <p:nvPr/>
        </p:nvSpPr>
        <p:spPr>
          <a:xfrm>
            <a:off x="2487168" y="5413248"/>
            <a:ext cx="804672" cy="164592"/>
          </a:xfrm>
          <a:prstGeom prst="rect">
            <a:avLst/>
          </a:prstGeom>
          <a:noFill/>
          <a:ln/>
        </p:spPr>
        <p:txBody>
          <a:bodyPr wrap="square" lIns="0" tIns="0" rIns="0" bIns="0" rtlCol="0" anchor="ctr">
            <a:normAutofit/>
          </a:bodyPr>
          <a:lstStyle/>
          <a:p>
            <a:pPr algn="ctr" indent="0" marL="0">
              <a:buNone/>
            </a:pPr>
            <a:r>
              <a:rPr lang="en-US" sz="830" b="1" dirty="0">
                <a:solidFill>
                  <a:srgbClr val="3B3A39"/>
                </a:solidFill>
                <a:latin typeface="Segoe UI Semibold" pitchFamily="34" charset="0"/>
                <a:ea typeface="Segoe UI Semibold" pitchFamily="34" charset="-122"/>
                <a:cs typeface="Segoe UI Semibold" pitchFamily="34" charset="-120"/>
              </a:rPr>
              <a:t>PDF</a:t>
            </a:r>
            <a:endParaRPr lang="en-US" sz="830" dirty="0"/>
          </a:p>
        </p:txBody>
      </p:sp>
      <p:sp>
        <p:nvSpPr>
          <p:cNvPr id="58" name="Shape 56"/>
          <p:cNvSpPr/>
          <p:nvPr/>
        </p:nvSpPr>
        <p:spPr>
          <a:xfrm>
            <a:off x="3511296" y="5358384"/>
            <a:ext cx="932688" cy="310896"/>
          </a:xfrm>
          <a:prstGeom prst="roundRect">
            <a:avLst/>
          </a:prstGeom>
          <a:solidFill>
            <a:srgbClr val="F3F2F1"/>
          </a:solidFill>
          <a:ln w="12700">
            <a:solidFill>
              <a:srgbClr val="F3F2F1">
                <a:alpha val="0"/>
              </a:srgbClr>
            </a:solidFill>
            <a:prstDash val="solid"/>
          </a:ln>
        </p:spPr>
      </p:sp>
      <p:sp>
        <p:nvSpPr>
          <p:cNvPr id="59" name="Text 57"/>
          <p:cNvSpPr/>
          <p:nvPr/>
        </p:nvSpPr>
        <p:spPr>
          <a:xfrm>
            <a:off x="3575304" y="5413248"/>
            <a:ext cx="804672" cy="164592"/>
          </a:xfrm>
          <a:prstGeom prst="rect">
            <a:avLst/>
          </a:prstGeom>
          <a:noFill/>
          <a:ln/>
        </p:spPr>
        <p:txBody>
          <a:bodyPr wrap="square" lIns="0" tIns="0" rIns="0" bIns="0" rtlCol="0" anchor="ctr">
            <a:normAutofit/>
          </a:bodyPr>
          <a:lstStyle/>
          <a:p>
            <a:pPr algn="ctr" indent="0" marL="0">
              <a:buNone/>
            </a:pPr>
            <a:r>
              <a:rPr lang="en-US" sz="830" b="1" dirty="0">
                <a:solidFill>
                  <a:srgbClr val="3B3A39"/>
                </a:solidFill>
                <a:latin typeface="Segoe UI Semibold" pitchFamily="34" charset="0"/>
                <a:ea typeface="Segoe UI Semibold" pitchFamily="34" charset="-122"/>
                <a:cs typeface="Segoe UI Semibold" pitchFamily="34" charset="-120"/>
              </a:rPr>
              <a:t>DOCX</a:t>
            </a:r>
            <a:endParaRPr lang="en-US" sz="830" dirty="0"/>
          </a:p>
        </p:txBody>
      </p:sp>
      <p:sp>
        <p:nvSpPr>
          <p:cNvPr id="60" name="Shape 58"/>
          <p:cNvSpPr/>
          <p:nvPr/>
        </p:nvSpPr>
        <p:spPr>
          <a:xfrm>
            <a:off x="4599432" y="5358384"/>
            <a:ext cx="932688" cy="310896"/>
          </a:xfrm>
          <a:prstGeom prst="roundRect">
            <a:avLst/>
          </a:prstGeom>
          <a:solidFill>
            <a:srgbClr val="F3F2F1"/>
          </a:solidFill>
          <a:ln w="12700">
            <a:solidFill>
              <a:srgbClr val="F3F2F1">
                <a:alpha val="0"/>
              </a:srgbClr>
            </a:solidFill>
            <a:prstDash val="solid"/>
          </a:ln>
        </p:spPr>
      </p:sp>
      <p:sp>
        <p:nvSpPr>
          <p:cNvPr id="61" name="Text 59"/>
          <p:cNvSpPr/>
          <p:nvPr/>
        </p:nvSpPr>
        <p:spPr>
          <a:xfrm>
            <a:off x="4663440" y="5413248"/>
            <a:ext cx="804672" cy="164592"/>
          </a:xfrm>
          <a:prstGeom prst="rect">
            <a:avLst/>
          </a:prstGeom>
          <a:noFill/>
          <a:ln/>
        </p:spPr>
        <p:txBody>
          <a:bodyPr wrap="square" lIns="0" tIns="0" rIns="0" bIns="0" rtlCol="0" anchor="ctr">
            <a:normAutofit/>
          </a:bodyPr>
          <a:lstStyle/>
          <a:p>
            <a:pPr algn="ctr" indent="0" marL="0">
              <a:buNone/>
            </a:pPr>
            <a:r>
              <a:rPr lang="en-US" sz="830" b="1" dirty="0">
                <a:solidFill>
                  <a:srgbClr val="3B3A39"/>
                </a:solidFill>
                <a:latin typeface="Segoe UI Semibold" pitchFamily="34" charset="0"/>
                <a:ea typeface="Segoe UI Semibold" pitchFamily="34" charset="-122"/>
                <a:cs typeface="Segoe UI Semibold" pitchFamily="34" charset="-120"/>
              </a:rPr>
              <a:t>PPTX</a:t>
            </a:r>
            <a:endParaRPr lang="en-US" sz="830" dirty="0"/>
          </a:p>
        </p:txBody>
      </p:sp>
      <p:sp>
        <p:nvSpPr>
          <p:cNvPr id="62" name="Shape 60"/>
          <p:cNvSpPr/>
          <p:nvPr/>
        </p:nvSpPr>
        <p:spPr>
          <a:xfrm>
            <a:off x="5687568" y="5358384"/>
            <a:ext cx="932688" cy="310896"/>
          </a:xfrm>
          <a:prstGeom prst="roundRect">
            <a:avLst/>
          </a:prstGeom>
          <a:solidFill>
            <a:srgbClr val="F3F2F1"/>
          </a:solidFill>
          <a:ln w="12700">
            <a:solidFill>
              <a:srgbClr val="F3F2F1">
                <a:alpha val="0"/>
              </a:srgbClr>
            </a:solidFill>
            <a:prstDash val="solid"/>
          </a:ln>
        </p:spPr>
      </p:sp>
      <p:sp>
        <p:nvSpPr>
          <p:cNvPr id="63" name="Text 61"/>
          <p:cNvSpPr/>
          <p:nvPr/>
        </p:nvSpPr>
        <p:spPr>
          <a:xfrm>
            <a:off x="5751576" y="5413248"/>
            <a:ext cx="804672" cy="164592"/>
          </a:xfrm>
          <a:prstGeom prst="rect">
            <a:avLst/>
          </a:prstGeom>
          <a:noFill/>
          <a:ln/>
        </p:spPr>
        <p:txBody>
          <a:bodyPr wrap="square" lIns="0" tIns="0" rIns="0" bIns="0" rtlCol="0" anchor="ctr">
            <a:normAutofit/>
          </a:bodyPr>
          <a:lstStyle/>
          <a:p>
            <a:pPr algn="ctr" indent="0" marL="0">
              <a:buNone/>
            </a:pPr>
            <a:r>
              <a:rPr lang="en-US" sz="830" b="1" dirty="0">
                <a:solidFill>
                  <a:srgbClr val="3B3A39"/>
                </a:solidFill>
                <a:latin typeface="Segoe UI Semibold" pitchFamily="34" charset="0"/>
                <a:ea typeface="Segoe UI Semibold" pitchFamily="34" charset="-122"/>
                <a:cs typeface="Segoe UI Semibold" pitchFamily="34" charset="-120"/>
              </a:rPr>
              <a:t>XLSX</a:t>
            </a:r>
            <a:endParaRPr lang="en-US" sz="830" dirty="0"/>
          </a:p>
        </p:txBody>
      </p:sp>
      <p:sp>
        <p:nvSpPr>
          <p:cNvPr id="64" name="Shape 62"/>
          <p:cNvSpPr/>
          <p:nvPr/>
        </p:nvSpPr>
        <p:spPr>
          <a:xfrm>
            <a:off x="6775704" y="5358384"/>
            <a:ext cx="932688" cy="310896"/>
          </a:xfrm>
          <a:prstGeom prst="roundRect">
            <a:avLst/>
          </a:prstGeom>
          <a:solidFill>
            <a:srgbClr val="F3F2F1"/>
          </a:solidFill>
          <a:ln w="12700">
            <a:solidFill>
              <a:srgbClr val="F3F2F1">
                <a:alpha val="0"/>
              </a:srgbClr>
            </a:solidFill>
            <a:prstDash val="solid"/>
          </a:ln>
        </p:spPr>
      </p:sp>
      <p:sp>
        <p:nvSpPr>
          <p:cNvPr id="65" name="Text 63"/>
          <p:cNvSpPr/>
          <p:nvPr/>
        </p:nvSpPr>
        <p:spPr>
          <a:xfrm>
            <a:off x="6839712" y="5413248"/>
            <a:ext cx="804672" cy="164592"/>
          </a:xfrm>
          <a:prstGeom prst="rect">
            <a:avLst/>
          </a:prstGeom>
          <a:noFill/>
          <a:ln/>
        </p:spPr>
        <p:txBody>
          <a:bodyPr wrap="square" lIns="0" tIns="0" rIns="0" bIns="0" rtlCol="0" anchor="ctr">
            <a:normAutofit/>
          </a:bodyPr>
          <a:lstStyle/>
          <a:p>
            <a:pPr algn="ctr" indent="0" marL="0">
              <a:buNone/>
            </a:pPr>
            <a:r>
              <a:rPr lang="en-US" sz="830" b="1" dirty="0">
                <a:solidFill>
                  <a:srgbClr val="3B3A39"/>
                </a:solidFill>
                <a:latin typeface="Segoe UI Semibold" pitchFamily="34" charset="0"/>
                <a:ea typeface="Segoe UI Semibold" pitchFamily="34" charset="-122"/>
                <a:cs typeface="Segoe UI Semibold" pitchFamily="34" charset="-120"/>
              </a:rPr>
              <a:t>TXT / MD</a:t>
            </a:r>
            <a:endParaRPr lang="en-US" sz="830" dirty="0"/>
          </a:p>
        </p:txBody>
      </p:sp>
      <p:sp>
        <p:nvSpPr>
          <p:cNvPr id="66" name="Shape 64"/>
          <p:cNvSpPr/>
          <p:nvPr/>
        </p:nvSpPr>
        <p:spPr>
          <a:xfrm>
            <a:off x="7863840" y="5358384"/>
            <a:ext cx="932688" cy="310896"/>
          </a:xfrm>
          <a:prstGeom prst="roundRect">
            <a:avLst/>
          </a:prstGeom>
          <a:solidFill>
            <a:srgbClr val="F3F2F1"/>
          </a:solidFill>
          <a:ln w="12700">
            <a:solidFill>
              <a:srgbClr val="F3F2F1">
                <a:alpha val="0"/>
              </a:srgbClr>
            </a:solidFill>
            <a:prstDash val="solid"/>
          </a:ln>
        </p:spPr>
      </p:sp>
      <p:sp>
        <p:nvSpPr>
          <p:cNvPr id="67" name="Text 65"/>
          <p:cNvSpPr/>
          <p:nvPr/>
        </p:nvSpPr>
        <p:spPr>
          <a:xfrm>
            <a:off x="7927848" y="5413248"/>
            <a:ext cx="804672" cy="164592"/>
          </a:xfrm>
          <a:prstGeom prst="rect">
            <a:avLst/>
          </a:prstGeom>
          <a:noFill/>
          <a:ln/>
        </p:spPr>
        <p:txBody>
          <a:bodyPr wrap="square" lIns="0" tIns="0" rIns="0" bIns="0" rtlCol="0" anchor="ctr">
            <a:normAutofit/>
          </a:bodyPr>
          <a:lstStyle/>
          <a:p>
            <a:pPr algn="ctr" indent="0" marL="0">
              <a:buNone/>
            </a:pPr>
            <a:r>
              <a:rPr lang="en-US" sz="830" b="1" dirty="0">
                <a:solidFill>
                  <a:srgbClr val="3B3A39"/>
                </a:solidFill>
                <a:latin typeface="Segoe UI Semibold" pitchFamily="34" charset="0"/>
                <a:ea typeface="Segoe UI Semibold" pitchFamily="34" charset="-122"/>
                <a:cs typeface="Segoe UI Semibold" pitchFamily="34" charset="-120"/>
              </a:rPr>
              <a:t>CSV / JSON</a:t>
            </a:r>
            <a:endParaRPr lang="en-US" sz="830" dirty="0"/>
          </a:p>
        </p:txBody>
      </p:sp>
      <p:sp>
        <p:nvSpPr>
          <p:cNvPr id="68" name="Shape 66"/>
          <p:cNvSpPr/>
          <p:nvPr/>
        </p:nvSpPr>
        <p:spPr>
          <a:xfrm>
            <a:off x="8951976" y="5358384"/>
            <a:ext cx="932688" cy="310896"/>
          </a:xfrm>
          <a:prstGeom prst="roundRect">
            <a:avLst/>
          </a:prstGeom>
          <a:solidFill>
            <a:srgbClr val="F3F2F1"/>
          </a:solidFill>
          <a:ln w="12700">
            <a:solidFill>
              <a:srgbClr val="F3F2F1">
                <a:alpha val="0"/>
              </a:srgbClr>
            </a:solidFill>
            <a:prstDash val="solid"/>
          </a:ln>
        </p:spPr>
      </p:sp>
      <p:sp>
        <p:nvSpPr>
          <p:cNvPr id="69" name="Text 67"/>
          <p:cNvSpPr/>
          <p:nvPr/>
        </p:nvSpPr>
        <p:spPr>
          <a:xfrm>
            <a:off x="9015984" y="5413248"/>
            <a:ext cx="804672" cy="164592"/>
          </a:xfrm>
          <a:prstGeom prst="rect">
            <a:avLst/>
          </a:prstGeom>
          <a:noFill/>
          <a:ln/>
        </p:spPr>
        <p:txBody>
          <a:bodyPr wrap="square" lIns="0" tIns="0" rIns="0" bIns="0" rtlCol="0" anchor="ctr">
            <a:normAutofit/>
          </a:bodyPr>
          <a:lstStyle/>
          <a:p>
            <a:pPr algn="ctr" indent="0" marL="0">
              <a:buNone/>
            </a:pPr>
            <a:r>
              <a:rPr lang="en-US" sz="830" b="1" dirty="0">
                <a:solidFill>
                  <a:srgbClr val="3B3A39"/>
                </a:solidFill>
                <a:latin typeface="Segoe UI Semibold" pitchFamily="34" charset="0"/>
                <a:ea typeface="Segoe UI Semibold" pitchFamily="34" charset="-122"/>
                <a:cs typeface="Segoe UI Semibold" pitchFamily="34" charset="-120"/>
              </a:rPr>
              <a:t>RTF / HTML</a:t>
            </a:r>
            <a:endParaRPr lang="en-US" sz="830" dirty="0"/>
          </a:p>
        </p:txBody>
      </p:sp>
      <p:sp>
        <p:nvSpPr>
          <p:cNvPr id="70" name="Shape 68"/>
          <p:cNvSpPr/>
          <p:nvPr/>
        </p:nvSpPr>
        <p:spPr>
          <a:xfrm>
            <a:off x="10040112" y="5358384"/>
            <a:ext cx="932688" cy="310896"/>
          </a:xfrm>
          <a:prstGeom prst="roundRect">
            <a:avLst/>
          </a:prstGeom>
          <a:solidFill>
            <a:srgbClr val="F3F2F1"/>
          </a:solidFill>
          <a:ln w="12700">
            <a:solidFill>
              <a:srgbClr val="F3F2F1">
                <a:alpha val="0"/>
              </a:srgbClr>
            </a:solidFill>
            <a:prstDash val="solid"/>
          </a:ln>
        </p:spPr>
      </p:sp>
      <p:sp>
        <p:nvSpPr>
          <p:cNvPr id="71" name="Text 69"/>
          <p:cNvSpPr/>
          <p:nvPr/>
        </p:nvSpPr>
        <p:spPr>
          <a:xfrm>
            <a:off x="10104120" y="5413248"/>
            <a:ext cx="804672" cy="164592"/>
          </a:xfrm>
          <a:prstGeom prst="rect">
            <a:avLst/>
          </a:prstGeom>
          <a:noFill/>
          <a:ln/>
        </p:spPr>
        <p:txBody>
          <a:bodyPr wrap="square" lIns="0" tIns="0" rIns="0" bIns="0" rtlCol="0" anchor="ctr">
            <a:normAutofit/>
          </a:bodyPr>
          <a:lstStyle/>
          <a:p>
            <a:pPr algn="ctr" indent="0" marL="0">
              <a:buNone/>
            </a:pPr>
            <a:r>
              <a:rPr lang="en-US" sz="830" b="1" dirty="0">
                <a:solidFill>
                  <a:srgbClr val="3B3A39"/>
                </a:solidFill>
                <a:latin typeface="Segoe UI Semibold" pitchFamily="34" charset="0"/>
                <a:ea typeface="Segoe UI Semibold" pitchFamily="34" charset="-122"/>
                <a:cs typeface="Segoe UI Semibold" pitchFamily="34" charset="-120"/>
              </a:rPr>
              <a:t>PY / ZIP</a:t>
            </a:r>
            <a:endParaRPr lang="en-US" sz="830" dirty="0"/>
          </a:p>
        </p:txBody>
      </p:sp>
      <p:sp>
        <p:nvSpPr>
          <p:cNvPr id="72" name="Text 70"/>
          <p:cNvSpPr/>
          <p:nvPr/>
        </p:nvSpPr>
        <p:spPr>
          <a:xfrm>
            <a:off x="621792" y="5879592"/>
            <a:ext cx="6858000" cy="256032"/>
          </a:xfrm>
          <a:prstGeom prst="rect">
            <a:avLst/>
          </a:prstGeom>
          <a:noFill/>
          <a:ln/>
        </p:spPr>
        <p:txBody>
          <a:bodyPr wrap="square" lIns="0" tIns="0" rIns="0" bIns="0" rtlCol="0" anchor="ctr"/>
          <a:lstStyle/>
          <a:p>
            <a:pPr indent="0" marL="0">
              <a:buNone/>
            </a:pPr>
            <a:r>
              <a:rPr lang="en-US" sz="1070" b="1" dirty="0">
                <a:solidFill>
                  <a:srgbClr val="A4262C"/>
                </a:solidFill>
                <a:latin typeface="Segoe UI Semibold" pitchFamily="34" charset="0"/>
                <a:ea typeface="Segoe UI Semibold" pitchFamily="34" charset="-122"/>
                <a:cs typeface="Segoe UI Semibold" pitchFamily="34" charset="-120"/>
              </a:rPr>
              <a:t>PNG/JPG are not direct workshop uploads: OCR them or place readable text in a PDF/DOCX first.</a:t>
            </a:r>
            <a:endParaRPr lang="en-US" sz="1070" dirty="0"/>
          </a:p>
        </p:txBody>
      </p:sp>
      <p:sp>
        <p:nvSpPr>
          <p:cNvPr id="73" name="Text 71"/>
          <p:cNvSpPr/>
          <p:nvPr/>
        </p:nvSpPr>
        <p:spPr>
          <a:xfrm>
            <a:off x="7818120" y="5879592"/>
            <a:ext cx="3657600" cy="256032"/>
          </a:xfrm>
          <a:prstGeom prst="rect">
            <a:avLst/>
          </a:prstGeom>
          <a:noFill/>
          <a:ln/>
        </p:spPr>
        <p:txBody>
          <a:bodyPr wrap="square" lIns="0" tIns="0" rIns="0" bIns="0" rtlCol="0" anchor="ctr"/>
          <a:lstStyle/>
          <a:p>
            <a:pPr algn="r" indent="0" marL="0">
              <a:buNone/>
            </a:pPr>
            <a:r>
              <a:rPr lang="en-US" sz="1020" dirty="0">
                <a:solidFill>
                  <a:srgbClr val="605E5C"/>
                </a:solidFill>
                <a:latin typeface="Segoe UI" pitchFamily="34" charset="0"/>
                <a:ea typeface="Segoe UI" pitchFamily="34" charset="-122"/>
                <a:cs typeface="Segoe UI" pitchFamily="34" charset="-120"/>
              </a:rPr>
              <a:t>Reference defaults: 25 files / 40 MB total.</a:t>
            </a:r>
            <a:endParaRPr lang="en-US" sz="1020" dirty="0"/>
          </a:p>
        </p:txBody>
      </p:sp>
      <p:sp>
        <p:nvSpPr>
          <p:cNvPr id="74" name="Text 72"/>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07</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0078D4"/>
          </a:solidFill>
          <a:ln w="12700">
            <a:solidFill>
              <a:srgbClr val="0078D4">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0078D4"/>
                </a:solidFill>
                <a:latin typeface="Segoe UI Semibold" pitchFamily="34" charset="0"/>
                <a:ea typeface="Segoe UI Semibold" pitchFamily="34" charset="-122"/>
                <a:cs typeface="Segoe UI Semibold" pitchFamily="34" charset="-120"/>
              </a:rPr>
              <a:t>STEP 1</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Sign in and prove the path before the build.</a:t>
            </a:r>
            <a:endParaRPr lang="en-US" sz="2800" dirty="0"/>
          </a:p>
        </p:txBody>
      </p:sp>
      <p:sp>
        <p:nvSpPr>
          <p:cNvPr id="10" name="Shape 8"/>
          <p:cNvSpPr/>
          <p:nvPr/>
        </p:nvSpPr>
        <p:spPr>
          <a:xfrm>
            <a:off x="10515600" y="713232"/>
            <a:ext cx="1097280" cy="365760"/>
          </a:xfrm>
          <a:prstGeom prst="roundRect">
            <a:avLst/>
          </a:prstGeom>
          <a:solidFill>
            <a:srgbClr val="0078D4"/>
          </a:solidFill>
          <a:ln w="12700">
            <a:solidFill>
              <a:srgbClr val="0078D4">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3 MIN</a:t>
            </a:r>
            <a:endParaRPr lang="en-US" sz="1000" dirty="0"/>
          </a:p>
        </p:txBody>
      </p:sp>
      <p:sp>
        <p:nvSpPr>
          <p:cNvPr id="12" name="Shape 10"/>
          <p:cNvSpPr/>
          <p:nvPr/>
        </p:nvSpPr>
        <p:spPr>
          <a:xfrm>
            <a:off x="594360" y="1865376"/>
            <a:ext cx="1965960" cy="3749040"/>
          </a:xfrm>
          <a:prstGeom prst="roundRect">
            <a:avLst/>
          </a:prstGeom>
          <a:solidFill>
            <a:srgbClr val="0078D4"/>
          </a:solidFill>
          <a:ln w="12700">
            <a:solidFill>
              <a:srgbClr val="0078D4">
                <a:alpha val="0"/>
              </a:srgbClr>
            </a:solidFill>
            <a:prstDash val="solid"/>
          </a:ln>
        </p:spPr>
      </p:sp>
      <p:sp>
        <p:nvSpPr>
          <p:cNvPr id="13" name="Text 11"/>
          <p:cNvSpPr/>
          <p:nvPr/>
        </p:nvSpPr>
        <p:spPr>
          <a:xfrm>
            <a:off x="841248" y="2221992"/>
            <a:ext cx="1463040" cy="1280160"/>
          </a:xfrm>
          <a:prstGeom prst="rect">
            <a:avLst/>
          </a:prstGeom>
          <a:noFill/>
          <a:ln/>
        </p:spPr>
        <p:txBody>
          <a:bodyPr wrap="square" lIns="0" tIns="0" rIns="0" bIns="0" rtlCol="0" anchor="ctr"/>
          <a:lstStyle/>
          <a:p>
            <a:pPr algn="ctr" indent="0" marL="0">
              <a:buNone/>
            </a:pPr>
            <a:r>
              <a:rPr lang="en-US" sz="7600" b="1" dirty="0">
                <a:solidFill>
                  <a:srgbClr val="FFFFFF"/>
                </a:solidFill>
                <a:latin typeface="Segoe UI Semibold" pitchFamily="34" charset="0"/>
                <a:ea typeface="Segoe UI Semibold" pitchFamily="34" charset="-122"/>
                <a:cs typeface="Segoe UI Semibold" pitchFamily="34" charset="-120"/>
              </a:rPr>
              <a:t>1</a:t>
            </a:r>
            <a:endParaRPr lang="en-US" sz="7600" dirty="0"/>
          </a:p>
        </p:txBody>
      </p:sp>
      <p:sp>
        <p:nvSpPr>
          <p:cNvPr id="14" name="Text 12"/>
          <p:cNvSpPr/>
          <p:nvPr/>
        </p:nvSpPr>
        <p:spPr>
          <a:xfrm>
            <a:off x="841248" y="3776472"/>
            <a:ext cx="1463040" cy="274320"/>
          </a:xfrm>
          <a:prstGeom prst="rect">
            <a:avLst/>
          </a:prstGeom>
          <a:noFill/>
          <a:ln/>
        </p:spPr>
        <p:txBody>
          <a:bodyPr wrap="square" lIns="0" tIns="0" rIns="0" bIns="0" rtlCol="0" anchor="ctr"/>
          <a:lstStyle/>
          <a:p>
            <a:pPr algn="ctr" indent="0" marL="0">
              <a:buNone/>
            </a:pPr>
            <a:r>
              <a:rPr lang="en-US" sz="1500" b="1" spc="110" kern="0" dirty="0">
                <a:solidFill>
                  <a:srgbClr val="FFFFFF"/>
                </a:solidFill>
                <a:latin typeface="Segoe UI Semibold" pitchFamily="34" charset="0"/>
                <a:ea typeface="Segoe UI Semibold" pitchFamily="34" charset="-122"/>
                <a:cs typeface="Segoe UI Semibold" pitchFamily="34" charset="-120"/>
              </a:rPr>
              <a:t>SIGN IN</a:t>
            </a:r>
            <a:endParaRPr lang="en-US" sz="1500" dirty="0"/>
          </a:p>
        </p:txBody>
      </p:sp>
      <p:sp>
        <p:nvSpPr>
          <p:cNvPr id="15" name="Text 13"/>
          <p:cNvSpPr/>
          <p:nvPr/>
        </p:nvSpPr>
        <p:spPr>
          <a:xfrm>
            <a:off x="896112" y="4325112"/>
            <a:ext cx="1353312" cy="713232"/>
          </a:xfrm>
          <a:prstGeom prst="rect">
            <a:avLst/>
          </a:prstGeom>
          <a:noFill/>
          <a:ln/>
        </p:spPr>
        <p:txBody>
          <a:bodyPr wrap="square" lIns="0" tIns="0" rIns="0" bIns="0" rtlCol="0" anchor="ctr">
            <a:normAutofit/>
          </a:bodyPr>
          <a:lstStyle/>
          <a:p>
            <a:pPr algn="ctr" indent="0" marL="0">
              <a:buNone/>
            </a:pPr>
            <a:r>
              <a:rPr lang="en-US" sz="1130" dirty="0">
                <a:solidFill>
                  <a:srgbClr val="FFFFFF"/>
                </a:solidFill>
                <a:latin typeface="Segoe UI" pitchFamily="34" charset="0"/>
                <a:ea typeface="Segoe UI" pitchFamily="34" charset="-122"/>
                <a:cs typeface="Segoe UI" pitchFamily="34" charset="-120"/>
              </a:rPr>
              <a:t>Generation identity</a:t>
            </a:r>
            <a:endParaRPr lang="en-US" sz="1130" dirty="0"/>
          </a:p>
          <a:p>
            <a:pPr algn="ctr" indent="0" marL="0">
              <a:buNone/>
            </a:pPr>
            <a:r>
              <a:rPr lang="en-US" sz="1130" dirty="0">
                <a:solidFill>
                  <a:srgbClr val="FFFFFF"/>
                </a:solidFill>
                <a:latin typeface="Segoe UI" pitchFamily="34" charset="0"/>
                <a:ea typeface="Segoe UI" pitchFamily="34" charset="-122"/>
                <a:cs typeface="Segoe UI" pitchFamily="34" charset="-120"/>
              </a:rPr>
              <a:t>+</a:t>
            </a:r>
            <a:endParaRPr lang="en-US" sz="1130" dirty="0"/>
          </a:p>
          <a:p>
            <a:pPr algn="ctr" indent="0" marL="0">
              <a:buNone/>
            </a:pPr>
            <a:r>
              <a:rPr lang="en-US" sz="1130" dirty="0">
                <a:solidFill>
                  <a:srgbClr val="FFFFFF"/>
                </a:solidFill>
                <a:latin typeface="Segoe UI" pitchFamily="34" charset="0"/>
                <a:ea typeface="Segoe UI" pitchFamily="34" charset="-122"/>
                <a:cs typeface="Segoe UI" pitchFamily="34" charset="-120"/>
              </a:rPr>
              <a:t>Deployment identity</a:t>
            </a:r>
            <a:endParaRPr lang="en-US" sz="1130" dirty="0"/>
          </a:p>
        </p:txBody>
      </p:sp>
      <p:sp>
        <p:nvSpPr>
          <p:cNvPr id="16" name="Shape 14"/>
          <p:cNvSpPr/>
          <p:nvPr/>
        </p:nvSpPr>
        <p:spPr>
          <a:xfrm>
            <a:off x="2971800" y="1865376"/>
            <a:ext cx="4663440" cy="3090672"/>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17" name="Text 15"/>
          <p:cNvSpPr/>
          <p:nvPr/>
        </p:nvSpPr>
        <p:spPr>
          <a:xfrm>
            <a:off x="3273552" y="2139696"/>
            <a:ext cx="3383280" cy="201168"/>
          </a:xfrm>
          <a:prstGeom prst="rect">
            <a:avLst/>
          </a:prstGeom>
          <a:noFill/>
          <a:ln/>
        </p:spPr>
        <p:txBody>
          <a:bodyPr wrap="square" lIns="0" tIns="0" rIns="0" bIns="0" rtlCol="0" anchor="ctr"/>
          <a:lstStyle/>
          <a:p>
            <a:pPr indent="0" marL="0">
              <a:buNone/>
            </a:pPr>
            <a:r>
              <a:rPr lang="en-US" sz="1050" b="1" dirty="0">
                <a:solidFill>
                  <a:srgbClr val="103A6B"/>
                </a:solidFill>
                <a:latin typeface="Segoe UI Semibold" pitchFamily="34" charset="0"/>
                <a:ea typeface="Segoe UI Semibold" pitchFamily="34" charset="-122"/>
                <a:cs typeface="Segoe UI Semibold" pitchFamily="34" charset="-120"/>
              </a:rPr>
              <a:t>RAPP  |  Documents → Copilot Studio</a:t>
            </a:r>
            <a:endParaRPr lang="en-US" sz="1050" dirty="0"/>
          </a:p>
        </p:txBody>
      </p:sp>
      <p:sp>
        <p:nvSpPr>
          <p:cNvPr id="18" name="Shape 16"/>
          <p:cNvSpPr/>
          <p:nvPr/>
        </p:nvSpPr>
        <p:spPr>
          <a:xfrm>
            <a:off x="3310128" y="2880360"/>
            <a:ext cx="3584448" cy="621792"/>
          </a:xfrm>
          <a:prstGeom prst="roundRect">
            <a:avLst/>
          </a:prstGeom>
          <a:solidFill>
            <a:srgbClr val="FFFFFF"/>
          </a:solidFill>
          <a:ln w="12700">
            <a:solidFill>
              <a:srgbClr val="8A8886"/>
            </a:solidFill>
            <a:prstDash val="solid"/>
          </a:ln>
        </p:spPr>
      </p:sp>
      <p:sp>
        <p:nvSpPr>
          <p:cNvPr id="19" name="Shape 17"/>
          <p:cNvSpPr/>
          <p:nvPr/>
        </p:nvSpPr>
        <p:spPr>
          <a:xfrm>
            <a:off x="3584448" y="3044952"/>
            <a:ext cx="77724" cy="77724"/>
          </a:xfrm>
          <a:prstGeom prst="rect">
            <a:avLst/>
          </a:prstGeom>
          <a:solidFill>
            <a:srgbClr val="F25022"/>
          </a:solidFill>
          <a:ln w="12700">
            <a:solidFill>
              <a:srgbClr val="F25022">
                <a:alpha val="0"/>
              </a:srgbClr>
            </a:solidFill>
            <a:prstDash val="solid"/>
          </a:ln>
        </p:spPr>
      </p:sp>
      <p:sp>
        <p:nvSpPr>
          <p:cNvPr id="20" name="Shape 18"/>
          <p:cNvSpPr/>
          <p:nvPr/>
        </p:nvSpPr>
        <p:spPr>
          <a:xfrm>
            <a:off x="3676162" y="3044952"/>
            <a:ext cx="77724" cy="77724"/>
          </a:xfrm>
          <a:prstGeom prst="rect">
            <a:avLst/>
          </a:prstGeom>
          <a:solidFill>
            <a:srgbClr val="7FBA00"/>
          </a:solidFill>
          <a:ln w="12700">
            <a:solidFill>
              <a:srgbClr val="7FBA00">
                <a:alpha val="0"/>
              </a:srgbClr>
            </a:solidFill>
            <a:prstDash val="solid"/>
          </a:ln>
        </p:spPr>
      </p:sp>
      <p:sp>
        <p:nvSpPr>
          <p:cNvPr id="21" name="Shape 19"/>
          <p:cNvSpPr/>
          <p:nvPr/>
        </p:nvSpPr>
        <p:spPr>
          <a:xfrm>
            <a:off x="3584448" y="3136666"/>
            <a:ext cx="77724" cy="77724"/>
          </a:xfrm>
          <a:prstGeom prst="rect">
            <a:avLst/>
          </a:prstGeom>
          <a:solidFill>
            <a:srgbClr val="00A4EF"/>
          </a:solidFill>
          <a:ln w="12700">
            <a:solidFill>
              <a:srgbClr val="00A4EF">
                <a:alpha val="0"/>
              </a:srgbClr>
            </a:solidFill>
            <a:prstDash val="solid"/>
          </a:ln>
        </p:spPr>
      </p:sp>
      <p:sp>
        <p:nvSpPr>
          <p:cNvPr id="22" name="Shape 20"/>
          <p:cNvSpPr/>
          <p:nvPr/>
        </p:nvSpPr>
        <p:spPr>
          <a:xfrm>
            <a:off x="3676162" y="3136666"/>
            <a:ext cx="77724" cy="77724"/>
          </a:xfrm>
          <a:prstGeom prst="rect">
            <a:avLst/>
          </a:prstGeom>
          <a:solidFill>
            <a:srgbClr val="FFB900"/>
          </a:solidFill>
          <a:ln w="12700">
            <a:solidFill>
              <a:srgbClr val="FFB900">
                <a:alpha val="0"/>
              </a:srgbClr>
            </a:solidFill>
            <a:prstDash val="solid"/>
          </a:ln>
        </p:spPr>
      </p:sp>
      <p:sp>
        <p:nvSpPr>
          <p:cNvPr id="23" name="Text 21"/>
          <p:cNvSpPr/>
          <p:nvPr/>
        </p:nvSpPr>
        <p:spPr>
          <a:xfrm>
            <a:off x="3931920" y="3044952"/>
            <a:ext cx="2514600" cy="192024"/>
          </a:xfrm>
          <a:prstGeom prst="rect">
            <a:avLst/>
          </a:prstGeom>
          <a:noFill/>
          <a:ln/>
        </p:spPr>
        <p:txBody>
          <a:bodyPr wrap="square" lIns="0" tIns="0" rIns="0" bIns="0" rtlCol="0" anchor="ctr"/>
          <a:lstStyle/>
          <a:p>
            <a:pPr algn="ctr" indent="0" marL="0">
              <a:buNone/>
            </a:pPr>
            <a:r>
              <a:rPr lang="en-US" sz="1350" b="1" dirty="0">
                <a:solidFill>
                  <a:srgbClr val="1B1A19"/>
                </a:solidFill>
                <a:latin typeface="Segoe UI Semibold" pitchFamily="34" charset="0"/>
                <a:ea typeface="Segoe UI Semibold" pitchFamily="34" charset="-122"/>
                <a:cs typeface="Segoe UI Semibold" pitchFamily="34" charset="-120"/>
              </a:rPr>
              <a:t>Sign in with Microsoft</a:t>
            </a:r>
            <a:endParaRPr lang="en-US" sz="1350" dirty="0"/>
          </a:p>
        </p:txBody>
      </p:sp>
      <p:sp>
        <p:nvSpPr>
          <p:cNvPr id="24" name="Text 22"/>
          <p:cNvSpPr/>
          <p:nvPr/>
        </p:nvSpPr>
        <p:spPr>
          <a:xfrm>
            <a:off x="3310128" y="3840480"/>
            <a:ext cx="3584448" cy="502920"/>
          </a:xfrm>
          <a:prstGeom prst="rect">
            <a:avLst/>
          </a:prstGeom>
          <a:noFill/>
          <a:ln/>
        </p:spPr>
        <p:txBody>
          <a:bodyPr wrap="square" lIns="0" tIns="0" rIns="0" bIns="0" rtlCol="0" anchor="ctr">
            <a:normAutofit/>
          </a:bodyPr>
          <a:lstStyle/>
          <a:p>
            <a:pPr algn="ctr" indent="0" marL="0">
              <a:buNone/>
            </a:pPr>
            <a:r>
              <a:rPr lang="en-US" sz="1100" dirty="0">
                <a:solidFill>
                  <a:srgbClr val="605E5C"/>
                </a:solidFill>
                <a:latin typeface="Segoe UI" pitchFamily="34" charset="0"/>
                <a:ea typeface="Segoe UI" pitchFamily="34" charset="-122"/>
                <a:cs typeface="Segoe UI" pitchFamily="34" charset="-120"/>
              </a:rPr>
              <a:t>Your sign-in stays in this browser tab. The wizard advances automatically when authentication succeeds.</a:t>
            </a:r>
            <a:endParaRPr lang="en-US" sz="1100" dirty="0"/>
          </a:p>
        </p:txBody>
      </p:sp>
      <p:sp>
        <p:nvSpPr>
          <p:cNvPr id="25" name="Shape 23"/>
          <p:cNvSpPr/>
          <p:nvPr/>
        </p:nvSpPr>
        <p:spPr>
          <a:xfrm>
            <a:off x="8028432" y="1865376"/>
            <a:ext cx="3566160" cy="3639312"/>
          </a:xfrm>
          <a:prstGeom prst="roundRect">
            <a:avLst/>
          </a:prstGeom>
          <a:solidFill>
            <a:srgbClr val="EAF4FD"/>
          </a:solidFill>
          <a:ln w="12700">
            <a:solidFill>
              <a:srgbClr val="BFE6FF"/>
            </a:solidFill>
            <a:prstDash val="solid"/>
          </a:ln>
          <a:effectLst>
            <a:outerShdw sx="100000" sy="100000" kx="0" ky="0" algn="bl" rotWithShape="0" blurRad="63500" dist="50800" dir="8100000">
              <a:srgbClr val="000000">
                <a:alpha val="12000"/>
              </a:srgbClr>
            </a:outerShdw>
          </a:effectLst>
        </p:spPr>
      </p:sp>
      <p:sp>
        <p:nvSpPr>
          <p:cNvPr id="26" name="Text 24"/>
          <p:cNvSpPr/>
          <p:nvPr/>
        </p:nvSpPr>
        <p:spPr>
          <a:xfrm>
            <a:off x="8321040" y="2194560"/>
            <a:ext cx="1463040" cy="219456"/>
          </a:xfrm>
          <a:prstGeom prst="rect">
            <a:avLst/>
          </a:prstGeom>
          <a:noFill/>
          <a:ln/>
        </p:spPr>
        <p:txBody>
          <a:bodyPr wrap="square" lIns="0" tIns="0" rIns="0" bIns="0" rtlCol="0" anchor="ctr"/>
          <a:lstStyle/>
          <a:p>
            <a:pPr indent="0" marL="0">
              <a:buNone/>
            </a:pPr>
            <a:r>
              <a:rPr lang="en-US" sz="1200" b="1" spc="110" kern="0" dirty="0">
                <a:solidFill>
                  <a:srgbClr val="005A9E"/>
                </a:solidFill>
                <a:latin typeface="Segoe UI Semibold" pitchFamily="34" charset="0"/>
                <a:ea typeface="Segoe UI Semibold" pitchFamily="34" charset="-122"/>
                <a:cs typeface="Segoe UI Semibold" pitchFamily="34" charset="-120"/>
              </a:rPr>
              <a:t>PREFLIGHT</a:t>
            </a:r>
            <a:endParaRPr lang="en-US" sz="1200" dirty="0"/>
          </a:p>
        </p:txBody>
      </p:sp>
      <p:sp>
        <p:nvSpPr>
          <p:cNvPr id="27" name="Shape 25"/>
          <p:cNvSpPr/>
          <p:nvPr/>
        </p:nvSpPr>
        <p:spPr>
          <a:xfrm>
            <a:off x="8302752" y="2743200"/>
            <a:ext cx="228600" cy="228600"/>
          </a:xfrm>
          <a:prstGeom prst="ellipse">
            <a:avLst/>
          </a:prstGeom>
          <a:solidFill>
            <a:srgbClr val="DCEEFF"/>
          </a:solidFill>
          <a:ln w="12700">
            <a:solidFill>
              <a:srgbClr val="0078D4"/>
            </a:solidFill>
            <a:prstDash val="solid"/>
          </a:ln>
        </p:spPr>
      </p:sp>
      <p:sp>
        <p:nvSpPr>
          <p:cNvPr id="28" name="Text 26"/>
          <p:cNvSpPr/>
          <p:nvPr/>
        </p:nvSpPr>
        <p:spPr>
          <a:xfrm>
            <a:off x="8341157" y="2757830"/>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29" name="Text 27"/>
          <p:cNvSpPr/>
          <p:nvPr/>
        </p:nvSpPr>
        <p:spPr>
          <a:xfrm>
            <a:off x="8631936" y="2724912"/>
            <a:ext cx="25968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Account</a:t>
            </a:r>
            <a:pPr indent="0" marL="0">
              <a:buNone/>
            </a:pPr>
            <a:r>
              <a:rPr lang="en-US" sz="1320" dirty="0">
                <a:solidFill>
                  <a:srgbClr val="3B3A39"/>
                </a:solidFill>
                <a:latin typeface="Segoe UI" pitchFamily="34" charset="0"/>
                <a:ea typeface="Segoe UI" pitchFamily="34" charset="-122"/>
                <a:cs typeface="Segoe UI" pitchFamily="34" charset="-120"/>
              </a:rPr>
              <a:t xml:space="preserve">  Microsoft Entra ID sign-in.</a:t>
            </a:r>
            <a:endParaRPr lang="en-US" sz="1320" dirty="0"/>
          </a:p>
        </p:txBody>
      </p:sp>
      <p:sp>
        <p:nvSpPr>
          <p:cNvPr id="30" name="Shape 28"/>
          <p:cNvSpPr/>
          <p:nvPr/>
        </p:nvSpPr>
        <p:spPr>
          <a:xfrm>
            <a:off x="8302752" y="3383280"/>
            <a:ext cx="228600" cy="228600"/>
          </a:xfrm>
          <a:prstGeom prst="ellipse">
            <a:avLst/>
          </a:prstGeom>
          <a:solidFill>
            <a:srgbClr val="DFF6DD"/>
          </a:solidFill>
          <a:ln w="12700">
            <a:solidFill>
              <a:srgbClr val="107C10"/>
            </a:solidFill>
            <a:prstDash val="solid"/>
          </a:ln>
        </p:spPr>
      </p:sp>
      <p:sp>
        <p:nvSpPr>
          <p:cNvPr id="31" name="Text 29"/>
          <p:cNvSpPr/>
          <p:nvPr/>
        </p:nvSpPr>
        <p:spPr>
          <a:xfrm>
            <a:off x="8341157" y="3397910"/>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32" name="Text 30"/>
          <p:cNvSpPr/>
          <p:nvPr/>
        </p:nvSpPr>
        <p:spPr>
          <a:xfrm>
            <a:off x="8631936" y="3364992"/>
            <a:ext cx="25968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Access</a:t>
            </a:r>
            <a:pPr indent="0" marL="0">
              <a:buNone/>
            </a:pPr>
            <a:r>
              <a:rPr lang="en-US" sz="1320" dirty="0">
                <a:solidFill>
                  <a:srgbClr val="3B3A39"/>
                </a:solidFill>
                <a:latin typeface="Segoe UI" pitchFamily="34" charset="0"/>
                <a:ea typeface="Segoe UI" pitchFamily="34" charset="-122"/>
                <a:cs typeface="Segoe UI" pitchFamily="34" charset="-120"/>
              </a:rPr>
              <a:t xml:space="preserve">  Maker rights in the target environment.</a:t>
            </a:r>
            <a:endParaRPr lang="en-US" sz="1320" dirty="0"/>
          </a:p>
        </p:txBody>
      </p:sp>
      <p:sp>
        <p:nvSpPr>
          <p:cNvPr id="33" name="Shape 31"/>
          <p:cNvSpPr/>
          <p:nvPr/>
        </p:nvSpPr>
        <p:spPr>
          <a:xfrm>
            <a:off x="8302752" y="4023360"/>
            <a:ext cx="228600" cy="228600"/>
          </a:xfrm>
          <a:prstGeom prst="ellipse">
            <a:avLst/>
          </a:prstGeom>
          <a:solidFill>
            <a:srgbClr val="DCEEFF"/>
          </a:solidFill>
          <a:ln w="12700">
            <a:solidFill>
              <a:srgbClr val="D83B01"/>
            </a:solidFill>
            <a:prstDash val="solid"/>
          </a:ln>
        </p:spPr>
      </p:sp>
      <p:sp>
        <p:nvSpPr>
          <p:cNvPr id="34" name="Text 32"/>
          <p:cNvSpPr/>
          <p:nvPr/>
        </p:nvSpPr>
        <p:spPr>
          <a:xfrm>
            <a:off x="8341157" y="4037990"/>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35" name="Text 33"/>
          <p:cNvSpPr/>
          <p:nvPr/>
        </p:nvSpPr>
        <p:spPr>
          <a:xfrm>
            <a:off x="8631936" y="4005072"/>
            <a:ext cx="25968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Browser</a:t>
            </a:r>
            <a:pPr indent="0" marL="0">
              <a:buNone/>
            </a:pPr>
            <a:r>
              <a:rPr lang="en-US" sz="1320" dirty="0">
                <a:solidFill>
                  <a:srgbClr val="3B3A39"/>
                </a:solidFill>
                <a:latin typeface="Segoe UI" pitchFamily="34" charset="0"/>
                <a:ea typeface="Segoe UI" pitchFamily="34" charset="-122"/>
                <a:cs typeface="Segoe UI" pitchFamily="34" charset="-120"/>
              </a:rPr>
              <a:t xml:space="preserve">  Popups allowed for token prompts.</a:t>
            </a:r>
            <a:endParaRPr lang="en-US" sz="1320" dirty="0"/>
          </a:p>
        </p:txBody>
      </p:sp>
      <p:sp>
        <p:nvSpPr>
          <p:cNvPr id="36" name="Shape 34"/>
          <p:cNvSpPr/>
          <p:nvPr/>
        </p:nvSpPr>
        <p:spPr>
          <a:xfrm>
            <a:off x="8302752" y="4663440"/>
            <a:ext cx="228600" cy="228600"/>
          </a:xfrm>
          <a:prstGeom prst="ellipse">
            <a:avLst/>
          </a:prstGeom>
          <a:solidFill>
            <a:srgbClr val="DCEEFF"/>
          </a:solidFill>
          <a:ln w="12700">
            <a:solidFill>
              <a:srgbClr val="8661C5"/>
            </a:solidFill>
            <a:prstDash val="solid"/>
          </a:ln>
        </p:spPr>
      </p:sp>
      <p:sp>
        <p:nvSpPr>
          <p:cNvPr id="37" name="Text 35"/>
          <p:cNvSpPr/>
          <p:nvPr/>
        </p:nvSpPr>
        <p:spPr>
          <a:xfrm>
            <a:off x="8341157" y="4678070"/>
            <a:ext cx="155448" cy="128016"/>
          </a:xfrm>
          <a:prstGeom prst="rect">
            <a:avLst/>
          </a:prstGeom>
          <a:noFill/>
          <a:ln/>
        </p:spPr>
        <p:txBody>
          <a:bodyPr wrap="square" lIns="0" tIns="0" rIns="0" bIns="0" rtlCol="0" anchor="ctr"/>
          <a:lstStyle/>
          <a:p>
            <a:pPr algn="ctr" indent="0" marL="0">
              <a:buNone/>
            </a:pPr>
            <a:r>
              <a:rPr lang="en-US" sz="950" b="1" dirty="0">
                <a:solidFill>
                  <a:srgbClr val="8661C5"/>
                </a:solidFill>
                <a:latin typeface="Segoe UI Semibold" pitchFamily="34" charset="0"/>
                <a:ea typeface="Segoe UI Semibold" pitchFamily="34" charset="-122"/>
                <a:cs typeface="Segoe UI Semibold" pitchFamily="34" charset="-120"/>
              </a:rPr>
              <a:t>✓</a:t>
            </a:r>
            <a:endParaRPr lang="en-US" sz="950" dirty="0"/>
          </a:p>
        </p:txBody>
      </p:sp>
      <p:sp>
        <p:nvSpPr>
          <p:cNvPr id="38" name="Text 36"/>
          <p:cNvSpPr/>
          <p:nvPr/>
        </p:nvSpPr>
        <p:spPr>
          <a:xfrm>
            <a:off x="8631936" y="4645152"/>
            <a:ext cx="25968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Fallback</a:t>
            </a:r>
            <a:pPr indent="0" marL="0">
              <a:buNone/>
            </a:pPr>
            <a:r>
              <a:rPr lang="en-US" sz="1320" dirty="0">
                <a:solidFill>
                  <a:srgbClr val="3B3A39"/>
                </a:solidFill>
                <a:latin typeface="Segoe UI" pitchFamily="34" charset="0"/>
                <a:ea typeface="Segoe UI" pitchFamily="34" charset="-122"/>
                <a:cs typeface="Segoe UI" pitchFamily="34" charset="-120"/>
              </a:rPr>
              <a:t xml:space="preserve">  Facilitator has a prebuilt demo twin.</a:t>
            </a:r>
            <a:endParaRPr lang="en-US" sz="1320" dirty="0"/>
          </a:p>
        </p:txBody>
      </p:sp>
      <p:sp>
        <p:nvSpPr>
          <p:cNvPr id="39" name="Shape 37"/>
          <p:cNvSpPr/>
          <p:nvPr/>
        </p:nvSpPr>
        <p:spPr>
          <a:xfrm>
            <a:off x="658368" y="5870448"/>
            <a:ext cx="2057400" cy="429768"/>
          </a:xfrm>
          <a:prstGeom prst="roundRect">
            <a:avLst/>
          </a:prstGeom>
          <a:solidFill>
            <a:srgbClr val="0078D4"/>
          </a:solidFill>
          <a:ln w="17780">
            <a:solidFill>
              <a:srgbClr val="0078D4"/>
            </a:solidFill>
            <a:prstDash val="solid"/>
          </a:ln>
        </p:spPr>
      </p:sp>
      <p:sp>
        <p:nvSpPr>
          <p:cNvPr id="40" name="Shape 38"/>
          <p:cNvSpPr/>
          <p:nvPr/>
        </p:nvSpPr>
        <p:spPr>
          <a:xfrm>
            <a:off x="749808" y="5957316"/>
            <a:ext cx="256032" cy="256032"/>
          </a:xfrm>
          <a:prstGeom prst="ellipse">
            <a:avLst/>
          </a:prstGeom>
          <a:solidFill>
            <a:srgbClr val="FFFFFF"/>
          </a:solidFill>
          <a:ln w="10160">
            <a:solidFill>
              <a:srgbClr val="FFFFFF"/>
            </a:solidFill>
            <a:prstDash val="solid"/>
          </a:ln>
        </p:spPr>
      </p:sp>
      <p:sp>
        <p:nvSpPr>
          <p:cNvPr id="41" name="Text 39"/>
          <p:cNvSpPr/>
          <p:nvPr/>
        </p:nvSpPr>
        <p:spPr>
          <a:xfrm>
            <a:off x="777240" y="5998464"/>
            <a:ext cx="201168" cy="100584"/>
          </a:xfrm>
          <a:prstGeom prst="rect">
            <a:avLst/>
          </a:prstGeom>
          <a:noFill/>
          <a:ln/>
        </p:spPr>
        <p:txBody>
          <a:bodyPr wrap="square" lIns="0" tIns="0" rIns="0" bIns="0" rtlCol="0" anchor="ctr"/>
          <a:lstStyle/>
          <a:p>
            <a:pPr algn="ctr" indent="0" marL="0">
              <a:buNone/>
            </a:pPr>
            <a:r>
              <a:rPr lang="en-US" sz="800" b="1" dirty="0">
                <a:solidFill>
                  <a:srgbClr val="0078D4"/>
                </a:solidFill>
                <a:latin typeface="Segoe UI Semibold" pitchFamily="34" charset="0"/>
                <a:ea typeface="Segoe UI Semibold" pitchFamily="34" charset="-122"/>
                <a:cs typeface="Segoe UI Semibold" pitchFamily="34" charset="-120"/>
              </a:rPr>
              <a:t>1</a:t>
            </a:r>
            <a:endParaRPr lang="en-US" sz="800" dirty="0"/>
          </a:p>
        </p:txBody>
      </p:sp>
      <p:sp>
        <p:nvSpPr>
          <p:cNvPr id="42" name="Text 40"/>
          <p:cNvSpPr/>
          <p:nvPr/>
        </p:nvSpPr>
        <p:spPr>
          <a:xfrm>
            <a:off x="1069848" y="6003036"/>
            <a:ext cx="1536192" cy="128016"/>
          </a:xfrm>
          <a:prstGeom prst="rect">
            <a:avLst/>
          </a:prstGeom>
          <a:noFill/>
          <a:ln/>
        </p:spPr>
        <p:txBody>
          <a:bodyPr wrap="square" lIns="0" tIns="0" rIns="0" bIns="0" rtlCol="0" anchor="ctr"/>
          <a:lstStyle/>
          <a:p>
            <a:pPr indent="0" marL="0">
              <a:buNone/>
            </a:pPr>
            <a:r>
              <a:rPr lang="en-US" sz="1050" b="1" dirty="0">
                <a:solidFill>
                  <a:srgbClr val="FFFFFF"/>
                </a:solidFill>
                <a:latin typeface="Segoe UI Semibold" pitchFamily="34" charset="0"/>
                <a:ea typeface="Segoe UI Semibold" pitchFamily="34" charset="-122"/>
                <a:cs typeface="Segoe UI Semibold" pitchFamily="34" charset="-120"/>
              </a:rPr>
              <a:t>Sign in</a:t>
            </a:r>
            <a:endParaRPr lang="en-US" sz="1050" dirty="0"/>
          </a:p>
        </p:txBody>
      </p:sp>
      <p:sp>
        <p:nvSpPr>
          <p:cNvPr id="43" name="Shape 41"/>
          <p:cNvSpPr/>
          <p:nvPr/>
        </p:nvSpPr>
        <p:spPr>
          <a:xfrm>
            <a:off x="2852928" y="5870448"/>
            <a:ext cx="2057400" cy="429768"/>
          </a:xfrm>
          <a:prstGeom prst="roundRect">
            <a:avLst/>
          </a:prstGeom>
          <a:solidFill>
            <a:srgbClr val="FFFFFF"/>
          </a:solidFill>
          <a:ln w="12700">
            <a:solidFill>
              <a:srgbClr val="E1DFDD"/>
            </a:solidFill>
            <a:prstDash val="solid"/>
          </a:ln>
        </p:spPr>
      </p:sp>
      <p:sp>
        <p:nvSpPr>
          <p:cNvPr id="44" name="Shape 42"/>
          <p:cNvSpPr/>
          <p:nvPr/>
        </p:nvSpPr>
        <p:spPr>
          <a:xfrm>
            <a:off x="2944368" y="5957316"/>
            <a:ext cx="256032" cy="256032"/>
          </a:xfrm>
          <a:prstGeom prst="ellipse">
            <a:avLst/>
          </a:prstGeom>
          <a:solidFill>
            <a:srgbClr val="F3F2F1"/>
          </a:solidFill>
          <a:ln w="10160">
            <a:solidFill>
              <a:srgbClr val="E1DFDD"/>
            </a:solidFill>
            <a:prstDash val="solid"/>
          </a:ln>
        </p:spPr>
      </p:sp>
      <p:sp>
        <p:nvSpPr>
          <p:cNvPr id="45" name="Text 43"/>
          <p:cNvSpPr/>
          <p:nvPr/>
        </p:nvSpPr>
        <p:spPr>
          <a:xfrm>
            <a:off x="297180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2</a:t>
            </a:r>
            <a:endParaRPr lang="en-US" sz="800" dirty="0"/>
          </a:p>
        </p:txBody>
      </p:sp>
      <p:sp>
        <p:nvSpPr>
          <p:cNvPr id="46" name="Text 44"/>
          <p:cNvSpPr/>
          <p:nvPr/>
        </p:nvSpPr>
        <p:spPr>
          <a:xfrm>
            <a:off x="326440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Documents</a:t>
            </a:r>
            <a:endParaRPr lang="en-US" sz="1050" dirty="0"/>
          </a:p>
        </p:txBody>
      </p:sp>
      <p:sp>
        <p:nvSpPr>
          <p:cNvPr id="47" name="Shape 45"/>
          <p:cNvSpPr/>
          <p:nvPr/>
        </p:nvSpPr>
        <p:spPr>
          <a:xfrm>
            <a:off x="5047488" y="5870448"/>
            <a:ext cx="2057400" cy="429768"/>
          </a:xfrm>
          <a:prstGeom prst="roundRect">
            <a:avLst/>
          </a:prstGeom>
          <a:solidFill>
            <a:srgbClr val="FFFFFF"/>
          </a:solidFill>
          <a:ln w="12700">
            <a:solidFill>
              <a:srgbClr val="E1DFDD"/>
            </a:solidFill>
            <a:prstDash val="solid"/>
          </a:ln>
        </p:spPr>
      </p:sp>
      <p:sp>
        <p:nvSpPr>
          <p:cNvPr id="48" name="Shape 46"/>
          <p:cNvSpPr/>
          <p:nvPr/>
        </p:nvSpPr>
        <p:spPr>
          <a:xfrm>
            <a:off x="5138928" y="5957316"/>
            <a:ext cx="256032" cy="256032"/>
          </a:xfrm>
          <a:prstGeom prst="ellipse">
            <a:avLst/>
          </a:prstGeom>
          <a:solidFill>
            <a:srgbClr val="F3F2F1"/>
          </a:solidFill>
          <a:ln w="10160">
            <a:solidFill>
              <a:srgbClr val="E1DFDD"/>
            </a:solidFill>
            <a:prstDash val="solid"/>
          </a:ln>
        </p:spPr>
      </p:sp>
      <p:sp>
        <p:nvSpPr>
          <p:cNvPr id="49" name="Text 47"/>
          <p:cNvSpPr/>
          <p:nvPr/>
        </p:nvSpPr>
        <p:spPr>
          <a:xfrm>
            <a:off x="516636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3</a:t>
            </a:r>
            <a:endParaRPr lang="en-US" sz="800" dirty="0"/>
          </a:p>
        </p:txBody>
      </p:sp>
      <p:sp>
        <p:nvSpPr>
          <p:cNvPr id="50" name="Text 48"/>
          <p:cNvSpPr/>
          <p:nvPr/>
        </p:nvSpPr>
        <p:spPr>
          <a:xfrm>
            <a:off x="545896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MVP</a:t>
            </a:r>
            <a:endParaRPr lang="en-US" sz="1050" dirty="0"/>
          </a:p>
        </p:txBody>
      </p:sp>
      <p:sp>
        <p:nvSpPr>
          <p:cNvPr id="51" name="Shape 49"/>
          <p:cNvSpPr/>
          <p:nvPr/>
        </p:nvSpPr>
        <p:spPr>
          <a:xfrm>
            <a:off x="7242048" y="5870448"/>
            <a:ext cx="2057400" cy="429768"/>
          </a:xfrm>
          <a:prstGeom prst="roundRect">
            <a:avLst/>
          </a:prstGeom>
          <a:solidFill>
            <a:srgbClr val="FFFFFF"/>
          </a:solidFill>
          <a:ln w="12700">
            <a:solidFill>
              <a:srgbClr val="E1DFDD"/>
            </a:solidFill>
            <a:prstDash val="solid"/>
          </a:ln>
        </p:spPr>
      </p:sp>
      <p:sp>
        <p:nvSpPr>
          <p:cNvPr id="52" name="Shape 50"/>
          <p:cNvSpPr/>
          <p:nvPr/>
        </p:nvSpPr>
        <p:spPr>
          <a:xfrm>
            <a:off x="7333488" y="5957316"/>
            <a:ext cx="256032" cy="256032"/>
          </a:xfrm>
          <a:prstGeom prst="ellipse">
            <a:avLst/>
          </a:prstGeom>
          <a:solidFill>
            <a:srgbClr val="F3F2F1"/>
          </a:solidFill>
          <a:ln w="10160">
            <a:solidFill>
              <a:srgbClr val="E1DFDD"/>
            </a:solidFill>
            <a:prstDash val="solid"/>
          </a:ln>
        </p:spPr>
      </p:sp>
      <p:sp>
        <p:nvSpPr>
          <p:cNvPr id="53" name="Text 51"/>
          <p:cNvSpPr/>
          <p:nvPr/>
        </p:nvSpPr>
        <p:spPr>
          <a:xfrm>
            <a:off x="736092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4</a:t>
            </a:r>
            <a:endParaRPr lang="en-US" sz="800" dirty="0"/>
          </a:p>
        </p:txBody>
      </p:sp>
      <p:sp>
        <p:nvSpPr>
          <p:cNvPr id="54" name="Text 52"/>
          <p:cNvSpPr/>
          <p:nvPr/>
        </p:nvSpPr>
        <p:spPr>
          <a:xfrm>
            <a:off x="765352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Review</a:t>
            </a:r>
            <a:endParaRPr lang="en-US" sz="1050" dirty="0"/>
          </a:p>
        </p:txBody>
      </p:sp>
      <p:sp>
        <p:nvSpPr>
          <p:cNvPr id="55" name="Shape 53"/>
          <p:cNvSpPr/>
          <p:nvPr/>
        </p:nvSpPr>
        <p:spPr>
          <a:xfrm>
            <a:off x="9436608" y="5870448"/>
            <a:ext cx="2057400" cy="429768"/>
          </a:xfrm>
          <a:prstGeom prst="roundRect">
            <a:avLst/>
          </a:prstGeom>
          <a:solidFill>
            <a:srgbClr val="FFFFFF"/>
          </a:solidFill>
          <a:ln w="12700">
            <a:solidFill>
              <a:srgbClr val="E1DFDD"/>
            </a:solidFill>
            <a:prstDash val="solid"/>
          </a:ln>
        </p:spPr>
      </p:sp>
      <p:sp>
        <p:nvSpPr>
          <p:cNvPr id="56" name="Shape 54"/>
          <p:cNvSpPr/>
          <p:nvPr/>
        </p:nvSpPr>
        <p:spPr>
          <a:xfrm>
            <a:off x="9528048" y="5957316"/>
            <a:ext cx="256032" cy="256032"/>
          </a:xfrm>
          <a:prstGeom prst="ellipse">
            <a:avLst/>
          </a:prstGeom>
          <a:solidFill>
            <a:srgbClr val="F3F2F1"/>
          </a:solidFill>
          <a:ln w="10160">
            <a:solidFill>
              <a:srgbClr val="E1DFDD"/>
            </a:solidFill>
            <a:prstDash val="solid"/>
          </a:ln>
        </p:spPr>
      </p:sp>
      <p:sp>
        <p:nvSpPr>
          <p:cNvPr id="57" name="Text 55"/>
          <p:cNvSpPr/>
          <p:nvPr/>
        </p:nvSpPr>
        <p:spPr>
          <a:xfrm>
            <a:off x="955548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5</a:t>
            </a:r>
            <a:endParaRPr lang="en-US" sz="800" dirty="0"/>
          </a:p>
        </p:txBody>
      </p:sp>
      <p:sp>
        <p:nvSpPr>
          <p:cNvPr id="58" name="Text 56"/>
          <p:cNvSpPr/>
          <p:nvPr/>
        </p:nvSpPr>
        <p:spPr>
          <a:xfrm>
            <a:off x="984808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Deploy</a:t>
            </a:r>
            <a:endParaRPr lang="en-US" sz="1050" dirty="0"/>
          </a:p>
        </p:txBody>
      </p:sp>
      <p:sp>
        <p:nvSpPr>
          <p:cNvPr id="59" name="Text 57"/>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08</a:t>
            </a:r>
            <a:endParaRPr lang="en-US" sz="8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107C10"/>
          </a:solidFill>
          <a:ln w="12700">
            <a:solidFill>
              <a:srgbClr val="107C10">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107C10"/>
                </a:solidFill>
                <a:latin typeface="Segoe UI Semibold" pitchFamily="34" charset="0"/>
                <a:ea typeface="Segoe UI Semibold" pitchFamily="34" charset="-122"/>
                <a:cs typeface="Segoe UI Semibold" pitchFamily="34" charset="-120"/>
              </a:rPr>
              <a:t>STEP 2</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Drop in the evidence. Name the outcome.</a:t>
            </a:r>
            <a:endParaRPr lang="en-US" sz="2800" dirty="0"/>
          </a:p>
        </p:txBody>
      </p:sp>
      <p:sp>
        <p:nvSpPr>
          <p:cNvPr id="10" name="Shape 8"/>
          <p:cNvSpPr/>
          <p:nvPr/>
        </p:nvSpPr>
        <p:spPr>
          <a:xfrm>
            <a:off x="10515600" y="713232"/>
            <a:ext cx="1097280" cy="365760"/>
          </a:xfrm>
          <a:prstGeom prst="roundRect">
            <a:avLst/>
          </a:prstGeom>
          <a:solidFill>
            <a:srgbClr val="107C10"/>
          </a:solidFill>
          <a:ln w="12700">
            <a:solidFill>
              <a:srgbClr val="107C10">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5 MIN</a:t>
            </a:r>
            <a:endParaRPr lang="en-US" sz="1000" dirty="0"/>
          </a:p>
        </p:txBody>
      </p:sp>
      <p:sp>
        <p:nvSpPr>
          <p:cNvPr id="12" name="Shape 10"/>
          <p:cNvSpPr/>
          <p:nvPr/>
        </p:nvSpPr>
        <p:spPr>
          <a:xfrm>
            <a:off x="594360" y="1828800"/>
            <a:ext cx="6537960" cy="3639312"/>
          </a:xfrm>
          <a:prstGeom prst="roundRect">
            <a:avLst/>
          </a:prstGeom>
          <a:solidFill>
            <a:srgbClr val="FFFFFF"/>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13" name="Text 11"/>
          <p:cNvSpPr/>
          <p:nvPr/>
        </p:nvSpPr>
        <p:spPr>
          <a:xfrm>
            <a:off x="914400" y="2103120"/>
            <a:ext cx="2011680" cy="201168"/>
          </a:xfrm>
          <a:prstGeom prst="rect">
            <a:avLst/>
          </a:prstGeom>
          <a:noFill/>
          <a:ln/>
        </p:spPr>
        <p:txBody>
          <a:bodyPr wrap="square" lIns="0" tIns="0" rIns="0" bIns="0" rtlCol="0" anchor="ctr"/>
          <a:lstStyle/>
          <a:p>
            <a:pPr indent="0" marL="0">
              <a:buNone/>
            </a:pPr>
            <a:r>
              <a:rPr lang="en-US" sz="1100" b="1" spc="110" kern="0" dirty="0">
                <a:solidFill>
                  <a:srgbClr val="605E5C"/>
                </a:solidFill>
                <a:latin typeface="Segoe UI Semibold" pitchFamily="34" charset="0"/>
                <a:ea typeface="Segoe UI Semibold" pitchFamily="34" charset="-122"/>
                <a:cs typeface="Segoe UI Semibold" pitchFamily="34" charset="-120"/>
              </a:rPr>
              <a:t>YOUR DOCUMENTS</a:t>
            </a:r>
            <a:endParaRPr lang="en-US" sz="1100" dirty="0"/>
          </a:p>
        </p:txBody>
      </p:sp>
      <p:sp>
        <p:nvSpPr>
          <p:cNvPr id="14" name="Shape 12"/>
          <p:cNvSpPr/>
          <p:nvPr/>
        </p:nvSpPr>
        <p:spPr>
          <a:xfrm>
            <a:off x="914400" y="2606040"/>
            <a:ext cx="5897880" cy="1344168"/>
          </a:xfrm>
          <a:prstGeom prst="roundRect">
            <a:avLst/>
          </a:prstGeom>
          <a:solidFill>
            <a:srgbClr val="FAF9F8"/>
          </a:solidFill>
          <a:ln w="17780">
            <a:solidFill>
              <a:srgbClr val="0078D4"/>
            </a:solidFill>
            <a:prstDash val="solid"/>
          </a:ln>
        </p:spPr>
      </p:sp>
      <p:sp>
        <p:nvSpPr>
          <p:cNvPr id="15" name="Text 13"/>
          <p:cNvSpPr/>
          <p:nvPr/>
        </p:nvSpPr>
        <p:spPr>
          <a:xfrm>
            <a:off x="1755648" y="2944368"/>
            <a:ext cx="4206240" cy="237744"/>
          </a:xfrm>
          <a:prstGeom prst="rect">
            <a:avLst/>
          </a:prstGeom>
          <a:noFill/>
          <a:ln/>
        </p:spPr>
        <p:txBody>
          <a:bodyPr wrap="square" lIns="0" tIns="0" rIns="0" bIns="0" rtlCol="0" anchor="ctr"/>
          <a:lstStyle/>
          <a:p>
            <a:pPr algn="ctr" indent="0" marL="0">
              <a:buNone/>
            </a:pPr>
            <a:r>
              <a:rPr lang="en-US" sz="1700" b="1" dirty="0">
                <a:solidFill>
                  <a:srgbClr val="0078D4"/>
                </a:solidFill>
                <a:latin typeface="Segoe UI Semibold" pitchFamily="34" charset="0"/>
                <a:ea typeface="Segoe UI Semibold" pitchFamily="34" charset="-122"/>
                <a:cs typeface="Segoe UI Semibold" pitchFamily="34" charset="-120"/>
              </a:rPr>
              <a:t>DROP FILES HERE</a:t>
            </a:r>
            <a:endParaRPr lang="en-US" sz="1700" dirty="0"/>
          </a:p>
        </p:txBody>
      </p:sp>
      <p:sp>
        <p:nvSpPr>
          <p:cNvPr id="16" name="Text 14"/>
          <p:cNvSpPr/>
          <p:nvPr/>
        </p:nvSpPr>
        <p:spPr>
          <a:xfrm>
            <a:off x="1755648" y="3346704"/>
            <a:ext cx="4206240" cy="201168"/>
          </a:xfrm>
          <a:prstGeom prst="rect">
            <a:avLst/>
          </a:prstGeom>
          <a:noFill/>
          <a:ln/>
        </p:spPr>
        <p:txBody>
          <a:bodyPr wrap="square" lIns="0" tIns="0" rIns="0" bIns="0" rtlCol="0" anchor="ctr"/>
          <a:lstStyle/>
          <a:p>
            <a:pPr algn="ctr" indent="0" marL="0">
              <a:buNone/>
            </a:pPr>
            <a:r>
              <a:rPr lang="en-US" sz="1150" dirty="0">
                <a:solidFill>
                  <a:srgbClr val="605E5C"/>
                </a:solidFill>
                <a:latin typeface="Segoe UI" pitchFamily="34" charset="0"/>
                <a:ea typeface="Segoe UI" pitchFamily="34" charset="-122"/>
                <a:cs typeface="Segoe UI" pitchFamily="34" charset="-120"/>
              </a:rPr>
              <a:t>Transcript + supporting evidence beats a folder dump.</a:t>
            </a:r>
            <a:endParaRPr lang="en-US" sz="1150" dirty="0"/>
          </a:p>
        </p:txBody>
      </p:sp>
      <p:sp>
        <p:nvSpPr>
          <p:cNvPr id="17" name="Shape 15"/>
          <p:cNvSpPr/>
          <p:nvPr/>
        </p:nvSpPr>
        <p:spPr>
          <a:xfrm>
            <a:off x="914400" y="4261104"/>
            <a:ext cx="2148840" cy="310896"/>
          </a:xfrm>
          <a:prstGeom prst="roundRect">
            <a:avLst/>
          </a:prstGeom>
          <a:solidFill>
            <a:srgbClr val="DCEEFF"/>
          </a:solidFill>
          <a:ln w="12700">
            <a:solidFill>
              <a:srgbClr val="DCEEFF">
                <a:alpha val="0"/>
              </a:srgbClr>
            </a:solidFill>
            <a:prstDash val="solid"/>
          </a:ln>
        </p:spPr>
      </p:sp>
      <p:sp>
        <p:nvSpPr>
          <p:cNvPr id="18" name="Text 16"/>
          <p:cNvSpPr/>
          <p:nvPr/>
        </p:nvSpPr>
        <p:spPr>
          <a:xfrm>
            <a:off x="978408" y="4315968"/>
            <a:ext cx="2020824" cy="164592"/>
          </a:xfrm>
          <a:prstGeom prst="rect">
            <a:avLst/>
          </a:prstGeom>
          <a:noFill/>
          <a:ln/>
        </p:spPr>
        <p:txBody>
          <a:bodyPr wrap="square" lIns="0" tIns="0" rIns="0" bIns="0" rtlCol="0" anchor="ctr">
            <a:normAutofit/>
          </a:bodyPr>
          <a:lstStyle/>
          <a:p>
            <a:pPr algn="ctr" indent="0" marL="0">
              <a:buNone/>
            </a:pPr>
            <a:r>
              <a:rPr lang="en-US" sz="970" b="1" dirty="0">
                <a:solidFill>
                  <a:srgbClr val="005A9E"/>
                </a:solidFill>
                <a:latin typeface="Segoe UI Semibold" pitchFamily="34" charset="0"/>
                <a:ea typeface="Segoe UI Semibold" pitchFamily="34" charset="-122"/>
                <a:cs typeface="Segoe UI Semibold" pitchFamily="34" charset="-120"/>
              </a:rPr>
              <a:t>facilities_interview.docx</a:t>
            </a:r>
            <a:endParaRPr lang="en-US" sz="970" dirty="0"/>
          </a:p>
        </p:txBody>
      </p:sp>
      <p:sp>
        <p:nvSpPr>
          <p:cNvPr id="19" name="Shape 17"/>
          <p:cNvSpPr/>
          <p:nvPr/>
        </p:nvSpPr>
        <p:spPr>
          <a:xfrm>
            <a:off x="3246120" y="4261104"/>
            <a:ext cx="1920240" cy="310896"/>
          </a:xfrm>
          <a:prstGeom prst="roundRect">
            <a:avLst/>
          </a:prstGeom>
          <a:solidFill>
            <a:srgbClr val="DFF6DD"/>
          </a:solidFill>
          <a:ln w="12700">
            <a:solidFill>
              <a:srgbClr val="DFF6DD">
                <a:alpha val="0"/>
              </a:srgbClr>
            </a:solidFill>
            <a:prstDash val="solid"/>
          </a:ln>
        </p:spPr>
      </p:sp>
      <p:sp>
        <p:nvSpPr>
          <p:cNvPr id="20" name="Text 18"/>
          <p:cNvSpPr/>
          <p:nvPr/>
        </p:nvSpPr>
        <p:spPr>
          <a:xfrm>
            <a:off x="3310128" y="4315968"/>
            <a:ext cx="1792224" cy="164592"/>
          </a:xfrm>
          <a:prstGeom prst="rect">
            <a:avLst/>
          </a:prstGeom>
          <a:noFill/>
          <a:ln/>
        </p:spPr>
        <p:txBody>
          <a:bodyPr wrap="square" lIns="0" tIns="0" rIns="0" bIns="0" rtlCol="0" anchor="ctr">
            <a:normAutofit/>
          </a:bodyPr>
          <a:lstStyle/>
          <a:p>
            <a:pPr algn="ctr" indent="0" marL="0">
              <a:buNone/>
            </a:pPr>
            <a:r>
              <a:rPr lang="en-US" sz="970" b="1" dirty="0">
                <a:solidFill>
                  <a:srgbClr val="0B560B"/>
                </a:solidFill>
                <a:latin typeface="Segoe UI Semibold" pitchFamily="34" charset="0"/>
                <a:ea typeface="Segoe UI Semibold" pitchFamily="34" charset="-122"/>
                <a:cs typeface="Segoe UI Semibold" pitchFamily="34" charset="-120"/>
              </a:rPr>
              <a:t>maintenance_FAQ.pdf</a:t>
            </a:r>
            <a:endParaRPr lang="en-US" sz="970" dirty="0"/>
          </a:p>
        </p:txBody>
      </p:sp>
      <p:sp>
        <p:nvSpPr>
          <p:cNvPr id="21" name="Shape 19"/>
          <p:cNvSpPr/>
          <p:nvPr/>
        </p:nvSpPr>
        <p:spPr>
          <a:xfrm>
            <a:off x="5349240" y="4261104"/>
            <a:ext cx="1463040" cy="310896"/>
          </a:xfrm>
          <a:prstGeom prst="roundRect">
            <a:avLst/>
          </a:prstGeom>
          <a:solidFill>
            <a:srgbClr val="F9E3DB"/>
          </a:solidFill>
          <a:ln w="12700">
            <a:solidFill>
              <a:srgbClr val="F9E3DB">
                <a:alpha val="0"/>
              </a:srgbClr>
            </a:solidFill>
            <a:prstDash val="solid"/>
          </a:ln>
        </p:spPr>
      </p:sp>
      <p:sp>
        <p:nvSpPr>
          <p:cNvPr id="22" name="Text 20"/>
          <p:cNvSpPr/>
          <p:nvPr/>
        </p:nvSpPr>
        <p:spPr>
          <a:xfrm>
            <a:off x="5413248" y="4315968"/>
            <a:ext cx="1335024" cy="164592"/>
          </a:xfrm>
          <a:prstGeom prst="rect">
            <a:avLst/>
          </a:prstGeom>
          <a:noFill/>
          <a:ln/>
        </p:spPr>
        <p:txBody>
          <a:bodyPr wrap="square" lIns="0" tIns="0" rIns="0" bIns="0" rtlCol="0" anchor="ctr">
            <a:normAutofit/>
          </a:bodyPr>
          <a:lstStyle/>
          <a:p>
            <a:pPr algn="ctr" indent="0" marL="0">
              <a:buNone/>
            </a:pPr>
            <a:r>
              <a:rPr lang="en-US" sz="900" b="1" dirty="0">
                <a:solidFill>
                  <a:srgbClr val="972900"/>
                </a:solidFill>
                <a:latin typeface="Segoe UI Semibold" pitchFamily="34" charset="0"/>
                <a:ea typeface="Segoe UI Semibold" pitchFamily="34" charset="-122"/>
                <a:cs typeface="Segoe UI Semibold" pitchFamily="34" charset="-120"/>
              </a:rPr>
              <a:t>sample_requests.xlsx</a:t>
            </a:r>
            <a:endParaRPr lang="en-US" sz="900" dirty="0"/>
          </a:p>
        </p:txBody>
      </p:sp>
      <p:sp>
        <p:nvSpPr>
          <p:cNvPr id="23" name="Text 21"/>
          <p:cNvSpPr/>
          <p:nvPr/>
        </p:nvSpPr>
        <p:spPr>
          <a:xfrm>
            <a:off x="914400" y="4800600"/>
            <a:ext cx="1828800" cy="164592"/>
          </a:xfrm>
          <a:prstGeom prst="rect">
            <a:avLst/>
          </a:prstGeom>
          <a:noFill/>
          <a:ln/>
        </p:spPr>
        <p:txBody>
          <a:bodyPr wrap="square" lIns="0" tIns="0" rIns="0" bIns="0" rtlCol="0" anchor="ctr"/>
          <a:lstStyle/>
          <a:p>
            <a:pPr indent="0" marL="0">
              <a:buNone/>
            </a:pPr>
            <a:r>
              <a:rPr lang="en-US" sz="1020" b="1" dirty="0">
                <a:solidFill>
                  <a:srgbClr val="605E5C"/>
                </a:solidFill>
                <a:latin typeface="Segoe UI Semibold" pitchFamily="34" charset="0"/>
                <a:ea typeface="Segoe UI Semibold" pitchFamily="34" charset="-122"/>
                <a:cs typeface="Segoe UI Semibold" pitchFamily="34" charset="-120"/>
              </a:rPr>
              <a:t>Solution name (optional)</a:t>
            </a:r>
            <a:endParaRPr lang="en-US" sz="1020" dirty="0"/>
          </a:p>
        </p:txBody>
      </p:sp>
      <p:sp>
        <p:nvSpPr>
          <p:cNvPr id="24" name="Shape 22"/>
          <p:cNvSpPr/>
          <p:nvPr/>
        </p:nvSpPr>
        <p:spPr>
          <a:xfrm>
            <a:off x="2514600" y="4700016"/>
            <a:ext cx="2331720" cy="411480"/>
          </a:xfrm>
          <a:prstGeom prst="roundRect">
            <a:avLst/>
          </a:prstGeom>
          <a:solidFill>
            <a:srgbClr val="FFFFFF"/>
          </a:solidFill>
          <a:ln w="12700">
            <a:solidFill>
              <a:srgbClr val="8A8886"/>
            </a:solidFill>
            <a:prstDash val="solid"/>
          </a:ln>
        </p:spPr>
      </p:sp>
      <p:sp>
        <p:nvSpPr>
          <p:cNvPr id="25" name="Text 23"/>
          <p:cNvSpPr/>
          <p:nvPr/>
        </p:nvSpPr>
        <p:spPr>
          <a:xfrm>
            <a:off x="2670048" y="4818888"/>
            <a:ext cx="2011680" cy="146304"/>
          </a:xfrm>
          <a:prstGeom prst="rect">
            <a:avLst/>
          </a:prstGeom>
          <a:noFill/>
          <a:ln/>
        </p:spPr>
        <p:txBody>
          <a:bodyPr wrap="square" lIns="0" tIns="0" rIns="0" bIns="0" rtlCol="0" anchor="ctr"/>
          <a:lstStyle/>
          <a:p>
            <a:pPr indent="0" marL="0">
              <a:buNone/>
            </a:pPr>
            <a:r>
              <a:rPr lang="en-US" sz="1120" dirty="0">
                <a:solidFill>
                  <a:srgbClr val="1B1A19"/>
                </a:solidFill>
                <a:latin typeface="Consolas" pitchFamily="34" charset="0"/>
                <a:ea typeface="Consolas" pitchFamily="34" charset="-122"/>
                <a:cs typeface="Consolas" pitchFamily="34" charset="-120"/>
              </a:rPr>
              <a:t>FacilitiesRequest</a:t>
            </a:r>
            <a:endParaRPr lang="en-US" sz="1120" dirty="0"/>
          </a:p>
        </p:txBody>
      </p:sp>
      <p:sp>
        <p:nvSpPr>
          <p:cNvPr id="26" name="Shape 24"/>
          <p:cNvSpPr/>
          <p:nvPr/>
        </p:nvSpPr>
        <p:spPr>
          <a:xfrm>
            <a:off x="7543800" y="1828800"/>
            <a:ext cx="4050792" cy="3639312"/>
          </a:xfrm>
          <a:prstGeom prst="roundRect">
            <a:avLst/>
          </a:prstGeom>
          <a:solidFill>
            <a:srgbClr val="DFF6DD"/>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27" name="Text 25"/>
          <p:cNvSpPr/>
          <p:nvPr/>
        </p:nvSpPr>
        <p:spPr>
          <a:xfrm>
            <a:off x="7882128" y="2148840"/>
            <a:ext cx="2468880" cy="219456"/>
          </a:xfrm>
          <a:prstGeom prst="rect">
            <a:avLst/>
          </a:prstGeom>
          <a:noFill/>
          <a:ln/>
        </p:spPr>
        <p:txBody>
          <a:bodyPr wrap="square" lIns="0" tIns="0" rIns="0" bIns="0" rtlCol="0" anchor="ctr"/>
          <a:lstStyle/>
          <a:p>
            <a:pPr indent="0" marL="0">
              <a:buNone/>
            </a:pPr>
            <a:r>
              <a:rPr lang="en-US" sz="1150" b="1" spc="100" kern="0" dirty="0">
                <a:solidFill>
                  <a:srgbClr val="0B560B"/>
                </a:solidFill>
                <a:latin typeface="Segoe UI Semibold" pitchFamily="34" charset="0"/>
                <a:ea typeface="Segoe UI Semibold" pitchFamily="34" charset="-122"/>
                <a:cs typeface="Segoe UI Semibold" pitchFamily="34" charset="-120"/>
              </a:rPr>
              <a:t>BEST SOURCE FORMULA</a:t>
            </a:r>
            <a:endParaRPr lang="en-US" sz="1150" dirty="0"/>
          </a:p>
        </p:txBody>
      </p:sp>
      <p:sp>
        <p:nvSpPr>
          <p:cNvPr id="28" name="Shape 26"/>
          <p:cNvSpPr/>
          <p:nvPr/>
        </p:nvSpPr>
        <p:spPr>
          <a:xfrm>
            <a:off x="7882128" y="2679192"/>
            <a:ext cx="566928" cy="566928"/>
          </a:xfrm>
          <a:prstGeom prst="ellipse">
            <a:avLst/>
          </a:prstGeom>
          <a:solidFill>
            <a:srgbClr val="FFFFFF"/>
          </a:solidFill>
          <a:ln w="15240">
            <a:solidFill>
              <a:srgbClr val="107C10"/>
            </a:solidFill>
            <a:prstDash val="solid"/>
          </a:ln>
        </p:spPr>
      </p:sp>
      <p:sp>
        <p:nvSpPr>
          <p:cNvPr id="29" name="Text 27"/>
          <p:cNvSpPr/>
          <p:nvPr/>
        </p:nvSpPr>
        <p:spPr>
          <a:xfrm>
            <a:off x="7964424" y="2834640"/>
            <a:ext cx="402336" cy="164592"/>
          </a:xfrm>
          <a:prstGeom prst="rect">
            <a:avLst/>
          </a:prstGeom>
          <a:noFill/>
          <a:ln/>
        </p:spPr>
        <p:txBody>
          <a:bodyPr wrap="square" lIns="0" tIns="0" rIns="0" bIns="0" rtlCol="0" anchor="ctr"/>
          <a:lstStyle/>
          <a:p>
            <a:pPr algn="ctr" indent="0" marL="0">
              <a:buNone/>
            </a:pPr>
            <a:r>
              <a:rPr lang="en-US" sz="1200" b="1" dirty="0">
                <a:solidFill>
                  <a:srgbClr val="107C10"/>
                </a:solidFill>
                <a:latin typeface="Segoe UI Semibold" pitchFamily="34" charset="0"/>
                <a:ea typeface="Segoe UI Semibold" pitchFamily="34" charset="-122"/>
                <a:cs typeface="Segoe UI Semibold" pitchFamily="34" charset="-120"/>
              </a:rPr>
              <a:t>1</a:t>
            </a:r>
            <a:endParaRPr lang="en-US" sz="1200" dirty="0"/>
          </a:p>
        </p:txBody>
      </p:sp>
      <p:sp>
        <p:nvSpPr>
          <p:cNvPr id="30" name="Text 28"/>
          <p:cNvSpPr/>
          <p:nvPr/>
        </p:nvSpPr>
        <p:spPr>
          <a:xfrm>
            <a:off x="8613648" y="2697480"/>
            <a:ext cx="1097280" cy="182880"/>
          </a:xfrm>
          <a:prstGeom prst="rect">
            <a:avLst/>
          </a:prstGeom>
          <a:noFill/>
          <a:ln/>
        </p:spPr>
        <p:txBody>
          <a:bodyPr wrap="square" lIns="0" tIns="0" rIns="0" bIns="0" rtlCol="0" anchor="ctr"/>
          <a:lstStyle/>
          <a:p>
            <a:pPr indent="0" marL="0">
              <a:buNone/>
            </a:pPr>
            <a:r>
              <a:rPr lang="en-US" sz="1250" b="1" dirty="0">
                <a:solidFill>
                  <a:srgbClr val="1B1A19"/>
                </a:solidFill>
                <a:latin typeface="Segoe UI Semibold" pitchFamily="34" charset="0"/>
                <a:ea typeface="Segoe UI Semibold" pitchFamily="34" charset="-122"/>
                <a:cs typeface="Segoe UI Semibold" pitchFamily="34" charset="-120"/>
              </a:rPr>
              <a:t>Narrative</a:t>
            </a:r>
            <a:endParaRPr lang="en-US" sz="1250" dirty="0"/>
          </a:p>
        </p:txBody>
      </p:sp>
      <p:sp>
        <p:nvSpPr>
          <p:cNvPr id="31" name="Text 29"/>
          <p:cNvSpPr/>
          <p:nvPr/>
        </p:nvSpPr>
        <p:spPr>
          <a:xfrm>
            <a:off x="8613648" y="2962656"/>
            <a:ext cx="2514600" cy="256032"/>
          </a:xfrm>
          <a:prstGeom prst="rect">
            <a:avLst/>
          </a:prstGeom>
          <a:noFill/>
          <a:ln/>
        </p:spPr>
        <p:txBody>
          <a:bodyPr wrap="square" lIns="0" tIns="0" rIns="0" bIns="0" rtlCol="0" anchor="ctr">
            <a:normAutofit/>
          </a:bodyPr>
          <a:lstStyle/>
          <a:p>
            <a:pPr indent="0" marL="0">
              <a:buNone/>
            </a:pPr>
            <a:r>
              <a:rPr lang="en-US" sz="1020" dirty="0">
                <a:solidFill>
                  <a:srgbClr val="3B3A39"/>
                </a:solidFill>
                <a:latin typeface="Segoe UI" pitchFamily="34" charset="0"/>
                <a:ea typeface="Segoe UI" pitchFamily="34" charset="-122"/>
                <a:cs typeface="Segoe UI" pitchFamily="34" charset="-120"/>
              </a:rPr>
              <a:t>What problem should the agent solve?</a:t>
            </a:r>
            <a:endParaRPr lang="en-US" sz="1020" dirty="0"/>
          </a:p>
        </p:txBody>
      </p:sp>
      <p:sp>
        <p:nvSpPr>
          <p:cNvPr id="32" name="Shape 30"/>
          <p:cNvSpPr/>
          <p:nvPr/>
        </p:nvSpPr>
        <p:spPr>
          <a:xfrm>
            <a:off x="7882128" y="3438144"/>
            <a:ext cx="566928" cy="566928"/>
          </a:xfrm>
          <a:prstGeom prst="ellipse">
            <a:avLst/>
          </a:prstGeom>
          <a:solidFill>
            <a:srgbClr val="FFFFFF"/>
          </a:solidFill>
          <a:ln w="15240">
            <a:solidFill>
              <a:srgbClr val="107C10"/>
            </a:solidFill>
            <a:prstDash val="solid"/>
          </a:ln>
        </p:spPr>
      </p:sp>
      <p:sp>
        <p:nvSpPr>
          <p:cNvPr id="33" name="Text 31"/>
          <p:cNvSpPr/>
          <p:nvPr/>
        </p:nvSpPr>
        <p:spPr>
          <a:xfrm>
            <a:off x="7964424" y="3593592"/>
            <a:ext cx="402336" cy="164592"/>
          </a:xfrm>
          <a:prstGeom prst="rect">
            <a:avLst/>
          </a:prstGeom>
          <a:noFill/>
          <a:ln/>
        </p:spPr>
        <p:txBody>
          <a:bodyPr wrap="square" lIns="0" tIns="0" rIns="0" bIns="0" rtlCol="0" anchor="ctr"/>
          <a:lstStyle/>
          <a:p>
            <a:pPr algn="ctr" indent="0" marL="0">
              <a:buNone/>
            </a:pPr>
            <a:r>
              <a:rPr lang="en-US" sz="1200" b="1" dirty="0">
                <a:solidFill>
                  <a:srgbClr val="107C10"/>
                </a:solidFill>
                <a:latin typeface="Segoe UI Semibold" pitchFamily="34" charset="0"/>
                <a:ea typeface="Segoe UI Semibold" pitchFamily="34" charset="-122"/>
                <a:cs typeface="Segoe UI Semibold" pitchFamily="34" charset="-120"/>
              </a:rPr>
              <a:t>2</a:t>
            </a:r>
            <a:endParaRPr lang="en-US" sz="1200" dirty="0"/>
          </a:p>
        </p:txBody>
      </p:sp>
      <p:sp>
        <p:nvSpPr>
          <p:cNvPr id="34" name="Text 32"/>
          <p:cNvSpPr/>
          <p:nvPr/>
        </p:nvSpPr>
        <p:spPr>
          <a:xfrm>
            <a:off x="8613648" y="3456432"/>
            <a:ext cx="1097280" cy="182880"/>
          </a:xfrm>
          <a:prstGeom prst="rect">
            <a:avLst/>
          </a:prstGeom>
          <a:noFill/>
          <a:ln/>
        </p:spPr>
        <p:txBody>
          <a:bodyPr wrap="square" lIns="0" tIns="0" rIns="0" bIns="0" rtlCol="0" anchor="ctr"/>
          <a:lstStyle/>
          <a:p>
            <a:pPr indent="0" marL="0">
              <a:buNone/>
            </a:pPr>
            <a:r>
              <a:rPr lang="en-US" sz="1250" b="1" dirty="0">
                <a:solidFill>
                  <a:srgbClr val="1B1A19"/>
                </a:solidFill>
                <a:latin typeface="Segoe UI Semibold" pitchFamily="34" charset="0"/>
                <a:ea typeface="Segoe UI Semibold" pitchFamily="34" charset="-122"/>
                <a:cs typeface="Segoe UI Semibold" pitchFamily="34" charset="-120"/>
              </a:rPr>
              <a:t>Examples</a:t>
            </a:r>
            <a:endParaRPr lang="en-US" sz="1250" dirty="0"/>
          </a:p>
        </p:txBody>
      </p:sp>
      <p:sp>
        <p:nvSpPr>
          <p:cNvPr id="35" name="Text 33"/>
          <p:cNvSpPr/>
          <p:nvPr/>
        </p:nvSpPr>
        <p:spPr>
          <a:xfrm>
            <a:off x="8613648" y="3721608"/>
            <a:ext cx="2514600" cy="256032"/>
          </a:xfrm>
          <a:prstGeom prst="rect">
            <a:avLst/>
          </a:prstGeom>
          <a:noFill/>
          <a:ln/>
        </p:spPr>
        <p:txBody>
          <a:bodyPr wrap="square" lIns="0" tIns="0" rIns="0" bIns="0" rtlCol="0" anchor="ctr">
            <a:normAutofit/>
          </a:bodyPr>
          <a:lstStyle/>
          <a:p>
            <a:pPr indent="0" marL="0">
              <a:buNone/>
            </a:pPr>
            <a:r>
              <a:rPr lang="en-US" sz="1020" dirty="0">
                <a:solidFill>
                  <a:srgbClr val="3B3A39"/>
                </a:solidFill>
                <a:latin typeface="Segoe UI" pitchFamily="34" charset="0"/>
                <a:ea typeface="Segoe UI" pitchFamily="34" charset="-122"/>
                <a:cs typeface="Segoe UI" pitchFamily="34" charset="-120"/>
              </a:rPr>
              <a:t>What do users ask and what good looks like?</a:t>
            </a:r>
            <a:endParaRPr lang="en-US" sz="1020" dirty="0"/>
          </a:p>
        </p:txBody>
      </p:sp>
      <p:sp>
        <p:nvSpPr>
          <p:cNvPr id="36" name="Shape 34"/>
          <p:cNvSpPr/>
          <p:nvPr/>
        </p:nvSpPr>
        <p:spPr>
          <a:xfrm>
            <a:off x="7882128" y="4197096"/>
            <a:ext cx="566928" cy="566928"/>
          </a:xfrm>
          <a:prstGeom prst="ellipse">
            <a:avLst/>
          </a:prstGeom>
          <a:solidFill>
            <a:srgbClr val="FFFFFF"/>
          </a:solidFill>
          <a:ln w="15240">
            <a:solidFill>
              <a:srgbClr val="107C10"/>
            </a:solidFill>
            <a:prstDash val="solid"/>
          </a:ln>
        </p:spPr>
      </p:sp>
      <p:sp>
        <p:nvSpPr>
          <p:cNvPr id="37" name="Text 35"/>
          <p:cNvSpPr/>
          <p:nvPr/>
        </p:nvSpPr>
        <p:spPr>
          <a:xfrm>
            <a:off x="7964424" y="4352544"/>
            <a:ext cx="402336" cy="164592"/>
          </a:xfrm>
          <a:prstGeom prst="rect">
            <a:avLst/>
          </a:prstGeom>
          <a:noFill/>
          <a:ln/>
        </p:spPr>
        <p:txBody>
          <a:bodyPr wrap="square" lIns="0" tIns="0" rIns="0" bIns="0" rtlCol="0" anchor="ctr"/>
          <a:lstStyle/>
          <a:p>
            <a:pPr algn="ctr" indent="0" marL="0">
              <a:buNone/>
            </a:pPr>
            <a:r>
              <a:rPr lang="en-US" sz="1200" b="1" dirty="0">
                <a:solidFill>
                  <a:srgbClr val="107C10"/>
                </a:solidFill>
                <a:latin typeface="Segoe UI Semibold" pitchFamily="34" charset="0"/>
                <a:ea typeface="Segoe UI Semibold" pitchFamily="34" charset="-122"/>
                <a:cs typeface="Segoe UI Semibold" pitchFamily="34" charset="-120"/>
              </a:rPr>
              <a:t>3</a:t>
            </a:r>
            <a:endParaRPr lang="en-US" sz="1200" dirty="0"/>
          </a:p>
        </p:txBody>
      </p:sp>
      <p:sp>
        <p:nvSpPr>
          <p:cNvPr id="38" name="Text 36"/>
          <p:cNvSpPr/>
          <p:nvPr/>
        </p:nvSpPr>
        <p:spPr>
          <a:xfrm>
            <a:off x="8613648" y="4215384"/>
            <a:ext cx="1097280" cy="182880"/>
          </a:xfrm>
          <a:prstGeom prst="rect">
            <a:avLst/>
          </a:prstGeom>
          <a:noFill/>
          <a:ln/>
        </p:spPr>
        <p:txBody>
          <a:bodyPr wrap="square" lIns="0" tIns="0" rIns="0" bIns="0" rtlCol="0" anchor="ctr"/>
          <a:lstStyle/>
          <a:p>
            <a:pPr indent="0" marL="0">
              <a:buNone/>
            </a:pPr>
            <a:r>
              <a:rPr lang="en-US" sz="1250" b="1" dirty="0">
                <a:solidFill>
                  <a:srgbClr val="1B1A19"/>
                </a:solidFill>
                <a:latin typeface="Segoe UI Semibold" pitchFamily="34" charset="0"/>
                <a:ea typeface="Segoe UI Semibold" pitchFamily="34" charset="-122"/>
                <a:cs typeface="Segoe UI Semibold" pitchFamily="34" charset="-120"/>
              </a:rPr>
              <a:t>Boundaries</a:t>
            </a:r>
            <a:endParaRPr lang="en-US" sz="1250" dirty="0"/>
          </a:p>
        </p:txBody>
      </p:sp>
      <p:sp>
        <p:nvSpPr>
          <p:cNvPr id="39" name="Text 37"/>
          <p:cNvSpPr/>
          <p:nvPr/>
        </p:nvSpPr>
        <p:spPr>
          <a:xfrm>
            <a:off x="8613648" y="4480560"/>
            <a:ext cx="2514600" cy="256032"/>
          </a:xfrm>
          <a:prstGeom prst="rect">
            <a:avLst/>
          </a:prstGeom>
          <a:noFill/>
          <a:ln/>
        </p:spPr>
        <p:txBody>
          <a:bodyPr wrap="square" lIns="0" tIns="0" rIns="0" bIns="0" rtlCol="0" anchor="ctr">
            <a:normAutofit/>
          </a:bodyPr>
          <a:lstStyle/>
          <a:p>
            <a:pPr indent="0" marL="0">
              <a:buNone/>
            </a:pPr>
            <a:r>
              <a:rPr lang="en-US" sz="1020" dirty="0">
                <a:solidFill>
                  <a:srgbClr val="3B3A39"/>
                </a:solidFill>
                <a:latin typeface="Segoe UI" pitchFamily="34" charset="0"/>
                <a:ea typeface="Segoe UI" pitchFamily="34" charset="-122"/>
                <a:cs typeface="Segoe UI" pitchFamily="34" charset="-120"/>
              </a:rPr>
              <a:t>What must it not do or expose?</a:t>
            </a:r>
            <a:endParaRPr lang="en-US" sz="1020" dirty="0"/>
          </a:p>
        </p:txBody>
      </p:sp>
      <p:sp>
        <p:nvSpPr>
          <p:cNvPr id="40" name="Shape 38"/>
          <p:cNvSpPr/>
          <p:nvPr/>
        </p:nvSpPr>
        <p:spPr>
          <a:xfrm>
            <a:off x="7882128" y="5029200"/>
            <a:ext cx="3310128" cy="301752"/>
          </a:xfrm>
          <a:prstGeom prst="roundRect">
            <a:avLst/>
          </a:prstGeom>
          <a:solidFill>
            <a:srgbClr val="FFF4CE"/>
          </a:solidFill>
          <a:ln w="10160">
            <a:solidFill>
              <a:srgbClr val="FFB900"/>
            </a:solidFill>
            <a:prstDash val="solid"/>
          </a:ln>
        </p:spPr>
      </p:sp>
      <p:sp>
        <p:nvSpPr>
          <p:cNvPr id="41" name="Text 39"/>
          <p:cNvSpPr/>
          <p:nvPr/>
        </p:nvSpPr>
        <p:spPr>
          <a:xfrm>
            <a:off x="8010144" y="5111496"/>
            <a:ext cx="3035808" cy="118872"/>
          </a:xfrm>
          <a:prstGeom prst="rect">
            <a:avLst/>
          </a:prstGeom>
          <a:noFill/>
          <a:ln/>
        </p:spPr>
        <p:txBody>
          <a:bodyPr wrap="square" lIns="0" tIns="0" rIns="0" bIns="0" rtlCol="0" anchor="ctr"/>
          <a:lstStyle/>
          <a:p>
            <a:pPr algn="ctr" indent="0" marL="0">
              <a:buNone/>
            </a:pPr>
            <a:r>
              <a:rPr lang="en-US" sz="970" b="1" dirty="0">
                <a:solidFill>
                  <a:srgbClr val="605E5C"/>
                </a:solidFill>
                <a:latin typeface="Segoe UI Semibold" pitchFamily="34" charset="0"/>
                <a:ea typeface="Segoe UI Semibold" pitchFamily="34" charset="-122"/>
                <a:cs typeface="Segoe UI Semibold" pitchFamily="34" charset="-120"/>
              </a:rPr>
              <a:t>Use only content you are permitted to process.</a:t>
            </a:r>
            <a:endParaRPr lang="en-US" sz="970" dirty="0"/>
          </a:p>
        </p:txBody>
      </p:sp>
      <p:sp>
        <p:nvSpPr>
          <p:cNvPr id="42" name="Shape 40"/>
          <p:cNvSpPr/>
          <p:nvPr/>
        </p:nvSpPr>
        <p:spPr>
          <a:xfrm>
            <a:off x="658368" y="5870448"/>
            <a:ext cx="2057400" cy="429768"/>
          </a:xfrm>
          <a:prstGeom prst="roundRect">
            <a:avLst/>
          </a:prstGeom>
          <a:solidFill>
            <a:srgbClr val="DFF6DD"/>
          </a:solidFill>
          <a:ln w="12700">
            <a:solidFill>
              <a:srgbClr val="107C10"/>
            </a:solidFill>
            <a:prstDash val="solid"/>
          </a:ln>
        </p:spPr>
      </p:sp>
      <p:sp>
        <p:nvSpPr>
          <p:cNvPr id="43" name="Shape 41"/>
          <p:cNvSpPr/>
          <p:nvPr/>
        </p:nvSpPr>
        <p:spPr>
          <a:xfrm>
            <a:off x="749808" y="5957316"/>
            <a:ext cx="256032" cy="256032"/>
          </a:xfrm>
          <a:prstGeom prst="ellipse">
            <a:avLst/>
          </a:prstGeom>
          <a:solidFill>
            <a:srgbClr val="107C10"/>
          </a:solidFill>
          <a:ln w="10160">
            <a:solidFill>
              <a:srgbClr val="107C10"/>
            </a:solidFill>
            <a:prstDash val="solid"/>
          </a:ln>
        </p:spPr>
      </p:sp>
      <p:sp>
        <p:nvSpPr>
          <p:cNvPr id="44" name="Text 42"/>
          <p:cNvSpPr/>
          <p:nvPr/>
        </p:nvSpPr>
        <p:spPr>
          <a:xfrm>
            <a:off x="77724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45" name="Text 43"/>
          <p:cNvSpPr/>
          <p:nvPr/>
        </p:nvSpPr>
        <p:spPr>
          <a:xfrm>
            <a:off x="106984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Sign in</a:t>
            </a:r>
            <a:endParaRPr lang="en-US" sz="1050" dirty="0"/>
          </a:p>
        </p:txBody>
      </p:sp>
      <p:sp>
        <p:nvSpPr>
          <p:cNvPr id="46" name="Shape 44"/>
          <p:cNvSpPr/>
          <p:nvPr/>
        </p:nvSpPr>
        <p:spPr>
          <a:xfrm>
            <a:off x="2852928" y="5870448"/>
            <a:ext cx="2057400" cy="429768"/>
          </a:xfrm>
          <a:prstGeom prst="roundRect">
            <a:avLst/>
          </a:prstGeom>
          <a:solidFill>
            <a:srgbClr val="107C10"/>
          </a:solidFill>
          <a:ln w="17780">
            <a:solidFill>
              <a:srgbClr val="107C10"/>
            </a:solidFill>
            <a:prstDash val="solid"/>
          </a:ln>
        </p:spPr>
      </p:sp>
      <p:sp>
        <p:nvSpPr>
          <p:cNvPr id="47" name="Shape 45"/>
          <p:cNvSpPr/>
          <p:nvPr/>
        </p:nvSpPr>
        <p:spPr>
          <a:xfrm>
            <a:off x="2944368" y="5957316"/>
            <a:ext cx="256032" cy="256032"/>
          </a:xfrm>
          <a:prstGeom prst="ellipse">
            <a:avLst/>
          </a:prstGeom>
          <a:solidFill>
            <a:srgbClr val="FFFFFF"/>
          </a:solidFill>
          <a:ln w="10160">
            <a:solidFill>
              <a:srgbClr val="FFFFFF"/>
            </a:solidFill>
            <a:prstDash val="solid"/>
          </a:ln>
        </p:spPr>
      </p:sp>
      <p:sp>
        <p:nvSpPr>
          <p:cNvPr id="48" name="Text 46"/>
          <p:cNvSpPr/>
          <p:nvPr/>
        </p:nvSpPr>
        <p:spPr>
          <a:xfrm>
            <a:off x="2971800" y="5998464"/>
            <a:ext cx="201168" cy="100584"/>
          </a:xfrm>
          <a:prstGeom prst="rect">
            <a:avLst/>
          </a:prstGeom>
          <a:noFill/>
          <a:ln/>
        </p:spPr>
        <p:txBody>
          <a:bodyPr wrap="square" lIns="0" tIns="0" rIns="0" bIns="0" rtlCol="0" anchor="ctr"/>
          <a:lstStyle/>
          <a:p>
            <a:pPr algn="ctr" indent="0" marL="0">
              <a:buNone/>
            </a:pPr>
            <a:r>
              <a:rPr lang="en-US" sz="800" b="1" dirty="0">
                <a:solidFill>
                  <a:srgbClr val="107C10"/>
                </a:solidFill>
                <a:latin typeface="Segoe UI Semibold" pitchFamily="34" charset="0"/>
                <a:ea typeface="Segoe UI Semibold" pitchFamily="34" charset="-122"/>
                <a:cs typeface="Segoe UI Semibold" pitchFamily="34" charset="-120"/>
              </a:rPr>
              <a:t>2</a:t>
            </a:r>
            <a:endParaRPr lang="en-US" sz="800" dirty="0"/>
          </a:p>
        </p:txBody>
      </p:sp>
      <p:sp>
        <p:nvSpPr>
          <p:cNvPr id="49" name="Text 47"/>
          <p:cNvSpPr/>
          <p:nvPr/>
        </p:nvSpPr>
        <p:spPr>
          <a:xfrm>
            <a:off x="3264408" y="6003036"/>
            <a:ext cx="1536192" cy="128016"/>
          </a:xfrm>
          <a:prstGeom prst="rect">
            <a:avLst/>
          </a:prstGeom>
          <a:noFill/>
          <a:ln/>
        </p:spPr>
        <p:txBody>
          <a:bodyPr wrap="square" lIns="0" tIns="0" rIns="0" bIns="0" rtlCol="0" anchor="ctr"/>
          <a:lstStyle/>
          <a:p>
            <a:pPr indent="0" marL="0">
              <a:buNone/>
            </a:pPr>
            <a:r>
              <a:rPr lang="en-US" sz="1050" b="1" dirty="0">
                <a:solidFill>
                  <a:srgbClr val="FFFFFF"/>
                </a:solidFill>
                <a:latin typeface="Segoe UI Semibold" pitchFamily="34" charset="0"/>
                <a:ea typeface="Segoe UI Semibold" pitchFamily="34" charset="-122"/>
                <a:cs typeface="Segoe UI Semibold" pitchFamily="34" charset="-120"/>
              </a:rPr>
              <a:t>Documents</a:t>
            </a:r>
            <a:endParaRPr lang="en-US" sz="1050" dirty="0"/>
          </a:p>
        </p:txBody>
      </p:sp>
      <p:sp>
        <p:nvSpPr>
          <p:cNvPr id="50" name="Shape 48"/>
          <p:cNvSpPr/>
          <p:nvPr/>
        </p:nvSpPr>
        <p:spPr>
          <a:xfrm>
            <a:off x="5047488" y="5870448"/>
            <a:ext cx="2057400" cy="429768"/>
          </a:xfrm>
          <a:prstGeom prst="roundRect">
            <a:avLst/>
          </a:prstGeom>
          <a:solidFill>
            <a:srgbClr val="FFFFFF"/>
          </a:solidFill>
          <a:ln w="12700">
            <a:solidFill>
              <a:srgbClr val="E1DFDD"/>
            </a:solidFill>
            <a:prstDash val="solid"/>
          </a:ln>
        </p:spPr>
      </p:sp>
      <p:sp>
        <p:nvSpPr>
          <p:cNvPr id="51" name="Shape 49"/>
          <p:cNvSpPr/>
          <p:nvPr/>
        </p:nvSpPr>
        <p:spPr>
          <a:xfrm>
            <a:off x="5138928" y="5957316"/>
            <a:ext cx="256032" cy="256032"/>
          </a:xfrm>
          <a:prstGeom prst="ellipse">
            <a:avLst/>
          </a:prstGeom>
          <a:solidFill>
            <a:srgbClr val="F3F2F1"/>
          </a:solidFill>
          <a:ln w="10160">
            <a:solidFill>
              <a:srgbClr val="E1DFDD"/>
            </a:solidFill>
            <a:prstDash val="solid"/>
          </a:ln>
        </p:spPr>
      </p:sp>
      <p:sp>
        <p:nvSpPr>
          <p:cNvPr id="52" name="Text 50"/>
          <p:cNvSpPr/>
          <p:nvPr/>
        </p:nvSpPr>
        <p:spPr>
          <a:xfrm>
            <a:off x="516636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3</a:t>
            </a:r>
            <a:endParaRPr lang="en-US" sz="800" dirty="0"/>
          </a:p>
        </p:txBody>
      </p:sp>
      <p:sp>
        <p:nvSpPr>
          <p:cNvPr id="53" name="Text 51"/>
          <p:cNvSpPr/>
          <p:nvPr/>
        </p:nvSpPr>
        <p:spPr>
          <a:xfrm>
            <a:off x="545896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MVP</a:t>
            </a:r>
            <a:endParaRPr lang="en-US" sz="1050" dirty="0"/>
          </a:p>
        </p:txBody>
      </p:sp>
      <p:sp>
        <p:nvSpPr>
          <p:cNvPr id="54" name="Shape 52"/>
          <p:cNvSpPr/>
          <p:nvPr/>
        </p:nvSpPr>
        <p:spPr>
          <a:xfrm>
            <a:off x="7242048" y="5870448"/>
            <a:ext cx="2057400" cy="429768"/>
          </a:xfrm>
          <a:prstGeom prst="roundRect">
            <a:avLst/>
          </a:prstGeom>
          <a:solidFill>
            <a:srgbClr val="FFFFFF"/>
          </a:solidFill>
          <a:ln w="12700">
            <a:solidFill>
              <a:srgbClr val="E1DFDD"/>
            </a:solidFill>
            <a:prstDash val="solid"/>
          </a:ln>
        </p:spPr>
      </p:sp>
      <p:sp>
        <p:nvSpPr>
          <p:cNvPr id="55" name="Shape 53"/>
          <p:cNvSpPr/>
          <p:nvPr/>
        </p:nvSpPr>
        <p:spPr>
          <a:xfrm>
            <a:off x="7333488" y="5957316"/>
            <a:ext cx="256032" cy="256032"/>
          </a:xfrm>
          <a:prstGeom prst="ellipse">
            <a:avLst/>
          </a:prstGeom>
          <a:solidFill>
            <a:srgbClr val="F3F2F1"/>
          </a:solidFill>
          <a:ln w="10160">
            <a:solidFill>
              <a:srgbClr val="E1DFDD"/>
            </a:solidFill>
            <a:prstDash val="solid"/>
          </a:ln>
        </p:spPr>
      </p:sp>
      <p:sp>
        <p:nvSpPr>
          <p:cNvPr id="56" name="Text 54"/>
          <p:cNvSpPr/>
          <p:nvPr/>
        </p:nvSpPr>
        <p:spPr>
          <a:xfrm>
            <a:off x="736092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4</a:t>
            </a:r>
            <a:endParaRPr lang="en-US" sz="800" dirty="0"/>
          </a:p>
        </p:txBody>
      </p:sp>
      <p:sp>
        <p:nvSpPr>
          <p:cNvPr id="57" name="Text 55"/>
          <p:cNvSpPr/>
          <p:nvPr/>
        </p:nvSpPr>
        <p:spPr>
          <a:xfrm>
            <a:off x="765352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Review</a:t>
            </a:r>
            <a:endParaRPr lang="en-US" sz="1050" dirty="0"/>
          </a:p>
        </p:txBody>
      </p:sp>
      <p:sp>
        <p:nvSpPr>
          <p:cNvPr id="58" name="Shape 56"/>
          <p:cNvSpPr/>
          <p:nvPr/>
        </p:nvSpPr>
        <p:spPr>
          <a:xfrm>
            <a:off x="9436608" y="5870448"/>
            <a:ext cx="2057400" cy="429768"/>
          </a:xfrm>
          <a:prstGeom prst="roundRect">
            <a:avLst/>
          </a:prstGeom>
          <a:solidFill>
            <a:srgbClr val="FFFFFF"/>
          </a:solidFill>
          <a:ln w="12700">
            <a:solidFill>
              <a:srgbClr val="E1DFDD"/>
            </a:solidFill>
            <a:prstDash val="solid"/>
          </a:ln>
        </p:spPr>
      </p:sp>
      <p:sp>
        <p:nvSpPr>
          <p:cNvPr id="59" name="Shape 57"/>
          <p:cNvSpPr/>
          <p:nvPr/>
        </p:nvSpPr>
        <p:spPr>
          <a:xfrm>
            <a:off x="9528048" y="5957316"/>
            <a:ext cx="256032" cy="256032"/>
          </a:xfrm>
          <a:prstGeom prst="ellipse">
            <a:avLst/>
          </a:prstGeom>
          <a:solidFill>
            <a:srgbClr val="F3F2F1"/>
          </a:solidFill>
          <a:ln w="10160">
            <a:solidFill>
              <a:srgbClr val="E1DFDD"/>
            </a:solidFill>
            <a:prstDash val="solid"/>
          </a:ln>
        </p:spPr>
      </p:sp>
      <p:sp>
        <p:nvSpPr>
          <p:cNvPr id="60" name="Text 58"/>
          <p:cNvSpPr/>
          <p:nvPr/>
        </p:nvSpPr>
        <p:spPr>
          <a:xfrm>
            <a:off x="955548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5</a:t>
            </a:r>
            <a:endParaRPr lang="en-US" sz="800" dirty="0"/>
          </a:p>
        </p:txBody>
      </p:sp>
      <p:sp>
        <p:nvSpPr>
          <p:cNvPr id="61" name="Text 59"/>
          <p:cNvSpPr/>
          <p:nvPr/>
        </p:nvSpPr>
        <p:spPr>
          <a:xfrm>
            <a:off x="984808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Deploy</a:t>
            </a:r>
            <a:endParaRPr lang="en-US" sz="1050" dirty="0"/>
          </a:p>
        </p:txBody>
      </p:sp>
      <p:sp>
        <p:nvSpPr>
          <p:cNvPr id="62" name="Text 60"/>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09</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D83B01"/>
          </a:solidFill>
          <a:ln w="12700">
            <a:solidFill>
              <a:srgbClr val="D83B01">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D83B01"/>
                </a:solidFill>
                <a:latin typeface="Segoe UI Semibold" pitchFamily="34" charset="0"/>
                <a:ea typeface="Segoe UI Semibold" pitchFamily="34" charset="-122"/>
                <a:cs typeface="Segoe UI Semibold" pitchFamily="34" charset="-120"/>
              </a:rPr>
              <a:t>STEP 3</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The MVP gate: read it, correct it, then confirm.</a:t>
            </a:r>
            <a:endParaRPr lang="en-US" sz="2800" dirty="0"/>
          </a:p>
        </p:txBody>
      </p:sp>
      <p:sp>
        <p:nvSpPr>
          <p:cNvPr id="10" name="Shape 8"/>
          <p:cNvSpPr/>
          <p:nvPr/>
        </p:nvSpPr>
        <p:spPr>
          <a:xfrm>
            <a:off x="10515600" y="713232"/>
            <a:ext cx="1097280" cy="365760"/>
          </a:xfrm>
          <a:prstGeom prst="roundRect">
            <a:avLst/>
          </a:prstGeom>
          <a:solidFill>
            <a:srgbClr val="D83B01"/>
          </a:solidFill>
          <a:ln w="12700">
            <a:solidFill>
              <a:srgbClr val="D83B01">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8 MIN</a:t>
            </a:r>
            <a:endParaRPr lang="en-US" sz="1000" dirty="0"/>
          </a:p>
        </p:txBody>
      </p:sp>
      <p:sp>
        <p:nvSpPr>
          <p:cNvPr id="12" name="Shape 10"/>
          <p:cNvSpPr/>
          <p:nvPr/>
        </p:nvSpPr>
        <p:spPr>
          <a:xfrm>
            <a:off x="594360" y="1828800"/>
            <a:ext cx="3657600" cy="3767328"/>
          </a:xfrm>
          <a:prstGeom prst="roundRect">
            <a:avLst/>
          </a:prstGeom>
          <a:solidFill>
            <a:srgbClr val="F9E3DB"/>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13" name="Text 11"/>
          <p:cNvSpPr/>
          <p:nvPr/>
        </p:nvSpPr>
        <p:spPr>
          <a:xfrm>
            <a:off x="914400" y="2176272"/>
            <a:ext cx="1188720" cy="457200"/>
          </a:xfrm>
          <a:prstGeom prst="rect">
            <a:avLst/>
          </a:prstGeom>
          <a:noFill/>
          <a:ln/>
        </p:spPr>
        <p:txBody>
          <a:bodyPr wrap="square" lIns="0" tIns="0" rIns="0" bIns="0" rtlCol="0" anchor="ctr"/>
          <a:lstStyle/>
          <a:p>
            <a:pPr indent="0" marL="0">
              <a:buNone/>
            </a:pPr>
            <a:r>
              <a:rPr lang="en-US" sz="3100" b="1" dirty="0">
                <a:solidFill>
                  <a:srgbClr val="972900"/>
                </a:solidFill>
                <a:latin typeface="Segoe UI Semibold" pitchFamily="34" charset="0"/>
                <a:ea typeface="Segoe UI Semibold" pitchFamily="34" charset="-122"/>
                <a:cs typeface="Segoe UI Semibold" pitchFamily="34" charset="-120"/>
              </a:rPr>
              <a:t>STOP</a:t>
            </a:r>
            <a:endParaRPr lang="en-US" sz="3100" dirty="0"/>
          </a:p>
        </p:txBody>
      </p:sp>
      <p:sp>
        <p:nvSpPr>
          <p:cNvPr id="14" name="Text 12"/>
          <p:cNvSpPr/>
          <p:nvPr/>
        </p:nvSpPr>
        <p:spPr>
          <a:xfrm>
            <a:off x="914400" y="2816352"/>
            <a:ext cx="2697480" cy="292608"/>
          </a:xfrm>
          <a:prstGeom prst="rect">
            <a:avLst/>
          </a:prstGeom>
          <a:noFill/>
          <a:ln/>
        </p:spPr>
        <p:txBody>
          <a:bodyPr wrap="square" lIns="0" tIns="0" rIns="0" bIns="0" rtlCol="0" anchor="ctr"/>
          <a:lstStyle/>
          <a:p>
            <a:pPr indent="0" marL="0">
              <a:buNone/>
            </a:pPr>
            <a:r>
              <a:rPr lang="en-US" sz="1600" b="1" dirty="0">
                <a:solidFill>
                  <a:srgbClr val="1B1A19"/>
                </a:solidFill>
                <a:latin typeface="Segoe UI Semibold" pitchFamily="34" charset="0"/>
                <a:ea typeface="Segoe UI Semibold" pitchFamily="34" charset="-122"/>
                <a:cs typeface="Segoe UI Semibold" pitchFamily="34" charset="-120"/>
              </a:rPr>
              <a:t>Nothing has been built yet.</a:t>
            </a:r>
            <a:endParaRPr lang="en-US" sz="1600" dirty="0"/>
          </a:p>
        </p:txBody>
      </p:sp>
      <p:sp>
        <p:nvSpPr>
          <p:cNvPr id="15" name="Shape 13"/>
          <p:cNvSpPr/>
          <p:nvPr/>
        </p:nvSpPr>
        <p:spPr>
          <a:xfrm>
            <a:off x="914400" y="3383280"/>
            <a:ext cx="228600" cy="228600"/>
          </a:xfrm>
          <a:prstGeom prst="ellipse">
            <a:avLst/>
          </a:prstGeom>
          <a:solidFill>
            <a:srgbClr val="DCEEFF"/>
          </a:solidFill>
          <a:ln w="12700">
            <a:solidFill>
              <a:srgbClr val="D83B01"/>
            </a:solidFill>
            <a:prstDash val="solid"/>
          </a:ln>
        </p:spPr>
      </p:sp>
      <p:sp>
        <p:nvSpPr>
          <p:cNvPr id="16" name="Text 14"/>
          <p:cNvSpPr/>
          <p:nvPr/>
        </p:nvSpPr>
        <p:spPr>
          <a:xfrm>
            <a:off x="952805" y="3397910"/>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17" name="Text 15"/>
          <p:cNvSpPr/>
          <p:nvPr/>
        </p:nvSpPr>
        <p:spPr>
          <a:xfrm>
            <a:off x="1243584" y="3364992"/>
            <a:ext cx="25968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Read aloud</a:t>
            </a:r>
            <a:pPr indent="0" marL="0">
              <a:buNone/>
            </a:pPr>
            <a:r>
              <a:rPr lang="en-US" sz="1320" dirty="0">
                <a:solidFill>
                  <a:srgbClr val="3B3A39"/>
                </a:solidFill>
                <a:latin typeface="Segoe UI" pitchFamily="34" charset="0"/>
                <a:ea typeface="Segoe UI" pitchFamily="34" charset="-122"/>
                <a:cs typeface="Segoe UI" pitchFamily="34" charset="-120"/>
              </a:rPr>
              <a:t xml:space="preserve">  Does it match the real problem?</a:t>
            </a:r>
            <a:endParaRPr lang="en-US" sz="1320" dirty="0"/>
          </a:p>
        </p:txBody>
      </p:sp>
      <p:sp>
        <p:nvSpPr>
          <p:cNvPr id="18" name="Shape 16"/>
          <p:cNvSpPr/>
          <p:nvPr/>
        </p:nvSpPr>
        <p:spPr>
          <a:xfrm>
            <a:off x="914400" y="3995928"/>
            <a:ext cx="228600" cy="228600"/>
          </a:xfrm>
          <a:prstGeom prst="ellipse">
            <a:avLst/>
          </a:prstGeom>
          <a:solidFill>
            <a:srgbClr val="DCEEFF"/>
          </a:solidFill>
          <a:ln w="12700">
            <a:solidFill>
              <a:srgbClr val="D83B01"/>
            </a:solidFill>
            <a:prstDash val="solid"/>
          </a:ln>
        </p:spPr>
      </p:sp>
      <p:sp>
        <p:nvSpPr>
          <p:cNvPr id="19" name="Text 17"/>
          <p:cNvSpPr/>
          <p:nvPr/>
        </p:nvSpPr>
        <p:spPr>
          <a:xfrm>
            <a:off x="952805" y="4010558"/>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20" name="Text 18"/>
          <p:cNvSpPr/>
          <p:nvPr/>
        </p:nvSpPr>
        <p:spPr>
          <a:xfrm>
            <a:off x="1243584" y="3977640"/>
            <a:ext cx="25968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Edit</a:t>
            </a:r>
            <a:pPr indent="0" marL="0">
              <a:buNone/>
            </a:pPr>
            <a:r>
              <a:rPr lang="en-US" sz="1320" dirty="0">
                <a:solidFill>
                  <a:srgbClr val="3B3A39"/>
                </a:solidFill>
                <a:latin typeface="Segoe UI" pitchFamily="34" charset="0"/>
                <a:ea typeface="Segoe UI" pitchFamily="34" charset="-122"/>
                <a:cs typeface="Segoe UI" pitchFamily="34" charset="-120"/>
              </a:rPr>
              <a:t xml:space="preserve">  Fix users, scope, systems, or outcomes.</a:t>
            </a:r>
            <a:endParaRPr lang="en-US" sz="1320" dirty="0"/>
          </a:p>
        </p:txBody>
      </p:sp>
      <p:sp>
        <p:nvSpPr>
          <p:cNvPr id="21" name="Shape 19"/>
          <p:cNvSpPr/>
          <p:nvPr/>
        </p:nvSpPr>
        <p:spPr>
          <a:xfrm>
            <a:off x="914400" y="4608576"/>
            <a:ext cx="228600" cy="228600"/>
          </a:xfrm>
          <a:prstGeom prst="ellipse">
            <a:avLst/>
          </a:prstGeom>
          <a:solidFill>
            <a:srgbClr val="DCEEFF"/>
          </a:solidFill>
          <a:ln w="12700">
            <a:solidFill>
              <a:srgbClr val="D83B01"/>
            </a:solidFill>
            <a:prstDash val="solid"/>
          </a:ln>
        </p:spPr>
      </p:sp>
      <p:sp>
        <p:nvSpPr>
          <p:cNvPr id="22" name="Text 20"/>
          <p:cNvSpPr/>
          <p:nvPr/>
        </p:nvSpPr>
        <p:spPr>
          <a:xfrm>
            <a:off x="952805" y="4623206"/>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23" name="Text 21"/>
          <p:cNvSpPr/>
          <p:nvPr/>
        </p:nvSpPr>
        <p:spPr>
          <a:xfrm>
            <a:off x="1243584" y="4590288"/>
            <a:ext cx="25968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Confirm</a:t>
            </a:r>
            <a:pPr indent="0" marL="0">
              <a:buNone/>
            </a:pPr>
            <a:r>
              <a:rPr lang="en-US" sz="1320" dirty="0">
                <a:solidFill>
                  <a:srgbClr val="3B3A39"/>
                </a:solidFill>
                <a:latin typeface="Segoe UI" pitchFamily="34" charset="0"/>
                <a:ea typeface="Segoe UI" pitchFamily="34" charset="-122"/>
                <a:cs typeface="Segoe UI" pitchFamily="34" charset="-120"/>
              </a:rPr>
              <a:t xml:space="preserve">  Only approved text anchors generation.</a:t>
            </a:r>
            <a:endParaRPr lang="en-US" sz="1320" dirty="0"/>
          </a:p>
        </p:txBody>
      </p:sp>
      <p:sp>
        <p:nvSpPr>
          <p:cNvPr id="24" name="Shape 22"/>
          <p:cNvSpPr/>
          <p:nvPr/>
        </p:nvSpPr>
        <p:spPr>
          <a:xfrm>
            <a:off x="4617720" y="1828800"/>
            <a:ext cx="6976872" cy="3767328"/>
          </a:xfrm>
          <a:prstGeom prst="roundRect">
            <a:avLst/>
          </a:prstGeom>
          <a:solidFill>
            <a:srgbClr val="EAF4FD"/>
          </a:solidFill>
          <a:ln w="12700">
            <a:solidFill>
              <a:srgbClr val="BFE6FF"/>
            </a:solidFill>
            <a:prstDash val="solid"/>
          </a:ln>
          <a:effectLst>
            <a:outerShdw sx="100000" sy="100000" kx="0" ky="0" algn="bl" rotWithShape="0" blurRad="63500" dist="50800" dir="8100000">
              <a:srgbClr val="000000">
                <a:alpha val="12000"/>
              </a:srgbClr>
            </a:outerShdw>
          </a:effectLst>
        </p:spPr>
      </p:sp>
      <p:sp>
        <p:nvSpPr>
          <p:cNvPr id="25" name="Shape 23"/>
          <p:cNvSpPr/>
          <p:nvPr/>
        </p:nvSpPr>
        <p:spPr>
          <a:xfrm>
            <a:off x="4965192" y="2139696"/>
            <a:ext cx="1508760" cy="310896"/>
          </a:xfrm>
          <a:prstGeom prst="roundRect">
            <a:avLst/>
          </a:prstGeom>
          <a:solidFill>
            <a:srgbClr val="0078D4"/>
          </a:solidFill>
          <a:ln w="12700">
            <a:solidFill>
              <a:srgbClr val="0078D4">
                <a:alpha val="0"/>
              </a:srgbClr>
            </a:solidFill>
            <a:prstDash val="solid"/>
          </a:ln>
        </p:spPr>
      </p:sp>
      <p:sp>
        <p:nvSpPr>
          <p:cNvPr id="26" name="Text 24"/>
          <p:cNvSpPr/>
          <p:nvPr/>
        </p:nvSpPr>
        <p:spPr>
          <a:xfrm>
            <a:off x="5029200" y="2194560"/>
            <a:ext cx="1380744" cy="164592"/>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Segoe UI Semibold" pitchFamily="34" charset="0"/>
                <a:ea typeface="Segoe UI Semibold" pitchFamily="34" charset="-122"/>
                <a:cs typeface="Segoe UI Semibold" pitchFamily="34" charset="-120"/>
              </a:rPr>
              <a:t>MVP USE CASE</a:t>
            </a:r>
            <a:endParaRPr lang="en-US" sz="950" dirty="0"/>
          </a:p>
        </p:txBody>
      </p:sp>
      <p:sp>
        <p:nvSpPr>
          <p:cNvPr id="27" name="Text 25"/>
          <p:cNvSpPr/>
          <p:nvPr/>
        </p:nvSpPr>
        <p:spPr>
          <a:xfrm>
            <a:off x="4965192" y="2724912"/>
            <a:ext cx="548640" cy="164592"/>
          </a:xfrm>
          <a:prstGeom prst="rect">
            <a:avLst/>
          </a:prstGeom>
          <a:noFill/>
          <a:ln/>
        </p:spPr>
        <p:txBody>
          <a:bodyPr wrap="square" lIns="0" tIns="0" rIns="0" bIns="0" rtlCol="0" anchor="ctr"/>
          <a:lstStyle/>
          <a:p>
            <a:pPr indent="0" marL="0">
              <a:buNone/>
            </a:pPr>
            <a:r>
              <a:rPr lang="en-US" sz="950" b="1" dirty="0">
                <a:solidFill>
                  <a:srgbClr val="605E5C"/>
                </a:solidFill>
                <a:latin typeface="Segoe UI Semibold" pitchFamily="34" charset="0"/>
                <a:ea typeface="Segoe UI Semibold" pitchFamily="34" charset="-122"/>
                <a:cs typeface="Segoe UI Semibold" pitchFamily="34" charset="-120"/>
              </a:rPr>
              <a:t>Title</a:t>
            </a:r>
            <a:endParaRPr lang="en-US" sz="950" dirty="0"/>
          </a:p>
        </p:txBody>
      </p:sp>
      <p:sp>
        <p:nvSpPr>
          <p:cNvPr id="28" name="Shape 26"/>
          <p:cNvSpPr/>
          <p:nvPr/>
        </p:nvSpPr>
        <p:spPr>
          <a:xfrm>
            <a:off x="4965192" y="2971800"/>
            <a:ext cx="6263640" cy="429768"/>
          </a:xfrm>
          <a:prstGeom prst="roundRect">
            <a:avLst/>
          </a:prstGeom>
          <a:solidFill>
            <a:srgbClr val="FFFFFF"/>
          </a:solidFill>
          <a:ln w="11430">
            <a:solidFill>
              <a:srgbClr val="8A8886"/>
            </a:solidFill>
            <a:prstDash val="solid"/>
          </a:ln>
        </p:spPr>
      </p:sp>
      <p:sp>
        <p:nvSpPr>
          <p:cNvPr id="29" name="Text 27"/>
          <p:cNvSpPr/>
          <p:nvPr/>
        </p:nvSpPr>
        <p:spPr>
          <a:xfrm>
            <a:off x="5138928" y="3099816"/>
            <a:ext cx="5897880" cy="146304"/>
          </a:xfrm>
          <a:prstGeom prst="rect">
            <a:avLst/>
          </a:prstGeom>
          <a:noFill/>
          <a:ln/>
        </p:spPr>
        <p:txBody>
          <a:bodyPr wrap="square" lIns="0" tIns="0" rIns="0" bIns="0" rtlCol="0" anchor="ct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Facilities Service Request Assistant</a:t>
            </a:r>
            <a:endParaRPr lang="en-US" sz="1150" dirty="0"/>
          </a:p>
        </p:txBody>
      </p:sp>
      <p:sp>
        <p:nvSpPr>
          <p:cNvPr id="30" name="Text 28"/>
          <p:cNvSpPr/>
          <p:nvPr/>
        </p:nvSpPr>
        <p:spPr>
          <a:xfrm>
            <a:off x="4965192" y="3611880"/>
            <a:ext cx="1097280" cy="164592"/>
          </a:xfrm>
          <a:prstGeom prst="rect">
            <a:avLst/>
          </a:prstGeom>
          <a:noFill/>
          <a:ln/>
        </p:spPr>
        <p:txBody>
          <a:bodyPr wrap="square" lIns="0" tIns="0" rIns="0" bIns="0" rtlCol="0" anchor="ctr"/>
          <a:lstStyle/>
          <a:p>
            <a:pPr indent="0" marL="0">
              <a:buNone/>
            </a:pPr>
            <a:r>
              <a:rPr lang="en-US" sz="950" b="1" dirty="0">
                <a:solidFill>
                  <a:srgbClr val="605E5C"/>
                </a:solidFill>
                <a:latin typeface="Segoe UI Semibold" pitchFamily="34" charset="0"/>
                <a:ea typeface="Segoe UI Semibold" pitchFamily="34" charset="-122"/>
                <a:cs typeface="Segoe UI Semibold" pitchFamily="34" charset="-120"/>
              </a:rPr>
              <a:t>MVP statement</a:t>
            </a:r>
            <a:endParaRPr lang="en-US" sz="950" dirty="0"/>
          </a:p>
        </p:txBody>
      </p:sp>
      <p:sp>
        <p:nvSpPr>
          <p:cNvPr id="31" name="Shape 29"/>
          <p:cNvSpPr/>
          <p:nvPr/>
        </p:nvSpPr>
        <p:spPr>
          <a:xfrm>
            <a:off x="4965192" y="3858768"/>
            <a:ext cx="6263640" cy="960120"/>
          </a:xfrm>
          <a:prstGeom prst="roundRect">
            <a:avLst/>
          </a:prstGeom>
          <a:solidFill>
            <a:srgbClr val="FFFFFF"/>
          </a:solidFill>
          <a:ln w="11430">
            <a:solidFill>
              <a:srgbClr val="8A8886"/>
            </a:solidFill>
            <a:prstDash val="solid"/>
          </a:ln>
        </p:spPr>
      </p:sp>
      <p:sp>
        <p:nvSpPr>
          <p:cNvPr id="32" name="Text 30"/>
          <p:cNvSpPr/>
          <p:nvPr/>
        </p:nvSpPr>
        <p:spPr>
          <a:xfrm>
            <a:off x="5148072" y="4069080"/>
            <a:ext cx="5897880" cy="530352"/>
          </a:xfrm>
          <a:prstGeom prst="rect">
            <a:avLst/>
          </a:prstGeom>
          <a:noFill/>
          <a:ln/>
        </p:spPr>
        <p:txBody>
          <a:bodyPr wrap="square" lIns="0" tIns="0" rIns="0" bIns="0" rtlCol="0" anchor="ctr">
            <a:normAutofit/>
          </a:bodyPr>
          <a:lstStyle/>
          <a:p>
            <a:pPr indent="0" marL="0">
              <a:buNone/>
            </a:pPr>
            <a:r>
              <a:rPr lang="en-US" sz="1080" dirty="0">
                <a:solidFill>
                  <a:srgbClr val="3B3A39"/>
                </a:solidFill>
                <a:latin typeface="Segoe UI" pitchFamily="34" charset="0"/>
                <a:ea typeface="Segoe UI" pitchFamily="34" charset="-122"/>
                <a:cs typeface="Segoe UI" pitchFamily="34" charset="-120"/>
              </a:rPr>
              <a:t>Create an assistant for employees to report facilities issues. It collects location, category, and urgency; summarizes the request; answers from approved maintenance guidance; and creates a synthetic service-request receipt for workshop testing.</a:t>
            </a:r>
            <a:endParaRPr lang="en-US" sz="1080" dirty="0"/>
          </a:p>
        </p:txBody>
      </p:sp>
      <p:sp>
        <p:nvSpPr>
          <p:cNvPr id="33" name="Shape 31"/>
          <p:cNvSpPr/>
          <p:nvPr/>
        </p:nvSpPr>
        <p:spPr>
          <a:xfrm>
            <a:off x="4965192" y="5074920"/>
            <a:ext cx="3200400" cy="393192"/>
          </a:xfrm>
          <a:prstGeom prst="roundRect">
            <a:avLst/>
          </a:prstGeom>
          <a:solidFill>
            <a:srgbClr val="0078D4"/>
          </a:solidFill>
          <a:ln w="12700">
            <a:solidFill>
              <a:srgbClr val="0078D4">
                <a:alpha val="0"/>
              </a:srgbClr>
            </a:solidFill>
            <a:prstDash val="solid"/>
          </a:ln>
        </p:spPr>
      </p:sp>
      <p:sp>
        <p:nvSpPr>
          <p:cNvPr id="34" name="Text 32"/>
          <p:cNvSpPr/>
          <p:nvPr/>
        </p:nvSpPr>
        <p:spPr>
          <a:xfrm>
            <a:off x="5184648" y="5193792"/>
            <a:ext cx="2743200" cy="146304"/>
          </a:xfrm>
          <a:prstGeom prst="rect">
            <a:avLst/>
          </a:prstGeom>
          <a:noFill/>
          <a:ln/>
        </p:spPr>
        <p:txBody>
          <a:bodyPr wrap="square" lIns="0" tIns="0" rIns="0" bIns="0" rtlCol="0" anchor="ctr"/>
          <a:lstStyle/>
          <a:p>
            <a:pPr algn="ctr" indent="0" marL="0">
              <a:buNone/>
            </a:pPr>
            <a:r>
              <a:rPr lang="en-US" sz="1020" b="1" dirty="0">
                <a:solidFill>
                  <a:srgbClr val="FFFFFF"/>
                </a:solidFill>
                <a:latin typeface="Segoe UI Semibold" pitchFamily="34" charset="0"/>
                <a:ea typeface="Segoe UI Semibold" pitchFamily="34" charset="-122"/>
                <a:cs typeface="Segoe UI Semibold" pitchFamily="34" charset="-120"/>
              </a:rPr>
              <a:t>CONFIRM MVP → GENERATE</a:t>
            </a:r>
            <a:endParaRPr lang="en-US" sz="1020" dirty="0"/>
          </a:p>
        </p:txBody>
      </p:sp>
      <p:sp>
        <p:nvSpPr>
          <p:cNvPr id="35" name="Shape 33"/>
          <p:cNvSpPr/>
          <p:nvPr/>
        </p:nvSpPr>
        <p:spPr>
          <a:xfrm>
            <a:off x="8577072" y="5074920"/>
            <a:ext cx="2148840" cy="393192"/>
          </a:xfrm>
          <a:prstGeom prst="roundRect">
            <a:avLst/>
          </a:prstGeom>
          <a:solidFill>
            <a:srgbClr val="FFFFFF"/>
          </a:solidFill>
          <a:ln w="12700">
            <a:solidFill>
              <a:srgbClr val="0078D4"/>
            </a:solidFill>
            <a:prstDash val="solid"/>
          </a:ln>
        </p:spPr>
      </p:sp>
      <p:sp>
        <p:nvSpPr>
          <p:cNvPr id="36" name="Text 34"/>
          <p:cNvSpPr/>
          <p:nvPr/>
        </p:nvSpPr>
        <p:spPr>
          <a:xfrm>
            <a:off x="8732520" y="5202936"/>
            <a:ext cx="1828800" cy="146304"/>
          </a:xfrm>
          <a:prstGeom prst="rect">
            <a:avLst/>
          </a:prstGeom>
          <a:noFill/>
          <a:ln/>
        </p:spPr>
        <p:txBody>
          <a:bodyPr wrap="square" lIns="0" tIns="0" rIns="0" bIns="0" rtlCol="0" anchor="ctr"/>
          <a:lstStyle/>
          <a:p>
            <a:pPr algn="ctr" indent="0" marL="0">
              <a:buNone/>
            </a:pPr>
            <a:r>
              <a:rPr lang="en-US" sz="840" b="1" dirty="0">
                <a:solidFill>
                  <a:srgbClr val="0078D4"/>
                </a:solidFill>
                <a:latin typeface="Segoe UI Semibold" pitchFamily="34" charset="0"/>
                <a:ea typeface="Segoe UI Semibold" pitchFamily="34" charset="-122"/>
                <a:cs typeface="Segoe UI Semibold" pitchFamily="34" charset="-120"/>
              </a:rPr>
              <a:t>RE-DERIVE FROM DOCUMENTS</a:t>
            </a:r>
            <a:endParaRPr lang="en-US" sz="840" dirty="0"/>
          </a:p>
        </p:txBody>
      </p:sp>
      <p:sp>
        <p:nvSpPr>
          <p:cNvPr id="37" name="Shape 35"/>
          <p:cNvSpPr/>
          <p:nvPr/>
        </p:nvSpPr>
        <p:spPr>
          <a:xfrm>
            <a:off x="658368" y="5870448"/>
            <a:ext cx="2057400" cy="429768"/>
          </a:xfrm>
          <a:prstGeom prst="roundRect">
            <a:avLst/>
          </a:prstGeom>
          <a:solidFill>
            <a:srgbClr val="DFF6DD"/>
          </a:solidFill>
          <a:ln w="12700">
            <a:solidFill>
              <a:srgbClr val="107C10"/>
            </a:solidFill>
            <a:prstDash val="solid"/>
          </a:ln>
        </p:spPr>
      </p:sp>
      <p:sp>
        <p:nvSpPr>
          <p:cNvPr id="38" name="Shape 36"/>
          <p:cNvSpPr/>
          <p:nvPr/>
        </p:nvSpPr>
        <p:spPr>
          <a:xfrm>
            <a:off x="749808" y="5957316"/>
            <a:ext cx="256032" cy="256032"/>
          </a:xfrm>
          <a:prstGeom prst="ellipse">
            <a:avLst/>
          </a:prstGeom>
          <a:solidFill>
            <a:srgbClr val="107C10"/>
          </a:solidFill>
          <a:ln w="10160">
            <a:solidFill>
              <a:srgbClr val="107C10"/>
            </a:solidFill>
            <a:prstDash val="solid"/>
          </a:ln>
        </p:spPr>
      </p:sp>
      <p:sp>
        <p:nvSpPr>
          <p:cNvPr id="39" name="Text 37"/>
          <p:cNvSpPr/>
          <p:nvPr/>
        </p:nvSpPr>
        <p:spPr>
          <a:xfrm>
            <a:off x="77724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40" name="Text 38"/>
          <p:cNvSpPr/>
          <p:nvPr/>
        </p:nvSpPr>
        <p:spPr>
          <a:xfrm>
            <a:off x="106984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Sign in</a:t>
            </a:r>
            <a:endParaRPr lang="en-US" sz="1050" dirty="0"/>
          </a:p>
        </p:txBody>
      </p:sp>
      <p:sp>
        <p:nvSpPr>
          <p:cNvPr id="41" name="Shape 39"/>
          <p:cNvSpPr/>
          <p:nvPr/>
        </p:nvSpPr>
        <p:spPr>
          <a:xfrm>
            <a:off x="2852928" y="5870448"/>
            <a:ext cx="2057400" cy="429768"/>
          </a:xfrm>
          <a:prstGeom prst="roundRect">
            <a:avLst/>
          </a:prstGeom>
          <a:solidFill>
            <a:srgbClr val="DFF6DD"/>
          </a:solidFill>
          <a:ln w="12700">
            <a:solidFill>
              <a:srgbClr val="107C10"/>
            </a:solidFill>
            <a:prstDash val="solid"/>
          </a:ln>
        </p:spPr>
      </p:sp>
      <p:sp>
        <p:nvSpPr>
          <p:cNvPr id="42" name="Shape 40"/>
          <p:cNvSpPr/>
          <p:nvPr/>
        </p:nvSpPr>
        <p:spPr>
          <a:xfrm>
            <a:off x="2944368" y="5957316"/>
            <a:ext cx="256032" cy="256032"/>
          </a:xfrm>
          <a:prstGeom prst="ellipse">
            <a:avLst/>
          </a:prstGeom>
          <a:solidFill>
            <a:srgbClr val="107C10"/>
          </a:solidFill>
          <a:ln w="10160">
            <a:solidFill>
              <a:srgbClr val="107C10"/>
            </a:solidFill>
            <a:prstDash val="solid"/>
          </a:ln>
        </p:spPr>
      </p:sp>
      <p:sp>
        <p:nvSpPr>
          <p:cNvPr id="43" name="Text 41"/>
          <p:cNvSpPr/>
          <p:nvPr/>
        </p:nvSpPr>
        <p:spPr>
          <a:xfrm>
            <a:off x="297180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44" name="Text 42"/>
          <p:cNvSpPr/>
          <p:nvPr/>
        </p:nvSpPr>
        <p:spPr>
          <a:xfrm>
            <a:off x="326440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Documents</a:t>
            </a:r>
            <a:endParaRPr lang="en-US" sz="1050" dirty="0"/>
          </a:p>
        </p:txBody>
      </p:sp>
      <p:sp>
        <p:nvSpPr>
          <p:cNvPr id="45" name="Shape 43"/>
          <p:cNvSpPr/>
          <p:nvPr/>
        </p:nvSpPr>
        <p:spPr>
          <a:xfrm>
            <a:off x="5047488" y="5870448"/>
            <a:ext cx="2057400" cy="429768"/>
          </a:xfrm>
          <a:prstGeom prst="roundRect">
            <a:avLst/>
          </a:prstGeom>
          <a:solidFill>
            <a:srgbClr val="D83B01"/>
          </a:solidFill>
          <a:ln w="17780">
            <a:solidFill>
              <a:srgbClr val="D83B01"/>
            </a:solidFill>
            <a:prstDash val="solid"/>
          </a:ln>
        </p:spPr>
      </p:sp>
      <p:sp>
        <p:nvSpPr>
          <p:cNvPr id="46" name="Shape 44"/>
          <p:cNvSpPr/>
          <p:nvPr/>
        </p:nvSpPr>
        <p:spPr>
          <a:xfrm>
            <a:off x="5138928" y="5957316"/>
            <a:ext cx="256032" cy="256032"/>
          </a:xfrm>
          <a:prstGeom prst="ellipse">
            <a:avLst/>
          </a:prstGeom>
          <a:solidFill>
            <a:srgbClr val="FFFFFF"/>
          </a:solidFill>
          <a:ln w="10160">
            <a:solidFill>
              <a:srgbClr val="FFFFFF"/>
            </a:solidFill>
            <a:prstDash val="solid"/>
          </a:ln>
        </p:spPr>
      </p:sp>
      <p:sp>
        <p:nvSpPr>
          <p:cNvPr id="47" name="Text 45"/>
          <p:cNvSpPr/>
          <p:nvPr/>
        </p:nvSpPr>
        <p:spPr>
          <a:xfrm>
            <a:off x="5166360" y="5998464"/>
            <a:ext cx="201168" cy="100584"/>
          </a:xfrm>
          <a:prstGeom prst="rect">
            <a:avLst/>
          </a:prstGeom>
          <a:noFill/>
          <a:ln/>
        </p:spPr>
        <p:txBody>
          <a:bodyPr wrap="square" lIns="0" tIns="0" rIns="0" bIns="0" rtlCol="0" anchor="ctr"/>
          <a:lstStyle/>
          <a:p>
            <a:pPr algn="ctr" indent="0" marL="0">
              <a:buNone/>
            </a:pPr>
            <a:r>
              <a:rPr lang="en-US" sz="800" b="1" dirty="0">
                <a:solidFill>
                  <a:srgbClr val="D83B01"/>
                </a:solidFill>
                <a:latin typeface="Segoe UI Semibold" pitchFamily="34" charset="0"/>
                <a:ea typeface="Segoe UI Semibold" pitchFamily="34" charset="-122"/>
                <a:cs typeface="Segoe UI Semibold" pitchFamily="34" charset="-120"/>
              </a:rPr>
              <a:t>3</a:t>
            </a:r>
            <a:endParaRPr lang="en-US" sz="800" dirty="0"/>
          </a:p>
        </p:txBody>
      </p:sp>
      <p:sp>
        <p:nvSpPr>
          <p:cNvPr id="48" name="Text 46"/>
          <p:cNvSpPr/>
          <p:nvPr/>
        </p:nvSpPr>
        <p:spPr>
          <a:xfrm>
            <a:off x="5458968" y="6003036"/>
            <a:ext cx="1536192" cy="128016"/>
          </a:xfrm>
          <a:prstGeom prst="rect">
            <a:avLst/>
          </a:prstGeom>
          <a:noFill/>
          <a:ln/>
        </p:spPr>
        <p:txBody>
          <a:bodyPr wrap="square" lIns="0" tIns="0" rIns="0" bIns="0" rtlCol="0" anchor="ctr"/>
          <a:lstStyle/>
          <a:p>
            <a:pPr indent="0" marL="0">
              <a:buNone/>
            </a:pPr>
            <a:r>
              <a:rPr lang="en-US" sz="1050" b="1" dirty="0">
                <a:solidFill>
                  <a:srgbClr val="FFFFFF"/>
                </a:solidFill>
                <a:latin typeface="Segoe UI Semibold" pitchFamily="34" charset="0"/>
                <a:ea typeface="Segoe UI Semibold" pitchFamily="34" charset="-122"/>
                <a:cs typeface="Segoe UI Semibold" pitchFamily="34" charset="-120"/>
              </a:rPr>
              <a:t>MVP</a:t>
            </a:r>
            <a:endParaRPr lang="en-US" sz="1050" dirty="0"/>
          </a:p>
        </p:txBody>
      </p:sp>
      <p:sp>
        <p:nvSpPr>
          <p:cNvPr id="49" name="Shape 47"/>
          <p:cNvSpPr/>
          <p:nvPr/>
        </p:nvSpPr>
        <p:spPr>
          <a:xfrm>
            <a:off x="7242048" y="5870448"/>
            <a:ext cx="2057400" cy="429768"/>
          </a:xfrm>
          <a:prstGeom prst="roundRect">
            <a:avLst/>
          </a:prstGeom>
          <a:solidFill>
            <a:srgbClr val="FFFFFF"/>
          </a:solidFill>
          <a:ln w="12700">
            <a:solidFill>
              <a:srgbClr val="E1DFDD"/>
            </a:solidFill>
            <a:prstDash val="solid"/>
          </a:ln>
        </p:spPr>
      </p:sp>
      <p:sp>
        <p:nvSpPr>
          <p:cNvPr id="50" name="Shape 48"/>
          <p:cNvSpPr/>
          <p:nvPr/>
        </p:nvSpPr>
        <p:spPr>
          <a:xfrm>
            <a:off x="7333488" y="5957316"/>
            <a:ext cx="256032" cy="256032"/>
          </a:xfrm>
          <a:prstGeom prst="ellipse">
            <a:avLst/>
          </a:prstGeom>
          <a:solidFill>
            <a:srgbClr val="F3F2F1"/>
          </a:solidFill>
          <a:ln w="10160">
            <a:solidFill>
              <a:srgbClr val="E1DFDD"/>
            </a:solidFill>
            <a:prstDash val="solid"/>
          </a:ln>
        </p:spPr>
      </p:sp>
      <p:sp>
        <p:nvSpPr>
          <p:cNvPr id="51" name="Text 49"/>
          <p:cNvSpPr/>
          <p:nvPr/>
        </p:nvSpPr>
        <p:spPr>
          <a:xfrm>
            <a:off x="736092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4</a:t>
            </a:r>
            <a:endParaRPr lang="en-US" sz="800" dirty="0"/>
          </a:p>
        </p:txBody>
      </p:sp>
      <p:sp>
        <p:nvSpPr>
          <p:cNvPr id="52" name="Text 50"/>
          <p:cNvSpPr/>
          <p:nvPr/>
        </p:nvSpPr>
        <p:spPr>
          <a:xfrm>
            <a:off x="765352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Review</a:t>
            </a:r>
            <a:endParaRPr lang="en-US" sz="1050" dirty="0"/>
          </a:p>
        </p:txBody>
      </p:sp>
      <p:sp>
        <p:nvSpPr>
          <p:cNvPr id="53" name="Shape 51"/>
          <p:cNvSpPr/>
          <p:nvPr/>
        </p:nvSpPr>
        <p:spPr>
          <a:xfrm>
            <a:off x="9436608" y="5870448"/>
            <a:ext cx="2057400" cy="429768"/>
          </a:xfrm>
          <a:prstGeom prst="roundRect">
            <a:avLst/>
          </a:prstGeom>
          <a:solidFill>
            <a:srgbClr val="FFFFFF"/>
          </a:solidFill>
          <a:ln w="12700">
            <a:solidFill>
              <a:srgbClr val="E1DFDD"/>
            </a:solidFill>
            <a:prstDash val="solid"/>
          </a:ln>
        </p:spPr>
      </p:sp>
      <p:sp>
        <p:nvSpPr>
          <p:cNvPr id="54" name="Shape 52"/>
          <p:cNvSpPr/>
          <p:nvPr/>
        </p:nvSpPr>
        <p:spPr>
          <a:xfrm>
            <a:off x="9528048" y="5957316"/>
            <a:ext cx="256032" cy="256032"/>
          </a:xfrm>
          <a:prstGeom prst="ellipse">
            <a:avLst/>
          </a:prstGeom>
          <a:solidFill>
            <a:srgbClr val="F3F2F1"/>
          </a:solidFill>
          <a:ln w="10160">
            <a:solidFill>
              <a:srgbClr val="E1DFDD"/>
            </a:solidFill>
            <a:prstDash val="solid"/>
          </a:ln>
        </p:spPr>
      </p:sp>
      <p:sp>
        <p:nvSpPr>
          <p:cNvPr id="55" name="Text 53"/>
          <p:cNvSpPr/>
          <p:nvPr/>
        </p:nvSpPr>
        <p:spPr>
          <a:xfrm>
            <a:off x="955548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5</a:t>
            </a:r>
            <a:endParaRPr lang="en-US" sz="800" dirty="0"/>
          </a:p>
        </p:txBody>
      </p:sp>
      <p:sp>
        <p:nvSpPr>
          <p:cNvPr id="56" name="Text 54"/>
          <p:cNvSpPr/>
          <p:nvPr/>
        </p:nvSpPr>
        <p:spPr>
          <a:xfrm>
            <a:off x="984808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Deploy</a:t>
            </a:r>
            <a:endParaRPr lang="en-US" sz="1050" dirty="0"/>
          </a:p>
        </p:txBody>
      </p:sp>
      <p:sp>
        <p:nvSpPr>
          <p:cNvPr id="57" name="Text 55"/>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10</a:t>
            </a:r>
            <a:endParaRPr lang="en-US" sz="8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8661C5"/>
          </a:solidFill>
          <a:ln w="12700">
            <a:solidFill>
              <a:srgbClr val="8661C5">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8661C5"/>
                </a:solidFill>
                <a:latin typeface="Segoe UI Semibold" pitchFamily="34" charset="0"/>
                <a:ea typeface="Segoe UI Semibold" pitchFamily="34" charset="-122"/>
                <a:cs typeface="Segoe UI Semibold" pitchFamily="34" charset="-120"/>
              </a:rPr>
              <a:t>STEP 4A</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RAPP distills the confirmed MVP into portable agent logic.</a:t>
            </a:r>
            <a:endParaRPr lang="en-US" sz="2800" dirty="0"/>
          </a:p>
        </p:txBody>
      </p:sp>
      <p:sp>
        <p:nvSpPr>
          <p:cNvPr id="10" name="Shape 8"/>
          <p:cNvSpPr/>
          <p:nvPr/>
        </p:nvSpPr>
        <p:spPr>
          <a:xfrm>
            <a:off x="10515600" y="713232"/>
            <a:ext cx="1097280" cy="365760"/>
          </a:xfrm>
          <a:prstGeom prst="roundRect">
            <a:avLst/>
          </a:prstGeom>
          <a:solidFill>
            <a:srgbClr val="8661C5"/>
          </a:solidFill>
          <a:ln w="12700">
            <a:solidFill>
              <a:srgbClr val="8661C5">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5 MIN</a:t>
            </a:r>
            <a:endParaRPr lang="en-US" sz="1000" dirty="0"/>
          </a:p>
        </p:txBody>
      </p:sp>
      <p:sp>
        <p:nvSpPr>
          <p:cNvPr id="12" name="Shape 10"/>
          <p:cNvSpPr/>
          <p:nvPr/>
        </p:nvSpPr>
        <p:spPr>
          <a:xfrm>
            <a:off x="640080" y="2048256"/>
            <a:ext cx="2148840" cy="1965960"/>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13" name="Shape 11"/>
          <p:cNvSpPr/>
          <p:nvPr/>
        </p:nvSpPr>
        <p:spPr>
          <a:xfrm>
            <a:off x="822960" y="2286000"/>
            <a:ext cx="566928" cy="566928"/>
          </a:xfrm>
          <a:prstGeom prst="ellipse">
            <a:avLst/>
          </a:prstGeom>
          <a:solidFill>
            <a:srgbClr val="F9E3DB"/>
          </a:solidFill>
          <a:ln w="15240">
            <a:solidFill>
              <a:srgbClr val="D83B01"/>
            </a:solidFill>
            <a:prstDash val="solid"/>
          </a:ln>
        </p:spPr>
      </p:sp>
      <p:sp>
        <p:nvSpPr>
          <p:cNvPr id="14" name="Text 12"/>
          <p:cNvSpPr/>
          <p:nvPr/>
        </p:nvSpPr>
        <p:spPr>
          <a:xfrm>
            <a:off x="905256" y="2441448"/>
            <a:ext cx="402336" cy="164592"/>
          </a:xfrm>
          <a:prstGeom prst="rect">
            <a:avLst/>
          </a:prstGeom>
          <a:noFill/>
          <a:ln/>
        </p:spPr>
        <p:txBody>
          <a:bodyPr wrap="square" lIns="0" tIns="0" rIns="0" bIns="0" rtlCol="0" anchor="ctr"/>
          <a:lstStyle/>
          <a:p>
            <a:pPr algn="ctr" indent="0" marL="0">
              <a:buNone/>
            </a:pPr>
            <a:r>
              <a:rPr lang="en-US" sz="1200" b="1" dirty="0">
                <a:solidFill>
                  <a:srgbClr val="D83B01"/>
                </a:solidFill>
                <a:latin typeface="Segoe UI Semibold" pitchFamily="34" charset="0"/>
                <a:ea typeface="Segoe UI Semibold" pitchFamily="34" charset="-122"/>
                <a:cs typeface="Segoe UI Semibold" pitchFamily="34" charset="-120"/>
              </a:rPr>
              <a:t>1</a:t>
            </a:r>
            <a:endParaRPr lang="en-US" sz="1200" dirty="0"/>
          </a:p>
        </p:txBody>
      </p:sp>
      <p:sp>
        <p:nvSpPr>
          <p:cNvPr id="15" name="Text 13"/>
          <p:cNvSpPr/>
          <p:nvPr/>
        </p:nvSpPr>
        <p:spPr>
          <a:xfrm>
            <a:off x="822960" y="2971800"/>
            <a:ext cx="1783080" cy="237744"/>
          </a:xfrm>
          <a:prstGeom prst="rect">
            <a:avLst/>
          </a:prstGeom>
          <a:noFill/>
          <a:ln/>
        </p:spPr>
        <p:txBody>
          <a:bodyPr wrap="square" lIns="0" tIns="0" rIns="0" bIns="0" rtlCol="0" anchor="ctr">
            <a:normAutofit/>
          </a:bodyPr>
          <a:lstStyle/>
          <a:p>
            <a:pPr algn="ctr" indent="0" marL="0">
              <a:buNone/>
            </a:pPr>
            <a:r>
              <a:rPr lang="en-US" sz="1280" b="1" dirty="0">
                <a:solidFill>
                  <a:srgbClr val="D83B01"/>
                </a:solidFill>
                <a:latin typeface="Segoe UI Semibold" pitchFamily="34" charset="0"/>
                <a:ea typeface="Segoe UI Semibold" pitchFamily="34" charset="-122"/>
                <a:cs typeface="Segoe UI Semibold" pitchFamily="34" charset="-120"/>
              </a:rPr>
              <a:t>CONFIRMED MVP</a:t>
            </a:r>
            <a:endParaRPr lang="en-US" sz="1280" dirty="0"/>
          </a:p>
        </p:txBody>
      </p:sp>
      <p:sp>
        <p:nvSpPr>
          <p:cNvPr id="16" name="Text 14"/>
          <p:cNvSpPr/>
          <p:nvPr/>
        </p:nvSpPr>
        <p:spPr>
          <a:xfrm>
            <a:off x="868680" y="3383280"/>
            <a:ext cx="1691640" cy="365760"/>
          </a:xfrm>
          <a:prstGeom prst="rect">
            <a:avLst/>
          </a:prstGeom>
          <a:noFill/>
          <a:ln/>
        </p:spPr>
        <p:txBody>
          <a:bodyPr wrap="square" lIns="0" tIns="0" rIns="0" bIns="0" rtlCol="0" anchor="ctr">
            <a:normAutofit/>
          </a:bodyPr>
          <a:lstStyle/>
          <a:p>
            <a:pPr algn="ctr" indent="0" marL="0">
              <a:buNone/>
            </a:pPr>
            <a:r>
              <a:rPr lang="en-US" sz="1050" dirty="0">
                <a:solidFill>
                  <a:srgbClr val="3B3A39"/>
                </a:solidFill>
                <a:latin typeface="Segoe UI" pitchFamily="34" charset="0"/>
                <a:ea typeface="Segoe UI" pitchFamily="34" charset="-122"/>
                <a:cs typeface="Segoe UI" pitchFamily="34" charset="-120"/>
              </a:rPr>
              <a:t>Human-approved scope</a:t>
            </a:r>
            <a:endParaRPr lang="en-US" sz="1050" dirty="0"/>
          </a:p>
        </p:txBody>
      </p:sp>
      <p:sp>
        <p:nvSpPr>
          <p:cNvPr id="17" name="Shape 15"/>
          <p:cNvSpPr/>
          <p:nvPr/>
        </p:nvSpPr>
        <p:spPr>
          <a:xfrm>
            <a:off x="2880360" y="2770632"/>
            <a:ext cx="210312" cy="457200"/>
          </a:xfrm>
          <a:prstGeom prst="chevron">
            <a:avLst/>
          </a:prstGeom>
          <a:solidFill>
            <a:srgbClr val="8A8886">
              <a:alpha val="62000"/>
            </a:srgbClr>
          </a:solidFill>
          <a:ln w="12700">
            <a:solidFill>
              <a:srgbClr val="8A8886">
                <a:alpha val="0"/>
              </a:srgbClr>
            </a:solidFill>
            <a:prstDash val="solid"/>
          </a:ln>
        </p:spPr>
      </p:sp>
      <p:sp>
        <p:nvSpPr>
          <p:cNvPr id="18" name="Shape 16"/>
          <p:cNvSpPr/>
          <p:nvPr/>
        </p:nvSpPr>
        <p:spPr>
          <a:xfrm>
            <a:off x="3136392" y="2048256"/>
            <a:ext cx="2148840" cy="1965960"/>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19" name="Shape 17"/>
          <p:cNvSpPr/>
          <p:nvPr/>
        </p:nvSpPr>
        <p:spPr>
          <a:xfrm>
            <a:off x="3319272" y="2286000"/>
            <a:ext cx="566928" cy="566928"/>
          </a:xfrm>
          <a:prstGeom prst="ellipse">
            <a:avLst/>
          </a:prstGeom>
          <a:solidFill>
            <a:srgbClr val="DFF6DD"/>
          </a:solidFill>
          <a:ln w="15240">
            <a:solidFill>
              <a:srgbClr val="107C10"/>
            </a:solidFill>
            <a:prstDash val="solid"/>
          </a:ln>
        </p:spPr>
      </p:sp>
      <p:sp>
        <p:nvSpPr>
          <p:cNvPr id="20" name="Text 18"/>
          <p:cNvSpPr/>
          <p:nvPr/>
        </p:nvSpPr>
        <p:spPr>
          <a:xfrm>
            <a:off x="3401568" y="2441448"/>
            <a:ext cx="402336" cy="164592"/>
          </a:xfrm>
          <a:prstGeom prst="rect">
            <a:avLst/>
          </a:prstGeom>
          <a:noFill/>
          <a:ln/>
        </p:spPr>
        <p:txBody>
          <a:bodyPr wrap="square" lIns="0" tIns="0" rIns="0" bIns="0" rtlCol="0" anchor="ctr"/>
          <a:lstStyle/>
          <a:p>
            <a:pPr algn="ctr" indent="0" marL="0">
              <a:buNone/>
            </a:pPr>
            <a:r>
              <a:rPr lang="en-US" sz="1200" b="1" dirty="0">
                <a:solidFill>
                  <a:srgbClr val="107C10"/>
                </a:solidFill>
                <a:latin typeface="Segoe UI Semibold" pitchFamily="34" charset="0"/>
                <a:ea typeface="Segoe UI Semibold" pitchFamily="34" charset="-122"/>
                <a:cs typeface="Segoe UI Semibold" pitchFamily="34" charset="-120"/>
              </a:rPr>
              <a:t>2</a:t>
            </a:r>
            <a:endParaRPr lang="en-US" sz="1200" dirty="0"/>
          </a:p>
        </p:txBody>
      </p:sp>
      <p:sp>
        <p:nvSpPr>
          <p:cNvPr id="21" name="Text 19"/>
          <p:cNvSpPr/>
          <p:nvPr/>
        </p:nvSpPr>
        <p:spPr>
          <a:xfrm>
            <a:off x="3319272" y="2971800"/>
            <a:ext cx="1783080" cy="237744"/>
          </a:xfrm>
          <a:prstGeom prst="rect">
            <a:avLst/>
          </a:prstGeom>
          <a:noFill/>
          <a:ln/>
        </p:spPr>
        <p:txBody>
          <a:bodyPr wrap="square" lIns="0" tIns="0" rIns="0" bIns="0" rtlCol="0" anchor="ctr">
            <a:normAutofit/>
          </a:bodyPr>
          <a:lstStyle/>
          <a:p>
            <a:pPr algn="ctr" indent="0" marL="0">
              <a:buNone/>
            </a:pPr>
            <a:r>
              <a:rPr lang="en-US" sz="1280" b="1" dirty="0">
                <a:solidFill>
                  <a:srgbClr val="107C10"/>
                </a:solidFill>
                <a:latin typeface="Segoe UI Semibold" pitchFamily="34" charset="0"/>
                <a:ea typeface="Segoe UI Semibold" pitchFamily="34" charset="-122"/>
                <a:cs typeface="Segoe UI Semibold" pitchFamily="34" charset="-120"/>
              </a:rPr>
              <a:t>CAPABILITIES</a:t>
            </a:r>
            <a:endParaRPr lang="en-US" sz="1280" dirty="0"/>
          </a:p>
        </p:txBody>
      </p:sp>
      <p:sp>
        <p:nvSpPr>
          <p:cNvPr id="22" name="Text 20"/>
          <p:cNvSpPr/>
          <p:nvPr/>
        </p:nvSpPr>
        <p:spPr>
          <a:xfrm>
            <a:off x="3364992" y="3383280"/>
            <a:ext cx="1691640" cy="365760"/>
          </a:xfrm>
          <a:prstGeom prst="rect">
            <a:avLst/>
          </a:prstGeom>
          <a:noFill/>
          <a:ln/>
        </p:spPr>
        <p:txBody>
          <a:bodyPr wrap="square" lIns="0" tIns="0" rIns="0" bIns="0" rtlCol="0" anchor="ctr">
            <a:normAutofit/>
          </a:bodyPr>
          <a:lstStyle/>
          <a:p>
            <a:pPr algn="ctr" indent="0" marL="0">
              <a:buNone/>
            </a:pPr>
            <a:r>
              <a:rPr lang="en-US" sz="1050" dirty="0">
                <a:solidFill>
                  <a:srgbClr val="3B3A39"/>
                </a:solidFill>
                <a:latin typeface="Segoe UI" pitchFamily="34" charset="0"/>
                <a:ea typeface="Segoe UI" pitchFamily="34" charset="-122"/>
                <a:cs typeface="Segoe UI" pitchFamily="34" charset="-120"/>
              </a:rPr>
              <a:t>Intake, triage, answer, create</a:t>
            </a:r>
            <a:endParaRPr lang="en-US" sz="1050" dirty="0"/>
          </a:p>
        </p:txBody>
      </p:sp>
      <p:sp>
        <p:nvSpPr>
          <p:cNvPr id="23" name="Shape 21"/>
          <p:cNvSpPr/>
          <p:nvPr/>
        </p:nvSpPr>
        <p:spPr>
          <a:xfrm>
            <a:off x="5376672" y="2770632"/>
            <a:ext cx="210312" cy="457200"/>
          </a:xfrm>
          <a:prstGeom prst="chevron">
            <a:avLst/>
          </a:prstGeom>
          <a:solidFill>
            <a:srgbClr val="8A8886">
              <a:alpha val="62000"/>
            </a:srgbClr>
          </a:solidFill>
          <a:ln w="12700">
            <a:solidFill>
              <a:srgbClr val="8A8886">
                <a:alpha val="0"/>
              </a:srgbClr>
            </a:solidFill>
            <a:prstDash val="solid"/>
          </a:ln>
        </p:spPr>
      </p:sp>
      <p:sp>
        <p:nvSpPr>
          <p:cNvPr id="24" name="Shape 22"/>
          <p:cNvSpPr/>
          <p:nvPr/>
        </p:nvSpPr>
        <p:spPr>
          <a:xfrm>
            <a:off x="5632704" y="2048256"/>
            <a:ext cx="2148840" cy="1965960"/>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25" name="Shape 23"/>
          <p:cNvSpPr/>
          <p:nvPr/>
        </p:nvSpPr>
        <p:spPr>
          <a:xfrm>
            <a:off x="5815584" y="2286000"/>
            <a:ext cx="566928" cy="566928"/>
          </a:xfrm>
          <a:prstGeom prst="ellipse">
            <a:avLst/>
          </a:prstGeom>
          <a:solidFill>
            <a:srgbClr val="DCEEFF"/>
          </a:solidFill>
          <a:ln w="15240">
            <a:solidFill>
              <a:srgbClr val="0078D4"/>
            </a:solidFill>
            <a:prstDash val="solid"/>
          </a:ln>
        </p:spPr>
      </p:sp>
      <p:sp>
        <p:nvSpPr>
          <p:cNvPr id="26" name="Text 24"/>
          <p:cNvSpPr/>
          <p:nvPr/>
        </p:nvSpPr>
        <p:spPr>
          <a:xfrm>
            <a:off x="5897880" y="2441448"/>
            <a:ext cx="402336" cy="164592"/>
          </a:xfrm>
          <a:prstGeom prst="rect">
            <a:avLst/>
          </a:prstGeom>
          <a:noFill/>
          <a:ln/>
        </p:spPr>
        <p:txBody>
          <a:bodyPr wrap="square" lIns="0" tIns="0" rIns="0" bIns="0" rtlCol="0" anchor="ctr"/>
          <a:lstStyle/>
          <a:p>
            <a:pPr algn="ctr" indent="0" marL="0">
              <a:buNone/>
            </a:pPr>
            <a:r>
              <a:rPr lang="en-US" sz="1200" b="1" dirty="0">
                <a:solidFill>
                  <a:srgbClr val="0078D4"/>
                </a:solidFill>
                <a:latin typeface="Segoe UI Semibold" pitchFamily="34" charset="0"/>
                <a:ea typeface="Segoe UI Semibold" pitchFamily="34" charset="-122"/>
                <a:cs typeface="Segoe UI Semibold" pitchFamily="34" charset="-120"/>
              </a:rPr>
              <a:t>3</a:t>
            </a:r>
            <a:endParaRPr lang="en-US" sz="1200" dirty="0"/>
          </a:p>
        </p:txBody>
      </p:sp>
      <p:sp>
        <p:nvSpPr>
          <p:cNvPr id="27" name="Text 25"/>
          <p:cNvSpPr/>
          <p:nvPr/>
        </p:nvSpPr>
        <p:spPr>
          <a:xfrm>
            <a:off x="5815584" y="2971800"/>
            <a:ext cx="1783080" cy="237744"/>
          </a:xfrm>
          <a:prstGeom prst="rect">
            <a:avLst/>
          </a:prstGeom>
          <a:noFill/>
          <a:ln/>
        </p:spPr>
        <p:txBody>
          <a:bodyPr wrap="square" lIns="0" tIns="0" rIns="0" bIns="0" rtlCol="0" anchor="ctr">
            <a:normAutofit/>
          </a:bodyPr>
          <a:lstStyle/>
          <a:p>
            <a:pPr algn="ctr" indent="0" marL="0">
              <a:buNone/>
            </a:pPr>
            <a:r>
              <a:rPr lang="en-US" sz="1280" b="1" dirty="0">
                <a:solidFill>
                  <a:srgbClr val="0078D4"/>
                </a:solidFill>
                <a:latin typeface="Segoe UI Semibold" pitchFamily="34" charset="0"/>
                <a:ea typeface="Segoe UI Semibold" pitchFamily="34" charset="-122"/>
                <a:cs typeface="Segoe UI Semibold" pitchFamily="34" charset="-120"/>
              </a:rPr>
              <a:t>AGENT FILES</a:t>
            </a:r>
            <a:endParaRPr lang="en-US" sz="1280" dirty="0"/>
          </a:p>
        </p:txBody>
      </p:sp>
      <p:sp>
        <p:nvSpPr>
          <p:cNvPr id="28" name="Text 26"/>
          <p:cNvSpPr/>
          <p:nvPr/>
        </p:nvSpPr>
        <p:spPr>
          <a:xfrm>
            <a:off x="5861304" y="3383280"/>
            <a:ext cx="1691640" cy="365760"/>
          </a:xfrm>
          <a:prstGeom prst="rect">
            <a:avLst/>
          </a:prstGeom>
          <a:noFill/>
          <a:ln/>
        </p:spPr>
        <p:txBody>
          <a:bodyPr wrap="square" lIns="0" tIns="0" rIns="0" bIns="0" rtlCol="0" anchor="ctr">
            <a:normAutofit/>
          </a:bodyPr>
          <a:lstStyle/>
          <a:p>
            <a:pPr algn="ctr" indent="0" marL="0">
              <a:buNone/>
            </a:pPr>
            <a:r>
              <a:rPr lang="en-US" sz="1050" dirty="0">
                <a:solidFill>
                  <a:srgbClr val="3B3A39"/>
                </a:solidFill>
                <a:latin typeface="Segoe UI" pitchFamily="34" charset="0"/>
                <a:ea typeface="Segoe UI" pitchFamily="34" charset="-122"/>
                <a:cs typeface="Segoe UI" pitchFamily="34" charset="-120"/>
              </a:rPr>
              <a:t>One agent.py per capability</a:t>
            </a:r>
            <a:endParaRPr lang="en-US" sz="1050" dirty="0"/>
          </a:p>
        </p:txBody>
      </p:sp>
      <p:sp>
        <p:nvSpPr>
          <p:cNvPr id="29" name="Shape 27"/>
          <p:cNvSpPr/>
          <p:nvPr/>
        </p:nvSpPr>
        <p:spPr>
          <a:xfrm>
            <a:off x="7872984" y="2770632"/>
            <a:ext cx="210312" cy="457200"/>
          </a:xfrm>
          <a:prstGeom prst="chevron">
            <a:avLst/>
          </a:prstGeom>
          <a:solidFill>
            <a:srgbClr val="8A8886">
              <a:alpha val="62000"/>
            </a:srgbClr>
          </a:solidFill>
          <a:ln w="12700">
            <a:solidFill>
              <a:srgbClr val="8A8886">
                <a:alpha val="0"/>
              </a:srgbClr>
            </a:solidFill>
            <a:prstDash val="solid"/>
          </a:ln>
        </p:spPr>
      </p:sp>
      <p:sp>
        <p:nvSpPr>
          <p:cNvPr id="30" name="Shape 28"/>
          <p:cNvSpPr/>
          <p:nvPr/>
        </p:nvSpPr>
        <p:spPr>
          <a:xfrm>
            <a:off x="8129016" y="2048256"/>
            <a:ext cx="3401568" cy="1965960"/>
          </a:xfrm>
          <a:prstGeom prst="roundRect">
            <a:avLst/>
          </a:prstGeom>
          <a:solidFill>
            <a:srgbClr val="FFFFFF"/>
          </a:solidFill>
          <a:ln w="12700">
            <a:solidFill>
              <a:srgbClr val="8661C5"/>
            </a:solidFill>
            <a:prstDash val="solid"/>
          </a:ln>
          <a:effectLst>
            <a:outerShdw sx="100000" sy="100000" kx="0" ky="0" algn="bl" rotWithShape="0" blurRad="63500" dist="50800" dir="8100000">
              <a:srgbClr val="000000">
                <a:alpha val="12000"/>
              </a:srgbClr>
            </a:outerShdw>
          </a:effectLst>
        </p:spPr>
      </p:sp>
      <p:sp>
        <p:nvSpPr>
          <p:cNvPr id="31" name="Shape 29"/>
          <p:cNvSpPr/>
          <p:nvPr/>
        </p:nvSpPr>
        <p:spPr>
          <a:xfrm>
            <a:off x="8311896" y="2286000"/>
            <a:ext cx="566928" cy="566928"/>
          </a:xfrm>
          <a:prstGeom prst="ellipse">
            <a:avLst/>
          </a:prstGeom>
          <a:solidFill>
            <a:srgbClr val="EDE7F6"/>
          </a:solidFill>
          <a:ln w="15240">
            <a:solidFill>
              <a:srgbClr val="8661C5"/>
            </a:solidFill>
            <a:prstDash val="solid"/>
          </a:ln>
        </p:spPr>
      </p:sp>
      <p:sp>
        <p:nvSpPr>
          <p:cNvPr id="32" name="Text 30"/>
          <p:cNvSpPr/>
          <p:nvPr/>
        </p:nvSpPr>
        <p:spPr>
          <a:xfrm>
            <a:off x="8394192" y="2441448"/>
            <a:ext cx="402336" cy="164592"/>
          </a:xfrm>
          <a:prstGeom prst="rect">
            <a:avLst/>
          </a:prstGeom>
          <a:noFill/>
          <a:ln/>
        </p:spPr>
        <p:txBody>
          <a:bodyPr wrap="square" lIns="0" tIns="0" rIns="0" bIns="0" rtlCol="0" anchor="ctr"/>
          <a:lstStyle/>
          <a:p>
            <a:pPr algn="ctr" indent="0" marL="0">
              <a:buNone/>
            </a:pPr>
            <a:r>
              <a:rPr lang="en-US" sz="1200" b="1" dirty="0">
                <a:solidFill>
                  <a:srgbClr val="8661C5"/>
                </a:solidFill>
                <a:latin typeface="Segoe UI Semibold" pitchFamily="34" charset="0"/>
                <a:ea typeface="Segoe UI Semibold" pitchFamily="34" charset="-122"/>
                <a:cs typeface="Segoe UI Semibold" pitchFamily="34" charset="-120"/>
              </a:rPr>
              <a:t>4</a:t>
            </a:r>
            <a:endParaRPr lang="en-US" sz="1200" dirty="0"/>
          </a:p>
        </p:txBody>
      </p:sp>
      <p:sp>
        <p:nvSpPr>
          <p:cNvPr id="33" name="Text 31"/>
          <p:cNvSpPr/>
          <p:nvPr/>
        </p:nvSpPr>
        <p:spPr>
          <a:xfrm>
            <a:off x="8311896" y="2971800"/>
            <a:ext cx="3035808" cy="237744"/>
          </a:xfrm>
          <a:prstGeom prst="rect">
            <a:avLst/>
          </a:prstGeom>
          <a:noFill/>
          <a:ln/>
        </p:spPr>
        <p:txBody>
          <a:bodyPr wrap="square" lIns="0" tIns="0" rIns="0" bIns="0" rtlCol="0" anchor="ctr">
            <a:normAutofit/>
          </a:bodyPr>
          <a:lstStyle/>
          <a:p>
            <a:pPr algn="ctr" indent="0" marL="0">
              <a:buNone/>
            </a:pPr>
            <a:r>
              <a:rPr lang="en-US" sz="1280" b="1" dirty="0">
                <a:solidFill>
                  <a:srgbClr val="8661C5"/>
                </a:solidFill>
                <a:latin typeface="Segoe UI Semibold" pitchFamily="34" charset="0"/>
                <a:ea typeface="Segoe UI Semibold" pitchFamily="34" charset="-122"/>
                <a:cs typeface="Segoe UI Semibold" pitchFamily="34" charset="-120"/>
              </a:rPr>
              <a:t>SOLUTION PACKAGE</a:t>
            </a:r>
            <a:endParaRPr lang="en-US" sz="1280" dirty="0"/>
          </a:p>
        </p:txBody>
      </p:sp>
      <p:sp>
        <p:nvSpPr>
          <p:cNvPr id="34" name="Text 32"/>
          <p:cNvSpPr/>
          <p:nvPr/>
        </p:nvSpPr>
        <p:spPr>
          <a:xfrm>
            <a:off x="8357616" y="3383280"/>
            <a:ext cx="2944368" cy="365760"/>
          </a:xfrm>
          <a:prstGeom prst="rect">
            <a:avLst/>
          </a:prstGeom>
          <a:noFill/>
          <a:ln/>
        </p:spPr>
        <p:txBody>
          <a:bodyPr wrap="square" lIns="0" tIns="0" rIns="0" bIns="0" rtlCol="0" anchor="ctr">
            <a:normAutofit/>
          </a:bodyPr>
          <a:lstStyle/>
          <a:p>
            <a:pPr algn="ctr" indent="0" marL="0">
              <a:buNone/>
            </a:pPr>
            <a:r>
              <a:rPr lang="en-US" sz="1050" dirty="0">
                <a:solidFill>
                  <a:srgbClr val="3B3A39"/>
                </a:solidFill>
                <a:latin typeface="Segoe UI" pitchFamily="34" charset="0"/>
                <a:ea typeface="Segoe UI" pitchFamily="34" charset="-122"/>
                <a:cs typeface="Segoe UI" pitchFamily="34" charset="-120"/>
              </a:rPr>
              <a:t>Copilot Studio assets + flow wiring</a:t>
            </a:r>
            <a:endParaRPr lang="en-US" sz="1050" dirty="0"/>
          </a:p>
        </p:txBody>
      </p:sp>
      <p:sp>
        <p:nvSpPr>
          <p:cNvPr id="35" name="Shape 33"/>
          <p:cNvSpPr/>
          <p:nvPr/>
        </p:nvSpPr>
        <p:spPr>
          <a:xfrm>
            <a:off x="640080" y="4462272"/>
            <a:ext cx="10890504" cy="987552"/>
          </a:xfrm>
          <a:prstGeom prst="roundRect">
            <a:avLst/>
          </a:prstGeom>
          <a:solidFill>
            <a:srgbClr val="103A6B"/>
          </a:solidFill>
          <a:ln w="12700">
            <a:solidFill>
              <a:srgbClr val="103A6B"/>
            </a:solidFill>
            <a:prstDash val="solid"/>
          </a:ln>
          <a:effectLst>
            <a:outerShdw sx="100000" sy="100000" kx="0" ky="0" algn="bl" rotWithShape="0" blurRad="63500" dist="50800" dir="8100000">
              <a:srgbClr val="000000">
                <a:alpha val="12000"/>
              </a:srgbClr>
            </a:outerShdw>
          </a:effectLst>
        </p:spPr>
      </p:sp>
      <p:sp>
        <p:nvSpPr>
          <p:cNvPr id="36" name="Text 34"/>
          <p:cNvSpPr/>
          <p:nvPr/>
        </p:nvSpPr>
        <p:spPr>
          <a:xfrm>
            <a:off x="932688" y="4736592"/>
            <a:ext cx="1554480" cy="182880"/>
          </a:xfrm>
          <a:prstGeom prst="rect">
            <a:avLst/>
          </a:prstGeom>
          <a:noFill/>
          <a:ln/>
        </p:spPr>
        <p:txBody>
          <a:bodyPr wrap="square" lIns="0" tIns="0" rIns="0" bIns="0" rtlCol="0" anchor="ctr"/>
          <a:lstStyle/>
          <a:p>
            <a:pPr indent="0" marL="0">
              <a:buNone/>
            </a:pPr>
            <a:r>
              <a:rPr lang="en-US" sz="1020" b="1" spc="100" kern="0" dirty="0">
                <a:solidFill>
                  <a:srgbClr val="50E6FF"/>
                </a:solidFill>
                <a:latin typeface="Segoe UI Semibold" pitchFamily="34" charset="0"/>
                <a:ea typeface="Segoe UI Semibold" pitchFamily="34" charset="-122"/>
                <a:cs typeface="Segoe UI Semibold" pitchFamily="34" charset="-120"/>
              </a:rPr>
              <a:t>GENERATED FILES</a:t>
            </a:r>
            <a:endParaRPr lang="en-US" sz="1020" dirty="0"/>
          </a:p>
        </p:txBody>
      </p:sp>
      <p:sp>
        <p:nvSpPr>
          <p:cNvPr id="37" name="Shape 35"/>
          <p:cNvSpPr/>
          <p:nvPr/>
        </p:nvSpPr>
        <p:spPr>
          <a:xfrm>
            <a:off x="2514600" y="4663440"/>
            <a:ext cx="1901952" cy="310896"/>
          </a:xfrm>
          <a:prstGeom prst="roundRect">
            <a:avLst/>
          </a:prstGeom>
          <a:solidFill>
            <a:srgbClr val="FFFFFF"/>
          </a:solidFill>
          <a:ln w="12700">
            <a:solidFill>
              <a:srgbClr val="FFFFFF">
                <a:alpha val="0"/>
              </a:srgbClr>
            </a:solidFill>
            <a:prstDash val="solid"/>
          </a:ln>
        </p:spPr>
      </p:sp>
      <p:sp>
        <p:nvSpPr>
          <p:cNvPr id="38" name="Text 36"/>
          <p:cNvSpPr/>
          <p:nvPr/>
        </p:nvSpPr>
        <p:spPr>
          <a:xfrm>
            <a:off x="2578608" y="4718304"/>
            <a:ext cx="1773936" cy="164592"/>
          </a:xfrm>
          <a:prstGeom prst="rect">
            <a:avLst/>
          </a:prstGeom>
          <a:noFill/>
          <a:ln/>
        </p:spPr>
        <p:txBody>
          <a:bodyPr wrap="square" lIns="0" tIns="0" rIns="0" bIns="0" rtlCol="0" anchor="ctr">
            <a:normAutofit/>
          </a:bodyPr>
          <a:lstStyle/>
          <a:p>
            <a:pPr algn="ctr" indent="0" marL="0">
              <a:buNone/>
            </a:pPr>
            <a:r>
              <a:rPr lang="en-US" sz="930" b="1" dirty="0">
                <a:solidFill>
                  <a:srgbClr val="103A6B"/>
                </a:solidFill>
                <a:latin typeface="Segoe UI Semibold" pitchFamily="34" charset="0"/>
                <a:ea typeface="Segoe UI Semibold" pitchFamily="34" charset="-122"/>
                <a:cs typeface="Segoe UI Semibold" pitchFamily="34" charset="-120"/>
              </a:rPr>
              <a:t>intake_agent.py</a:t>
            </a:r>
            <a:endParaRPr lang="en-US" sz="930" dirty="0"/>
          </a:p>
        </p:txBody>
      </p:sp>
      <p:sp>
        <p:nvSpPr>
          <p:cNvPr id="39" name="Shape 37"/>
          <p:cNvSpPr/>
          <p:nvPr/>
        </p:nvSpPr>
        <p:spPr>
          <a:xfrm>
            <a:off x="4626864" y="4663440"/>
            <a:ext cx="1901952" cy="310896"/>
          </a:xfrm>
          <a:prstGeom prst="roundRect">
            <a:avLst/>
          </a:prstGeom>
          <a:solidFill>
            <a:srgbClr val="FFFFFF"/>
          </a:solidFill>
          <a:ln w="12700">
            <a:solidFill>
              <a:srgbClr val="FFFFFF">
                <a:alpha val="0"/>
              </a:srgbClr>
            </a:solidFill>
            <a:prstDash val="solid"/>
          </a:ln>
        </p:spPr>
      </p:sp>
      <p:sp>
        <p:nvSpPr>
          <p:cNvPr id="40" name="Text 38"/>
          <p:cNvSpPr/>
          <p:nvPr/>
        </p:nvSpPr>
        <p:spPr>
          <a:xfrm>
            <a:off x="4690872" y="4718304"/>
            <a:ext cx="1773936" cy="164592"/>
          </a:xfrm>
          <a:prstGeom prst="rect">
            <a:avLst/>
          </a:prstGeom>
          <a:noFill/>
          <a:ln/>
        </p:spPr>
        <p:txBody>
          <a:bodyPr wrap="square" lIns="0" tIns="0" rIns="0" bIns="0" rtlCol="0" anchor="ctr">
            <a:normAutofit/>
          </a:bodyPr>
          <a:lstStyle/>
          <a:p>
            <a:pPr algn="ctr" indent="0" marL="0">
              <a:buNone/>
            </a:pPr>
            <a:r>
              <a:rPr lang="en-US" sz="930" b="1" dirty="0">
                <a:solidFill>
                  <a:srgbClr val="103A6B"/>
                </a:solidFill>
                <a:latin typeface="Segoe UI Semibold" pitchFamily="34" charset="0"/>
                <a:ea typeface="Segoe UI Semibold" pitchFamily="34" charset="-122"/>
                <a:cs typeface="Segoe UI Semibold" pitchFamily="34" charset="-120"/>
              </a:rPr>
              <a:t>triage_agent.py</a:t>
            </a:r>
            <a:endParaRPr lang="en-US" sz="930" dirty="0"/>
          </a:p>
        </p:txBody>
      </p:sp>
      <p:sp>
        <p:nvSpPr>
          <p:cNvPr id="41" name="Shape 39"/>
          <p:cNvSpPr/>
          <p:nvPr/>
        </p:nvSpPr>
        <p:spPr>
          <a:xfrm>
            <a:off x="6739128" y="4663440"/>
            <a:ext cx="1901952" cy="310896"/>
          </a:xfrm>
          <a:prstGeom prst="roundRect">
            <a:avLst/>
          </a:prstGeom>
          <a:solidFill>
            <a:srgbClr val="FFFFFF"/>
          </a:solidFill>
          <a:ln w="12700">
            <a:solidFill>
              <a:srgbClr val="FFFFFF">
                <a:alpha val="0"/>
              </a:srgbClr>
            </a:solidFill>
            <a:prstDash val="solid"/>
          </a:ln>
        </p:spPr>
      </p:sp>
      <p:sp>
        <p:nvSpPr>
          <p:cNvPr id="42" name="Text 40"/>
          <p:cNvSpPr/>
          <p:nvPr/>
        </p:nvSpPr>
        <p:spPr>
          <a:xfrm>
            <a:off x="6803136" y="4718304"/>
            <a:ext cx="1773936" cy="164592"/>
          </a:xfrm>
          <a:prstGeom prst="rect">
            <a:avLst/>
          </a:prstGeom>
          <a:noFill/>
          <a:ln/>
        </p:spPr>
        <p:txBody>
          <a:bodyPr wrap="square" lIns="0" tIns="0" rIns="0" bIns="0" rtlCol="0" anchor="ctr">
            <a:normAutofit/>
          </a:bodyPr>
          <a:lstStyle/>
          <a:p>
            <a:pPr algn="ctr" indent="0" marL="0">
              <a:buNone/>
            </a:pPr>
            <a:r>
              <a:rPr lang="en-US" sz="930" b="1" dirty="0">
                <a:solidFill>
                  <a:srgbClr val="103A6B"/>
                </a:solidFill>
                <a:latin typeface="Segoe UI Semibold" pitchFamily="34" charset="0"/>
                <a:ea typeface="Segoe UI Semibold" pitchFamily="34" charset="-122"/>
                <a:cs typeface="Segoe UI Semibold" pitchFamily="34" charset="-120"/>
              </a:rPr>
              <a:t>guidance_agent.py</a:t>
            </a:r>
            <a:endParaRPr lang="en-US" sz="930" dirty="0"/>
          </a:p>
        </p:txBody>
      </p:sp>
      <p:sp>
        <p:nvSpPr>
          <p:cNvPr id="43" name="Shape 41"/>
          <p:cNvSpPr/>
          <p:nvPr/>
        </p:nvSpPr>
        <p:spPr>
          <a:xfrm>
            <a:off x="8851392" y="4663440"/>
            <a:ext cx="1901952" cy="310896"/>
          </a:xfrm>
          <a:prstGeom prst="roundRect">
            <a:avLst/>
          </a:prstGeom>
          <a:solidFill>
            <a:srgbClr val="FFFFFF"/>
          </a:solidFill>
          <a:ln w="12700">
            <a:solidFill>
              <a:srgbClr val="FFFFFF">
                <a:alpha val="0"/>
              </a:srgbClr>
            </a:solidFill>
            <a:prstDash val="solid"/>
          </a:ln>
        </p:spPr>
      </p:sp>
      <p:sp>
        <p:nvSpPr>
          <p:cNvPr id="44" name="Text 42"/>
          <p:cNvSpPr/>
          <p:nvPr/>
        </p:nvSpPr>
        <p:spPr>
          <a:xfrm>
            <a:off x="8915400" y="4718304"/>
            <a:ext cx="1773936" cy="164592"/>
          </a:xfrm>
          <a:prstGeom prst="rect">
            <a:avLst/>
          </a:prstGeom>
          <a:noFill/>
          <a:ln/>
        </p:spPr>
        <p:txBody>
          <a:bodyPr wrap="square" lIns="0" tIns="0" rIns="0" bIns="0" rtlCol="0" anchor="ctr">
            <a:normAutofit/>
          </a:bodyPr>
          <a:lstStyle/>
          <a:p>
            <a:pPr algn="ctr" indent="0" marL="0">
              <a:buNone/>
            </a:pPr>
            <a:r>
              <a:rPr lang="en-US" sz="930" b="1" dirty="0">
                <a:solidFill>
                  <a:srgbClr val="103A6B"/>
                </a:solidFill>
                <a:latin typeface="Segoe UI Semibold" pitchFamily="34" charset="0"/>
                <a:ea typeface="Segoe UI Semibold" pitchFamily="34" charset="-122"/>
                <a:cs typeface="Segoe UI Semibold" pitchFamily="34" charset="-120"/>
              </a:rPr>
              <a:t>service_request_agent.py</a:t>
            </a:r>
            <a:endParaRPr lang="en-US" sz="930" dirty="0"/>
          </a:p>
        </p:txBody>
      </p:sp>
      <p:sp>
        <p:nvSpPr>
          <p:cNvPr id="45" name="Text 43"/>
          <p:cNvSpPr/>
          <p:nvPr/>
        </p:nvSpPr>
        <p:spPr>
          <a:xfrm>
            <a:off x="1965960" y="5541264"/>
            <a:ext cx="8229600" cy="228600"/>
          </a:xfrm>
          <a:prstGeom prst="rect">
            <a:avLst/>
          </a:prstGeom>
          <a:noFill/>
          <a:ln/>
        </p:spPr>
        <p:txBody>
          <a:bodyPr wrap="square" lIns="0" tIns="0" rIns="0" bIns="0" rtlCol="0" anchor="ctr"/>
          <a:lstStyle/>
          <a:p>
            <a:pPr algn="ctr" indent="0" marL="0">
              <a:buNone/>
            </a:pPr>
            <a:r>
              <a:rPr lang="en-US" sz="1220" b="1" dirty="0">
                <a:solidFill>
                  <a:srgbClr val="103A6B"/>
                </a:solidFill>
                <a:latin typeface="Segoe UI Semibold" pitchFamily="34" charset="0"/>
                <a:ea typeface="Segoe UI Semibold" pitchFamily="34" charset="-122"/>
                <a:cs typeface="Segoe UI Semibold" pitchFamily="34" charset="-120"/>
              </a:rPr>
              <a:t>Portable logic can be reviewed, shared, and translated instead of disappearing inside a prompt.</a:t>
            </a:r>
            <a:endParaRPr lang="en-US" sz="1220" dirty="0"/>
          </a:p>
        </p:txBody>
      </p:sp>
      <p:sp>
        <p:nvSpPr>
          <p:cNvPr id="46" name="Shape 44"/>
          <p:cNvSpPr/>
          <p:nvPr/>
        </p:nvSpPr>
        <p:spPr>
          <a:xfrm>
            <a:off x="658368" y="5870448"/>
            <a:ext cx="2057400" cy="429768"/>
          </a:xfrm>
          <a:prstGeom prst="roundRect">
            <a:avLst/>
          </a:prstGeom>
          <a:solidFill>
            <a:srgbClr val="DFF6DD"/>
          </a:solidFill>
          <a:ln w="12700">
            <a:solidFill>
              <a:srgbClr val="107C10"/>
            </a:solidFill>
            <a:prstDash val="solid"/>
          </a:ln>
        </p:spPr>
      </p:sp>
      <p:sp>
        <p:nvSpPr>
          <p:cNvPr id="47" name="Shape 45"/>
          <p:cNvSpPr/>
          <p:nvPr/>
        </p:nvSpPr>
        <p:spPr>
          <a:xfrm>
            <a:off x="749808" y="5957316"/>
            <a:ext cx="256032" cy="256032"/>
          </a:xfrm>
          <a:prstGeom prst="ellipse">
            <a:avLst/>
          </a:prstGeom>
          <a:solidFill>
            <a:srgbClr val="107C10"/>
          </a:solidFill>
          <a:ln w="10160">
            <a:solidFill>
              <a:srgbClr val="107C10"/>
            </a:solidFill>
            <a:prstDash val="solid"/>
          </a:ln>
        </p:spPr>
      </p:sp>
      <p:sp>
        <p:nvSpPr>
          <p:cNvPr id="48" name="Text 46"/>
          <p:cNvSpPr/>
          <p:nvPr/>
        </p:nvSpPr>
        <p:spPr>
          <a:xfrm>
            <a:off x="77724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49" name="Text 47"/>
          <p:cNvSpPr/>
          <p:nvPr/>
        </p:nvSpPr>
        <p:spPr>
          <a:xfrm>
            <a:off x="106984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Sign in</a:t>
            </a:r>
            <a:endParaRPr lang="en-US" sz="1050" dirty="0"/>
          </a:p>
        </p:txBody>
      </p:sp>
      <p:sp>
        <p:nvSpPr>
          <p:cNvPr id="50" name="Shape 48"/>
          <p:cNvSpPr/>
          <p:nvPr/>
        </p:nvSpPr>
        <p:spPr>
          <a:xfrm>
            <a:off x="2852928" y="5870448"/>
            <a:ext cx="2057400" cy="429768"/>
          </a:xfrm>
          <a:prstGeom prst="roundRect">
            <a:avLst/>
          </a:prstGeom>
          <a:solidFill>
            <a:srgbClr val="DFF6DD"/>
          </a:solidFill>
          <a:ln w="12700">
            <a:solidFill>
              <a:srgbClr val="107C10"/>
            </a:solidFill>
            <a:prstDash val="solid"/>
          </a:ln>
        </p:spPr>
      </p:sp>
      <p:sp>
        <p:nvSpPr>
          <p:cNvPr id="51" name="Shape 49"/>
          <p:cNvSpPr/>
          <p:nvPr/>
        </p:nvSpPr>
        <p:spPr>
          <a:xfrm>
            <a:off x="2944368" y="5957316"/>
            <a:ext cx="256032" cy="256032"/>
          </a:xfrm>
          <a:prstGeom prst="ellipse">
            <a:avLst/>
          </a:prstGeom>
          <a:solidFill>
            <a:srgbClr val="107C10"/>
          </a:solidFill>
          <a:ln w="10160">
            <a:solidFill>
              <a:srgbClr val="107C10"/>
            </a:solidFill>
            <a:prstDash val="solid"/>
          </a:ln>
        </p:spPr>
      </p:sp>
      <p:sp>
        <p:nvSpPr>
          <p:cNvPr id="52" name="Text 50"/>
          <p:cNvSpPr/>
          <p:nvPr/>
        </p:nvSpPr>
        <p:spPr>
          <a:xfrm>
            <a:off x="297180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53" name="Text 51"/>
          <p:cNvSpPr/>
          <p:nvPr/>
        </p:nvSpPr>
        <p:spPr>
          <a:xfrm>
            <a:off x="326440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Documents</a:t>
            </a:r>
            <a:endParaRPr lang="en-US" sz="1050" dirty="0"/>
          </a:p>
        </p:txBody>
      </p:sp>
      <p:sp>
        <p:nvSpPr>
          <p:cNvPr id="54" name="Shape 52"/>
          <p:cNvSpPr/>
          <p:nvPr/>
        </p:nvSpPr>
        <p:spPr>
          <a:xfrm>
            <a:off x="5047488" y="5870448"/>
            <a:ext cx="2057400" cy="429768"/>
          </a:xfrm>
          <a:prstGeom prst="roundRect">
            <a:avLst/>
          </a:prstGeom>
          <a:solidFill>
            <a:srgbClr val="DFF6DD"/>
          </a:solidFill>
          <a:ln w="12700">
            <a:solidFill>
              <a:srgbClr val="107C10"/>
            </a:solidFill>
            <a:prstDash val="solid"/>
          </a:ln>
        </p:spPr>
      </p:sp>
      <p:sp>
        <p:nvSpPr>
          <p:cNvPr id="55" name="Shape 53"/>
          <p:cNvSpPr/>
          <p:nvPr/>
        </p:nvSpPr>
        <p:spPr>
          <a:xfrm>
            <a:off x="5138928" y="5957316"/>
            <a:ext cx="256032" cy="256032"/>
          </a:xfrm>
          <a:prstGeom prst="ellipse">
            <a:avLst/>
          </a:prstGeom>
          <a:solidFill>
            <a:srgbClr val="107C10"/>
          </a:solidFill>
          <a:ln w="10160">
            <a:solidFill>
              <a:srgbClr val="107C10"/>
            </a:solidFill>
            <a:prstDash val="solid"/>
          </a:ln>
        </p:spPr>
      </p:sp>
      <p:sp>
        <p:nvSpPr>
          <p:cNvPr id="56" name="Text 54"/>
          <p:cNvSpPr/>
          <p:nvPr/>
        </p:nvSpPr>
        <p:spPr>
          <a:xfrm>
            <a:off x="516636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57" name="Text 55"/>
          <p:cNvSpPr/>
          <p:nvPr/>
        </p:nvSpPr>
        <p:spPr>
          <a:xfrm>
            <a:off x="545896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MVP</a:t>
            </a:r>
            <a:endParaRPr lang="en-US" sz="1050" dirty="0"/>
          </a:p>
        </p:txBody>
      </p:sp>
      <p:sp>
        <p:nvSpPr>
          <p:cNvPr id="58" name="Shape 56"/>
          <p:cNvSpPr/>
          <p:nvPr/>
        </p:nvSpPr>
        <p:spPr>
          <a:xfrm>
            <a:off x="7242048" y="5870448"/>
            <a:ext cx="2057400" cy="429768"/>
          </a:xfrm>
          <a:prstGeom prst="roundRect">
            <a:avLst/>
          </a:prstGeom>
          <a:solidFill>
            <a:srgbClr val="8661C5"/>
          </a:solidFill>
          <a:ln w="17780">
            <a:solidFill>
              <a:srgbClr val="8661C5"/>
            </a:solidFill>
            <a:prstDash val="solid"/>
          </a:ln>
        </p:spPr>
      </p:sp>
      <p:sp>
        <p:nvSpPr>
          <p:cNvPr id="59" name="Shape 57"/>
          <p:cNvSpPr/>
          <p:nvPr/>
        </p:nvSpPr>
        <p:spPr>
          <a:xfrm>
            <a:off x="7333488" y="5957316"/>
            <a:ext cx="256032" cy="256032"/>
          </a:xfrm>
          <a:prstGeom prst="ellipse">
            <a:avLst/>
          </a:prstGeom>
          <a:solidFill>
            <a:srgbClr val="FFFFFF"/>
          </a:solidFill>
          <a:ln w="10160">
            <a:solidFill>
              <a:srgbClr val="FFFFFF"/>
            </a:solidFill>
            <a:prstDash val="solid"/>
          </a:ln>
        </p:spPr>
      </p:sp>
      <p:sp>
        <p:nvSpPr>
          <p:cNvPr id="60" name="Text 58"/>
          <p:cNvSpPr/>
          <p:nvPr/>
        </p:nvSpPr>
        <p:spPr>
          <a:xfrm>
            <a:off x="7360920" y="5998464"/>
            <a:ext cx="201168" cy="100584"/>
          </a:xfrm>
          <a:prstGeom prst="rect">
            <a:avLst/>
          </a:prstGeom>
          <a:noFill/>
          <a:ln/>
        </p:spPr>
        <p:txBody>
          <a:bodyPr wrap="square" lIns="0" tIns="0" rIns="0" bIns="0" rtlCol="0" anchor="ctr"/>
          <a:lstStyle/>
          <a:p>
            <a:pPr algn="ctr" indent="0" marL="0">
              <a:buNone/>
            </a:pPr>
            <a:r>
              <a:rPr lang="en-US" sz="800" b="1" dirty="0">
                <a:solidFill>
                  <a:srgbClr val="8661C5"/>
                </a:solidFill>
                <a:latin typeface="Segoe UI Semibold" pitchFamily="34" charset="0"/>
                <a:ea typeface="Segoe UI Semibold" pitchFamily="34" charset="-122"/>
                <a:cs typeface="Segoe UI Semibold" pitchFamily="34" charset="-120"/>
              </a:rPr>
              <a:t>4</a:t>
            </a:r>
            <a:endParaRPr lang="en-US" sz="800" dirty="0"/>
          </a:p>
        </p:txBody>
      </p:sp>
      <p:sp>
        <p:nvSpPr>
          <p:cNvPr id="61" name="Text 59"/>
          <p:cNvSpPr/>
          <p:nvPr/>
        </p:nvSpPr>
        <p:spPr>
          <a:xfrm>
            <a:off x="7653528" y="6003036"/>
            <a:ext cx="1536192" cy="128016"/>
          </a:xfrm>
          <a:prstGeom prst="rect">
            <a:avLst/>
          </a:prstGeom>
          <a:noFill/>
          <a:ln/>
        </p:spPr>
        <p:txBody>
          <a:bodyPr wrap="square" lIns="0" tIns="0" rIns="0" bIns="0" rtlCol="0" anchor="ctr"/>
          <a:lstStyle/>
          <a:p>
            <a:pPr indent="0" marL="0">
              <a:buNone/>
            </a:pPr>
            <a:r>
              <a:rPr lang="en-US" sz="1050" b="1" dirty="0">
                <a:solidFill>
                  <a:srgbClr val="FFFFFF"/>
                </a:solidFill>
                <a:latin typeface="Segoe UI Semibold" pitchFamily="34" charset="0"/>
                <a:ea typeface="Segoe UI Semibold" pitchFamily="34" charset="-122"/>
                <a:cs typeface="Segoe UI Semibold" pitchFamily="34" charset="-120"/>
              </a:rPr>
              <a:t>Review</a:t>
            </a:r>
            <a:endParaRPr lang="en-US" sz="1050" dirty="0"/>
          </a:p>
        </p:txBody>
      </p:sp>
      <p:sp>
        <p:nvSpPr>
          <p:cNvPr id="62" name="Shape 60"/>
          <p:cNvSpPr/>
          <p:nvPr/>
        </p:nvSpPr>
        <p:spPr>
          <a:xfrm>
            <a:off x="9436608" y="5870448"/>
            <a:ext cx="2057400" cy="429768"/>
          </a:xfrm>
          <a:prstGeom prst="roundRect">
            <a:avLst/>
          </a:prstGeom>
          <a:solidFill>
            <a:srgbClr val="FFFFFF"/>
          </a:solidFill>
          <a:ln w="12700">
            <a:solidFill>
              <a:srgbClr val="E1DFDD"/>
            </a:solidFill>
            <a:prstDash val="solid"/>
          </a:ln>
        </p:spPr>
      </p:sp>
      <p:sp>
        <p:nvSpPr>
          <p:cNvPr id="63" name="Shape 61"/>
          <p:cNvSpPr/>
          <p:nvPr/>
        </p:nvSpPr>
        <p:spPr>
          <a:xfrm>
            <a:off x="9528048" y="5957316"/>
            <a:ext cx="256032" cy="256032"/>
          </a:xfrm>
          <a:prstGeom prst="ellipse">
            <a:avLst/>
          </a:prstGeom>
          <a:solidFill>
            <a:srgbClr val="F3F2F1"/>
          </a:solidFill>
          <a:ln w="10160">
            <a:solidFill>
              <a:srgbClr val="E1DFDD"/>
            </a:solidFill>
            <a:prstDash val="solid"/>
          </a:ln>
        </p:spPr>
      </p:sp>
      <p:sp>
        <p:nvSpPr>
          <p:cNvPr id="64" name="Text 62"/>
          <p:cNvSpPr/>
          <p:nvPr/>
        </p:nvSpPr>
        <p:spPr>
          <a:xfrm>
            <a:off x="955548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5</a:t>
            </a:r>
            <a:endParaRPr lang="en-US" sz="800" dirty="0"/>
          </a:p>
        </p:txBody>
      </p:sp>
      <p:sp>
        <p:nvSpPr>
          <p:cNvPr id="65" name="Text 63"/>
          <p:cNvSpPr/>
          <p:nvPr/>
        </p:nvSpPr>
        <p:spPr>
          <a:xfrm>
            <a:off x="984808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Deploy</a:t>
            </a:r>
            <a:endParaRPr lang="en-US" sz="1050" dirty="0"/>
          </a:p>
        </p:txBody>
      </p:sp>
      <p:sp>
        <p:nvSpPr>
          <p:cNvPr id="66" name="Text 64"/>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11</a:t>
            </a:r>
            <a:endParaRPr lang="en-US" sz="8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8661C5"/>
          </a:solidFill>
          <a:ln w="12700">
            <a:solidFill>
              <a:srgbClr val="8661C5">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8661C5"/>
                </a:solidFill>
                <a:latin typeface="Segoe UI Semibold" pitchFamily="34" charset="0"/>
                <a:ea typeface="Segoe UI Semibold" pitchFamily="34" charset="-122"/>
                <a:cs typeface="Segoe UI Semibold" pitchFamily="34" charset="-120"/>
              </a:rPr>
              <a:t>STEP 4B</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Review two twins before anything enters the environment.</a:t>
            </a:r>
            <a:endParaRPr lang="en-US" sz="2800" dirty="0"/>
          </a:p>
        </p:txBody>
      </p:sp>
      <p:sp>
        <p:nvSpPr>
          <p:cNvPr id="10" name="Shape 8"/>
          <p:cNvSpPr/>
          <p:nvPr/>
        </p:nvSpPr>
        <p:spPr>
          <a:xfrm>
            <a:off x="10515600" y="713232"/>
            <a:ext cx="1097280" cy="365760"/>
          </a:xfrm>
          <a:prstGeom prst="roundRect">
            <a:avLst/>
          </a:prstGeom>
          <a:solidFill>
            <a:srgbClr val="8661C5"/>
          </a:solidFill>
          <a:ln w="12700">
            <a:solidFill>
              <a:srgbClr val="8661C5">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5 MIN</a:t>
            </a:r>
            <a:endParaRPr lang="en-US" sz="1000" dirty="0"/>
          </a:p>
        </p:txBody>
      </p:sp>
      <p:sp>
        <p:nvSpPr>
          <p:cNvPr id="12" name="Shape 10"/>
          <p:cNvSpPr/>
          <p:nvPr/>
        </p:nvSpPr>
        <p:spPr>
          <a:xfrm>
            <a:off x="594360" y="1828800"/>
            <a:ext cx="5257800" cy="3182112"/>
          </a:xfrm>
          <a:prstGeom prst="roundRect">
            <a:avLst/>
          </a:prstGeom>
          <a:solidFill>
            <a:srgbClr val="DFF6DD"/>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13" name="Shape 11"/>
          <p:cNvSpPr/>
          <p:nvPr/>
        </p:nvSpPr>
        <p:spPr>
          <a:xfrm>
            <a:off x="896112" y="2121408"/>
            <a:ext cx="1325880" cy="310896"/>
          </a:xfrm>
          <a:prstGeom prst="roundRect">
            <a:avLst/>
          </a:prstGeom>
          <a:solidFill>
            <a:srgbClr val="107C10"/>
          </a:solidFill>
          <a:ln w="12700">
            <a:solidFill>
              <a:srgbClr val="107C10">
                <a:alpha val="0"/>
              </a:srgbClr>
            </a:solidFill>
            <a:prstDash val="solid"/>
          </a:ln>
        </p:spPr>
      </p:sp>
      <p:sp>
        <p:nvSpPr>
          <p:cNvPr id="14" name="Text 12"/>
          <p:cNvSpPr/>
          <p:nvPr/>
        </p:nvSpPr>
        <p:spPr>
          <a:xfrm>
            <a:off x="960120" y="2176272"/>
            <a:ext cx="1197864" cy="164592"/>
          </a:xfrm>
          <a:prstGeom prst="rect">
            <a:avLst/>
          </a:prstGeom>
          <a:noFill/>
          <a:ln/>
        </p:spPr>
        <p:txBody>
          <a:bodyPr wrap="square" lIns="0" tIns="0" rIns="0" bIns="0" rtlCol="0" anchor="ctr">
            <a:normAutofit/>
          </a:bodyPr>
          <a:lstStyle/>
          <a:p>
            <a:pPr algn="ctr" indent="0" marL="0">
              <a:buNone/>
            </a:pPr>
            <a:r>
              <a:rPr lang="en-US" sz="980" b="1" dirty="0">
                <a:solidFill>
                  <a:srgbClr val="FFFFFF"/>
                </a:solidFill>
                <a:latin typeface="Segoe UI Semibold" pitchFamily="34" charset="0"/>
                <a:ea typeface="Segoe UI Semibold" pitchFamily="34" charset="-122"/>
                <a:cs typeface="Segoe UI Semibold" pitchFamily="34" charset="-120"/>
              </a:rPr>
              <a:t>DEMO TWIN</a:t>
            </a:r>
            <a:endParaRPr lang="en-US" sz="980" dirty="0"/>
          </a:p>
        </p:txBody>
      </p:sp>
      <p:sp>
        <p:nvSpPr>
          <p:cNvPr id="15" name="Text 13"/>
          <p:cNvSpPr/>
          <p:nvPr/>
        </p:nvSpPr>
        <p:spPr>
          <a:xfrm>
            <a:off x="896112" y="2651760"/>
            <a:ext cx="1828800" cy="274320"/>
          </a:xfrm>
          <a:prstGeom prst="rect">
            <a:avLst/>
          </a:prstGeom>
          <a:noFill/>
          <a:ln/>
        </p:spPr>
        <p:txBody>
          <a:bodyPr wrap="square" lIns="0" tIns="0" rIns="0" bIns="0" rtlCol="0" anchor="ctr"/>
          <a:lstStyle/>
          <a:p>
            <a:pPr indent="0" marL="0">
              <a:buNone/>
            </a:pPr>
            <a:r>
              <a:rPr lang="en-US" sz="2100" b="1" dirty="0">
                <a:solidFill>
                  <a:srgbClr val="0B560B"/>
                </a:solidFill>
                <a:latin typeface="Segoe UI Semibold" pitchFamily="34" charset="0"/>
                <a:ea typeface="Segoe UI Semibold" pitchFamily="34" charset="-122"/>
                <a:cs typeface="Segoe UI Semibold" pitchFamily="34" charset="-120"/>
              </a:rPr>
              <a:t>Safe proof</a:t>
            </a:r>
            <a:endParaRPr lang="en-US" sz="2100" dirty="0"/>
          </a:p>
        </p:txBody>
      </p:sp>
      <p:sp>
        <p:nvSpPr>
          <p:cNvPr id="16" name="Shape 14"/>
          <p:cNvSpPr/>
          <p:nvPr/>
        </p:nvSpPr>
        <p:spPr>
          <a:xfrm>
            <a:off x="896112" y="3236976"/>
            <a:ext cx="228600" cy="228600"/>
          </a:xfrm>
          <a:prstGeom prst="ellipse">
            <a:avLst/>
          </a:prstGeom>
          <a:solidFill>
            <a:srgbClr val="DFF6DD"/>
          </a:solidFill>
          <a:ln w="12700">
            <a:solidFill>
              <a:srgbClr val="107C10"/>
            </a:solidFill>
            <a:prstDash val="solid"/>
          </a:ln>
        </p:spPr>
      </p:sp>
      <p:sp>
        <p:nvSpPr>
          <p:cNvPr id="17" name="Text 15"/>
          <p:cNvSpPr/>
          <p:nvPr/>
        </p:nvSpPr>
        <p:spPr>
          <a:xfrm>
            <a:off x="934517" y="3251606"/>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18" name="Text 16"/>
          <p:cNvSpPr/>
          <p:nvPr/>
        </p:nvSpPr>
        <p:spPr>
          <a:xfrm>
            <a:off x="1225296" y="3218688"/>
            <a:ext cx="39684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Synthetic data</a:t>
            </a:r>
            <a:pPr indent="0" marL="0">
              <a:buNone/>
            </a:pPr>
            <a:r>
              <a:rPr lang="en-US" sz="1320" dirty="0">
                <a:solidFill>
                  <a:srgbClr val="3B3A39"/>
                </a:solidFill>
                <a:latin typeface="Segoe UI" pitchFamily="34" charset="0"/>
                <a:ea typeface="Segoe UI" pitchFamily="34" charset="-122"/>
                <a:cs typeface="Segoe UI" pitchFamily="34" charset="-120"/>
              </a:rPr>
              <a:t xml:space="preserve">  No production records.</a:t>
            </a:r>
            <a:endParaRPr lang="en-US" sz="1320" dirty="0"/>
          </a:p>
        </p:txBody>
      </p:sp>
      <p:sp>
        <p:nvSpPr>
          <p:cNvPr id="19" name="Shape 17"/>
          <p:cNvSpPr/>
          <p:nvPr/>
        </p:nvSpPr>
        <p:spPr>
          <a:xfrm>
            <a:off x="896112" y="3785616"/>
            <a:ext cx="228600" cy="228600"/>
          </a:xfrm>
          <a:prstGeom prst="ellipse">
            <a:avLst/>
          </a:prstGeom>
          <a:solidFill>
            <a:srgbClr val="DFF6DD"/>
          </a:solidFill>
          <a:ln w="12700">
            <a:solidFill>
              <a:srgbClr val="107C10"/>
            </a:solidFill>
            <a:prstDash val="solid"/>
          </a:ln>
        </p:spPr>
      </p:sp>
      <p:sp>
        <p:nvSpPr>
          <p:cNvPr id="20" name="Text 18"/>
          <p:cNvSpPr/>
          <p:nvPr/>
        </p:nvSpPr>
        <p:spPr>
          <a:xfrm>
            <a:off x="934517" y="3800246"/>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21" name="Text 19"/>
          <p:cNvSpPr/>
          <p:nvPr/>
        </p:nvSpPr>
        <p:spPr>
          <a:xfrm>
            <a:off x="1225296" y="3767328"/>
            <a:ext cx="39684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Zero connections</a:t>
            </a:r>
            <a:pPr indent="0" marL="0">
              <a:buNone/>
            </a:pPr>
            <a:r>
              <a:rPr lang="en-US" sz="1320" dirty="0">
                <a:solidFill>
                  <a:srgbClr val="3B3A39"/>
                </a:solidFill>
                <a:latin typeface="Segoe UI" pitchFamily="34" charset="0"/>
                <a:ea typeface="Segoe UI" pitchFamily="34" charset="-122"/>
                <a:cs typeface="Segoe UI" pitchFamily="34" charset="-120"/>
              </a:rPr>
              <a:t xml:space="preserve">  Works immediately.</a:t>
            </a:r>
            <a:endParaRPr lang="en-US" sz="1320" dirty="0"/>
          </a:p>
        </p:txBody>
      </p:sp>
      <p:sp>
        <p:nvSpPr>
          <p:cNvPr id="22" name="Shape 20"/>
          <p:cNvSpPr/>
          <p:nvPr/>
        </p:nvSpPr>
        <p:spPr>
          <a:xfrm>
            <a:off x="896112" y="4334256"/>
            <a:ext cx="228600" cy="228600"/>
          </a:xfrm>
          <a:prstGeom prst="ellipse">
            <a:avLst/>
          </a:prstGeom>
          <a:solidFill>
            <a:srgbClr val="DFF6DD"/>
          </a:solidFill>
          <a:ln w="12700">
            <a:solidFill>
              <a:srgbClr val="107C10"/>
            </a:solidFill>
            <a:prstDash val="solid"/>
          </a:ln>
        </p:spPr>
      </p:sp>
      <p:sp>
        <p:nvSpPr>
          <p:cNvPr id="23" name="Text 21"/>
          <p:cNvSpPr/>
          <p:nvPr/>
        </p:nvSpPr>
        <p:spPr>
          <a:xfrm>
            <a:off x="934517" y="4348886"/>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24" name="Text 22"/>
          <p:cNvSpPr/>
          <p:nvPr/>
        </p:nvSpPr>
        <p:spPr>
          <a:xfrm>
            <a:off x="1225296" y="4315968"/>
            <a:ext cx="396849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Same scenario</a:t>
            </a:r>
            <a:pPr indent="0" marL="0">
              <a:buNone/>
            </a:pPr>
            <a:r>
              <a:rPr lang="en-US" sz="1320" dirty="0">
                <a:solidFill>
                  <a:srgbClr val="3B3A39"/>
                </a:solidFill>
                <a:latin typeface="Segoe UI" pitchFamily="34" charset="0"/>
                <a:ea typeface="Segoe UI" pitchFamily="34" charset="-122"/>
                <a:cs typeface="Segoe UI" pitchFamily="34" charset="-120"/>
              </a:rPr>
              <a:t xml:space="preserve">  Use it to prove behavior.</a:t>
            </a:r>
            <a:endParaRPr lang="en-US" sz="1320" dirty="0"/>
          </a:p>
        </p:txBody>
      </p:sp>
      <p:sp>
        <p:nvSpPr>
          <p:cNvPr id="25" name="Shape 23"/>
          <p:cNvSpPr/>
          <p:nvPr/>
        </p:nvSpPr>
        <p:spPr>
          <a:xfrm>
            <a:off x="6327648" y="1828800"/>
            <a:ext cx="5266944" cy="3182112"/>
          </a:xfrm>
          <a:prstGeom prst="roundRect">
            <a:avLst/>
          </a:prstGeom>
          <a:solidFill>
            <a:srgbClr val="EAF4FD"/>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26" name="Shape 24"/>
          <p:cNvSpPr/>
          <p:nvPr/>
        </p:nvSpPr>
        <p:spPr>
          <a:xfrm>
            <a:off x="6629400" y="2121408"/>
            <a:ext cx="1600200" cy="310896"/>
          </a:xfrm>
          <a:prstGeom prst="roundRect">
            <a:avLst/>
          </a:prstGeom>
          <a:solidFill>
            <a:srgbClr val="0078D4"/>
          </a:solidFill>
          <a:ln w="12700">
            <a:solidFill>
              <a:srgbClr val="0078D4">
                <a:alpha val="0"/>
              </a:srgbClr>
            </a:solidFill>
            <a:prstDash val="solid"/>
          </a:ln>
        </p:spPr>
      </p:sp>
      <p:sp>
        <p:nvSpPr>
          <p:cNvPr id="27" name="Text 25"/>
          <p:cNvSpPr/>
          <p:nvPr/>
        </p:nvSpPr>
        <p:spPr>
          <a:xfrm>
            <a:off x="6693408" y="2176272"/>
            <a:ext cx="1472184" cy="164592"/>
          </a:xfrm>
          <a:prstGeom prst="rect">
            <a:avLst/>
          </a:prstGeom>
          <a:noFill/>
          <a:ln/>
        </p:spPr>
        <p:txBody>
          <a:bodyPr wrap="square" lIns="0" tIns="0" rIns="0" bIns="0" rtlCol="0" anchor="ctr">
            <a:normAutofit/>
          </a:bodyPr>
          <a:lstStyle/>
          <a:p>
            <a:pPr algn="ctr" indent="0" marL="0">
              <a:buNone/>
            </a:pPr>
            <a:r>
              <a:rPr lang="en-US" sz="980" b="1" dirty="0">
                <a:solidFill>
                  <a:srgbClr val="FFFFFF"/>
                </a:solidFill>
                <a:latin typeface="Segoe UI Semibold" pitchFamily="34" charset="0"/>
                <a:ea typeface="Segoe UI Semibold" pitchFamily="34" charset="-122"/>
                <a:cs typeface="Segoe UI Semibold" pitchFamily="34" charset="-120"/>
              </a:rPr>
              <a:t>LIVE PROTOTYPE</a:t>
            </a:r>
            <a:endParaRPr lang="en-US" sz="980" dirty="0"/>
          </a:p>
        </p:txBody>
      </p:sp>
      <p:sp>
        <p:nvSpPr>
          <p:cNvPr id="28" name="Text 26"/>
          <p:cNvSpPr/>
          <p:nvPr/>
        </p:nvSpPr>
        <p:spPr>
          <a:xfrm>
            <a:off x="6629400" y="2651760"/>
            <a:ext cx="2651760" cy="274320"/>
          </a:xfrm>
          <a:prstGeom prst="rect">
            <a:avLst/>
          </a:prstGeom>
          <a:noFill/>
          <a:ln/>
        </p:spPr>
        <p:txBody>
          <a:bodyPr wrap="square" lIns="0" tIns="0" rIns="0" bIns="0" rtlCol="0" anchor="ctr"/>
          <a:lstStyle/>
          <a:p>
            <a:pPr indent="0" marL="0">
              <a:buNone/>
            </a:pPr>
            <a:r>
              <a:rPr lang="en-US" sz="2100" b="1" dirty="0">
                <a:solidFill>
                  <a:srgbClr val="005A9E"/>
                </a:solidFill>
                <a:latin typeface="Segoe UI Semibold" pitchFamily="34" charset="0"/>
                <a:ea typeface="Segoe UI Semibold" pitchFamily="34" charset="-122"/>
                <a:cs typeface="Segoe UI Semibold" pitchFamily="34" charset="-120"/>
              </a:rPr>
              <a:t>Migration contract</a:t>
            </a:r>
            <a:endParaRPr lang="en-US" sz="2100" dirty="0"/>
          </a:p>
        </p:txBody>
      </p:sp>
      <p:sp>
        <p:nvSpPr>
          <p:cNvPr id="29" name="Shape 27"/>
          <p:cNvSpPr/>
          <p:nvPr/>
        </p:nvSpPr>
        <p:spPr>
          <a:xfrm>
            <a:off x="6629400" y="3236976"/>
            <a:ext cx="228600" cy="228600"/>
          </a:xfrm>
          <a:prstGeom prst="ellipse">
            <a:avLst/>
          </a:prstGeom>
          <a:solidFill>
            <a:srgbClr val="DCEEFF"/>
          </a:solidFill>
          <a:ln w="12700">
            <a:solidFill>
              <a:srgbClr val="0078D4"/>
            </a:solidFill>
            <a:prstDash val="solid"/>
          </a:ln>
        </p:spPr>
      </p:sp>
      <p:sp>
        <p:nvSpPr>
          <p:cNvPr id="30" name="Text 28"/>
          <p:cNvSpPr/>
          <p:nvPr/>
        </p:nvSpPr>
        <p:spPr>
          <a:xfrm>
            <a:off x="6667805" y="3251606"/>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31" name="Text 29"/>
          <p:cNvSpPr/>
          <p:nvPr/>
        </p:nvSpPr>
        <p:spPr>
          <a:xfrm>
            <a:off x="6958584" y="3218688"/>
            <a:ext cx="401421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Real connector steps</a:t>
            </a:r>
            <a:pPr indent="0" marL="0">
              <a:buNone/>
            </a:pPr>
            <a:r>
              <a:rPr lang="en-US" sz="1320" dirty="0">
                <a:solidFill>
                  <a:srgbClr val="3B3A39"/>
                </a:solidFill>
                <a:latin typeface="Segoe UI" pitchFamily="34" charset="0"/>
                <a:ea typeface="Segoe UI" pitchFamily="34" charset="-122"/>
                <a:cs typeface="Segoe UI" pitchFamily="34" charset="-120"/>
              </a:rPr>
              <a:t xml:space="preserve">  Named from the source.</a:t>
            </a:r>
            <a:endParaRPr lang="en-US" sz="1320" dirty="0"/>
          </a:p>
        </p:txBody>
      </p:sp>
      <p:sp>
        <p:nvSpPr>
          <p:cNvPr id="32" name="Shape 30"/>
          <p:cNvSpPr/>
          <p:nvPr/>
        </p:nvSpPr>
        <p:spPr>
          <a:xfrm>
            <a:off x="6629400" y="3785616"/>
            <a:ext cx="228600" cy="228600"/>
          </a:xfrm>
          <a:prstGeom prst="ellipse">
            <a:avLst/>
          </a:prstGeom>
          <a:solidFill>
            <a:srgbClr val="DCEEFF"/>
          </a:solidFill>
          <a:ln w="12700">
            <a:solidFill>
              <a:srgbClr val="0078D4"/>
            </a:solidFill>
            <a:prstDash val="solid"/>
          </a:ln>
        </p:spPr>
      </p:sp>
      <p:sp>
        <p:nvSpPr>
          <p:cNvPr id="33" name="Text 31"/>
          <p:cNvSpPr/>
          <p:nvPr/>
        </p:nvSpPr>
        <p:spPr>
          <a:xfrm>
            <a:off x="6667805" y="3800246"/>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34" name="Text 32"/>
          <p:cNvSpPr/>
          <p:nvPr/>
        </p:nvSpPr>
        <p:spPr>
          <a:xfrm>
            <a:off x="6958584" y="3767328"/>
            <a:ext cx="401421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Connection references</a:t>
            </a:r>
            <a:pPr indent="0" marL="0">
              <a:buNone/>
            </a:pPr>
            <a:r>
              <a:rPr lang="en-US" sz="1320" dirty="0">
                <a:solidFill>
                  <a:srgbClr val="3B3A39"/>
                </a:solidFill>
                <a:latin typeface="Segoe UI" pitchFamily="34" charset="0"/>
                <a:ea typeface="Segoe UI" pitchFamily="34" charset="-122"/>
                <a:cs typeface="Segoe UI" pitchFamily="34" charset="-120"/>
              </a:rPr>
              <a:t xml:space="preserve">  Bind after import.</a:t>
            </a:r>
            <a:endParaRPr lang="en-US" sz="1320" dirty="0"/>
          </a:p>
        </p:txBody>
      </p:sp>
      <p:sp>
        <p:nvSpPr>
          <p:cNvPr id="35" name="Shape 33"/>
          <p:cNvSpPr/>
          <p:nvPr/>
        </p:nvSpPr>
        <p:spPr>
          <a:xfrm>
            <a:off x="6629400" y="4334256"/>
            <a:ext cx="228600" cy="228600"/>
          </a:xfrm>
          <a:prstGeom prst="ellipse">
            <a:avLst/>
          </a:prstGeom>
          <a:solidFill>
            <a:srgbClr val="DCEEFF"/>
          </a:solidFill>
          <a:ln w="12700">
            <a:solidFill>
              <a:srgbClr val="0078D4"/>
            </a:solidFill>
            <a:prstDash val="solid"/>
          </a:ln>
        </p:spPr>
      </p:sp>
      <p:sp>
        <p:nvSpPr>
          <p:cNvPr id="36" name="Text 34"/>
          <p:cNvSpPr/>
          <p:nvPr/>
        </p:nvSpPr>
        <p:spPr>
          <a:xfrm>
            <a:off x="6667805" y="4348886"/>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37" name="Text 35"/>
          <p:cNvSpPr/>
          <p:nvPr/>
        </p:nvSpPr>
        <p:spPr>
          <a:xfrm>
            <a:off x="6958584" y="4315968"/>
            <a:ext cx="4014216" cy="310896"/>
          </a:xfrm>
          <a:prstGeom prst="rect">
            <a:avLst/>
          </a:prstGeom>
          <a:noFill/>
          <a:ln/>
        </p:spPr>
        <p:txBody>
          <a:bodyPr wrap="square" lIns="0" tIns="0" rIns="0" bIns="0" rtlCol="0" anchor="ctr">
            <a:normAutofit/>
          </a:bodyPr>
          <a:lstStyle/>
          <a:p>
            <a:pPr indent="0" marL="0">
              <a:buNone/>
            </a:pPr>
            <a:r>
              <a:rPr lang="en-US" sz="1320" b="1" dirty="0">
                <a:solidFill>
                  <a:srgbClr val="1B1A19"/>
                </a:solidFill>
                <a:latin typeface="Segoe UI" pitchFamily="34" charset="0"/>
                <a:ea typeface="Segoe UI" pitchFamily="34" charset="-122"/>
                <a:cs typeface="Segoe UI" pitchFamily="34" charset="-120"/>
              </a:rPr>
              <a:t>README guidance</a:t>
            </a:r>
            <a:pPr indent="0" marL="0">
              <a:buNone/>
            </a:pPr>
            <a:r>
              <a:rPr lang="en-US" sz="1320" dirty="0">
                <a:solidFill>
                  <a:srgbClr val="3B3A39"/>
                </a:solidFill>
                <a:latin typeface="Segoe UI" pitchFamily="34" charset="0"/>
                <a:ea typeface="Segoe UI" pitchFamily="34" charset="-122"/>
                <a:cs typeface="Segoe UI" pitchFamily="34" charset="-120"/>
              </a:rPr>
              <a:t xml:space="preserve">  Flow-level go-live steps.</a:t>
            </a:r>
            <a:endParaRPr lang="en-US" sz="1320" dirty="0"/>
          </a:p>
        </p:txBody>
      </p:sp>
      <p:sp>
        <p:nvSpPr>
          <p:cNvPr id="38" name="Text 36"/>
          <p:cNvSpPr/>
          <p:nvPr/>
        </p:nvSpPr>
        <p:spPr>
          <a:xfrm>
            <a:off x="640080" y="5413248"/>
            <a:ext cx="1645920" cy="182880"/>
          </a:xfrm>
          <a:prstGeom prst="rect">
            <a:avLst/>
          </a:prstGeom>
          <a:noFill/>
          <a:ln/>
        </p:spPr>
        <p:txBody>
          <a:bodyPr wrap="square" lIns="0" tIns="0" rIns="0" bIns="0" rtlCol="0" anchor="ctr"/>
          <a:lstStyle/>
          <a:p>
            <a:pPr indent="0" marL="0">
              <a:buNone/>
            </a:pPr>
            <a:r>
              <a:rPr lang="en-US" sz="950" b="1" spc="100" kern="0" dirty="0">
                <a:solidFill>
                  <a:srgbClr val="605E5C"/>
                </a:solidFill>
                <a:latin typeface="Segoe UI Semibold" pitchFamily="34" charset="0"/>
                <a:ea typeface="Segoe UI Semibold" pitchFamily="34" charset="-122"/>
                <a:cs typeface="Segoe UI Semibold" pitchFamily="34" charset="-120"/>
              </a:rPr>
              <a:t>DOWNLOAD + REVIEW</a:t>
            </a:r>
            <a:endParaRPr lang="en-US" sz="950" dirty="0"/>
          </a:p>
        </p:txBody>
      </p:sp>
      <p:sp>
        <p:nvSpPr>
          <p:cNvPr id="39" name="Shape 37"/>
          <p:cNvSpPr/>
          <p:nvPr/>
        </p:nvSpPr>
        <p:spPr>
          <a:xfrm>
            <a:off x="2212848" y="5321808"/>
            <a:ext cx="1600200" cy="310896"/>
          </a:xfrm>
          <a:prstGeom prst="roundRect">
            <a:avLst/>
          </a:prstGeom>
          <a:solidFill>
            <a:srgbClr val="DCEEFF"/>
          </a:solidFill>
          <a:ln w="12700">
            <a:solidFill>
              <a:srgbClr val="DCEEFF">
                <a:alpha val="0"/>
              </a:srgbClr>
            </a:solidFill>
            <a:prstDash val="solid"/>
          </a:ln>
        </p:spPr>
      </p:sp>
      <p:sp>
        <p:nvSpPr>
          <p:cNvPr id="40" name="Text 38"/>
          <p:cNvSpPr/>
          <p:nvPr/>
        </p:nvSpPr>
        <p:spPr>
          <a:xfrm>
            <a:off x="2276856" y="5376672"/>
            <a:ext cx="1472184" cy="164592"/>
          </a:xfrm>
          <a:prstGeom prst="rect">
            <a:avLst/>
          </a:prstGeom>
          <a:noFill/>
          <a:ln/>
        </p:spPr>
        <p:txBody>
          <a:bodyPr wrap="square" lIns="0" tIns="0" rIns="0" bIns="0" rtlCol="0" anchor="ctr">
            <a:normAutofit/>
          </a:bodyPr>
          <a:lstStyle/>
          <a:p>
            <a:pPr algn="ctr" indent="0" marL="0">
              <a:buNone/>
            </a:pPr>
            <a:r>
              <a:rPr lang="en-US" sz="950" b="1" dirty="0">
                <a:solidFill>
                  <a:srgbClr val="005A9E"/>
                </a:solidFill>
                <a:latin typeface="Segoe UI Semibold" pitchFamily="34" charset="0"/>
                <a:ea typeface="Segoe UI Semibold" pitchFamily="34" charset="-122"/>
                <a:cs typeface="Segoe UI Semibold" pitchFamily="34" charset="-120"/>
              </a:rPr>
              <a:t>live_solution.zip</a:t>
            </a:r>
            <a:endParaRPr lang="en-US" sz="950" dirty="0"/>
          </a:p>
        </p:txBody>
      </p:sp>
      <p:sp>
        <p:nvSpPr>
          <p:cNvPr id="41" name="Shape 39"/>
          <p:cNvSpPr/>
          <p:nvPr/>
        </p:nvSpPr>
        <p:spPr>
          <a:xfrm>
            <a:off x="4005072" y="5321808"/>
            <a:ext cx="1508760" cy="310896"/>
          </a:xfrm>
          <a:prstGeom prst="roundRect">
            <a:avLst/>
          </a:prstGeom>
          <a:solidFill>
            <a:srgbClr val="DFF6DD"/>
          </a:solidFill>
          <a:ln w="12700">
            <a:solidFill>
              <a:srgbClr val="DFF6DD">
                <a:alpha val="0"/>
              </a:srgbClr>
            </a:solidFill>
            <a:prstDash val="solid"/>
          </a:ln>
        </p:spPr>
      </p:sp>
      <p:sp>
        <p:nvSpPr>
          <p:cNvPr id="42" name="Text 40"/>
          <p:cNvSpPr/>
          <p:nvPr/>
        </p:nvSpPr>
        <p:spPr>
          <a:xfrm>
            <a:off x="4069080" y="5376672"/>
            <a:ext cx="1380744" cy="164592"/>
          </a:xfrm>
          <a:prstGeom prst="rect">
            <a:avLst/>
          </a:prstGeom>
          <a:noFill/>
          <a:ln/>
        </p:spPr>
        <p:txBody>
          <a:bodyPr wrap="square" lIns="0" tIns="0" rIns="0" bIns="0" rtlCol="0" anchor="ctr">
            <a:normAutofit/>
          </a:bodyPr>
          <a:lstStyle/>
          <a:p>
            <a:pPr algn="ctr" indent="0" marL="0">
              <a:buNone/>
            </a:pPr>
            <a:r>
              <a:rPr lang="en-US" sz="950" b="1" dirty="0">
                <a:solidFill>
                  <a:srgbClr val="0B560B"/>
                </a:solidFill>
                <a:latin typeface="Segoe UI Semibold" pitchFamily="34" charset="0"/>
                <a:ea typeface="Segoe UI Semibold" pitchFamily="34" charset="-122"/>
                <a:cs typeface="Segoe UI Semibold" pitchFamily="34" charset="-120"/>
              </a:rPr>
              <a:t>demo_twin.zip</a:t>
            </a:r>
            <a:endParaRPr lang="en-US" sz="950" dirty="0"/>
          </a:p>
        </p:txBody>
      </p:sp>
      <p:sp>
        <p:nvSpPr>
          <p:cNvPr id="43" name="Shape 41"/>
          <p:cNvSpPr/>
          <p:nvPr/>
        </p:nvSpPr>
        <p:spPr>
          <a:xfrm>
            <a:off x="5696712" y="5321808"/>
            <a:ext cx="1417320" cy="310896"/>
          </a:xfrm>
          <a:prstGeom prst="roundRect">
            <a:avLst/>
          </a:prstGeom>
          <a:solidFill>
            <a:srgbClr val="F3F2F1"/>
          </a:solidFill>
          <a:ln w="12700">
            <a:solidFill>
              <a:srgbClr val="F3F2F1">
                <a:alpha val="0"/>
              </a:srgbClr>
            </a:solidFill>
            <a:prstDash val="solid"/>
          </a:ln>
        </p:spPr>
      </p:sp>
      <p:sp>
        <p:nvSpPr>
          <p:cNvPr id="44" name="Text 42"/>
          <p:cNvSpPr/>
          <p:nvPr/>
        </p:nvSpPr>
        <p:spPr>
          <a:xfrm>
            <a:off x="5760720" y="5376672"/>
            <a:ext cx="1289304" cy="164592"/>
          </a:xfrm>
          <a:prstGeom prst="rect">
            <a:avLst/>
          </a:prstGeom>
          <a:noFill/>
          <a:ln/>
        </p:spPr>
        <p:txBody>
          <a:bodyPr wrap="square" lIns="0" tIns="0" rIns="0" bIns="0" rtlCol="0" anchor="ctr">
            <a:normAutofit/>
          </a:bodyPr>
          <a:lstStyle/>
          <a:p>
            <a:pPr algn="ctr" indent="0" marL="0">
              <a:buNone/>
            </a:pPr>
            <a:r>
              <a:rPr lang="en-US" sz="950" b="1" dirty="0">
                <a:solidFill>
                  <a:srgbClr val="3B3A39"/>
                </a:solidFill>
                <a:latin typeface="Segoe UI Semibold" pitchFamily="34" charset="0"/>
                <a:ea typeface="Segoe UI Semibold" pitchFamily="34" charset="-122"/>
                <a:cs typeface="Segoe UI Semibold" pitchFamily="34" charset="-120"/>
              </a:rPr>
              <a:t>agent.py files</a:t>
            </a:r>
            <a:endParaRPr lang="en-US" sz="950" dirty="0"/>
          </a:p>
        </p:txBody>
      </p:sp>
      <p:sp>
        <p:nvSpPr>
          <p:cNvPr id="45" name="Shape 43"/>
          <p:cNvSpPr/>
          <p:nvPr/>
        </p:nvSpPr>
        <p:spPr>
          <a:xfrm>
            <a:off x="7296912" y="5321808"/>
            <a:ext cx="1371600" cy="310896"/>
          </a:xfrm>
          <a:prstGeom prst="roundRect">
            <a:avLst/>
          </a:prstGeom>
          <a:solidFill>
            <a:srgbClr val="F9E3DB"/>
          </a:solidFill>
          <a:ln w="12700">
            <a:solidFill>
              <a:srgbClr val="F9E3DB">
                <a:alpha val="0"/>
              </a:srgbClr>
            </a:solidFill>
            <a:prstDash val="solid"/>
          </a:ln>
        </p:spPr>
      </p:sp>
      <p:sp>
        <p:nvSpPr>
          <p:cNvPr id="46" name="Text 44"/>
          <p:cNvSpPr/>
          <p:nvPr/>
        </p:nvSpPr>
        <p:spPr>
          <a:xfrm>
            <a:off x="7360920" y="5376672"/>
            <a:ext cx="1243584" cy="164592"/>
          </a:xfrm>
          <a:prstGeom prst="rect">
            <a:avLst/>
          </a:prstGeom>
          <a:noFill/>
          <a:ln/>
        </p:spPr>
        <p:txBody>
          <a:bodyPr wrap="square" lIns="0" tIns="0" rIns="0" bIns="0" rtlCol="0" anchor="ctr">
            <a:normAutofit/>
          </a:bodyPr>
          <a:lstStyle/>
          <a:p>
            <a:pPr algn="ctr" indent="0" marL="0">
              <a:buNone/>
            </a:pPr>
            <a:r>
              <a:rPr lang="en-US" sz="950" b="1" dirty="0">
                <a:solidFill>
                  <a:srgbClr val="972900"/>
                </a:solidFill>
                <a:latin typeface="Segoe UI Semibold" pitchFamily="34" charset="0"/>
                <a:ea typeface="Segoe UI Semibold" pitchFamily="34" charset="-122"/>
                <a:cs typeface="Segoe UI Semibold" pitchFamily="34" charset="-120"/>
              </a:rPr>
              <a:t>demo driver</a:t>
            </a:r>
            <a:endParaRPr lang="en-US" sz="950" dirty="0"/>
          </a:p>
        </p:txBody>
      </p:sp>
      <p:sp>
        <p:nvSpPr>
          <p:cNvPr id="47" name="Text 45"/>
          <p:cNvSpPr/>
          <p:nvPr/>
        </p:nvSpPr>
        <p:spPr>
          <a:xfrm>
            <a:off x="1325880" y="5056632"/>
            <a:ext cx="9509760" cy="201168"/>
          </a:xfrm>
          <a:prstGeom prst="rect">
            <a:avLst/>
          </a:prstGeom>
          <a:noFill/>
          <a:ln/>
        </p:spPr>
        <p:txBody>
          <a:bodyPr wrap="square" lIns="0" tIns="0" rIns="0" bIns="0" rtlCol="0" anchor="ctr">
            <a:normAutofit/>
          </a:bodyPr>
          <a:lstStyle/>
          <a:p>
            <a:pPr algn="ctr" indent="0" marL="0">
              <a:buNone/>
            </a:pPr>
            <a:r>
              <a:rPr lang="en-US" sz="1070" b="1" dirty="0">
                <a:solidFill>
                  <a:srgbClr val="103A6B"/>
                </a:solidFill>
                <a:latin typeface="Segoe UI Semibold" pitchFamily="34" charset="0"/>
                <a:ea typeface="Segoe UI Semibold" pitchFamily="34" charset="-122"/>
                <a:cs typeface="Segoe UI Semibold" pitchFamily="34" charset="-120"/>
              </a:rPr>
              <a:t>REVIEW: Does every capability trace to the confirmed MVP? Are systems and write actions honest?</a:t>
            </a:r>
            <a:endParaRPr lang="en-US" sz="1070" dirty="0"/>
          </a:p>
        </p:txBody>
      </p:sp>
      <p:sp>
        <p:nvSpPr>
          <p:cNvPr id="48" name="Shape 46"/>
          <p:cNvSpPr/>
          <p:nvPr/>
        </p:nvSpPr>
        <p:spPr>
          <a:xfrm>
            <a:off x="658368" y="5870448"/>
            <a:ext cx="2057400" cy="429768"/>
          </a:xfrm>
          <a:prstGeom prst="roundRect">
            <a:avLst/>
          </a:prstGeom>
          <a:solidFill>
            <a:srgbClr val="DFF6DD"/>
          </a:solidFill>
          <a:ln w="12700">
            <a:solidFill>
              <a:srgbClr val="107C10"/>
            </a:solidFill>
            <a:prstDash val="solid"/>
          </a:ln>
        </p:spPr>
      </p:sp>
      <p:sp>
        <p:nvSpPr>
          <p:cNvPr id="49" name="Shape 47"/>
          <p:cNvSpPr/>
          <p:nvPr/>
        </p:nvSpPr>
        <p:spPr>
          <a:xfrm>
            <a:off x="749808" y="5957316"/>
            <a:ext cx="256032" cy="256032"/>
          </a:xfrm>
          <a:prstGeom prst="ellipse">
            <a:avLst/>
          </a:prstGeom>
          <a:solidFill>
            <a:srgbClr val="107C10"/>
          </a:solidFill>
          <a:ln w="10160">
            <a:solidFill>
              <a:srgbClr val="107C10"/>
            </a:solidFill>
            <a:prstDash val="solid"/>
          </a:ln>
        </p:spPr>
      </p:sp>
      <p:sp>
        <p:nvSpPr>
          <p:cNvPr id="50" name="Text 48"/>
          <p:cNvSpPr/>
          <p:nvPr/>
        </p:nvSpPr>
        <p:spPr>
          <a:xfrm>
            <a:off x="77724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51" name="Text 49"/>
          <p:cNvSpPr/>
          <p:nvPr/>
        </p:nvSpPr>
        <p:spPr>
          <a:xfrm>
            <a:off x="106984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Sign in</a:t>
            </a:r>
            <a:endParaRPr lang="en-US" sz="1050" dirty="0"/>
          </a:p>
        </p:txBody>
      </p:sp>
      <p:sp>
        <p:nvSpPr>
          <p:cNvPr id="52" name="Shape 50"/>
          <p:cNvSpPr/>
          <p:nvPr/>
        </p:nvSpPr>
        <p:spPr>
          <a:xfrm>
            <a:off x="2852928" y="5870448"/>
            <a:ext cx="2057400" cy="429768"/>
          </a:xfrm>
          <a:prstGeom prst="roundRect">
            <a:avLst/>
          </a:prstGeom>
          <a:solidFill>
            <a:srgbClr val="DFF6DD"/>
          </a:solidFill>
          <a:ln w="12700">
            <a:solidFill>
              <a:srgbClr val="107C10"/>
            </a:solidFill>
            <a:prstDash val="solid"/>
          </a:ln>
        </p:spPr>
      </p:sp>
      <p:sp>
        <p:nvSpPr>
          <p:cNvPr id="53" name="Shape 51"/>
          <p:cNvSpPr/>
          <p:nvPr/>
        </p:nvSpPr>
        <p:spPr>
          <a:xfrm>
            <a:off x="2944368" y="5957316"/>
            <a:ext cx="256032" cy="256032"/>
          </a:xfrm>
          <a:prstGeom prst="ellipse">
            <a:avLst/>
          </a:prstGeom>
          <a:solidFill>
            <a:srgbClr val="107C10"/>
          </a:solidFill>
          <a:ln w="10160">
            <a:solidFill>
              <a:srgbClr val="107C10"/>
            </a:solidFill>
            <a:prstDash val="solid"/>
          </a:ln>
        </p:spPr>
      </p:sp>
      <p:sp>
        <p:nvSpPr>
          <p:cNvPr id="54" name="Text 52"/>
          <p:cNvSpPr/>
          <p:nvPr/>
        </p:nvSpPr>
        <p:spPr>
          <a:xfrm>
            <a:off x="297180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55" name="Text 53"/>
          <p:cNvSpPr/>
          <p:nvPr/>
        </p:nvSpPr>
        <p:spPr>
          <a:xfrm>
            <a:off x="326440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Documents</a:t>
            </a:r>
            <a:endParaRPr lang="en-US" sz="1050" dirty="0"/>
          </a:p>
        </p:txBody>
      </p:sp>
      <p:sp>
        <p:nvSpPr>
          <p:cNvPr id="56" name="Shape 54"/>
          <p:cNvSpPr/>
          <p:nvPr/>
        </p:nvSpPr>
        <p:spPr>
          <a:xfrm>
            <a:off x="5047488" y="5870448"/>
            <a:ext cx="2057400" cy="429768"/>
          </a:xfrm>
          <a:prstGeom prst="roundRect">
            <a:avLst/>
          </a:prstGeom>
          <a:solidFill>
            <a:srgbClr val="DFF6DD"/>
          </a:solidFill>
          <a:ln w="12700">
            <a:solidFill>
              <a:srgbClr val="107C10"/>
            </a:solidFill>
            <a:prstDash val="solid"/>
          </a:ln>
        </p:spPr>
      </p:sp>
      <p:sp>
        <p:nvSpPr>
          <p:cNvPr id="57" name="Shape 55"/>
          <p:cNvSpPr/>
          <p:nvPr/>
        </p:nvSpPr>
        <p:spPr>
          <a:xfrm>
            <a:off x="5138928" y="5957316"/>
            <a:ext cx="256032" cy="256032"/>
          </a:xfrm>
          <a:prstGeom prst="ellipse">
            <a:avLst/>
          </a:prstGeom>
          <a:solidFill>
            <a:srgbClr val="107C10"/>
          </a:solidFill>
          <a:ln w="10160">
            <a:solidFill>
              <a:srgbClr val="107C10"/>
            </a:solidFill>
            <a:prstDash val="solid"/>
          </a:ln>
        </p:spPr>
      </p:sp>
      <p:sp>
        <p:nvSpPr>
          <p:cNvPr id="58" name="Text 56"/>
          <p:cNvSpPr/>
          <p:nvPr/>
        </p:nvSpPr>
        <p:spPr>
          <a:xfrm>
            <a:off x="516636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59" name="Text 57"/>
          <p:cNvSpPr/>
          <p:nvPr/>
        </p:nvSpPr>
        <p:spPr>
          <a:xfrm>
            <a:off x="545896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MVP</a:t>
            </a:r>
            <a:endParaRPr lang="en-US" sz="1050" dirty="0"/>
          </a:p>
        </p:txBody>
      </p:sp>
      <p:sp>
        <p:nvSpPr>
          <p:cNvPr id="60" name="Shape 58"/>
          <p:cNvSpPr/>
          <p:nvPr/>
        </p:nvSpPr>
        <p:spPr>
          <a:xfrm>
            <a:off x="7242048" y="5870448"/>
            <a:ext cx="2057400" cy="429768"/>
          </a:xfrm>
          <a:prstGeom prst="roundRect">
            <a:avLst/>
          </a:prstGeom>
          <a:solidFill>
            <a:srgbClr val="8661C5"/>
          </a:solidFill>
          <a:ln w="17780">
            <a:solidFill>
              <a:srgbClr val="8661C5"/>
            </a:solidFill>
            <a:prstDash val="solid"/>
          </a:ln>
        </p:spPr>
      </p:sp>
      <p:sp>
        <p:nvSpPr>
          <p:cNvPr id="61" name="Shape 59"/>
          <p:cNvSpPr/>
          <p:nvPr/>
        </p:nvSpPr>
        <p:spPr>
          <a:xfrm>
            <a:off x="7333488" y="5957316"/>
            <a:ext cx="256032" cy="256032"/>
          </a:xfrm>
          <a:prstGeom prst="ellipse">
            <a:avLst/>
          </a:prstGeom>
          <a:solidFill>
            <a:srgbClr val="FFFFFF"/>
          </a:solidFill>
          <a:ln w="10160">
            <a:solidFill>
              <a:srgbClr val="FFFFFF"/>
            </a:solidFill>
            <a:prstDash val="solid"/>
          </a:ln>
        </p:spPr>
      </p:sp>
      <p:sp>
        <p:nvSpPr>
          <p:cNvPr id="62" name="Text 60"/>
          <p:cNvSpPr/>
          <p:nvPr/>
        </p:nvSpPr>
        <p:spPr>
          <a:xfrm>
            <a:off x="7360920" y="5998464"/>
            <a:ext cx="201168" cy="100584"/>
          </a:xfrm>
          <a:prstGeom prst="rect">
            <a:avLst/>
          </a:prstGeom>
          <a:noFill/>
          <a:ln/>
        </p:spPr>
        <p:txBody>
          <a:bodyPr wrap="square" lIns="0" tIns="0" rIns="0" bIns="0" rtlCol="0" anchor="ctr"/>
          <a:lstStyle/>
          <a:p>
            <a:pPr algn="ctr" indent="0" marL="0">
              <a:buNone/>
            </a:pPr>
            <a:r>
              <a:rPr lang="en-US" sz="800" b="1" dirty="0">
                <a:solidFill>
                  <a:srgbClr val="8661C5"/>
                </a:solidFill>
                <a:latin typeface="Segoe UI Semibold" pitchFamily="34" charset="0"/>
                <a:ea typeface="Segoe UI Semibold" pitchFamily="34" charset="-122"/>
                <a:cs typeface="Segoe UI Semibold" pitchFamily="34" charset="-120"/>
              </a:rPr>
              <a:t>4</a:t>
            </a:r>
            <a:endParaRPr lang="en-US" sz="800" dirty="0"/>
          </a:p>
        </p:txBody>
      </p:sp>
      <p:sp>
        <p:nvSpPr>
          <p:cNvPr id="63" name="Text 61"/>
          <p:cNvSpPr/>
          <p:nvPr/>
        </p:nvSpPr>
        <p:spPr>
          <a:xfrm>
            <a:off x="7653528" y="6003036"/>
            <a:ext cx="1536192" cy="128016"/>
          </a:xfrm>
          <a:prstGeom prst="rect">
            <a:avLst/>
          </a:prstGeom>
          <a:noFill/>
          <a:ln/>
        </p:spPr>
        <p:txBody>
          <a:bodyPr wrap="square" lIns="0" tIns="0" rIns="0" bIns="0" rtlCol="0" anchor="ctr"/>
          <a:lstStyle/>
          <a:p>
            <a:pPr indent="0" marL="0">
              <a:buNone/>
            </a:pPr>
            <a:r>
              <a:rPr lang="en-US" sz="1050" b="1" dirty="0">
                <a:solidFill>
                  <a:srgbClr val="FFFFFF"/>
                </a:solidFill>
                <a:latin typeface="Segoe UI Semibold" pitchFamily="34" charset="0"/>
                <a:ea typeface="Segoe UI Semibold" pitchFamily="34" charset="-122"/>
                <a:cs typeface="Segoe UI Semibold" pitchFamily="34" charset="-120"/>
              </a:rPr>
              <a:t>Review</a:t>
            </a:r>
            <a:endParaRPr lang="en-US" sz="1050" dirty="0"/>
          </a:p>
        </p:txBody>
      </p:sp>
      <p:sp>
        <p:nvSpPr>
          <p:cNvPr id="64" name="Shape 62"/>
          <p:cNvSpPr/>
          <p:nvPr/>
        </p:nvSpPr>
        <p:spPr>
          <a:xfrm>
            <a:off x="9436608" y="5870448"/>
            <a:ext cx="2057400" cy="429768"/>
          </a:xfrm>
          <a:prstGeom prst="roundRect">
            <a:avLst/>
          </a:prstGeom>
          <a:solidFill>
            <a:srgbClr val="FFFFFF"/>
          </a:solidFill>
          <a:ln w="12700">
            <a:solidFill>
              <a:srgbClr val="E1DFDD"/>
            </a:solidFill>
            <a:prstDash val="solid"/>
          </a:ln>
        </p:spPr>
      </p:sp>
      <p:sp>
        <p:nvSpPr>
          <p:cNvPr id="65" name="Shape 63"/>
          <p:cNvSpPr/>
          <p:nvPr/>
        </p:nvSpPr>
        <p:spPr>
          <a:xfrm>
            <a:off x="9528048" y="5957316"/>
            <a:ext cx="256032" cy="256032"/>
          </a:xfrm>
          <a:prstGeom prst="ellipse">
            <a:avLst/>
          </a:prstGeom>
          <a:solidFill>
            <a:srgbClr val="F3F2F1"/>
          </a:solidFill>
          <a:ln w="10160">
            <a:solidFill>
              <a:srgbClr val="E1DFDD"/>
            </a:solidFill>
            <a:prstDash val="solid"/>
          </a:ln>
        </p:spPr>
      </p:sp>
      <p:sp>
        <p:nvSpPr>
          <p:cNvPr id="66" name="Text 64"/>
          <p:cNvSpPr/>
          <p:nvPr/>
        </p:nvSpPr>
        <p:spPr>
          <a:xfrm>
            <a:off x="9555480" y="5998464"/>
            <a:ext cx="201168" cy="100584"/>
          </a:xfrm>
          <a:prstGeom prst="rect">
            <a:avLst/>
          </a:prstGeom>
          <a:noFill/>
          <a:ln/>
        </p:spPr>
        <p:txBody>
          <a:bodyPr wrap="square" lIns="0" tIns="0" rIns="0" bIns="0" rtlCol="0" anchor="ctr"/>
          <a:lstStyle/>
          <a:p>
            <a:pPr algn="ctr" indent="0" marL="0">
              <a:buNone/>
            </a:pPr>
            <a:r>
              <a:rPr lang="en-US" sz="800" b="1" dirty="0">
                <a:solidFill>
                  <a:srgbClr val="605E5C"/>
                </a:solidFill>
                <a:latin typeface="Segoe UI Semibold" pitchFamily="34" charset="0"/>
                <a:ea typeface="Segoe UI Semibold" pitchFamily="34" charset="-122"/>
                <a:cs typeface="Segoe UI Semibold" pitchFamily="34" charset="-120"/>
              </a:rPr>
              <a:t>5</a:t>
            </a:r>
            <a:endParaRPr lang="en-US" sz="800" dirty="0"/>
          </a:p>
        </p:txBody>
      </p:sp>
      <p:sp>
        <p:nvSpPr>
          <p:cNvPr id="67" name="Text 65"/>
          <p:cNvSpPr/>
          <p:nvPr/>
        </p:nvSpPr>
        <p:spPr>
          <a:xfrm>
            <a:off x="9848088" y="6003036"/>
            <a:ext cx="1536192" cy="128016"/>
          </a:xfrm>
          <a:prstGeom prst="rect">
            <a:avLst/>
          </a:prstGeom>
          <a:noFill/>
          <a:ln/>
        </p:spPr>
        <p:txBody>
          <a:bodyPr wrap="square" lIns="0" tIns="0" rIns="0" bIns="0" rtlCol="0" anchor="ctr"/>
          <a:lstStyle/>
          <a:p>
            <a:pPr indent="0" marL="0">
              <a:buNone/>
            </a:pPr>
            <a:r>
              <a:rPr lang="en-US" sz="1050" b="1" dirty="0">
                <a:solidFill>
                  <a:srgbClr val="605E5C"/>
                </a:solidFill>
                <a:latin typeface="Segoe UI Semibold" pitchFamily="34" charset="0"/>
                <a:ea typeface="Segoe UI Semibold" pitchFamily="34" charset="-122"/>
                <a:cs typeface="Segoe UI Semibold" pitchFamily="34" charset="-120"/>
              </a:rPr>
              <a:t>Deploy</a:t>
            </a:r>
            <a:endParaRPr lang="en-US" sz="1050" dirty="0"/>
          </a:p>
        </p:txBody>
      </p:sp>
      <p:sp>
        <p:nvSpPr>
          <p:cNvPr id="68" name="Text 66"/>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12</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005A9E"/>
          </a:solidFill>
          <a:ln w="12700">
            <a:solidFill>
              <a:srgbClr val="005A9E">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005A9E"/>
                </a:solidFill>
                <a:latin typeface="Segoe UI Semibold" pitchFamily="34" charset="0"/>
                <a:ea typeface="Segoe UI Semibold" pitchFamily="34" charset="-122"/>
                <a:cs typeface="Segoe UI Semibold" pitchFamily="34" charset="-120"/>
              </a:rPr>
              <a:t>STEP 5</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Choose the environment. Import. Review. Publish.</a:t>
            </a:r>
            <a:endParaRPr lang="en-US" sz="2800" dirty="0"/>
          </a:p>
        </p:txBody>
      </p:sp>
      <p:sp>
        <p:nvSpPr>
          <p:cNvPr id="10" name="Shape 8"/>
          <p:cNvSpPr/>
          <p:nvPr/>
        </p:nvSpPr>
        <p:spPr>
          <a:xfrm>
            <a:off x="10515600" y="713232"/>
            <a:ext cx="1097280" cy="365760"/>
          </a:xfrm>
          <a:prstGeom prst="roundRect">
            <a:avLst/>
          </a:prstGeom>
          <a:solidFill>
            <a:srgbClr val="005A9E"/>
          </a:solidFill>
          <a:ln w="12700">
            <a:solidFill>
              <a:srgbClr val="005A9E">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8 MIN</a:t>
            </a:r>
            <a:endParaRPr lang="en-US" sz="1000" dirty="0"/>
          </a:p>
        </p:txBody>
      </p:sp>
      <p:sp>
        <p:nvSpPr>
          <p:cNvPr id="12" name="Shape 10"/>
          <p:cNvSpPr/>
          <p:nvPr/>
        </p:nvSpPr>
        <p:spPr>
          <a:xfrm>
            <a:off x="640080" y="1920240"/>
            <a:ext cx="3063240" cy="2907792"/>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13" name="Shape 11"/>
          <p:cNvSpPr/>
          <p:nvPr/>
        </p:nvSpPr>
        <p:spPr>
          <a:xfrm>
            <a:off x="1883664" y="2194560"/>
            <a:ext cx="566928" cy="566928"/>
          </a:xfrm>
          <a:prstGeom prst="ellipse">
            <a:avLst/>
          </a:prstGeom>
          <a:solidFill>
            <a:srgbClr val="DCEEFF"/>
          </a:solidFill>
          <a:ln w="15240">
            <a:solidFill>
              <a:srgbClr val="0078D4"/>
            </a:solidFill>
            <a:prstDash val="solid"/>
          </a:ln>
        </p:spPr>
      </p:sp>
      <p:sp>
        <p:nvSpPr>
          <p:cNvPr id="14" name="Text 12"/>
          <p:cNvSpPr/>
          <p:nvPr/>
        </p:nvSpPr>
        <p:spPr>
          <a:xfrm>
            <a:off x="1965960" y="2350008"/>
            <a:ext cx="402336" cy="164592"/>
          </a:xfrm>
          <a:prstGeom prst="rect">
            <a:avLst/>
          </a:prstGeom>
          <a:noFill/>
          <a:ln/>
        </p:spPr>
        <p:txBody>
          <a:bodyPr wrap="square" lIns="0" tIns="0" rIns="0" bIns="0" rtlCol="0" anchor="ctr"/>
          <a:lstStyle/>
          <a:p>
            <a:pPr algn="ctr" indent="0" marL="0">
              <a:buNone/>
            </a:pPr>
            <a:r>
              <a:rPr lang="en-US" sz="1200" b="1" dirty="0">
                <a:solidFill>
                  <a:srgbClr val="0078D4"/>
                </a:solidFill>
                <a:latin typeface="Segoe UI Semibold" pitchFamily="34" charset="0"/>
                <a:ea typeface="Segoe UI Semibold" pitchFamily="34" charset="-122"/>
                <a:cs typeface="Segoe UI Semibold" pitchFamily="34" charset="-120"/>
              </a:rPr>
              <a:t>1</a:t>
            </a:r>
            <a:endParaRPr lang="en-US" sz="1200" dirty="0"/>
          </a:p>
        </p:txBody>
      </p:sp>
      <p:sp>
        <p:nvSpPr>
          <p:cNvPr id="15" name="Text 13"/>
          <p:cNvSpPr/>
          <p:nvPr/>
        </p:nvSpPr>
        <p:spPr>
          <a:xfrm>
            <a:off x="914400" y="2971800"/>
            <a:ext cx="2514600" cy="274320"/>
          </a:xfrm>
          <a:prstGeom prst="rect">
            <a:avLst/>
          </a:prstGeom>
          <a:noFill/>
          <a:ln/>
        </p:spPr>
        <p:txBody>
          <a:bodyPr wrap="square" lIns="0" tIns="0" rIns="0" bIns="0" rtlCol="0" anchor="ctr"/>
          <a:lstStyle/>
          <a:p>
            <a:pPr algn="ctr" indent="0" marL="0">
              <a:buNone/>
            </a:pPr>
            <a:r>
              <a:rPr lang="en-US" sz="1600" b="1" dirty="0">
                <a:solidFill>
                  <a:srgbClr val="0078D4"/>
                </a:solidFill>
                <a:latin typeface="Segoe UI Semibold" pitchFamily="34" charset="0"/>
                <a:ea typeface="Segoe UI Semibold" pitchFamily="34" charset="-122"/>
                <a:cs typeface="Segoe UI Semibold" pitchFamily="34" charset="-120"/>
              </a:rPr>
              <a:t>CHOOSE</a:t>
            </a:r>
            <a:endParaRPr lang="en-US" sz="1600" dirty="0"/>
          </a:p>
        </p:txBody>
      </p:sp>
      <p:sp>
        <p:nvSpPr>
          <p:cNvPr id="16" name="Text 14"/>
          <p:cNvSpPr/>
          <p:nvPr/>
        </p:nvSpPr>
        <p:spPr>
          <a:xfrm>
            <a:off x="960120" y="3456432"/>
            <a:ext cx="2423160" cy="685800"/>
          </a:xfrm>
          <a:prstGeom prst="rect">
            <a:avLst/>
          </a:prstGeom>
          <a:noFill/>
          <a:ln/>
        </p:spPr>
        <p:txBody>
          <a:bodyPr wrap="square" lIns="0" tIns="0" rIns="0" bIns="0" rtlCol="0" anchor="ctr">
            <a:normAutofit/>
          </a:bodyPr>
          <a:lstStyle/>
          <a:p>
            <a:pPr algn="ctr" indent="0" marL="0">
              <a:buNone/>
            </a:pPr>
            <a:r>
              <a:rPr lang="en-US" sz="1130" dirty="0">
                <a:solidFill>
                  <a:srgbClr val="3B3A39"/>
                </a:solidFill>
                <a:latin typeface="Segoe UI" pitchFamily="34" charset="0"/>
                <a:ea typeface="Segoe UI" pitchFamily="34" charset="-122"/>
                <a:cs typeface="Segoe UI" pitchFamily="34" charset="-120"/>
              </a:rPr>
              <a:t>Use the signed-in account and select a visible Dataverse environment.</a:t>
            </a:r>
            <a:endParaRPr lang="en-US" sz="1130" dirty="0"/>
          </a:p>
        </p:txBody>
      </p:sp>
      <p:sp>
        <p:nvSpPr>
          <p:cNvPr id="17" name="Shape 15"/>
          <p:cNvSpPr/>
          <p:nvPr/>
        </p:nvSpPr>
        <p:spPr>
          <a:xfrm>
            <a:off x="3813048" y="3072384"/>
            <a:ext cx="438912" cy="566928"/>
          </a:xfrm>
          <a:prstGeom prst="chevron">
            <a:avLst/>
          </a:prstGeom>
          <a:solidFill>
            <a:srgbClr val="8A8886">
              <a:alpha val="70000"/>
            </a:srgbClr>
          </a:solidFill>
          <a:ln w="12700">
            <a:solidFill>
              <a:srgbClr val="8A8886">
                <a:alpha val="0"/>
              </a:srgbClr>
            </a:solidFill>
            <a:prstDash val="solid"/>
          </a:ln>
        </p:spPr>
      </p:sp>
      <p:sp>
        <p:nvSpPr>
          <p:cNvPr id="18" name="Shape 16"/>
          <p:cNvSpPr/>
          <p:nvPr/>
        </p:nvSpPr>
        <p:spPr>
          <a:xfrm>
            <a:off x="4069080" y="1920240"/>
            <a:ext cx="3063240" cy="2907792"/>
          </a:xfrm>
          <a:prstGeom prst="roundRect">
            <a:avLst/>
          </a:prstGeom>
          <a:solidFill>
            <a:srgbClr val="FFFFFF"/>
          </a:solidFill>
          <a:ln w="12700">
            <a:solidFill>
              <a:srgbClr val="8661C5"/>
            </a:solidFill>
            <a:prstDash val="solid"/>
          </a:ln>
          <a:effectLst>
            <a:outerShdw sx="100000" sy="100000" kx="0" ky="0" algn="bl" rotWithShape="0" blurRad="63500" dist="50800" dir="8100000">
              <a:srgbClr val="000000">
                <a:alpha val="12000"/>
              </a:srgbClr>
            </a:outerShdw>
          </a:effectLst>
        </p:spPr>
      </p:sp>
      <p:sp>
        <p:nvSpPr>
          <p:cNvPr id="19" name="Shape 17"/>
          <p:cNvSpPr/>
          <p:nvPr/>
        </p:nvSpPr>
        <p:spPr>
          <a:xfrm>
            <a:off x="5312664" y="2194560"/>
            <a:ext cx="566928" cy="566928"/>
          </a:xfrm>
          <a:prstGeom prst="ellipse">
            <a:avLst/>
          </a:prstGeom>
          <a:solidFill>
            <a:srgbClr val="EDE7F6"/>
          </a:solidFill>
          <a:ln w="15240">
            <a:solidFill>
              <a:srgbClr val="8661C5"/>
            </a:solidFill>
            <a:prstDash val="solid"/>
          </a:ln>
        </p:spPr>
      </p:sp>
      <p:sp>
        <p:nvSpPr>
          <p:cNvPr id="20" name="Text 18"/>
          <p:cNvSpPr/>
          <p:nvPr/>
        </p:nvSpPr>
        <p:spPr>
          <a:xfrm>
            <a:off x="5394960" y="2350008"/>
            <a:ext cx="402336" cy="164592"/>
          </a:xfrm>
          <a:prstGeom prst="rect">
            <a:avLst/>
          </a:prstGeom>
          <a:noFill/>
          <a:ln/>
        </p:spPr>
        <p:txBody>
          <a:bodyPr wrap="square" lIns="0" tIns="0" rIns="0" bIns="0" rtlCol="0" anchor="ctr"/>
          <a:lstStyle/>
          <a:p>
            <a:pPr algn="ctr" indent="0" marL="0">
              <a:buNone/>
            </a:pPr>
            <a:r>
              <a:rPr lang="en-US" sz="1200" b="1" dirty="0">
                <a:solidFill>
                  <a:srgbClr val="8661C5"/>
                </a:solidFill>
                <a:latin typeface="Segoe UI Semibold" pitchFamily="34" charset="0"/>
                <a:ea typeface="Segoe UI Semibold" pitchFamily="34" charset="-122"/>
                <a:cs typeface="Segoe UI Semibold" pitchFamily="34" charset="-120"/>
              </a:rPr>
              <a:t>2</a:t>
            </a:r>
            <a:endParaRPr lang="en-US" sz="1200" dirty="0"/>
          </a:p>
        </p:txBody>
      </p:sp>
      <p:sp>
        <p:nvSpPr>
          <p:cNvPr id="21" name="Text 19"/>
          <p:cNvSpPr/>
          <p:nvPr/>
        </p:nvSpPr>
        <p:spPr>
          <a:xfrm>
            <a:off x="4343400" y="2971800"/>
            <a:ext cx="2514600" cy="274320"/>
          </a:xfrm>
          <a:prstGeom prst="rect">
            <a:avLst/>
          </a:prstGeom>
          <a:noFill/>
          <a:ln/>
        </p:spPr>
        <p:txBody>
          <a:bodyPr wrap="square" lIns="0" tIns="0" rIns="0" bIns="0" rtlCol="0" anchor="ctr"/>
          <a:lstStyle/>
          <a:p>
            <a:pPr algn="ctr" indent="0" marL="0">
              <a:buNone/>
            </a:pPr>
            <a:r>
              <a:rPr lang="en-US" sz="1600" b="1" dirty="0">
                <a:solidFill>
                  <a:srgbClr val="8661C5"/>
                </a:solidFill>
                <a:latin typeface="Segoe UI Semibold" pitchFamily="34" charset="0"/>
                <a:ea typeface="Segoe UI Semibold" pitchFamily="34" charset="-122"/>
                <a:cs typeface="Segoe UI Semibold" pitchFamily="34" charset="-120"/>
              </a:rPr>
              <a:t>IMPORT</a:t>
            </a:r>
            <a:endParaRPr lang="en-US" sz="1600" dirty="0"/>
          </a:p>
        </p:txBody>
      </p:sp>
      <p:sp>
        <p:nvSpPr>
          <p:cNvPr id="22" name="Text 20"/>
          <p:cNvSpPr/>
          <p:nvPr/>
        </p:nvSpPr>
        <p:spPr>
          <a:xfrm>
            <a:off x="4389120" y="3456432"/>
            <a:ext cx="2423160" cy="685800"/>
          </a:xfrm>
          <a:prstGeom prst="rect">
            <a:avLst/>
          </a:prstGeom>
          <a:noFill/>
          <a:ln/>
        </p:spPr>
        <p:txBody>
          <a:bodyPr wrap="square" lIns="0" tIns="0" rIns="0" bIns="0" rtlCol="0" anchor="ctr">
            <a:normAutofit/>
          </a:bodyPr>
          <a:lstStyle/>
          <a:p>
            <a:pPr algn="ctr" indent="0" marL="0">
              <a:buNone/>
            </a:pPr>
            <a:r>
              <a:rPr lang="en-US" sz="1130" dirty="0">
                <a:solidFill>
                  <a:srgbClr val="3B3A39"/>
                </a:solidFill>
                <a:latin typeface="Segoe UI" pitchFamily="34" charset="0"/>
                <a:ea typeface="Segoe UI" pitchFamily="34" charset="-122"/>
                <a:cs typeface="Segoe UI" pitchFamily="34" charset="-120"/>
              </a:rPr>
              <a:t>RAPP imports the live prototype, then the demo twin, sequentially.</a:t>
            </a:r>
            <a:endParaRPr lang="en-US" sz="1130" dirty="0"/>
          </a:p>
        </p:txBody>
      </p:sp>
      <p:sp>
        <p:nvSpPr>
          <p:cNvPr id="23" name="Shape 21"/>
          <p:cNvSpPr/>
          <p:nvPr/>
        </p:nvSpPr>
        <p:spPr>
          <a:xfrm>
            <a:off x="7242048" y="3072384"/>
            <a:ext cx="438912" cy="566928"/>
          </a:xfrm>
          <a:prstGeom prst="chevron">
            <a:avLst/>
          </a:prstGeom>
          <a:solidFill>
            <a:srgbClr val="8A8886">
              <a:alpha val="70000"/>
            </a:srgbClr>
          </a:solidFill>
          <a:ln w="12700">
            <a:solidFill>
              <a:srgbClr val="8A8886">
                <a:alpha val="0"/>
              </a:srgbClr>
            </a:solidFill>
            <a:prstDash val="solid"/>
          </a:ln>
        </p:spPr>
      </p:sp>
      <p:sp>
        <p:nvSpPr>
          <p:cNvPr id="24" name="Shape 22"/>
          <p:cNvSpPr/>
          <p:nvPr/>
        </p:nvSpPr>
        <p:spPr>
          <a:xfrm>
            <a:off x="7498080" y="1920240"/>
            <a:ext cx="3063240" cy="2907792"/>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25" name="Shape 23"/>
          <p:cNvSpPr/>
          <p:nvPr/>
        </p:nvSpPr>
        <p:spPr>
          <a:xfrm>
            <a:off x="8741664" y="2194560"/>
            <a:ext cx="566928" cy="566928"/>
          </a:xfrm>
          <a:prstGeom prst="ellipse">
            <a:avLst/>
          </a:prstGeom>
          <a:solidFill>
            <a:srgbClr val="DFF6DD"/>
          </a:solidFill>
          <a:ln w="15240">
            <a:solidFill>
              <a:srgbClr val="107C10"/>
            </a:solidFill>
            <a:prstDash val="solid"/>
          </a:ln>
        </p:spPr>
      </p:sp>
      <p:sp>
        <p:nvSpPr>
          <p:cNvPr id="26" name="Text 24"/>
          <p:cNvSpPr/>
          <p:nvPr/>
        </p:nvSpPr>
        <p:spPr>
          <a:xfrm>
            <a:off x="8823960" y="2350008"/>
            <a:ext cx="402336" cy="164592"/>
          </a:xfrm>
          <a:prstGeom prst="rect">
            <a:avLst/>
          </a:prstGeom>
          <a:noFill/>
          <a:ln/>
        </p:spPr>
        <p:txBody>
          <a:bodyPr wrap="square" lIns="0" tIns="0" rIns="0" bIns="0" rtlCol="0" anchor="ctr"/>
          <a:lstStyle/>
          <a:p>
            <a:pPr algn="ctr" indent="0" marL="0">
              <a:buNone/>
            </a:pPr>
            <a:r>
              <a:rPr lang="en-US" sz="1200" b="1" dirty="0">
                <a:solidFill>
                  <a:srgbClr val="107C10"/>
                </a:solidFill>
                <a:latin typeface="Segoe UI Semibold" pitchFamily="34" charset="0"/>
                <a:ea typeface="Segoe UI Semibold" pitchFamily="34" charset="-122"/>
                <a:cs typeface="Segoe UI Semibold" pitchFamily="34" charset="-120"/>
              </a:rPr>
              <a:t>3</a:t>
            </a:r>
            <a:endParaRPr lang="en-US" sz="1200" dirty="0"/>
          </a:p>
        </p:txBody>
      </p:sp>
      <p:sp>
        <p:nvSpPr>
          <p:cNvPr id="27" name="Text 25"/>
          <p:cNvSpPr/>
          <p:nvPr/>
        </p:nvSpPr>
        <p:spPr>
          <a:xfrm>
            <a:off x="7772400" y="2971800"/>
            <a:ext cx="2514600" cy="274320"/>
          </a:xfrm>
          <a:prstGeom prst="rect">
            <a:avLst/>
          </a:prstGeom>
          <a:noFill/>
          <a:ln/>
        </p:spPr>
        <p:txBody>
          <a:bodyPr wrap="square" lIns="0" tIns="0" rIns="0" bIns="0" rtlCol="0" anchor="ctr"/>
          <a:lstStyle/>
          <a:p>
            <a:pPr algn="ctr" indent="0" marL="0">
              <a:buNone/>
            </a:pPr>
            <a:r>
              <a:rPr lang="en-US" sz="1600" b="1" dirty="0">
                <a:solidFill>
                  <a:srgbClr val="107C10"/>
                </a:solidFill>
                <a:latin typeface="Segoe UI Semibold" pitchFamily="34" charset="0"/>
                <a:ea typeface="Segoe UI Semibold" pitchFamily="34" charset="-122"/>
                <a:cs typeface="Segoe UI Semibold" pitchFamily="34" charset="-120"/>
              </a:rPr>
              <a:t>REVIEW + PUBLISH</a:t>
            </a:r>
            <a:endParaRPr lang="en-US" sz="1600" dirty="0"/>
          </a:p>
        </p:txBody>
      </p:sp>
      <p:sp>
        <p:nvSpPr>
          <p:cNvPr id="28" name="Text 26"/>
          <p:cNvSpPr/>
          <p:nvPr/>
        </p:nvSpPr>
        <p:spPr>
          <a:xfrm>
            <a:off x="7818120" y="3456432"/>
            <a:ext cx="2423160" cy="685800"/>
          </a:xfrm>
          <a:prstGeom prst="rect">
            <a:avLst/>
          </a:prstGeom>
          <a:noFill/>
          <a:ln/>
        </p:spPr>
        <p:txBody>
          <a:bodyPr wrap="square" lIns="0" tIns="0" rIns="0" bIns="0" rtlCol="0" anchor="ctr">
            <a:normAutofit/>
          </a:bodyPr>
          <a:lstStyle/>
          <a:p>
            <a:pPr algn="ctr" indent="0" marL="0">
              <a:buNone/>
            </a:pPr>
            <a:r>
              <a:rPr lang="en-US" sz="1130" dirty="0">
                <a:solidFill>
                  <a:srgbClr val="3B3A39"/>
                </a:solidFill>
                <a:latin typeface="Segoe UI" pitchFamily="34" charset="0"/>
                <a:ea typeface="Segoe UI" pitchFamily="34" charset="-122"/>
                <a:cs typeface="Segoe UI" pitchFamily="34" charset="-120"/>
              </a:rPr>
              <a:t>Open Copilot Studio, inspect agents and flows, then publish when ready.</a:t>
            </a:r>
            <a:endParaRPr lang="en-US" sz="1130" dirty="0"/>
          </a:p>
        </p:txBody>
      </p:sp>
      <p:pic>
        <p:nvPicPr>
          <p:cNvPr id="29" name="Image 0" descr="Dataverse"/>
          <p:cNvPicPr>
            <a:picLocks noChangeAspect="1"/>
          </p:cNvPicPr>
          <p:nvPr/>
        </p:nvPicPr>
        <p:blipFill>
          <a:blip r:embed="rId1"/>
          <a:stretch>
            <a:fillRect/>
          </a:stretch>
        </p:blipFill>
        <p:spPr>
          <a:xfrm>
            <a:off x="1773936" y="4261104"/>
            <a:ext cx="438912" cy="329184"/>
          </a:xfrm>
          <a:prstGeom prst="rect">
            <a:avLst/>
          </a:prstGeom>
        </p:spPr>
      </p:pic>
      <p:pic>
        <p:nvPicPr>
          <p:cNvPr id="30" name="Image 1" descr="Copilot Studio"/>
          <p:cNvPicPr>
            <a:picLocks noChangeAspect="1"/>
          </p:cNvPicPr>
          <p:nvPr/>
        </p:nvPicPr>
        <p:blipFill>
          <a:blip r:embed="rId2"/>
          <a:stretch>
            <a:fillRect/>
          </a:stretch>
        </p:blipFill>
        <p:spPr>
          <a:xfrm>
            <a:off x="8759952" y="4187952"/>
            <a:ext cx="475488" cy="475488"/>
          </a:xfrm>
          <a:prstGeom prst="rect">
            <a:avLst/>
          </a:prstGeom>
        </p:spPr>
      </p:pic>
      <p:sp>
        <p:nvSpPr>
          <p:cNvPr id="31" name="Shape 27"/>
          <p:cNvSpPr/>
          <p:nvPr/>
        </p:nvSpPr>
        <p:spPr>
          <a:xfrm>
            <a:off x="5321808" y="4160520"/>
            <a:ext cx="566928" cy="566928"/>
          </a:xfrm>
          <a:prstGeom prst="ellipse">
            <a:avLst/>
          </a:prstGeom>
          <a:solidFill>
            <a:srgbClr val="EDE7F6"/>
          </a:solidFill>
          <a:ln w="15240">
            <a:solidFill>
              <a:srgbClr val="8661C5"/>
            </a:solidFill>
            <a:prstDash val="solid"/>
          </a:ln>
        </p:spPr>
      </p:sp>
      <p:sp>
        <p:nvSpPr>
          <p:cNvPr id="32" name="Text 28"/>
          <p:cNvSpPr/>
          <p:nvPr/>
        </p:nvSpPr>
        <p:spPr>
          <a:xfrm>
            <a:off x="5404104" y="4315968"/>
            <a:ext cx="402336" cy="164592"/>
          </a:xfrm>
          <a:prstGeom prst="rect">
            <a:avLst/>
          </a:prstGeom>
          <a:noFill/>
          <a:ln/>
        </p:spPr>
        <p:txBody>
          <a:bodyPr wrap="square" lIns="0" tIns="0" rIns="0" bIns="0" rtlCol="0" anchor="ctr"/>
          <a:lstStyle/>
          <a:p>
            <a:pPr algn="ctr" indent="0" marL="0">
              <a:buNone/>
            </a:pPr>
            <a:r>
              <a:rPr lang="en-US" sz="1200" b="1" dirty="0">
                <a:solidFill>
                  <a:srgbClr val="8661C5"/>
                </a:solidFill>
                <a:latin typeface="Segoe UI Semibold" pitchFamily="34" charset="0"/>
                <a:ea typeface="Segoe UI Semibold" pitchFamily="34" charset="-122"/>
                <a:cs typeface="Segoe UI Semibold" pitchFamily="34" charset="-120"/>
              </a:rPr>
              <a:t>ZIP</a:t>
            </a:r>
            <a:endParaRPr lang="en-US" sz="1200" dirty="0"/>
          </a:p>
        </p:txBody>
      </p:sp>
      <p:sp>
        <p:nvSpPr>
          <p:cNvPr id="33" name="Shape 29"/>
          <p:cNvSpPr/>
          <p:nvPr/>
        </p:nvSpPr>
        <p:spPr>
          <a:xfrm>
            <a:off x="640080" y="5074920"/>
            <a:ext cx="10890504" cy="548640"/>
          </a:xfrm>
          <a:prstGeom prst="roundRect">
            <a:avLst/>
          </a:prstGeom>
          <a:solidFill>
            <a:srgbClr val="103A6B"/>
          </a:solidFill>
          <a:ln w="12700">
            <a:solidFill>
              <a:srgbClr val="103A6B"/>
            </a:solidFill>
            <a:prstDash val="solid"/>
          </a:ln>
          <a:effectLst>
            <a:outerShdw sx="100000" sy="100000" kx="0" ky="0" algn="bl" rotWithShape="0" blurRad="63500" dist="50800" dir="8100000">
              <a:srgbClr val="000000">
                <a:alpha val="12000"/>
              </a:srgbClr>
            </a:outerShdw>
          </a:effectLst>
        </p:spPr>
      </p:sp>
      <p:sp>
        <p:nvSpPr>
          <p:cNvPr id="34" name="Text 30"/>
          <p:cNvSpPr/>
          <p:nvPr/>
        </p:nvSpPr>
        <p:spPr>
          <a:xfrm>
            <a:off x="914400" y="5257800"/>
            <a:ext cx="1417320" cy="164592"/>
          </a:xfrm>
          <a:prstGeom prst="rect">
            <a:avLst/>
          </a:prstGeom>
          <a:noFill/>
          <a:ln/>
        </p:spPr>
        <p:txBody>
          <a:bodyPr wrap="square" lIns="0" tIns="0" rIns="0" bIns="0" rtlCol="0" anchor="ctr"/>
          <a:lstStyle/>
          <a:p>
            <a:pPr indent="0" marL="0">
              <a:buNone/>
            </a:pPr>
            <a:r>
              <a:rPr lang="en-US" sz="970" b="1" spc="90" kern="0" dirty="0">
                <a:solidFill>
                  <a:srgbClr val="50E6FF"/>
                </a:solidFill>
                <a:latin typeface="Segoe UI Semibold" pitchFamily="34" charset="0"/>
                <a:ea typeface="Segoe UI Semibold" pitchFamily="34" charset="-122"/>
                <a:cs typeface="Segoe UI Semibold" pitchFamily="34" charset="-120"/>
              </a:rPr>
              <a:t>DEFAULT POSTURE</a:t>
            </a:r>
            <a:endParaRPr lang="en-US" sz="970" dirty="0"/>
          </a:p>
        </p:txBody>
      </p:sp>
      <p:sp>
        <p:nvSpPr>
          <p:cNvPr id="35" name="Text 31"/>
          <p:cNvSpPr/>
          <p:nvPr/>
        </p:nvSpPr>
        <p:spPr>
          <a:xfrm>
            <a:off x="2468880" y="5230368"/>
            <a:ext cx="8138160" cy="228600"/>
          </a:xfrm>
          <a:prstGeom prst="rect">
            <a:avLst/>
          </a:prstGeom>
          <a:noFill/>
          <a:ln/>
        </p:spPr>
        <p:txBody>
          <a:bodyPr wrap="square" lIns="0" tIns="0" rIns="0" bIns="0" rtlCol="0" anchor="ctr"/>
          <a:lstStyle/>
          <a:p>
            <a:pPr algn="ctr" indent="0" marL="0">
              <a:buNone/>
            </a:pPr>
            <a:r>
              <a:rPr lang="en-US" sz="1150" b="1" dirty="0">
                <a:solidFill>
                  <a:srgbClr val="FFFFFF"/>
                </a:solidFill>
                <a:latin typeface="Segoe UI Semibold" pitchFamily="34" charset="0"/>
                <a:ea typeface="Segoe UI Semibold" pitchFamily="34" charset="-122"/>
                <a:cs typeface="Segoe UI Semibold" pitchFamily="34" charset="-120"/>
              </a:rPr>
              <a:t>Import unpublished. Review in Copilot Studio. Bind live connection references. Turn flows on. Publish deliberately.</a:t>
            </a:r>
            <a:endParaRPr lang="en-US" sz="1150" dirty="0"/>
          </a:p>
        </p:txBody>
      </p:sp>
      <p:sp>
        <p:nvSpPr>
          <p:cNvPr id="36" name="Shape 32"/>
          <p:cNvSpPr/>
          <p:nvPr/>
        </p:nvSpPr>
        <p:spPr>
          <a:xfrm>
            <a:off x="658368" y="5870448"/>
            <a:ext cx="2057400" cy="429768"/>
          </a:xfrm>
          <a:prstGeom prst="roundRect">
            <a:avLst/>
          </a:prstGeom>
          <a:solidFill>
            <a:srgbClr val="DFF6DD"/>
          </a:solidFill>
          <a:ln w="12700">
            <a:solidFill>
              <a:srgbClr val="107C10"/>
            </a:solidFill>
            <a:prstDash val="solid"/>
          </a:ln>
        </p:spPr>
      </p:sp>
      <p:sp>
        <p:nvSpPr>
          <p:cNvPr id="37" name="Shape 33"/>
          <p:cNvSpPr/>
          <p:nvPr/>
        </p:nvSpPr>
        <p:spPr>
          <a:xfrm>
            <a:off x="749808" y="5957316"/>
            <a:ext cx="256032" cy="256032"/>
          </a:xfrm>
          <a:prstGeom prst="ellipse">
            <a:avLst/>
          </a:prstGeom>
          <a:solidFill>
            <a:srgbClr val="107C10"/>
          </a:solidFill>
          <a:ln w="10160">
            <a:solidFill>
              <a:srgbClr val="107C10"/>
            </a:solidFill>
            <a:prstDash val="solid"/>
          </a:ln>
        </p:spPr>
      </p:sp>
      <p:sp>
        <p:nvSpPr>
          <p:cNvPr id="38" name="Text 34"/>
          <p:cNvSpPr/>
          <p:nvPr/>
        </p:nvSpPr>
        <p:spPr>
          <a:xfrm>
            <a:off x="77724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39" name="Text 35"/>
          <p:cNvSpPr/>
          <p:nvPr/>
        </p:nvSpPr>
        <p:spPr>
          <a:xfrm>
            <a:off x="106984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Sign in</a:t>
            </a:r>
            <a:endParaRPr lang="en-US" sz="1050" dirty="0"/>
          </a:p>
        </p:txBody>
      </p:sp>
      <p:sp>
        <p:nvSpPr>
          <p:cNvPr id="40" name="Shape 36"/>
          <p:cNvSpPr/>
          <p:nvPr/>
        </p:nvSpPr>
        <p:spPr>
          <a:xfrm>
            <a:off x="2852928" y="5870448"/>
            <a:ext cx="2057400" cy="429768"/>
          </a:xfrm>
          <a:prstGeom prst="roundRect">
            <a:avLst/>
          </a:prstGeom>
          <a:solidFill>
            <a:srgbClr val="DFF6DD"/>
          </a:solidFill>
          <a:ln w="12700">
            <a:solidFill>
              <a:srgbClr val="107C10"/>
            </a:solidFill>
            <a:prstDash val="solid"/>
          </a:ln>
        </p:spPr>
      </p:sp>
      <p:sp>
        <p:nvSpPr>
          <p:cNvPr id="41" name="Shape 37"/>
          <p:cNvSpPr/>
          <p:nvPr/>
        </p:nvSpPr>
        <p:spPr>
          <a:xfrm>
            <a:off x="2944368" y="5957316"/>
            <a:ext cx="256032" cy="256032"/>
          </a:xfrm>
          <a:prstGeom prst="ellipse">
            <a:avLst/>
          </a:prstGeom>
          <a:solidFill>
            <a:srgbClr val="107C10"/>
          </a:solidFill>
          <a:ln w="10160">
            <a:solidFill>
              <a:srgbClr val="107C10"/>
            </a:solidFill>
            <a:prstDash val="solid"/>
          </a:ln>
        </p:spPr>
      </p:sp>
      <p:sp>
        <p:nvSpPr>
          <p:cNvPr id="42" name="Text 38"/>
          <p:cNvSpPr/>
          <p:nvPr/>
        </p:nvSpPr>
        <p:spPr>
          <a:xfrm>
            <a:off x="297180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43" name="Text 39"/>
          <p:cNvSpPr/>
          <p:nvPr/>
        </p:nvSpPr>
        <p:spPr>
          <a:xfrm>
            <a:off x="326440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Documents</a:t>
            </a:r>
            <a:endParaRPr lang="en-US" sz="1050" dirty="0"/>
          </a:p>
        </p:txBody>
      </p:sp>
      <p:sp>
        <p:nvSpPr>
          <p:cNvPr id="44" name="Shape 40"/>
          <p:cNvSpPr/>
          <p:nvPr/>
        </p:nvSpPr>
        <p:spPr>
          <a:xfrm>
            <a:off x="5047488" y="5870448"/>
            <a:ext cx="2057400" cy="429768"/>
          </a:xfrm>
          <a:prstGeom prst="roundRect">
            <a:avLst/>
          </a:prstGeom>
          <a:solidFill>
            <a:srgbClr val="DFF6DD"/>
          </a:solidFill>
          <a:ln w="12700">
            <a:solidFill>
              <a:srgbClr val="107C10"/>
            </a:solidFill>
            <a:prstDash val="solid"/>
          </a:ln>
        </p:spPr>
      </p:sp>
      <p:sp>
        <p:nvSpPr>
          <p:cNvPr id="45" name="Shape 41"/>
          <p:cNvSpPr/>
          <p:nvPr/>
        </p:nvSpPr>
        <p:spPr>
          <a:xfrm>
            <a:off x="5138928" y="5957316"/>
            <a:ext cx="256032" cy="256032"/>
          </a:xfrm>
          <a:prstGeom prst="ellipse">
            <a:avLst/>
          </a:prstGeom>
          <a:solidFill>
            <a:srgbClr val="107C10"/>
          </a:solidFill>
          <a:ln w="10160">
            <a:solidFill>
              <a:srgbClr val="107C10"/>
            </a:solidFill>
            <a:prstDash val="solid"/>
          </a:ln>
        </p:spPr>
      </p:sp>
      <p:sp>
        <p:nvSpPr>
          <p:cNvPr id="46" name="Text 42"/>
          <p:cNvSpPr/>
          <p:nvPr/>
        </p:nvSpPr>
        <p:spPr>
          <a:xfrm>
            <a:off x="516636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47" name="Text 43"/>
          <p:cNvSpPr/>
          <p:nvPr/>
        </p:nvSpPr>
        <p:spPr>
          <a:xfrm>
            <a:off x="545896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MVP</a:t>
            </a:r>
            <a:endParaRPr lang="en-US" sz="1050" dirty="0"/>
          </a:p>
        </p:txBody>
      </p:sp>
      <p:sp>
        <p:nvSpPr>
          <p:cNvPr id="48" name="Shape 44"/>
          <p:cNvSpPr/>
          <p:nvPr/>
        </p:nvSpPr>
        <p:spPr>
          <a:xfrm>
            <a:off x="7242048" y="5870448"/>
            <a:ext cx="2057400" cy="429768"/>
          </a:xfrm>
          <a:prstGeom prst="roundRect">
            <a:avLst/>
          </a:prstGeom>
          <a:solidFill>
            <a:srgbClr val="DFF6DD"/>
          </a:solidFill>
          <a:ln w="12700">
            <a:solidFill>
              <a:srgbClr val="107C10"/>
            </a:solidFill>
            <a:prstDash val="solid"/>
          </a:ln>
        </p:spPr>
      </p:sp>
      <p:sp>
        <p:nvSpPr>
          <p:cNvPr id="49" name="Shape 45"/>
          <p:cNvSpPr/>
          <p:nvPr/>
        </p:nvSpPr>
        <p:spPr>
          <a:xfrm>
            <a:off x="7333488" y="5957316"/>
            <a:ext cx="256032" cy="256032"/>
          </a:xfrm>
          <a:prstGeom prst="ellipse">
            <a:avLst/>
          </a:prstGeom>
          <a:solidFill>
            <a:srgbClr val="107C10"/>
          </a:solidFill>
          <a:ln w="10160">
            <a:solidFill>
              <a:srgbClr val="107C10"/>
            </a:solidFill>
            <a:prstDash val="solid"/>
          </a:ln>
        </p:spPr>
      </p:sp>
      <p:sp>
        <p:nvSpPr>
          <p:cNvPr id="50" name="Text 46"/>
          <p:cNvSpPr/>
          <p:nvPr/>
        </p:nvSpPr>
        <p:spPr>
          <a:xfrm>
            <a:off x="7360920" y="5998464"/>
            <a:ext cx="201168" cy="100584"/>
          </a:xfrm>
          <a:prstGeom prst="rect">
            <a:avLst/>
          </a:prstGeom>
          <a:noFill/>
          <a:ln/>
        </p:spPr>
        <p:txBody>
          <a:bodyPr wrap="square" lIns="0" tIns="0" rIns="0" bIns="0" rtlCol="0" anchor="ctr"/>
          <a:lstStyle/>
          <a:p>
            <a:pPr algn="ctr" indent="0" marL="0">
              <a:buNone/>
            </a:pPr>
            <a:r>
              <a:rPr lang="en-US" sz="800" b="1" dirty="0">
                <a:solidFill>
                  <a:srgbClr val="FFFFFF"/>
                </a:solidFill>
                <a:latin typeface="Segoe UI Semibold" pitchFamily="34" charset="0"/>
                <a:ea typeface="Segoe UI Semibold" pitchFamily="34" charset="-122"/>
                <a:cs typeface="Segoe UI Semibold" pitchFamily="34" charset="-120"/>
              </a:rPr>
              <a:t>✓</a:t>
            </a:r>
            <a:endParaRPr lang="en-US" sz="800" dirty="0"/>
          </a:p>
        </p:txBody>
      </p:sp>
      <p:sp>
        <p:nvSpPr>
          <p:cNvPr id="51" name="Text 47"/>
          <p:cNvSpPr/>
          <p:nvPr/>
        </p:nvSpPr>
        <p:spPr>
          <a:xfrm>
            <a:off x="7653528" y="6003036"/>
            <a:ext cx="1536192" cy="128016"/>
          </a:xfrm>
          <a:prstGeom prst="rect">
            <a:avLst/>
          </a:prstGeom>
          <a:noFill/>
          <a:ln/>
        </p:spPr>
        <p:txBody>
          <a:bodyPr wrap="square" lIns="0" tIns="0" rIns="0" bIns="0" rtlCol="0" anchor="ctr"/>
          <a:lstStyle/>
          <a:p>
            <a:pPr indent="0" marL="0">
              <a:buNone/>
            </a:pPr>
            <a:r>
              <a:rPr lang="en-US" sz="1050" b="1" dirty="0">
                <a:solidFill>
                  <a:srgbClr val="0B560B"/>
                </a:solidFill>
                <a:latin typeface="Segoe UI Semibold" pitchFamily="34" charset="0"/>
                <a:ea typeface="Segoe UI Semibold" pitchFamily="34" charset="-122"/>
                <a:cs typeface="Segoe UI Semibold" pitchFamily="34" charset="-120"/>
              </a:rPr>
              <a:t>Review</a:t>
            </a:r>
            <a:endParaRPr lang="en-US" sz="1050" dirty="0"/>
          </a:p>
        </p:txBody>
      </p:sp>
      <p:sp>
        <p:nvSpPr>
          <p:cNvPr id="52" name="Shape 48"/>
          <p:cNvSpPr/>
          <p:nvPr/>
        </p:nvSpPr>
        <p:spPr>
          <a:xfrm>
            <a:off x="9436608" y="5870448"/>
            <a:ext cx="2057400" cy="429768"/>
          </a:xfrm>
          <a:prstGeom prst="roundRect">
            <a:avLst/>
          </a:prstGeom>
          <a:solidFill>
            <a:srgbClr val="103A6B"/>
          </a:solidFill>
          <a:ln w="17780">
            <a:solidFill>
              <a:srgbClr val="103A6B"/>
            </a:solidFill>
            <a:prstDash val="solid"/>
          </a:ln>
        </p:spPr>
      </p:sp>
      <p:sp>
        <p:nvSpPr>
          <p:cNvPr id="53" name="Shape 49"/>
          <p:cNvSpPr/>
          <p:nvPr/>
        </p:nvSpPr>
        <p:spPr>
          <a:xfrm>
            <a:off x="9528048" y="5957316"/>
            <a:ext cx="256032" cy="256032"/>
          </a:xfrm>
          <a:prstGeom prst="ellipse">
            <a:avLst/>
          </a:prstGeom>
          <a:solidFill>
            <a:srgbClr val="FFFFFF"/>
          </a:solidFill>
          <a:ln w="10160">
            <a:solidFill>
              <a:srgbClr val="FFFFFF"/>
            </a:solidFill>
            <a:prstDash val="solid"/>
          </a:ln>
        </p:spPr>
      </p:sp>
      <p:sp>
        <p:nvSpPr>
          <p:cNvPr id="54" name="Text 50"/>
          <p:cNvSpPr/>
          <p:nvPr/>
        </p:nvSpPr>
        <p:spPr>
          <a:xfrm>
            <a:off x="9555480" y="5998464"/>
            <a:ext cx="201168" cy="100584"/>
          </a:xfrm>
          <a:prstGeom prst="rect">
            <a:avLst/>
          </a:prstGeom>
          <a:noFill/>
          <a:ln/>
        </p:spPr>
        <p:txBody>
          <a:bodyPr wrap="square" lIns="0" tIns="0" rIns="0" bIns="0" rtlCol="0" anchor="ctr"/>
          <a:lstStyle/>
          <a:p>
            <a:pPr algn="ctr" indent="0" marL="0">
              <a:buNone/>
            </a:pPr>
            <a:r>
              <a:rPr lang="en-US" sz="800" b="1" dirty="0">
                <a:solidFill>
                  <a:srgbClr val="103A6B"/>
                </a:solidFill>
                <a:latin typeface="Segoe UI Semibold" pitchFamily="34" charset="0"/>
                <a:ea typeface="Segoe UI Semibold" pitchFamily="34" charset="-122"/>
                <a:cs typeface="Segoe UI Semibold" pitchFamily="34" charset="-120"/>
              </a:rPr>
              <a:t>5</a:t>
            </a:r>
            <a:endParaRPr lang="en-US" sz="800" dirty="0"/>
          </a:p>
        </p:txBody>
      </p:sp>
      <p:sp>
        <p:nvSpPr>
          <p:cNvPr id="55" name="Text 51"/>
          <p:cNvSpPr/>
          <p:nvPr/>
        </p:nvSpPr>
        <p:spPr>
          <a:xfrm>
            <a:off x="9848088" y="6003036"/>
            <a:ext cx="1536192" cy="128016"/>
          </a:xfrm>
          <a:prstGeom prst="rect">
            <a:avLst/>
          </a:prstGeom>
          <a:noFill/>
          <a:ln/>
        </p:spPr>
        <p:txBody>
          <a:bodyPr wrap="square" lIns="0" tIns="0" rIns="0" bIns="0" rtlCol="0" anchor="ctr"/>
          <a:lstStyle/>
          <a:p>
            <a:pPr indent="0" marL="0">
              <a:buNone/>
            </a:pPr>
            <a:r>
              <a:rPr lang="en-US" sz="1050" b="1" dirty="0">
                <a:solidFill>
                  <a:srgbClr val="FFFFFF"/>
                </a:solidFill>
                <a:latin typeface="Segoe UI Semibold" pitchFamily="34" charset="0"/>
                <a:ea typeface="Segoe UI Semibold" pitchFamily="34" charset="-122"/>
                <a:cs typeface="Segoe UI Semibold" pitchFamily="34" charset="-120"/>
              </a:rPr>
              <a:t>Deploy</a:t>
            </a:r>
            <a:endParaRPr lang="en-US" sz="1050" dirty="0"/>
          </a:p>
        </p:txBody>
      </p:sp>
      <p:sp>
        <p:nvSpPr>
          <p:cNvPr id="56" name="Text 52"/>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13</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D83B01"/>
          </a:solidFill>
          <a:ln w="12700">
            <a:solidFill>
              <a:srgbClr val="D83B01">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D83B01"/>
                </a:solidFill>
                <a:latin typeface="Segoe UI Semibold" pitchFamily="34" charset="0"/>
                <a:ea typeface="Segoe UI Semibold" pitchFamily="34" charset="-122"/>
                <a:cs typeface="Segoe UI Semibold" pitchFamily="34" charset="-120"/>
              </a:rPr>
              <a:t>TEST + REFINE</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Test the promise, not just the happy path.</a:t>
            </a:r>
            <a:endParaRPr lang="en-US" sz="2800" dirty="0"/>
          </a:p>
        </p:txBody>
      </p:sp>
      <p:sp>
        <p:nvSpPr>
          <p:cNvPr id="10" name="Shape 8"/>
          <p:cNvSpPr/>
          <p:nvPr/>
        </p:nvSpPr>
        <p:spPr>
          <a:xfrm>
            <a:off x="10515600" y="713232"/>
            <a:ext cx="1097280" cy="365760"/>
          </a:xfrm>
          <a:prstGeom prst="roundRect">
            <a:avLst/>
          </a:prstGeom>
          <a:solidFill>
            <a:srgbClr val="D83B01"/>
          </a:solidFill>
          <a:ln w="12700">
            <a:solidFill>
              <a:srgbClr val="D83B01">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4 MIN</a:t>
            </a:r>
            <a:endParaRPr lang="en-US" sz="1000" dirty="0"/>
          </a:p>
        </p:txBody>
      </p:sp>
      <p:sp>
        <p:nvSpPr>
          <p:cNvPr id="12" name="Shape 10"/>
          <p:cNvSpPr/>
          <p:nvPr/>
        </p:nvSpPr>
        <p:spPr>
          <a:xfrm>
            <a:off x="594360" y="1828800"/>
            <a:ext cx="5577840" cy="3703320"/>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13" name="Text 11"/>
          <p:cNvSpPr/>
          <p:nvPr/>
        </p:nvSpPr>
        <p:spPr>
          <a:xfrm>
            <a:off x="896112" y="2103120"/>
            <a:ext cx="2468880" cy="201168"/>
          </a:xfrm>
          <a:prstGeom prst="rect">
            <a:avLst/>
          </a:prstGeom>
          <a:noFill/>
          <a:ln/>
        </p:spPr>
        <p:txBody>
          <a:bodyPr wrap="square" lIns="0" tIns="0" rIns="0" bIns="0" rtlCol="0" anchor="ctr"/>
          <a:lstStyle/>
          <a:p>
            <a:pPr indent="0" marL="0">
              <a:buNone/>
            </a:pPr>
            <a:r>
              <a:rPr lang="en-US" sz="1000" b="1" spc="80" kern="0" dirty="0">
                <a:solidFill>
                  <a:srgbClr val="605E5C"/>
                </a:solidFill>
                <a:latin typeface="Segoe UI Semibold" pitchFamily="34" charset="0"/>
                <a:ea typeface="Segoe UI Semibold" pitchFamily="34" charset="-122"/>
                <a:cs typeface="Segoe UI Semibold" pitchFamily="34" charset="-120"/>
              </a:rPr>
              <a:t>COPILOT STUDIO  |  TEST PANE</a:t>
            </a:r>
            <a:endParaRPr lang="en-US" sz="1000" dirty="0"/>
          </a:p>
        </p:txBody>
      </p:sp>
      <p:sp>
        <p:nvSpPr>
          <p:cNvPr id="14" name="Shape 12"/>
          <p:cNvSpPr/>
          <p:nvPr/>
        </p:nvSpPr>
        <p:spPr>
          <a:xfrm>
            <a:off x="914400" y="2651760"/>
            <a:ext cx="4206240" cy="566928"/>
          </a:xfrm>
          <a:prstGeom prst="roundRect">
            <a:avLst/>
          </a:prstGeom>
          <a:solidFill>
            <a:srgbClr val="DCEEFF"/>
          </a:solidFill>
          <a:ln w="12700">
            <a:solidFill>
              <a:srgbClr val="BFE6FF"/>
            </a:solidFill>
            <a:prstDash val="solid"/>
          </a:ln>
        </p:spPr>
      </p:sp>
      <p:sp>
        <p:nvSpPr>
          <p:cNvPr id="15" name="Text 13"/>
          <p:cNvSpPr/>
          <p:nvPr/>
        </p:nvSpPr>
        <p:spPr>
          <a:xfrm>
            <a:off x="1115568" y="2816352"/>
            <a:ext cx="3794760" cy="256032"/>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The lights are out on floor 4 near conference room 402. It is blocking a customer meeting.</a:t>
            </a:r>
            <a:endParaRPr lang="en-US" sz="1100" dirty="0"/>
          </a:p>
        </p:txBody>
      </p:sp>
      <p:sp>
        <p:nvSpPr>
          <p:cNvPr id="16" name="Shape 14"/>
          <p:cNvSpPr/>
          <p:nvPr/>
        </p:nvSpPr>
        <p:spPr>
          <a:xfrm>
            <a:off x="1417320" y="3456432"/>
            <a:ext cx="4407408" cy="960120"/>
          </a:xfrm>
          <a:prstGeom prst="roundRect">
            <a:avLst/>
          </a:prstGeom>
          <a:solidFill>
            <a:srgbClr val="FFFFFF"/>
          </a:solidFill>
          <a:ln w="12700">
            <a:solidFill>
              <a:srgbClr val="E1DFDD"/>
            </a:solidFill>
            <a:prstDash val="solid"/>
          </a:ln>
        </p:spPr>
      </p:sp>
      <p:sp>
        <p:nvSpPr>
          <p:cNvPr id="17" name="Text 15"/>
          <p:cNvSpPr/>
          <p:nvPr/>
        </p:nvSpPr>
        <p:spPr>
          <a:xfrm>
            <a:off x="1645920" y="3694176"/>
            <a:ext cx="3931920" cy="521208"/>
          </a:xfrm>
          <a:prstGeom prst="rect">
            <a:avLst/>
          </a:prstGeom>
          <a:noFill/>
          <a:ln/>
        </p:spPr>
        <p:txBody>
          <a:bodyPr wrap="square" lIns="0" tIns="0" rIns="0" bIns="0" rtlCol="0" anchor="ctr">
            <a:normAutofit/>
          </a:bodyPr>
          <a:lstStyle/>
          <a:p>
            <a:pPr indent="0" marL="0">
              <a:buNone/>
            </a:pPr>
            <a:r>
              <a:rPr lang="en-US" sz="1070" dirty="0">
                <a:solidFill>
                  <a:srgbClr val="3B3A39"/>
                </a:solidFill>
                <a:latin typeface="Segoe UI" pitchFamily="34" charset="0"/>
                <a:ea typeface="Segoe UI" pitchFamily="34" charset="-122"/>
                <a:cs typeface="Segoe UI" pitchFamily="34" charset="-120"/>
              </a:rPr>
              <a:t>I can help create a facilities request. I captured: floor 4, lighting issue, high urgency, near room 402. Please confirm the building and contact preference.</a:t>
            </a:r>
            <a:endParaRPr lang="en-US" sz="1070" dirty="0"/>
          </a:p>
        </p:txBody>
      </p:sp>
      <p:sp>
        <p:nvSpPr>
          <p:cNvPr id="18" name="Shape 16"/>
          <p:cNvSpPr/>
          <p:nvPr/>
        </p:nvSpPr>
        <p:spPr>
          <a:xfrm>
            <a:off x="914400" y="4782312"/>
            <a:ext cx="1234440" cy="310896"/>
          </a:xfrm>
          <a:prstGeom prst="roundRect">
            <a:avLst/>
          </a:prstGeom>
          <a:solidFill>
            <a:srgbClr val="DFF6DD"/>
          </a:solidFill>
          <a:ln w="12700">
            <a:solidFill>
              <a:srgbClr val="DFF6DD">
                <a:alpha val="0"/>
              </a:srgbClr>
            </a:solidFill>
            <a:prstDash val="solid"/>
          </a:ln>
        </p:spPr>
      </p:sp>
      <p:sp>
        <p:nvSpPr>
          <p:cNvPr id="19" name="Text 17"/>
          <p:cNvSpPr/>
          <p:nvPr/>
        </p:nvSpPr>
        <p:spPr>
          <a:xfrm>
            <a:off x="978408" y="4837176"/>
            <a:ext cx="1106424" cy="164592"/>
          </a:xfrm>
          <a:prstGeom prst="rect">
            <a:avLst/>
          </a:prstGeom>
          <a:noFill/>
          <a:ln/>
        </p:spPr>
        <p:txBody>
          <a:bodyPr wrap="square" lIns="0" tIns="0" rIns="0" bIns="0" rtlCol="0" anchor="ctr">
            <a:normAutofit/>
          </a:bodyPr>
          <a:lstStyle/>
          <a:p>
            <a:pPr algn="ctr" indent="0" marL="0">
              <a:buNone/>
            </a:pPr>
            <a:r>
              <a:rPr lang="en-US" sz="880" b="1" dirty="0">
                <a:solidFill>
                  <a:srgbClr val="0B560B"/>
                </a:solidFill>
                <a:latin typeface="Segoe UI Semibold" pitchFamily="34" charset="0"/>
                <a:ea typeface="Segoe UI Semibold" pitchFamily="34" charset="-122"/>
                <a:cs typeface="Segoe UI Semibold" pitchFamily="34" charset="-120"/>
              </a:rPr>
              <a:t>HAPPY PATH</a:t>
            </a:r>
            <a:endParaRPr lang="en-US" sz="880" dirty="0"/>
          </a:p>
        </p:txBody>
      </p:sp>
      <p:sp>
        <p:nvSpPr>
          <p:cNvPr id="20" name="Shape 18"/>
          <p:cNvSpPr/>
          <p:nvPr/>
        </p:nvSpPr>
        <p:spPr>
          <a:xfrm>
            <a:off x="2359152" y="4782312"/>
            <a:ext cx="1143000" cy="310896"/>
          </a:xfrm>
          <a:prstGeom prst="roundRect">
            <a:avLst/>
          </a:prstGeom>
          <a:solidFill>
            <a:srgbClr val="F9E3DB"/>
          </a:solidFill>
          <a:ln w="12700">
            <a:solidFill>
              <a:srgbClr val="F9E3DB">
                <a:alpha val="0"/>
              </a:srgbClr>
            </a:solidFill>
            <a:prstDash val="solid"/>
          </a:ln>
        </p:spPr>
      </p:sp>
      <p:sp>
        <p:nvSpPr>
          <p:cNvPr id="21" name="Text 19"/>
          <p:cNvSpPr/>
          <p:nvPr/>
        </p:nvSpPr>
        <p:spPr>
          <a:xfrm>
            <a:off x="2423160" y="4837176"/>
            <a:ext cx="1014984" cy="164592"/>
          </a:xfrm>
          <a:prstGeom prst="rect">
            <a:avLst/>
          </a:prstGeom>
          <a:noFill/>
          <a:ln/>
        </p:spPr>
        <p:txBody>
          <a:bodyPr wrap="square" lIns="0" tIns="0" rIns="0" bIns="0" rtlCol="0" anchor="ctr">
            <a:normAutofit/>
          </a:bodyPr>
          <a:lstStyle/>
          <a:p>
            <a:pPr algn="ctr" indent="0" marL="0">
              <a:buNone/>
            </a:pPr>
            <a:r>
              <a:rPr lang="en-US" sz="880" b="1" dirty="0">
                <a:solidFill>
                  <a:srgbClr val="972900"/>
                </a:solidFill>
                <a:latin typeface="Segoe UI Semibold" pitchFamily="34" charset="0"/>
                <a:ea typeface="Segoe UI Semibold" pitchFamily="34" charset="-122"/>
                <a:cs typeface="Segoe UI Semibold" pitchFamily="34" charset="-120"/>
              </a:rPr>
              <a:t>EDGE CASE</a:t>
            </a:r>
            <a:endParaRPr lang="en-US" sz="880" dirty="0"/>
          </a:p>
        </p:txBody>
      </p:sp>
      <p:sp>
        <p:nvSpPr>
          <p:cNvPr id="22" name="Shape 20"/>
          <p:cNvSpPr/>
          <p:nvPr/>
        </p:nvSpPr>
        <p:spPr>
          <a:xfrm>
            <a:off x="3712464" y="4782312"/>
            <a:ext cx="1417320" cy="310896"/>
          </a:xfrm>
          <a:prstGeom prst="roundRect">
            <a:avLst/>
          </a:prstGeom>
          <a:solidFill>
            <a:srgbClr val="FDE7E9"/>
          </a:solidFill>
          <a:ln w="12700">
            <a:solidFill>
              <a:srgbClr val="FDE7E9">
                <a:alpha val="0"/>
              </a:srgbClr>
            </a:solidFill>
            <a:prstDash val="solid"/>
          </a:ln>
        </p:spPr>
      </p:sp>
      <p:sp>
        <p:nvSpPr>
          <p:cNvPr id="23" name="Text 21"/>
          <p:cNvSpPr/>
          <p:nvPr/>
        </p:nvSpPr>
        <p:spPr>
          <a:xfrm>
            <a:off x="3776472" y="4837176"/>
            <a:ext cx="1289304" cy="164592"/>
          </a:xfrm>
          <a:prstGeom prst="rect">
            <a:avLst/>
          </a:prstGeom>
          <a:noFill/>
          <a:ln/>
        </p:spPr>
        <p:txBody>
          <a:bodyPr wrap="square" lIns="0" tIns="0" rIns="0" bIns="0" rtlCol="0" anchor="ctr">
            <a:normAutofit/>
          </a:bodyPr>
          <a:lstStyle/>
          <a:p>
            <a:pPr algn="ctr" indent="0" marL="0">
              <a:buNone/>
            </a:pPr>
            <a:r>
              <a:rPr lang="en-US" sz="850" b="1" dirty="0">
                <a:solidFill>
                  <a:srgbClr val="A4262C"/>
                </a:solidFill>
                <a:latin typeface="Segoe UI Semibold" pitchFamily="34" charset="0"/>
                <a:ea typeface="Segoe UI Semibold" pitchFamily="34" charset="-122"/>
                <a:cs typeface="Segoe UI Semibold" pitchFamily="34" charset="-120"/>
              </a:rPr>
              <a:t>UNKNOWN VALUE</a:t>
            </a:r>
            <a:endParaRPr lang="en-US" sz="850" dirty="0"/>
          </a:p>
        </p:txBody>
      </p:sp>
      <p:sp>
        <p:nvSpPr>
          <p:cNvPr id="24" name="Shape 22"/>
          <p:cNvSpPr/>
          <p:nvPr/>
        </p:nvSpPr>
        <p:spPr>
          <a:xfrm>
            <a:off x="6565392" y="1828800"/>
            <a:ext cx="5029200" cy="2761488"/>
          </a:xfrm>
          <a:prstGeom prst="roundRect">
            <a:avLst/>
          </a:prstGeom>
          <a:solidFill>
            <a:srgbClr val="F9E3DB"/>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25" name="Text 23"/>
          <p:cNvSpPr/>
          <p:nvPr/>
        </p:nvSpPr>
        <p:spPr>
          <a:xfrm>
            <a:off x="6885432" y="2148840"/>
            <a:ext cx="2286000" cy="201168"/>
          </a:xfrm>
          <a:prstGeom prst="rect">
            <a:avLst/>
          </a:prstGeom>
          <a:noFill/>
          <a:ln/>
        </p:spPr>
        <p:txBody>
          <a:bodyPr wrap="square" lIns="0" tIns="0" rIns="0" bIns="0" rtlCol="0" anchor="ctr"/>
          <a:lstStyle/>
          <a:p>
            <a:pPr indent="0" marL="0">
              <a:buNone/>
            </a:pPr>
            <a:r>
              <a:rPr lang="en-US" sz="1150" b="1" spc="100" kern="0" dirty="0">
                <a:solidFill>
                  <a:srgbClr val="972900"/>
                </a:solidFill>
                <a:latin typeface="Segoe UI Semibold" pitchFamily="34" charset="0"/>
                <a:ea typeface="Segoe UI Semibold" pitchFamily="34" charset="-122"/>
                <a:cs typeface="Segoe UI Semibold" pitchFamily="34" charset="-120"/>
              </a:rPr>
              <a:t>SCORE THE PROTOTYPE</a:t>
            </a:r>
            <a:endParaRPr lang="en-US" sz="1150" dirty="0"/>
          </a:p>
        </p:txBody>
      </p:sp>
      <p:sp>
        <p:nvSpPr>
          <p:cNvPr id="26" name="Shape 24"/>
          <p:cNvSpPr/>
          <p:nvPr/>
        </p:nvSpPr>
        <p:spPr>
          <a:xfrm>
            <a:off x="6885432" y="2670048"/>
            <a:ext cx="201168" cy="201168"/>
          </a:xfrm>
          <a:prstGeom prst="ellipse">
            <a:avLst/>
          </a:prstGeom>
          <a:solidFill>
            <a:srgbClr val="FFFFFF"/>
          </a:solidFill>
          <a:ln w="12700">
            <a:solidFill>
              <a:srgbClr val="D83B01"/>
            </a:solidFill>
            <a:prstDash val="solid"/>
          </a:ln>
        </p:spPr>
      </p:sp>
      <p:sp>
        <p:nvSpPr>
          <p:cNvPr id="27" name="Text 25"/>
          <p:cNvSpPr/>
          <p:nvPr/>
        </p:nvSpPr>
        <p:spPr>
          <a:xfrm>
            <a:off x="7196328" y="2633472"/>
            <a:ext cx="3657600" cy="256032"/>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Understands the request</a:t>
            </a:r>
            <a:endParaRPr lang="en-US" sz="1100" dirty="0"/>
          </a:p>
        </p:txBody>
      </p:sp>
      <p:sp>
        <p:nvSpPr>
          <p:cNvPr id="28" name="Shape 26"/>
          <p:cNvSpPr/>
          <p:nvPr/>
        </p:nvSpPr>
        <p:spPr>
          <a:xfrm>
            <a:off x="6885432" y="3035808"/>
            <a:ext cx="201168" cy="201168"/>
          </a:xfrm>
          <a:prstGeom prst="ellipse">
            <a:avLst/>
          </a:prstGeom>
          <a:solidFill>
            <a:srgbClr val="FFFFFF"/>
          </a:solidFill>
          <a:ln w="12700">
            <a:solidFill>
              <a:srgbClr val="D83B01"/>
            </a:solidFill>
            <a:prstDash val="solid"/>
          </a:ln>
        </p:spPr>
      </p:sp>
      <p:sp>
        <p:nvSpPr>
          <p:cNvPr id="29" name="Text 27"/>
          <p:cNvSpPr/>
          <p:nvPr/>
        </p:nvSpPr>
        <p:spPr>
          <a:xfrm>
            <a:off x="7196328" y="2999232"/>
            <a:ext cx="3657600" cy="256032"/>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Asks only necessary questions</a:t>
            </a:r>
            <a:endParaRPr lang="en-US" sz="1100" dirty="0"/>
          </a:p>
        </p:txBody>
      </p:sp>
      <p:sp>
        <p:nvSpPr>
          <p:cNvPr id="30" name="Shape 28"/>
          <p:cNvSpPr/>
          <p:nvPr/>
        </p:nvSpPr>
        <p:spPr>
          <a:xfrm>
            <a:off x="6885432" y="3401568"/>
            <a:ext cx="201168" cy="201168"/>
          </a:xfrm>
          <a:prstGeom prst="ellipse">
            <a:avLst/>
          </a:prstGeom>
          <a:solidFill>
            <a:srgbClr val="FFFFFF"/>
          </a:solidFill>
          <a:ln w="12700">
            <a:solidFill>
              <a:srgbClr val="D83B01"/>
            </a:solidFill>
            <a:prstDash val="solid"/>
          </a:ln>
        </p:spPr>
      </p:sp>
      <p:sp>
        <p:nvSpPr>
          <p:cNvPr id="31" name="Text 29"/>
          <p:cNvSpPr/>
          <p:nvPr/>
        </p:nvSpPr>
        <p:spPr>
          <a:xfrm>
            <a:off x="7196328" y="3364992"/>
            <a:ext cx="3657600" cy="256032"/>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Uses approved evidence</a:t>
            </a:r>
            <a:endParaRPr lang="en-US" sz="1100" dirty="0"/>
          </a:p>
        </p:txBody>
      </p:sp>
      <p:sp>
        <p:nvSpPr>
          <p:cNvPr id="32" name="Shape 30"/>
          <p:cNvSpPr/>
          <p:nvPr/>
        </p:nvSpPr>
        <p:spPr>
          <a:xfrm>
            <a:off x="6885432" y="3767328"/>
            <a:ext cx="201168" cy="201168"/>
          </a:xfrm>
          <a:prstGeom prst="ellipse">
            <a:avLst/>
          </a:prstGeom>
          <a:solidFill>
            <a:srgbClr val="FFFFFF"/>
          </a:solidFill>
          <a:ln w="12700">
            <a:solidFill>
              <a:srgbClr val="D83B01"/>
            </a:solidFill>
            <a:prstDash val="solid"/>
          </a:ln>
        </p:spPr>
      </p:sp>
      <p:sp>
        <p:nvSpPr>
          <p:cNvPr id="33" name="Text 31"/>
          <p:cNvSpPr/>
          <p:nvPr/>
        </p:nvSpPr>
        <p:spPr>
          <a:xfrm>
            <a:off x="7196328" y="3730752"/>
            <a:ext cx="3657600" cy="256032"/>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Handles unknowns honestly</a:t>
            </a:r>
            <a:endParaRPr lang="en-US" sz="1100" dirty="0"/>
          </a:p>
        </p:txBody>
      </p:sp>
      <p:sp>
        <p:nvSpPr>
          <p:cNvPr id="34" name="Shape 32"/>
          <p:cNvSpPr/>
          <p:nvPr/>
        </p:nvSpPr>
        <p:spPr>
          <a:xfrm>
            <a:off x="6885432" y="4133088"/>
            <a:ext cx="201168" cy="201168"/>
          </a:xfrm>
          <a:prstGeom prst="ellipse">
            <a:avLst/>
          </a:prstGeom>
          <a:solidFill>
            <a:srgbClr val="FFFFFF"/>
          </a:solidFill>
          <a:ln w="12700">
            <a:solidFill>
              <a:srgbClr val="D83B01"/>
            </a:solidFill>
            <a:prstDash val="solid"/>
          </a:ln>
        </p:spPr>
      </p:sp>
      <p:sp>
        <p:nvSpPr>
          <p:cNvPr id="35" name="Text 33"/>
          <p:cNvSpPr/>
          <p:nvPr/>
        </p:nvSpPr>
        <p:spPr>
          <a:xfrm>
            <a:off x="7196328" y="4096512"/>
            <a:ext cx="3657600" cy="256032"/>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Produces the promised artifact</a:t>
            </a:r>
            <a:endParaRPr lang="en-US" sz="1100" dirty="0"/>
          </a:p>
        </p:txBody>
      </p:sp>
      <p:sp>
        <p:nvSpPr>
          <p:cNvPr id="36" name="Shape 34"/>
          <p:cNvSpPr/>
          <p:nvPr/>
        </p:nvSpPr>
        <p:spPr>
          <a:xfrm>
            <a:off x="6903720" y="4846320"/>
            <a:ext cx="1280160" cy="411480"/>
          </a:xfrm>
          <a:prstGeom prst="chevron">
            <a:avLst/>
          </a:prstGeom>
          <a:solidFill>
            <a:srgbClr val="0078D4"/>
          </a:solidFill>
          <a:ln w="12700">
            <a:solidFill>
              <a:srgbClr val="0078D4">
                <a:alpha val="0"/>
              </a:srgbClr>
            </a:solidFill>
            <a:prstDash val="solid"/>
          </a:ln>
        </p:spPr>
      </p:sp>
      <p:sp>
        <p:nvSpPr>
          <p:cNvPr id="37" name="Text 35"/>
          <p:cNvSpPr/>
          <p:nvPr/>
        </p:nvSpPr>
        <p:spPr>
          <a:xfrm>
            <a:off x="7150608" y="4974336"/>
            <a:ext cx="658368"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EDIT</a:t>
            </a:r>
            <a:endParaRPr lang="en-US" sz="900" dirty="0"/>
          </a:p>
        </p:txBody>
      </p:sp>
      <p:sp>
        <p:nvSpPr>
          <p:cNvPr id="38" name="Shape 36"/>
          <p:cNvSpPr/>
          <p:nvPr/>
        </p:nvSpPr>
        <p:spPr>
          <a:xfrm>
            <a:off x="8366760" y="4846320"/>
            <a:ext cx="1280160" cy="411480"/>
          </a:xfrm>
          <a:prstGeom prst="chevron">
            <a:avLst/>
          </a:prstGeom>
          <a:solidFill>
            <a:srgbClr val="107C10"/>
          </a:solidFill>
          <a:ln w="12700">
            <a:solidFill>
              <a:srgbClr val="107C10">
                <a:alpha val="0"/>
              </a:srgbClr>
            </a:solidFill>
            <a:prstDash val="solid"/>
          </a:ln>
        </p:spPr>
      </p:sp>
      <p:sp>
        <p:nvSpPr>
          <p:cNvPr id="39" name="Text 37"/>
          <p:cNvSpPr/>
          <p:nvPr/>
        </p:nvSpPr>
        <p:spPr>
          <a:xfrm>
            <a:off x="8540496" y="4974336"/>
            <a:ext cx="932688" cy="137160"/>
          </a:xfrm>
          <a:prstGeom prst="rect">
            <a:avLst/>
          </a:prstGeom>
          <a:noFill/>
          <a:ln/>
        </p:spPr>
        <p:txBody>
          <a:bodyPr wrap="square" lIns="0" tIns="0" rIns="0" bIns="0" rtlCol="0" anchor="ctr"/>
          <a:lstStyle/>
          <a:p>
            <a:pPr algn="ctr" indent="0" marL="0">
              <a:buNone/>
            </a:pPr>
            <a:r>
              <a:rPr lang="en-US" sz="780" b="1" dirty="0">
                <a:solidFill>
                  <a:srgbClr val="FFFFFF"/>
                </a:solidFill>
                <a:latin typeface="Segoe UI Semibold" pitchFamily="34" charset="0"/>
                <a:ea typeface="Segoe UI Semibold" pitchFamily="34" charset="-122"/>
                <a:cs typeface="Segoe UI Semibold" pitchFamily="34" charset="-120"/>
              </a:rPr>
              <a:t>REGENERATE</a:t>
            </a:r>
            <a:endParaRPr lang="en-US" sz="780" dirty="0"/>
          </a:p>
        </p:txBody>
      </p:sp>
      <p:sp>
        <p:nvSpPr>
          <p:cNvPr id="40" name="Shape 38"/>
          <p:cNvSpPr/>
          <p:nvPr/>
        </p:nvSpPr>
        <p:spPr>
          <a:xfrm>
            <a:off x="9829800" y="4846320"/>
            <a:ext cx="1280160" cy="411480"/>
          </a:xfrm>
          <a:prstGeom prst="chevron">
            <a:avLst/>
          </a:prstGeom>
          <a:solidFill>
            <a:srgbClr val="8661C5"/>
          </a:solidFill>
          <a:ln w="12700">
            <a:solidFill>
              <a:srgbClr val="8661C5">
                <a:alpha val="0"/>
              </a:srgbClr>
            </a:solidFill>
            <a:prstDash val="solid"/>
          </a:ln>
        </p:spPr>
      </p:sp>
      <p:sp>
        <p:nvSpPr>
          <p:cNvPr id="41" name="Text 39"/>
          <p:cNvSpPr/>
          <p:nvPr/>
        </p:nvSpPr>
        <p:spPr>
          <a:xfrm>
            <a:off x="10094976" y="4974336"/>
            <a:ext cx="7132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Segoe UI Semibold" pitchFamily="34" charset="0"/>
                <a:ea typeface="Segoe UI Semibold" pitchFamily="34" charset="-122"/>
                <a:cs typeface="Segoe UI Semibold" pitchFamily="34" charset="-120"/>
              </a:rPr>
              <a:t>RETEST</a:t>
            </a:r>
            <a:endParaRPr lang="en-US" sz="900" dirty="0"/>
          </a:p>
        </p:txBody>
      </p:sp>
      <p:sp>
        <p:nvSpPr>
          <p:cNvPr id="42" name="Text 40"/>
          <p:cNvSpPr/>
          <p:nvPr/>
        </p:nvSpPr>
        <p:spPr>
          <a:xfrm>
            <a:off x="6903720" y="5486400"/>
            <a:ext cx="4187952" cy="228600"/>
          </a:xfrm>
          <a:prstGeom prst="rect">
            <a:avLst/>
          </a:prstGeom>
          <a:noFill/>
          <a:ln/>
        </p:spPr>
        <p:txBody>
          <a:bodyPr wrap="square" lIns="0" tIns="0" rIns="0" bIns="0" rtlCol="0" anchor="ctr"/>
          <a:lstStyle/>
          <a:p>
            <a:pPr algn="ctr" indent="0" marL="0">
              <a:buNone/>
            </a:pPr>
            <a:r>
              <a:rPr lang="en-US" sz="1150" b="1" dirty="0">
                <a:solidFill>
                  <a:srgbClr val="103A6B"/>
                </a:solidFill>
                <a:latin typeface="Segoe UI Semibold" pitchFamily="34" charset="0"/>
                <a:ea typeface="Segoe UI Semibold" pitchFamily="34" charset="-122"/>
                <a:cs typeface="Segoe UI Semibold" pitchFamily="34" charset="-120"/>
              </a:rPr>
              <a:t>Refine the source or MVP - not the symptom.</a:t>
            </a:r>
            <a:endParaRPr lang="en-US" sz="1150" dirty="0"/>
          </a:p>
        </p:txBody>
      </p:sp>
      <p:sp>
        <p:nvSpPr>
          <p:cNvPr id="43" name="Text 41"/>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14</a:t>
            </a:r>
            <a:endParaRPr lang="en-US" sz="8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A4262C"/>
          </a:solidFill>
          <a:ln w="12700">
            <a:solidFill>
              <a:srgbClr val="A4262C">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A4262C"/>
                </a:solidFill>
                <a:latin typeface="Segoe UI Semibold" pitchFamily="34" charset="0"/>
                <a:ea typeface="Segoe UI Semibold" pitchFamily="34" charset="-122"/>
                <a:cs typeface="Segoe UI Semibold" pitchFamily="34" charset="-120"/>
              </a:rPr>
              <a:t>RESPONSIBLE PROTOTYPING</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Permission. Proof. Production.</a:t>
            </a:r>
            <a:endParaRPr lang="en-US" sz="2800" dirty="0"/>
          </a:p>
        </p:txBody>
      </p:sp>
      <p:sp>
        <p:nvSpPr>
          <p:cNvPr id="10" name="Shape 8"/>
          <p:cNvSpPr/>
          <p:nvPr/>
        </p:nvSpPr>
        <p:spPr>
          <a:xfrm>
            <a:off x="640080" y="1874520"/>
            <a:ext cx="3063240" cy="3337560"/>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11" name="Text 9"/>
          <p:cNvSpPr/>
          <p:nvPr/>
        </p:nvSpPr>
        <p:spPr>
          <a:xfrm>
            <a:off x="822960" y="2121408"/>
            <a:ext cx="502920" cy="256032"/>
          </a:xfrm>
          <a:prstGeom prst="rect">
            <a:avLst/>
          </a:prstGeom>
          <a:noFill/>
          <a:ln/>
        </p:spPr>
        <p:txBody>
          <a:bodyPr wrap="square" lIns="0" tIns="0" rIns="0" bIns="0" rtlCol="0" anchor="ctr"/>
          <a:lstStyle/>
          <a:p>
            <a:pPr indent="0" marL="0">
              <a:buNone/>
            </a:pPr>
            <a:r>
              <a:rPr lang="en-US" sz="1600" b="1" dirty="0">
                <a:solidFill>
                  <a:srgbClr val="0078D4"/>
                </a:solidFill>
                <a:latin typeface="Segoe UI Semibold" pitchFamily="34" charset="0"/>
                <a:ea typeface="Segoe UI Semibold" pitchFamily="34" charset="-122"/>
                <a:cs typeface="Segoe UI Semibold" pitchFamily="34" charset="-120"/>
              </a:rPr>
              <a:t>01</a:t>
            </a:r>
            <a:endParaRPr lang="en-US" sz="1600" dirty="0"/>
          </a:p>
        </p:txBody>
      </p:sp>
      <p:sp>
        <p:nvSpPr>
          <p:cNvPr id="12" name="Shape 10"/>
          <p:cNvSpPr/>
          <p:nvPr/>
        </p:nvSpPr>
        <p:spPr>
          <a:xfrm>
            <a:off x="1554480" y="2103120"/>
            <a:ext cx="1755648" cy="310896"/>
          </a:xfrm>
          <a:prstGeom prst="roundRect">
            <a:avLst/>
          </a:prstGeom>
          <a:solidFill>
            <a:srgbClr val="DCEEFF"/>
          </a:solidFill>
          <a:ln w="12700">
            <a:solidFill>
              <a:srgbClr val="DCEEFF">
                <a:alpha val="0"/>
              </a:srgbClr>
            </a:solidFill>
            <a:prstDash val="solid"/>
          </a:ln>
        </p:spPr>
      </p:sp>
      <p:sp>
        <p:nvSpPr>
          <p:cNvPr id="13" name="Text 11"/>
          <p:cNvSpPr/>
          <p:nvPr/>
        </p:nvSpPr>
        <p:spPr>
          <a:xfrm>
            <a:off x="1618488" y="2157984"/>
            <a:ext cx="1627632" cy="164592"/>
          </a:xfrm>
          <a:prstGeom prst="rect">
            <a:avLst/>
          </a:prstGeom>
          <a:noFill/>
          <a:ln/>
        </p:spPr>
        <p:txBody>
          <a:bodyPr wrap="square" lIns="0" tIns="0" rIns="0" bIns="0" rtlCol="0" anchor="ctr">
            <a:normAutofit/>
          </a:bodyPr>
          <a:lstStyle/>
          <a:p>
            <a:pPr algn="ctr" indent="0" marL="0">
              <a:buNone/>
            </a:pPr>
            <a:r>
              <a:rPr lang="en-US" sz="900" b="1" dirty="0">
                <a:solidFill>
                  <a:srgbClr val="0078D4"/>
                </a:solidFill>
                <a:latin typeface="Segoe UI Semibold" pitchFamily="34" charset="0"/>
                <a:ea typeface="Segoe UI Semibold" pitchFamily="34" charset="-122"/>
                <a:cs typeface="Segoe UI Semibold" pitchFamily="34" charset="-120"/>
              </a:rPr>
              <a:t>PERMISSION</a:t>
            </a:r>
            <a:endParaRPr lang="en-US" sz="900" dirty="0"/>
          </a:p>
        </p:txBody>
      </p:sp>
      <p:sp>
        <p:nvSpPr>
          <p:cNvPr id="14" name="Text 12"/>
          <p:cNvSpPr/>
          <p:nvPr/>
        </p:nvSpPr>
        <p:spPr>
          <a:xfrm>
            <a:off x="914400" y="2971800"/>
            <a:ext cx="2514600" cy="292608"/>
          </a:xfrm>
          <a:prstGeom prst="rect">
            <a:avLst/>
          </a:prstGeom>
          <a:noFill/>
          <a:ln/>
        </p:spPr>
        <p:txBody>
          <a:bodyPr wrap="square" lIns="0" tIns="0" rIns="0" bIns="0" rtlCol="0" anchor="ctr"/>
          <a:lstStyle/>
          <a:p>
            <a:pPr algn="ctr" indent="0" marL="0">
              <a:buNone/>
            </a:pPr>
            <a:r>
              <a:rPr lang="en-US" sz="1800" b="1" dirty="0">
                <a:solidFill>
                  <a:srgbClr val="1B1A19"/>
                </a:solidFill>
                <a:latin typeface="Segoe UI Semibold" pitchFamily="34" charset="0"/>
                <a:ea typeface="Segoe UI Semibold" pitchFamily="34" charset="-122"/>
                <a:cs typeface="Segoe UI Semibold" pitchFamily="34" charset="-120"/>
              </a:rPr>
              <a:t>Before upload</a:t>
            </a:r>
            <a:endParaRPr lang="en-US" sz="1800" dirty="0"/>
          </a:p>
        </p:txBody>
      </p:sp>
      <p:sp>
        <p:nvSpPr>
          <p:cNvPr id="15" name="Text 13"/>
          <p:cNvSpPr/>
          <p:nvPr/>
        </p:nvSpPr>
        <p:spPr>
          <a:xfrm>
            <a:off x="969264" y="3584448"/>
            <a:ext cx="2404872" cy="804672"/>
          </a:xfrm>
          <a:prstGeom prst="rect">
            <a:avLst/>
          </a:prstGeom>
          <a:noFill/>
          <a:ln/>
        </p:spPr>
        <p:txBody>
          <a:bodyPr wrap="square" lIns="0" tIns="0" rIns="0" bIns="0" rtlCol="0" anchor="ctr">
            <a:normAutofit/>
          </a:bodyPr>
          <a:lstStyle/>
          <a:p>
            <a:pPr algn="ctr" indent="0" marL="0">
              <a:buNone/>
            </a:pPr>
            <a:r>
              <a:rPr lang="en-US" sz="1160" dirty="0">
                <a:solidFill>
                  <a:srgbClr val="3B3A39"/>
                </a:solidFill>
                <a:latin typeface="Segoe UI" pitchFamily="34" charset="0"/>
                <a:ea typeface="Segoe UI" pitchFamily="34" charset="-122"/>
                <a:cs typeface="Segoe UI" pitchFamily="34" charset="-120"/>
              </a:rPr>
              <a:t>Use only content you are permitted to process. Remove sensitive or unnecessary data.</a:t>
            </a:r>
            <a:endParaRPr lang="en-US" sz="1160" dirty="0"/>
          </a:p>
        </p:txBody>
      </p:sp>
      <p:sp>
        <p:nvSpPr>
          <p:cNvPr id="16" name="Shape 14"/>
          <p:cNvSpPr/>
          <p:nvPr/>
        </p:nvSpPr>
        <p:spPr>
          <a:xfrm>
            <a:off x="1865376" y="4453128"/>
            <a:ext cx="621792" cy="621792"/>
          </a:xfrm>
          <a:prstGeom prst="ellipse">
            <a:avLst/>
          </a:prstGeom>
          <a:solidFill>
            <a:srgbClr val="DCEEFF"/>
          </a:solidFill>
          <a:ln w="15240">
            <a:solidFill>
              <a:srgbClr val="0078D4"/>
            </a:solidFill>
            <a:prstDash val="solid"/>
          </a:ln>
        </p:spPr>
      </p:sp>
      <p:sp>
        <p:nvSpPr>
          <p:cNvPr id="17" name="Text 15"/>
          <p:cNvSpPr/>
          <p:nvPr/>
        </p:nvSpPr>
        <p:spPr>
          <a:xfrm>
            <a:off x="2029968" y="4608576"/>
            <a:ext cx="292608" cy="182880"/>
          </a:xfrm>
          <a:prstGeom prst="rect">
            <a:avLst/>
          </a:prstGeom>
          <a:noFill/>
          <a:ln/>
        </p:spPr>
        <p:txBody>
          <a:bodyPr wrap="square" lIns="0" tIns="0" rIns="0" bIns="0" rtlCol="0" anchor="ctr"/>
          <a:lstStyle/>
          <a:p>
            <a:pPr algn="ctr" indent="0" marL="0">
              <a:buNone/>
            </a:pPr>
            <a:r>
              <a:rPr lang="en-US" sz="1500" b="1" dirty="0">
                <a:solidFill>
                  <a:srgbClr val="0078D4"/>
                </a:solidFill>
                <a:latin typeface="Segoe UI Semibold" pitchFamily="34" charset="0"/>
                <a:ea typeface="Segoe UI Semibold" pitchFamily="34" charset="-122"/>
                <a:cs typeface="Segoe UI Semibold" pitchFamily="34" charset="-120"/>
              </a:rPr>
              <a:t>✓</a:t>
            </a:r>
            <a:endParaRPr lang="en-US" sz="1500" dirty="0"/>
          </a:p>
        </p:txBody>
      </p:sp>
      <p:sp>
        <p:nvSpPr>
          <p:cNvPr id="18" name="Shape 16"/>
          <p:cNvSpPr/>
          <p:nvPr/>
        </p:nvSpPr>
        <p:spPr>
          <a:xfrm>
            <a:off x="4069080" y="1874520"/>
            <a:ext cx="3063240" cy="3337560"/>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19" name="Text 17"/>
          <p:cNvSpPr/>
          <p:nvPr/>
        </p:nvSpPr>
        <p:spPr>
          <a:xfrm>
            <a:off x="4251960" y="2121408"/>
            <a:ext cx="502920" cy="256032"/>
          </a:xfrm>
          <a:prstGeom prst="rect">
            <a:avLst/>
          </a:prstGeom>
          <a:noFill/>
          <a:ln/>
        </p:spPr>
        <p:txBody>
          <a:bodyPr wrap="square" lIns="0" tIns="0" rIns="0" bIns="0" rtlCol="0" anchor="ctr"/>
          <a:lstStyle/>
          <a:p>
            <a:pPr indent="0" marL="0">
              <a:buNone/>
            </a:pPr>
            <a:r>
              <a:rPr lang="en-US" sz="1600" b="1" dirty="0">
                <a:solidFill>
                  <a:srgbClr val="D83B01"/>
                </a:solidFill>
                <a:latin typeface="Segoe UI Semibold" pitchFamily="34" charset="0"/>
                <a:ea typeface="Segoe UI Semibold" pitchFamily="34" charset="-122"/>
                <a:cs typeface="Segoe UI Semibold" pitchFamily="34" charset="-120"/>
              </a:rPr>
              <a:t>02</a:t>
            </a:r>
            <a:endParaRPr lang="en-US" sz="1600" dirty="0"/>
          </a:p>
        </p:txBody>
      </p:sp>
      <p:sp>
        <p:nvSpPr>
          <p:cNvPr id="20" name="Shape 18"/>
          <p:cNvSpPr/>
          <p:nvPr/>
        </p:nvSpPr>
        <p:spPr>
          <a:xfrm>
            <a:off x="4983480" y="2103120"/>
            <a:ext cx="1755648" cy="310896"/>
          </a:xfrm>
          <a:prstGeom prst="roundRect">
            <a:avLst/>
          </a:prstGeom>
          <a:solidFill>
            <a:srgbClr val="F9E3DB"/>
          </a:solidFill>
          <a:ln w="12700">
            <a:solidFill>
              <a:srgbClr val="F9E3DB">
                <a:alpha val="0"/>
              </a:srgbClr>
            </a:solidFill>
            <a:prstDash val="solid"/>
          </a:ln>
        </p:spPr>
      </p:sp>
      <p:sp>
        <p:nvSpPr>
          <p:cNvPr id="21" name="Text 19"/>
          <p:cNvSpPr/>
          <p:nvPr/>
        </p:nvSpPr>
        <p:spPr>
          <a:xfrm>
            <a:off x="5047488" y="2157984"/>
            <a:ext cx="1627632" cy="164592"/>
          </a:xfrm>
          <a:prstGeom prst="rect">
            <a:avLst/>
          </a:prstGeom>
          <a:noFill/>
          <a:ln/>
        </p:spPr>
        <p:txBody>
          <a:bodyPr wrap="square" lIns="0" tIns="0" rIns="0" bIns="0" rtlCol="0" anchor="ctr">
            <a:normAutofit/>
          </a:bodyPr>
          <a:lstStyle/>
          <a:p>
            <a:pPr algn="ctr" indent="0" marL="0">
              <a:buNone/>
            </a:pPr>
            <a:r>
              <a:rPr lang="en-US" sz="900" b="1" dirty="0">
                <a:solidFill>
                  <a:srgbClr val="D83B01"/>
                </a:solidFill>
                <a:latin typeface="Segoe UI Semibold" pitchFamily="34" charset="0"/>
                <a:ea typeface="Segoe UI Semibold" pitchFamily="34" charset="-122"/>
                <a:cs typeface="Segoe UI Semibold" pitchFamily="34" charset="-120"/>
              </a:rPr>
              <a:t>PROOF</a:t>
            </a:r>
            <a:endParaRPr lang="en-US" sz="900" dirty="0"/>
          </a:p>
        </p:txBody>
      </p:sp>
      <p:sp>
        <p:nvSpPr>
          <p:cNvPr id="22" name="Text 20"/>
          <p:cNvSpPr/>
          <p:nvPr/>
        </p:nvSpPr>
        <p:spPr>
          <a:xfrm>
            <a:off x="4343400" y="2971800"/>
            <a:ext cx="2514600" cy="292608"/>
          </a:xfrm>
          <a:prstGeom prst="rect">
            <a:avLst/>
          </a:prstGeom>
          <a:noFill/>
          <a:ln/>
        </p:spPr>
        <p:txBody>
          <a:bodyPr wrap="square" lIns="0" tIns="0" rIns="0" bIns="0" rtlCol="0" anchor="ctr"/>
          <a:lstStyle/>
          <a:p>
            <a:pPr algn="ctr" indent="0" marL="0">
              <a:buNone/>
            </a:pPr>
            <a:r>
              <a:rPr lang="en-US" sz="1800" b="1" dirty="0">
                <a:solidFill>
                  <a:srgbClr val="1B1A19"/>
                </a:solidFill>
                <a:latin typeface="Segoe UI Semibold" pitchFamily="34" charset="0"/>
                <a:ea typeface="Segoe UI Semibold" pitchFamily="34" charset="-122"/>
                <a:cs typeface="Segoe UI Semibold" pitchFamily="34" charset="-120"/>
              </a:rPr>
              <a:t>Before approval</a:t>
            </a:r>
            <a:endParaRPr lang="en-US" sz="1800" dirty="0"/>
          </a:p>
        </p:txBody>
      </p:sp>
      <p:sp>
        <p:nvSpPr>
          <p:cNvPr id="23" name="Text 21"/>
          <p:cNvSpPr/>
          <p:nvPr/>
        </p:nvSpPr>
        <p:spPr>
          <a:xfrm>
            <a:off x="4398264" y="3584448"/>
            <a:ext cx="2404872" cy="804672"/>
          </a:xfrm>
          <a:prstGeom prst="rect">
            <a:avLst/>
          </a:prstGeom>
          <a:noFill/>
          <a:ln/>
        </p:spPr>
        <p:txBody>
          <a:bodyPr wrap="square" lIns="0" tIns="0" rIns="0" bIns="0" rtlCol="0" anchor="ctr">
            <a:normAutofit/>
          </a:bodyPr>
          <a:lstStyle/>
          <a:p>
            <a:pPr algn="ctr" indent="0" marL="0">
              <a:buNone/>
            </a:pPr>
            <a:r>
              <a:rPr lang="en-US" sz="1160" dirty="0">
                <a:solidFill>
                  <a:srgbClr val="3B3A39"/>
                </a:solidFill>
                <a:latin typeface="Segoe UI" pitchFamily="34" charset="0"/>
                <a:ea typeface="Segoe UI" pitchFamily="34" charset="-122"/>
                <a:cs typeface="Segoe UI" pitchFamily="34" charset="-120"/>
              </a:rPr>
              <a:t>Verify the MVP, capability scope, systems, and generated answers with a human reviewer.</a:t>
            </a:r>
            <a:endParaRPr lang="en-US" sz="1160" dirty="0"/>
          </a:p>
        </p:txBody>
      </p:sp>
      <p:sp>
        <p:nvSpPr>
          <p:cNvPr id="24" name="Shape 22"/>
          <p:cNvSpPr/>
          <p:nvPr/>
        </p:nvSpPr>
        <p:spPr>
          <a:xfrm>
            <a:off x="5294376" y="4453128"/>
            <a:ext cx="621792" cy="621792"/>
          </a:xfrm>
          <a:prstGeom prst="ellipse">
            <a:avLst/>
          </a:prstGeom>
          <a:solidFill>
            <a:srgbClr val="F9E3DB"/>
          </a:solidFill>
          <a:ln w="15240">
            <a:solidFill>
              <a:srgbClr val="D83B01"/>
            </a:solidFill>
            <a:prstDash val="solid"/>
          </a:ln>
        </p:spPr>
      </p:sp>
      <p:sp>
        <p:nvSpPr>
          <p:cNvPr id="25" name="Text 23"/>
          <p:cNvSpPr/>
          <p:nvPr/>
        </p:nvSpPr>
        <p:spPr>
          <a:xfrm>
            <a:off x="5458968" y="4608576"/>
            <a:ext cx="292608" cy="182880"/>
          </a:xfrm>
          <a:prstGeom prst="rect">
            <a:avLst/>
          </a:prstGeom>
          <a:noFill/>
          <a:ln/>
        </p:spPr>
        <p:txBody>
          <a:bodyPr wrap="square" lIns="0" tIns="0" rIns="0" bIns="0" rtlCol="0" anchor="ctr"/>
          <a:lstStyle/>
          <a:p>
            <a:pPr algn="ctr" indent="0" marL="0">
              <a:buNone/>
            </a:pPr>
            <a:r>
              <a:rPr lang="en-US" sz="1500" b="1" dirty="0">
                <a:solidFill>
                  <a:srgbClr val="D83B01"/>
                </a:solidFill>
                <a:latin typeface="Segoe UI Semibold" pitchFamily="34" charset="0"/>
                <a:ea typeface="Segoe UI Semibold" pitchFamily="34" charset="-122"/>
                <a:cs typeface="Segoe UI Semibold" pitchFamily="34" charset="-120"/>
              </a:rPr>
              <a:t>✓</a:t>
            </a:r>
            <a:endParaRPr lang="en-US" sz="1500" dirty="0"/>
          </a:p>
        </p:txBody>
      </p:sp>
      <p:sp>
        <p:nvSpPr>
          <p:cNvPr id="26" name="Shape 24"/>
          <p:cNvSpPr/>
          <p:nvPr/>
        </p:nvSpPr>
        <p:spPr>
          <a:xfrm>
            <a:off x="7498080" y="1874520"/>
            <a:ext cx="3063240" cy="3337560"/>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27" name="Text 25"/>
          <p:cNvSpPr/>
          <p:nvPr/>
        </p:nvSpPr>
        <p:spPr>
          <a:xfrm>
            <a:off x="7680960" y="2121408"/>
            <a:ext cx="502920" cy="256032"/>
          </a:xfrm>
          <a:prstGeom prst="rect">
            <a:avLst/>
          </a:prstGeom>
          <a:noFill/>
          <a:ln/>
        </p:spPr>
        <p:txBody>
          <a:bodyPr wrap="square" lIns="0" tIns="0" rIns="0" bIns="0" rtlCol="0" anchor="ctr"/>
          <a:lstStyle/>
          <a:p>
            <a:pPr indent="0" marL="0">
              <a:buNone/>
            </a:pPr>
            <a:r>
              <a:rPr lang="en-US" sz="1600" b="1" dirty="0">
                <a:solidFill>
                  <a:srgbClr val="107C10"/>
                </a:solidFill>
                <a:latin typeface="Segoe UI Semibold" pitchFamily="34" charset="0"/>
                <a:ea typeface="Segoe UI Semibold" pitchFamily="34" charset="-122"/>
                <a:cs typeface="Segoe UI Semibold" pitchFamily="34" charset="-120"/>
              </a:rPr>
              <a:t>03</a:t>
            </a:r>
            <a:endParaRPr lang="en-US" sz="1600" dirty="0"/>
          </a:p>
        </p:txBody>
      </p:sp>
      <p:sp>
        <p:nvSpPr>
          <p:cNvPr id="28" name="Shape 26"/>
          <p:cNvSpPr/>
          <p:nvPr/>
        </p:nvSpPr>
        <p:spPr>
          <a:xfrm>
            <a:off x="8412480" y="2103120"/>
            <a:ext cx="1755648" cy="310896"/>
          </a:xfrm>
          <a:prstGeom prst="roundRect">
            <a:avLst/>
          </a:prstGeom>
          <a:solidFill>
            <a:srgbClr val="DFF6DD"/>
          </a:solidFill>
          <a:ln w="12700">
            <a:solidFill>
              <a:srgbClr val="DFF6DD">
                <a:alpha val="0"/>
              </a:srgbClr>
            </a:solidFill>
            <a:prstDash val="solid"/>
          </a:ln>
        </p:spPr>
      </p:sp>
      <p:sp>
        <p:nvSpPr>
          <p:cNvPr id="29" name="Text 27"/>
          <p:cNvSpPr/>
          <p:nvPr/>
        </p:nvSpPr>
        <p:spPr>
          <a:xfrm>
            <a:off x="8476488" y="2157984"/>
            <a:ext cx="1627632" cy="164592"/>
          </a:xfrm>
          <a:prstGeom prst="rect">
            <a:avLst/>
          </a:prstGeom>
          <a:noFill/>
          <a:ln/>
        </p:spPr>
        <p:txBody>
          <a:bodyPr wrap="square" lIns="0" tIns="0" rIns="0" bIns="0" rtlCol="0" anchor="ctr">
            <a:normAutofit/>
          </a:bodyPr>
          <a:lstStyle/>
          <a:p>
            <a:pPr algn="ctr" indent="0" marL="0">
              <a:buNone/>
            </a:pPr>
            <a:r>
              <a:rPr lang="en-US" sz="900" b="1" dirty="0">
                <a:solidFill>
                  <a:srgbClr val="107C10"/>
                </a:solidFill>
                <a:latin typeface="Segoe UI Semibold" pitchFamily="34" charset="0"/>
                <a:ea typeface="Segoe UI Semibold" pitchFamily="34" charset="-122"/>
                <a:cs typeface="Segoe UI Semibold" pitchFamily="34" charset="-120"/>
              </a:rPr>
              <a:t>PRODUCTION</a:t>
            </a:r>
            <a:endParaRPr lang="en-US" sz="900" dirty="0"/>
          </a:p>
        </p:txBody>
      </p:sp>
      <p:sp>
        <p:nvSpPr>
          <p:cNvPr id="30" name="Text 28"/>
          <p:cNvSpPr/>
          <p:nvPr/>
        </p:nvSpPr>
        <p:spPr>
          <a:xfrm>
            <a:off x="7772400" y="2971800"/>
            <a:ext cx="2514600" cy="292608"/>
          </a:xfrm>
          <a:prstGeom prst="rect">
            <a:avLst/>
          </a:prstGeom>
          <a:noFill/>
          <a:ln/>
        </p:spPr>
        <p:txBody>
          <a:bodyPr wrap="square" lIns="0" tIns="0" rIns="0" bIns="0" rtlCol="0" anchor="ctr"/>
          <a:lstStyle/>
          <a:p>
            <a:pPr algn="ctr" indent="0" marL="0">
              <a:buNone/>
            </a:pPr>
            <a:r>
              <a:rPr lang="en-US" sz="1800" b="1" dirty="0">
                <a:solidFill>
                  <a:srgbClr val="1B1A19"/>
                </a:solidFill>
                <a:latin typeface="Segoe UI Semibold" pitchFamily="34" charset="0"/>
                <a:ea typeface="Segoe UI Semibold" pitchFamily="34" charset="-122"/>
                <a:cs typeface="Segoe UI Semibold" pitchFamily="34" charset="-120"/>
              </a:rPr>
              <a:t>Before publish</a:t>
            </a:r>
            <a:endParaRPr lang="en-US" sz="1800" dirty="0"/>
          </a:p>
        </p:txBody>
      </p:sp>
      <p:sp>
        <p:nvSpPr>
          <p:cNvPr id="31" name="Text 29"/>
          <p:cNvSpPr/>
          <p:nvPr/>
        </p:nvSpPr>
        <p:spPr>
          <a:xfrm>
            <a:off x="7827264" y="3584448"/>
            <a:ext cx="2404872" cy="804672"/>
          </a:xfrm>
          <a:prstGeom prst="rect">
            <a:avLst/>
          </a:prstGeom>
          <a:noFill/>
          <a:ln/>
        </p:spPr>
        <p:txBody>
          <a:bodyPr wrap="square" lIns="0" tIns="0" rIns="0" bIns="0" rtlCol="0" anchor="ctr">
            <a:normAutofit/>
          </a:bodyPr>
          <a:lstStyle/>
          <a:p>
            <a:pPr algn="ctr" indent="0" marL="0">
              <a:buNone/>
            </a:pPr>
            <a:r>
              <a:rPr lang="en-US" sz="1160" dirty="0">
                <a:solidFill>
                  <a:srgbClr val="3B3A39"/>
                </a:solidFill>
                <a:latin typeface="Segoe UI" pitchFamily="34" charset="0"/>
                <a:ea typeface="Segoe UI" pitchFamily="34" charset="-122"/>
                <a:cs typeface="Segoe UI" pitchFamily="34" charset="-120"/>
              </a:rPr>
              <a:t>Bind reviewed connections, test writes safely, confirm permissions, and publish deliberately.</a:t>
            </a:r>
            <a:endParaRPr lang="en-US" sz="1160" dirty="0"/>
          </a:p>
        </p:txBody>
      </p:sp>
      <p:sp>
        <p:nvSpPr>
          <p:cNvPr id="32" name="Shape 30"/>
          <p:cNvSpPr/>
          <p:nvPr/>
        </p:nvSpPr>
        <p:spPr>
          <a:xfrm>
            <a:off x="8723376" y="4453128"/>
            <a:ext cx="621792" cy="621792"/>
          </a:xfrm>
          <a:prstGeom prst="ellipse">
            <a:avLst/>
          </a:prstGeom>
          <a:solidFill>
            <a:srgbClr val="DFF6DD"/>
          </a:solidFill>
          <a:ln w="15240">
            <a:solidFill>
              <a:srgbClr val="107C10"/>
            </a:solidFill>
            <a:prstDash val="solid"/>
          </a:ln>
        </p:spPr>
      </p:sp>
      <p:sp>
        <p:nvSpPr>
          <p:cNvPr id="33" name="Text 31"/>
          <p:cNvSpPr/>
          <p:nvPr/>
        </p:nvSpPr>
        <p:spPr>
          <a:xfrm>
            <a:off x="8887968" y="4608576"/>
            <a:ext cx="292608" cy="182880"/>
          </a:xfrm>
          <a:prstGeom prst="rect">
            <a:avLst/>
          </a:prstGeom>
          <a:noFill/>
          <a:ln/>
        </p:spPr>
        <p:txBody>
          <a:bodyPr wrap="square" lIns="0" tIns="0" rIns="0" bIns="0" rtlCol="0" anchor="ctr"/>
          <a:lstStyle/>
          <a:p>
            <a:pPr algn="ctr" indent="0" marL="0">
              <a:buNone/>
            </a:pPr>
            <a:r>
              <a:rPr lang="en-US" sz="1500" b="1" dirty="0">
                <a:solidFill>
                  <a:srgbClr val="107C10"/>
                </a:solidFill>
                <a:latin typeface="Segoe UI Semibold" pitchFamily="34" charset="0"/>
                <a:ea typeface="Segoe UI Semibold" pitchFamily="34" charset="-122"/>
                <a:cs typeface="Segoe UI Semibold" pitchFamily="34" charset="-120"/>
              </a:rPr>
              <a:t>✓</a:t>
            </a:r>
            <a:endParaRPr lang="en-US" sz="1500" dirty="0"/>
          </a:p>
        </p:txBody>
      </p:sp>
      <p:sp>
        <p:nvSpPr>
          <p:cNvPr id="34" name="Text 32"/>
          <p:cNvSpPr/>
          <p:nvPr/>
        </p:nvSpPr>
        <p:spPr>
          <a:xfrm>
            <a:off x="1051560" y="5669280"/>
            <a:ext cx="10058400" cy="274320"/>
          </a:xfrm>
          <a:prstGeom prst="rect">
            <a:avLst/>
          </a:prstGeom>
          <a:noFill/>
          <a:ln/>
        </p:spPr>
        <p:txBody>
          <a:bodyPr wrap="square" lIns="0" tIns="0" rIns="0" bIns="0" rtlCol="0" anchor="ctr"/>
          <a:lstStyle/>
          <a:p>
            <a:pPr algn="ctr" indent="0" marL="0">
              <a:buNone/>
            </a:pPr>
            <a:r>
              <a:rPr lang="en-US" sz="1300" b="1" dirty="0">
                <a:solidFill>
                  <a:srgbClr val="A4262C"/>
                </a:solidFill>
                <a:latin typeface="Segoe UI Semibold" pitchFamily="34" charset="0"/>
                <a:ea typeface="Segoe UI Semibold" pitchFamily="34" charset="-122"/>
                <a:cs typeface="Segoe UI Semibold" pitchFamily="34" charset="-120"/>
              </a:rPr>
              <a:t>AI-generated content may be wrong. Human review is a required RAPP step.</a:t>
            </a:r>
            <a:endParaRPr lang="en-US" sz="1300" dirty="0"/>
          </a:p>
        </p:txBody>
      </p:sp>
      <p:sp>
        <p:nvSpPr>
          <p:cNvPr id="35" name="Text 33"/>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15</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107C10"/>
          </a:solidFill>
          <a:ln w="12700">
            <a:solidFill>
              <a:srgbClr val="107C10">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107C10"/>
                </a:solidFill>
                <a:latin typeface="Segoe UI Semibold" pitchFamily="34" charset="0"/>
                <a:ea typeface="Segoe UI Semibold" pitchFamily="34" charset="-122"/>
                <a:cs typeface="Segoe UI Semibold" pitchFamily="34" charset="-120"/>
              </a:rPr>
              <a:t>TEACH-BACK</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If you can explain it, you can run it.</a:t>
            </a:r>
            <a:endParaRPr lang="en-US" sz="2800" dirty="0"/>
          </a:p>
        </p:txBody>
      </p:sp>
      <p:sp>
        <p:nvSpPr>
          <p:cNvPr id="10" name="Shape 8"/>
          <p:cNvSpPr/>
          <p:nvPr/>
        </p:nvSpPr>
        <p:spPr>
          <a:xfrm>
            <a:off x="10515600" y="713232"/>
            <a:ext cx="1097280" cy="365760"/>
          </a:xfrm>
          <a:prstGeom prst="roundRect">
            <a:avLst/>
          </a:prstGeom>
          <a:solidFill>
            <a:srgbClr val="107C10"/>
          </a:solidFill>
          <a:ln w="12700">
            <a:solidFill>
              <a:srgbClr val="107C10">
                <a:alpha val="0"/>
              </a:srgbClr>
            </a:solidFill>
            <a:prstDash val="solid"/>
          </a:ln>
        </p:spPr>
      </p:sp>
      <p:sp>
        <p:nvSpPr>
          <p:cNvPr id="11" name="Text 9"/>
          <p:cNvSpPr/>
          <p:nvPr/>
        </p:nvSpPr>
        <p:spPr>
          <a:xfrm>
            <a:off x="10588752" y="804672"/>
            <a:ext cx="950976"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Segoe UI Semibold" pitchFamily="34" charset="0"/>
                <a:ea typeface="Segoe UI Semibold" pitchFamily="34" charset="-122"/>
                <a:cs typeface="Segoe UI Semibold" pitchFamily="34" charset="-120"/>
              </a:rPr>
              <a:t>2 MIN</a:t>
            </a:r>
            <a:endParaRPr lang="en-US" sz="1000" dirty="0"/>
          </a:p>
        </p:txBody>
      </p:sp>
      <p:sp>
        <p:nvSpPr>
          <p:cNvPr id="12" name="Shape 10"/>
          <p:cNvSpPr/>
          <p:nvPr/>
        </p:nvSpPr>
        <p:spPr>
          <a:xfrm>
            <a:off x="658368" y="1920240"/>
            <a:ext cx="3108960" cy="2377440"/>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13" name="Shape 11"/>
          <p:cNvSpPr/>
          <p:nvPr/>
        </p:nvSpPr>
        <p:spPr>
          <a:xfrm>
            <a:off x="1755648" y="2176272"/>
            <a:ext cx="914400" cy="914400"/>
          </a:xfrm>
          <a:prstGeom prst="ellipse">
            <a:avLst/>
          </a:prstGeom>
          <a:solidFill>
            <a:srgbClr val="DCEEFF"/>
          </a:solidFill>
          <a:ln w="15240">
            <a:solidFill>
              <a:srgbClr val="0078D4"/>
            </a:solidFill>
            <a:prstDash val="solid"/>
          </a:ln>
        </p:spPr>
      </p:sp>
      <p:sp>
        <p:nvSpPr>
          <p:cNvPr id="14" name="Text 12"/>
          <p:cNvSpPr/>
          <p:nvPr/>
        </p:nvSpPr>
        <p:spPr>
          <a:xfrm>
            <a:off x="1920240" y="2505456"/>
            <a:ext cx="585216" cy="182880"/>
          </a:xfrm>
          <a:prstGeom prst="rect">
            <a:avLst/>
          </a:prstGeom>
          <a:noFill/>
          <a:ln/>
        </p:spPr>
        <p:txBody>
          <a:bodyPr wrap="square" lIns="0" tIns="0" rIns="0" bIns="0" rtlCol="0" anchor="ctr"/>
          <a:lstStyle/>
          <a:p>
            <a:pPr algn="ctr" indent="0" marL="0">
              <a:buNone/>
            </a:pPr>
            <a:r>
              <a:rPr lang="en-US" sz="1300" b="1" dirty="0">
                <a:solidFill>
                  <a:srgbClr val="0078D4"/>
                </a:solidFill>
                <a:latin typeface="Segoe UI Semibold" pitchFamily="34" charset="0"/>
                <a:ea typeface="Segoe UI Semibold" pitchFamily="34" charset="-122"/>
                <a:cs typeface="Segoe UI Semibold" pitchFamily="34" charset="-120"/>
              </a:rPr>
              <a:t>30s</a:t>
            </a:r>
            <a:endParaRPr lang="en-US" sz="1300" dirty="0"/>
          </a:p>
        </p:txBody>
      </p:sp>
      <p:sp>
        <p:nvSpPr>
          <p:cNvPr id="15" name="Text 13"/>
          <p:cNvSpPr/>
          <p:nvPr/>
        </p:nvSpPr>
        <p:spPr>
          <a:xfrm>
            <a:off x="932688" y="3346704"/>
            <a:ext cx="2560320" cy="256032"/>
          </a:xfrm>
          <a:prstGeom prst="rect">
            <a:avLst/>
          </a:prstGeom>
          <a:noFill/>
          <a:ln/>
        </p:spPr>
        <p:txBody>
          <a:bodyPr wrap="square" lIns="0" tIns="0" rIns="0" bIns="0" rtlCol="0" anchor="ctr"/>
          <a:lstStyle/>
          <a:p>
            <a:pPr algn="ctr" indent="0" marL="0">
              <a:buNone/>
            </a:pPr>
            <a:r>
              <a:rPr lang="en-US" sz="1350" b="1" dirty="0">
                <a:solidFill>
                  <a:srgbClr val="0078D4"/>
                </a:solidFill>
                <a:latin typeface="Segoe UI Semibold" pitchFamily="34" charset="0"/>
                <a:ea typeface="Segoe UI Semibold" pitchFamily="34" charset="-122"/>
                <a:cs typeface="Segoe UI Semibold" pitchFamily="34" charset="-120"/>
              </a:rPr>
              <a:t>NAME THE FIVE STEPS</a:t>
            </a:r>
            <a:endParaRPr lang="en-US" sz="1350" dirty="0"/>
          </a:p>
        </p:txBody>
      </p:sp>
      <p:sp>
        <p:nvSpPr>
          <p:cNvPr id="16" name="Text 14"/>
          <p:cNvSpPr/>
          <p:nvPr/>
        </p:nvSpPr>
        <p:spPr>
          <a:xfrm>
            <a:off x="978408" y="3721608"/>
            <a:ext cx="2468880" cy="347472"/>
          </a:xfrm>
          <a:prstGeom prst="rect">
            <a:avLst/>
          </a:prstGeom>
          <a:noFill/>
          <a:ln/>
        </p:spPr>
        <p:txBody>
          <a:bodyPr wrap="square" lIns="0" tIns="0" rIns="0" bIns="0" rtlCol="0" anchor="ctr">
            <a:normAutofit/>
          </a:bodyPr>
          <a:lstStyle/>
          <a:p>
            <a:pPr algn="ctr" indent="0" marL="0">
              <a:buNone/>
            </a:pPr>
            <a:r>
              <a:rPr lang="en-US" sz="1060" dirty="0">
                <a:solidFill>
                  <a:srgbClr val="3B3A39"/>
                </a:solidFill>
                <a:latin typeface="Segoe UI" pitchFamily="34" charset="0"/>
                <a:ea typeface="Segoe UI" pitchFamily="34" charset="-122"/>
                <a:cs typeface="Segoe UI" pitchFamily="34" charset="-120"/>
              </a:rPr>
              <a:t>Sign in. Documents. MVP. Review. Deploy.</a:t>
            </a:r>
            <a:endParaRPr lang="en-US" sz="1060" dirty="0"/>
          </a:p>
        </p:txBody>
      </p:sp>
      <p:sp>
        <p:nvSpPr>
          <p:cNvPr id="17" name="Shape 15"/>
          <p:cNvSpPr/>
          <p:nvPr/>
        </p:nvSpPr>
        <p:spPr>
          <a:xfrm>
            <a:off x="4069080" y="1920240"/>
            <a:ext cx="3108960" cy="2377440"/>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18" name="Shape 16"/>
          <p:cNvSpPr/>
          <p:nvPr/>
        </p:nvSpPr>
        <p:spPr>
          <a:xfrm>
            <a:off x="5166360" y="2176272"/>
            <a:ext cx="914400" cy="914400"/>
          </a:xfrm>
          <a:prstGeom prst="ellipse">
            <a:avLst/>
          </a:prstGeom>
          <a:solidFill>
            <a:srgbClr val="F9E3DB"/>
          </a:solidFill>
          <a:ln w="15240">
            <a:solidFill>
              <a:srgbClr val="D83B01"/>
            </a:solidFill>
            <a:prstDash val="solid"/>
          </a:ln>
        </p:spPr>
      </p:sp>
      <p:sp>
        <p:nvSpPr>
          <p:cNvPr id="19" name="Text 17"/>
          <p:cNvSpPr/>
          <p:nvPr/>
        </p:nvSpPr>
        <p:spPr>
          <a:xfrm>
            <a:off x="5330952" y="2505456"/>
            <a:ext cx="585216" cy="182880"/>
          </a:xfrm>
          <a:prstGeom prst="rect">
            <a:avLst/>
          </a:prstGeom>
          <a:noFill/>
          <a:ln/>
        </p:spPr>
        <p:txBody>
          <a:bodyPr wrap="square" lIns="0" tIns="0" rIns="0" bIns="0" rtlCol="0" anchor="ctr"/>
          <a:lstStyle/>
          <a:p>
            <a:pPr algn="ctr" indent="0" marL="0">
              <a:buNone/>
            </a:pPr>
            <a:r>
              <a:rPr lang="en-US" sz="1300" b="1" dirty="0">
                <a:solidFill>
                  <a:srgbClr val="D83B01"/>
                </a:solidFill>
                <a:latin typeface="Segoe UI Semibold" pitchFamily="34" charset="0"/>
                <a:ea typeface="Segoe UI Semibold" pitchFamily="34" charset="-122"/>
                <a:cs typeface="Segoe UI Semibold" pitchFamily="34" charset="-120"/>
              </a:rPr>
              <a:t>30s</a:t>
            </a:r>
            <a:endParaRPr lang="en-US" sz="1300" dirty="0"/>
          </a:p>
        </p:txBody>
      </p:sp>
      <p:sp>
        <p:nvSpPr>
          <p:cNvPr id="20" name="Text 18"/>
          <p:cNvSpPr/>
          <p:nvPr/>
        </p:nvSpPr>
        <p:spPr>
          <a:xfrm>
            <a:off x="4343400" y="3346704"/>
            <a:ext cx="2560320" cy="256032"/>
          </a:xfrm>
          <a:prstGeom prst="rect">
            <a:avLst/>
          </a:prstGeom>
          <a:noFill/>
          <a:ln/>
        </p:spPr>
        <p:txBody>
          <a:bodyPr wrap="square" lIns="0" tIns="0" rIns="0" bIns="0" rtlCol="0" anchor="ctr"/>
          <a:lstStyle/>
          <a:p>
            <a:pPr algn="ctr" indent="0" marL="0">
              <a:buNone/>
            </a:pPr>
            <a:r>
              <a:rPr lang="en-US" sz="1350" b="1" dirty="0">
                <a:solidFill>
                  <a:srgbClr val="D83B01"/>
                </a:solidFill>
                <a:latin typeface="Segoe UI Semibold" pitchFamily="34" charset="0"/>
                <a:ea typeface="Segoe UI Semibold" pitchFamily="34" charset="-122"/>
                <a:cs typeface="Segoe UI Semibold" pitchFamily="34" charset="-120"/>
              </a:rPr>
              <a:t>SHOW ONE ARTIFACT</a:t>
            </a:r>
            <a:endParaRPr lang="en-US" sz="1350" dirty="0"/>
          </a:p>
        </p:txBody>
      </p:sp>
      <p:sp>
        <p:nvSpPr>
          <p:cNvPr id="21" name="Text 19"/>
          <p:cNvSpPr/>
          <p:nvPr/>
        </p:nvSpPr>
        <p:spPr>
          <a:xfrm>
            <a:off x="4389120" y="3721608"/>
            <a:ext cx="2468880" cy="347472"/>
          </a:xfrm>
          <a:prstGeom prst="rect">
            <a:avLst/>
          </a:prstGeom>
          <a:noFill/>
          <a:ln/>
        </p:spPr>
        <p:txBody>
          <a:bodyPr wrap="square" lIns="0" tIns="0" rIns="0" bIns="0" rtlCol="0" anchor="ctr">
            <a:normAutofit/>
          </a:bodyPr>
          <a:lstStyle/>
          <a:p>
            <a:pPr algn="ctr" indent="0" marL="0">
              <a:buNone/>
            </a:pPr>
            <a:r>
              <a:rPr lang="en-US" sz="1060" dirty="0">
                <a:solidFill>
                  <a:srgbClr val="3B3A39"/>
                </a:solidFill>
                <a:latin typeface="Segoe UI" pitchFamily="34" charset="0"/>
                <a:ea typeface="Segoe UI" pitchFamily="34" charset="-122"/>
                <a:cs typeface="Segoe UI" pitchFamily="34" charset="-120"/>
              </a:rPr>
              <a:t>Demo twin, live package, agent.py, or test evidence.</a:t>
            </a:r>
            <a:endParaRPr lang="en-US" sz="1060" dirty="0"/>
          </a:p>
        </p:txBody>
      </p:sp>
      <p:sp>
        <p:nvSpPr>
          <p:cNvPr id="22" name="Shape 20"/>
          <p:cNvSpPr/>
          <p:nvPr/>
        </p:nvSpPr>
        <p:spPr>
          <a:xfrm>
            <a:off x="7479792" y="1920240"/>
            <a:ext cx="3108960" cy="2377440"/>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23" name="Shape 21"/>
          <p:cNvSpPr/>
          <p:nvPr/>
        </p:nvSpPr>
        <p:spPr>
          <a:xfrm>
            <a:off x="8577072" y="2176272"/>
            <a:ext cx="914400" cy="914400"/>
          </a:xfrm>
          <a:prstGeom prst="ellipse">
            <a:avLst/>
          </a:prstGeom>
          <a:solidFill>
            <a:srgbClr val="DFF6DD"/>
          </a:solidFill>
          <a:ln w="15240">
            <a:solidFill>
              <a:srgbClr val="107C10"/>
            </a:solidFill>
            <a:prstDash val="solid"/>
          </a:ln>
        </p:spPr>
      </p:sp>
      <p:sp>
        <p:nvSpPr>
          <p:cNvPr id="24" name="Text 22"/>
          <p:cNvSpPr/>
          <p:nvPr/>
        </p:nvSpPr>
        <p:spPr>
          <a:xfrm>
            <a:off x="8741664" y="2505456"/>
            <a:ext cx="585216" cy="182880"/>
          </a:xfrm>
          <a:prstGeom prst="rect">
            <a:avLst/>
          </a:prstGeom>
          <a:noFill/>
          <a:ln/>
        </p:spPr>
        <p:txBody>
          <a:bodyPr wrap="square" lIns="0" tIns="0" rIns="0" bIns="0" rtlCol="0" anchor="ctr"/>
          <a:lstStyle/>
          <a:p>
            <a:pPr algn="ctr" indent="0" marL="0">
              <a:buNone/>
            </a:pPr>
            <a:r>
              <a:rPr lang="en-US" sz="1300" b="1" dirty="0">
                <a:solidFill>
                  <a:srgbClr val="107C10"/>
                </a:solidFill>
                <a:latin typeface="Segoe UI Semibold" pitchFamily="34" charset="0"/>
                <a:ea typeface="Segoe UI Semibold" pitchFamily="34" charset="-122"/>
                <a:cs typeface="Segoe UI Semibold" pitchFamily="34" charset="-120"/>
              </a:rPr>
              <a:t>30s</a:t>
            </a:r>
            <a:endParaRPr lang="en-US" sz="1300" dirty="0"/>
          </a:p>
        </p:txBody>
      </p:sp>
      <p:sp>
        <p:nvSpPr>
          <p:cNvPr id="25" name="Text 23"/>
          <p:cNvSpPr/>
          <p:nvPr/>
        </p:nvSpPr>
        <p:spPr>
          <a:xfrm>
            <a:off x="7754112" y="3346704"/>
            <a:ext cx="2560320" cy="256032"/>
          </a:xfrm>
          <a:prstGeom prst="rect">
            <a:avLst/>
          </a:prstGeom>
          <a:noFill/>
          <a:ln/>
        </p:spPr>
        <p:txBody>
          <a:bodyPr wrap="square" lIns="0" tIns="0" rIns="0" bIns="0" rtlCol="0" anchor="ctr"/>
          <a:lstStyle/>
          <a:p>
            <a:pPr algn="ctr" indent="0" marL="0">
              <a:buNone/>
            </a:pPr>
            <a:r>
              <a:rPr lang="en-US" sz="1350" b="1" dirty="0">
                <a:solidFill>
                  <a:srgbClr val="107C10"/>
                </a:solidFill>
                <a:latin typeface="Segoe UI Semibold" pitchFamily="34" charset="0"/>
                <a:ea typeface="Segoe UI Semibold" pitchFamily="34" charset="-122"/>
                <a:cs typeface="Segoe UI Semibold" pitchFamily="34" charset="-120"/>
              </a:rPr>
              <a:t>NAME THE NEXT CHANGE</a:t>
            </a:r>
            <a:endParaRPr lang="en-US" sz="1350" dirty="0"/>
          </a:p>
        </p:txBody>
      </p:sp>
      <p:sp>
        <p:nvSpPr>
          <p:cNvPr id="26" name="Text 24"/>
          <p:cNvSpPr/>
          <p:nvPr/>
        </p:nvSpPr>
        <p:spPr>
          <a:xfrm>
            <a:off x="7799832" y="3721608"/>
            <a:ext cx="2468880" cy="347472"/>
          </a:xfrm>
          <a:prstGeom prst="rect">
            <a:avLst/>
          </a:prstGeom>
          <a:noFill/>
          <a:ln/>
        </p:spPr>
        <p:txBody>
          <a:bodyPr wrap="square" lIns="0" tIns="0" rIns="0" bIns="0" rtlCol="0" anchor="ctr">
            <a:normAutofit/>
          </a:bodyPr>
          <a:lstStyle/>
          <a:p>
            <a:pPr algn="ctr" indent="0" marL="0">
              <a:buNone/>
            </a:pPr>
            <a:r>
              <a:rPr lang="en-US" sz="1060" dirty="0">
                <a:solidFill>
                  <a:srgbClr val="3B3A39"/>
                </a:solidFill>
                <a:latin typeface="Segoe UI" pitchFamily="34" charset="0"/>
                <a:ea typeface="Segoe UI" pitchFamily="34" charset="-122"/>
                <a:cs typeface="Segoe UI" pitchFamily="34" charset="-120"/>
              </a:rPr>
              <a:t>What would you improve before a customer pilot?</a:t>
            </a:r>
            <a:endParaRPr lang="en-US" sz="1060" dirty="0"/>
          </a:p>
        </p:txBody>
      </p:sp>
      <p:sp>
        <p:nvSpPr>
          <p:cNvPr id="27" name="Shape 25"/>
          <p:cNvSpPr/>
          <p:nvPr/>
        </p:nvSpPr>
        <p:spPr>
          <a:xfrm>
            <a:off x="1097280" y="4736592"/>
            <a:ext cx="9966960" cy="786384"/>
          </a:xfrm>
          <a:prstGeom prst="roundRect">
            <a:avLst/>
          </a:prstGeom>
          <a:solidFill>
            <a:srgbClr val="103A6B"/>
          </a:solidFill>
          <a:ln w="12700">
            <a:solidFill>
              <a:srgbClr val="103A6B"/>
            </a:solidFill>
            <a:prstDash val="solid"/>
          </a:ln>
          <a:effectLst>
            <a:outerShdw sx="100000" sy="100000" kx="0" ky="0" algn="bl" rotWithShape="0" blurRad="63500" dist="50800" dir="8100000">
              <a:srgbClr val="000000">
                <a:alpha val="12000"/>
              </a:srgbClr>
            </a:outerShdw>
          </a:effectLst>
        </p:spPr>
      </p:sp>
      <p:sp>
        <p:nvSpPr>
          <p:cNvPr id="28" name="Text 26"/>
          <p:cNvSpPr/>
          <p:nvPr/>
        </p:nvSpPr>
        <p:spPr>
          <a:xfrm>
            <a:off x="1417320" y="5001768"/>
            <a:ext cx="9326880" cy="201168"/>
          </a:xfrm>
          <a:prstGeom prst="rect">
            <a:avLst/>
          </a:prstGeom>
          <a:noFill/>
          <a:ln/>
        </p:spPr>
        <p:txBody>
          <a:bodyPr wrap="square" lIns="0" tIns="0" rIns="0" bIns="0" rtlCol="0" anchor="ctr"/>
          <a:lstStyle/>
          <a:p>
            <a:pPr algn="ctr" indent="0" marL="0">
              <a:buNone/>
            </a:pPr>
            <a:r>
              <a:rPr lang="en-US" sz="1230" b="1" dirty="0">
                <a:solidFill>
                  <a:srgbClr val="FFFFFF"/>
                </a:solidFill>
                <a:latin typeface="Segoe UI Semibold" pitchFamily="34" charset="0"/>
                <a:ea typeface="Segoe UI Semibold" pitchFamily="34" charset="-122"/>
                <a:cs typeface="Segoe UI Semibold" pitchFamily="34" charset="-120"/>
              </a:rPr>
              <a:t>DONE = approved MVP + reviewed assets + imported solution + passing test + owned next step</a:t>
            </a:r>
            <a:endParaRPr lang="en-US" sz="1230" dirty="0"/>
          </a:p>
        </p:txBody>
      </p:sp>
      <p:sp>
        <p:nvSpPr>
          <p:cNvPr id="29" name="Shape 27"/>
          <p:cNvSpPr/>
          <p:nvPr/>
        </p:nvSpPr>
        <p:spPr>
          <a:xfrm>
            <a:off x="4663440" y="4279392"/>
            <a:ext cx="2834640" cy="310896"/>
          </a:xfrm>
          <a:prstGeom prst="roundRect">
            <a:avLst/>
          </a:prstGeom>
          <a:solidFill>
            <a:srgbClr val="F3F2F1"/>
          </a:solidFill>
          <a:ln w="12700">
            <a:solidFill>
              <a:srgbClr val="F3F2F1">
                <a:alpha val="0"/>
              </a:srgbClr>
            </a:solidFill>
            <a:prstDash val="solid"/>
          </a:ln>
        </p:spPr>
      </p:sp>
      <p:sp>
        <p:nvSpPr>
          <p:cNvPr id="30" name="Text 28"/>
          <p:cNvSpPr/>
          <p:nvPr/>
        </p:nvSpPr>
        <p:spPr>
          <a:xfrm>
            <a:off x="4727448" y="4334256"/>
            <a:ext cx="2706624" cy="164592"/>
          </a:xfrm>
          <a:prstGeom prst="rect">
            <a:avLst/>
          </a:prstGeom>
          <a:noFill/>
          <a:ln/>
        </p:spPr>
        <p:txBody>
          <a:bodyPr wrap="square" lIns="0" tIns="0" rIns="0" bIns="0" rtlCol="0" anchor="ctr">
            <a:normAutofit/>
          </a:bodyPr>
          <a:lstStyle/>
          <a:p>
            <a:pPr algn="ctr" indent="0" marL="0">
              <a:buNone/>
            </a:pPr>
            <a:r>
              <a:rPr lang="en-US" sz="880" b="1" dirty="0">
                <a:solidFill>
                  <a:srgbClr val="605E5C"/>
                </a:solidFill>
                <a:latin typeface="Segoe UI Semibold" pitchFamily="34" charset="0"/>
                <a:ea typeface="Segoe UI Semibold" pitchFamily="34" charset="-122"/>
                <a:cs typeface="Segoe UI Semibold" pitchFamily="34" charset="-120"/>
              </a:rPr>
              <a:t>+ 30 SEC TO SWITCH + CLOSE</a:t>
            </a:r>
            <a:endParaRPr lang="en-US" sz="880" dirty="0"/>
          </a:p>
        </p:txBody>
      </p:sp>
      <p:sp>
        <p:nvSpPr>
          <p:cNvPr id="31" name="Text 29"/>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FY27 RAPP Workshop  |  16</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0" y="0"/>
            <a:ext cx="12191695" cy="6858000"/>
          </a:xfrm>
          <a:prstGeom prst="rect">
            <a:avLst/>
          </a:prstGeom>
        </p:spPr>
      </p:pic>
      <p:sp>
        <p:nvSpPr>
          <p:cNvPr id="3"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4"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5"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6"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7"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FFFFFF"/>
                </a:solidFill>
                <a:latin typeface="Segoe UI" pitchFamily="34" charset="0"/>
                <a:ea typeface="Segoe UI" pitchFamily="34" charset="-122"/>
                <a:cs typeface="Segoe UI" pitchFamily="34" charset="-120"/>
              </a:rPr>
              <a:t>RAPP  |  Rapid Agent Prototype Platform</a:t>
            </a:r>
            <a:endParaRPr lang="en-US" sz="900" dirty="0"/>
          </a:p>
        </p:txBody>
      </p:sp>
      <p:sp>
        <p:nvSpPr>
          <p:cNvPr id="8" name="Text 5"/>
          <p:cNvSpPr/>
          <p:nvPr/>
        </p:nvSpPr>
        <p:spPr>
          <a:xfrm>
            <a:off x="713232" y="1298448"/>
            <a:ext cx="6858000" cy="141732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Segoe UI Semibold" pitchFamily="34" charset="0"/>
                <a:ea typeface="Segoe UI Semibold" pitchFamily="34" charset="-122"/>
                <a:cs typeface="Segoe UI Semibold" pitchFamily="34" charset="-120"/>
              </a:rPr>
              <a:t>Use case in.</a:t>
            </a:r>
            <a:endParaRPr lang="en-US" sz="3500" dirty="0"/>
          </a:p>
          <a:p>
            <a:pPr indent="0" marL="0">
              <a:buNone/>
            </a:pPr>
            <a:r>
              <a:rPr lang="en-US" sz="3500" b="1" dirty="0">
                <a:solidFill>
                  <a:srgbClr val="FFFFFF"/>
                </a:solidFill>
                <a:latin typeface="Segoe UI Semibold" pitchFamily="34" charset="0"/>
                <a:ea typeface="Segoe UI Semibold" pitchFamily="34" charset="-122"/>
                <a:cs typeface="Segoe UI Semibold" pitchFamily="34" charset="-120"/>
              </a:rPr>
              <a:t>Copilot Studio solution out.</a:t>
            </a:r>
            <a:endParaRPr lang="en-US" sz="3500" dirty="0"/>
          </a:p>
        </p:txBody>
      </p:sp>
      <p:sp>
        <p:nvSpPr>
          <p:cNvPr id="9" name="Text 6"/>
          <p:cNvSpPr/>
          <p:nvPr/>
        </p:nvSpPr>
        <p:spPr>
          <a:xfrm>
            <a:off x="731520" y="3063240"/>
            <a:ext cx="6903720" cy="347472"/>
          </a:xfrm>
          <a:prstGeom prst="rect">
            <a:avLst/>
          </a:prstGeom>
          <a:noFill/>
          <a:ln/>
        </p:spPr>
        <p:txBody>
          <a:bodyPr wrap="square" lIns="0" tIns="0" rIns="0" bIns="0" rtlCol="0" anchor="ctr">
            <a:normAutofit/>
          </a:bodyPr>
          <a:lstStyle/>
          <a:p>
            <a:pPr indent="0" marL="0">
              <a:buNone/>
            </a:pPr>
            <a:r>
              <a:rPr lang="en-US" sz="1700" b="1" dirty="0">
                <a:solidFill>
                  <a:srgbClr val="50E6FF"/>
                </a:solidFill>
                <a:latin typeface="Segoe UI Semibold" pitchFamily="34" charset="0"/>
                <a:ea typeface="Segoe UI Semibold" pitchFamily="34" charset="-122"/>
                <a:cs typeface="Segoe UI Semibold" pitchFamily="34" charset="-120"/>
              </a:rPr>
              <a:t>Quick to learn. Quick to teach. Quick to start. Quick to share.</a:t>
            </a:r>
            <a:endParaRPr lang="en-US" sz="1700" dirty="0"/>
          </a:p>
        </p:txBody>
      </p:sp>
      <p:sp>
        <p:nvSpPr>
          <p:cNvPr id="10" name="Shape 7"/>
          <p:cNvSpPr/>
          <p:nvPr/>
        </p:nvSpPr>
        <p:spPr>
          <a:xfrm>
            <a:off x="7479792" y="1280160"/>
            <a:ext cx="3749040" cy="4343400"/>
          </a:xfrm>
          <a:prstGeom prst="roundRect">
            <a:avLst/>
          </a:prstGeom>
          <a:solidFill>
            <a:srgbClr val="0B2A4A"/>
          </a:solidFill>
          <a:ln w="12700">
            <a:solidFill>
              <a:srgbClr val="BFE6FF"/>
            </a:solidFill>
            <a:prstDash val="solid"/>
          </a:ln>
          <a:effectLst>
            <a:outerShdw sx="100000" sy="100000" kx="0" ky="0" algn="bl" rotWithShape="0" blurRad="63500" dist="50800" dir="8100000">
              <a:srgbClr val="000000">
                <a:alpha val="12000"/>
              </a:srgbClr>
            </a:outerShdw>
          </a:effectLst>
        </p:spPr>
      </p:sp>
      <p:sp>
        <p:nvSpPr>
          <p:cNvPr id="11" name="Text 8"/>
          <p:cNvSpPr/>
          <p:nvPr/>
        </p:nvSpPr>
        <p:spPr>
          <a:xfrm>
            <a:off x="7845552" y="1700784"/>
            <a:ext cx="2560320" cy="256032"/>
          </a:xfrm>
          <a:prstGeom prst="rect">
            <a:avLst/>
          </a:prstGeom>
          <a:noFill/>
          <a:ln/>
        </p:spPr>
        <p:txBody>
          <a:bodyPr wrap="square" lIns="0" tIns="0" rIns="0" bIns="0" rtlCol="0" anchor="ctr"/>
          <a:lstStyle/>
          <a:p>
            <a:pPr indent="0" marL="0">
              <a:buNone/>
            </a:pPr>
            <a:r>
              <a:rPr lang="en-US" sz="1200" b="1" spc="110" kern="0" dirty="0">
                <a:solidFill>
                  <a:srgbClr val="50E6FF"/>
                </a:solidFill>
                <a:latin typeface="Segoe UI Semibold" pitchFamily="34" charset="0"/>
                <a:ea typeface="Segoe UI Semibold" pitchFamily="34" charset="-122"/>
                <a:cs typeface="Segoe UI Semibold" pitchFamily="34" charset="-120"/>
              </a:rPr>
              <a:t>TAKE IT WITH YOU</a:t>
            </a:r>
            <a:endParaRPr lang="en-US" sz="1200" dirty="0"/>
          </a:p>
        </p:txBody>
      </p:sp>
      <p:sp>
        <p:nvSpPr>
          <p:cNvPr id="12" name="Text 9"/>
          <p:cNvSpPr/>
          <p:nvPr/>
        </p:nvSpPr>
        <p:spPr>
          <a:xfrm>
            <a:off x="7845552" y="2340864"/>
            <a:ext cx="1097280" cy="201168"/>
          </a:xfrm>
          <a:prstGeom prst="rect">
            <a:avLst/>
          </a:prstGeom>
          <a:noFill/>
          <a:ln/>
        </p:spPr>
        <p:txBody>
          <a:bodyPr wrap="square" lIns="0" tIns="0" rIns="0" bIns="0" rtlCol="0" anchor="ctr"/>
          <a:lstStyle/>
          <a:p>
            <a:pPr indent="0" marL="0">
              <a:buNone/>
            </a:pPr>
            <a:r>
              <a:rPr lang="en-US" sz="1100" b="1" dirty="0">
                <a:solidFill>
                  <a:srgbClr val="FFFFFF"/>
                </a:solidFill>
                <a:latin typeface="Segoe UI Semibold" pitchFamily="34" charset="0"/>
                <a:ea typeface="Segoe UI Semibold" pitchFamily="34" charset="-122"/>
                <a:cs typeface="Segoe UI Semibold" pitchFamily="34" charset="-120"/>
              </a:rPr>
              <a:t>Workshop</a:t>
            </a:r>
            <a:endParaRPr lang="en-US" sz="1100" dirty="0"/>
          </a:p>
        </p:txBody>
      </p:sp>
      <p:sp>
        <p:nvSpPr>
          <p:cNvPr id="13" name="Text 10"/>
          <p:cNvSpPr/>
          <p:nvPr/>
        </p:nvSpPr>
        <p:spPr>
          <a:xfrm>
            <a:off x="8961120" y="2340864"/>
            <a:ext cx="1783080" cy="384048"/>
          </a:xfrm>
          <a:prstGeom prst="rect">
            <a:avLst/>
          </a:prstGeom>
          <a:noFill/>
          <a:ln/>
        </p:spPr>
        <p:txBody>
          <a:bodyPr wrap="square" lIns="0" tIns="0" rIns="0" bIns="0" rtlCol="0" anchor="ctr">
            <a:normAutofit/>
          </a:bodyPr>
          <a:lstStyle/>
          <a:p>
            <a:pPr indent="0" marL="0">
              <a:buNone/>
            </a:pPr>
            <a:r>
              <a:rPr lang="en-US" sz="1050" dirty="0">
                <a:solidFill>
                  <a:srgbClr val="DCEEFF"/>
                </a:solidFill>
                <a:latin typeface="Segoe UI" pitchFamily="34" charset="0"/>
                <a:ea typeface="Segoe UI" pitchFamily="34" charset="-122"/>
                <a:cs typeface="Segoe UI" pitchFamily="34" charset="-120"/>
              </a:rPr>
              <a:t>Use the facilitator-provided RAPP workshop URL.</a:t>
            </a:r>
            <a:endParaRPr lang="en-US" sz="1050" dirty="0"/>
          </a:p>
        </p:txBody>
      </p:sp>
      <p:sp>
        <p:nvSpPr>
          <p:cNvPr id="14" name="Text 11"/>
          <p:cNvSpPr/>
          <p:nvPr/>
        </p:nvSpPr>
        <p:spPr>
          <a:xfrm>
            <a:off x="7845552" y="3154680"/>
            <a:ext cx="1280160" cy="201168"/>
          </a:xfrm>
          <a:prstGeom prst="rect">
            <a:avLst/>
          </a:prstGeom>
          <a:noFill/>
          <a:ln/>
        </p:spPr>
        <p:txBody>
          <a:bodyPr wrap="square" lIns="0" tIns="0" rIns="0" bIns="0" rtlCol="0" anchor="ctr"/>
          <a:lstStyle/>
          <a:p>
            <a:pPr indent="0" marL="0">
              <a:buNone/>
            </a:pPr>
            <a:r>
              <a:rPr lang="en-US" sz="1100" b="1" dirty="0">
                <a:solidFill>
                  <a:srgbClr val="FFFFFF"/>
                </a:solidFill>
                <a:latin typeface="Segoe UI Semibold" pitchFamily="34" charset="0"/>
                <a:ea typeface="Segoe UI Semibold" pitchFamily="34" charset="-122"/>
                <a:cs typeface="Segoe UI Semibold" pitchFamily="34" charset="-120"/>
              </a:rPr>
              <a:t>Install local RAPP</a:t>
            </a:r>
            <a:endParaRPr lang="en-US" sz="1100" dirty="0"/>
          </a:p>
        </p:txBody>
      </p:sp>
      <p:sp>
        <p:nvSpPr>
          <p:cNvPr id="15" name="Text 12"/>
          <p:cNvSpPr/>
          <p:nvPr/>
        </p:nvSpPr>
        <p:spPr>
          <a:xfrm>
            <a:off x="9125712" y="3154680"/>
            <a:ext cx="1600200" cy="201168"/>
          </a:xfrm>
          <a:prstGeom prst="rect">
            <a:avLst/>
          </a:prstGeom>
          <a:noFill/>
          <a:ln/>
        </p:spPr>
        <p:txBody>
          <a:bodyPr wrap="square" lIns="0" tIns="0" rIns="0" bIns="0" rtlCol="0" anchor="ctr"/>
          <a:lstStyle/>
          <a:p>
            <a:pPr indent="0" marL="0">
              <a:buNone/>
            </a:pPr>
            <a:r>
              <a:rPr lang="en-US" sz="1050" u="sng" dirty="0">
                <a:solidFill>
                  <a:srgbClr val="50E6FF"/>
                </a:solidFill>
                <a:latin typeface="Consolas" pitchFamily="34" charset="0"/>
                <a:ea typeface="Consolas" pitchFamily="34" charset="-122"/>
                <a:cs typeface="Consolas" pitchFamily="34" charset="-120"/>
                <a:hlinkClick r:id="rId3" invalidUrl="" action="" tgtFrame="" tooltip="" history="1" highlightClick="0" endSnd="0">
                  <a:extLst>
                    <a:ext uri="{A12FA001-AC4F-418D-AE19-62706E023703}">
                      <ahyp:hlinkClr xmlns:ahyp="http://schemas.microsoft.com/office/drawing/2018/hyperlinkcolor" val="tx"/>
                    </a:ext>
                  </a:extLst>
                </a:hlinkClick>
              </a:rPr>
              <a:t>aka.ms/rappinstall</a:t>
            </a:r>
            <a:endParaRPr lang="en-US" sz="1050" dirty="0"/>
          </a:p>
        </p:txBody>
      </p:sp>
      <p:sp>
        <p:nvSpPr>
          <p:cNvPr id="16" name="Text 13"/>
          <p:cNvSpPr/>
          <p:nvPr/>
        </p:nvSpPr>
        <p:spPr>
          <a:xfrm>
            <a:off x="7845552" y="3968496"/>
            <a:ext cx="1280160" cy="201168"/>
          </a:xfrm>
          <a:prstGeom prst="rect">
            <a:avLst/>
          </a:prstGeom>
          <a:noFill/>
          <a:ln/>
        </p:spPr>
        <p:txBody>
          <a:bodyPr wrap="square" lIns="0" tIns="0" rIns="0" bIns="0" rtlCol="0" anchor="ctr"/>
          <a:lstStyle/>
          <a:p>
            <a:pPr indent="0" marL="0">
              <a:buNone/>
            </a:pPr>
            <a:r>
              <a:rPr lang="en-US" sz="1100" b="1" dirty="0">
                <a:solidFill>
                  <a:srgbClr val="FFFFFF"/>
                </a:solidFill>
                <a:latin typeface="Segoe UI Semibold" pitchFamily="34" charset="0"/>
                <a:ea typeface="Segoe UI Semibold" pitchFamily="34" charset="-122"/>
                <a:cs typeface="Segoe UI Semibold" pitchFamily="34" charset="-120"/>
              </a:rPr>
              <a:t>Self-paced quest</a:t>
            </a:r>
            <a:endParaRPr lang="en-US" sz="1100" dirty="0"/>
          </a:p>
        </p:txBody>
      </p:sp>
      <p:sp>
        <p:nvSpPr>
          <p:cNvPr id="17" name="Text 14"/>
          <p:cNvSpPr/>
          <p:nvPr/>
        </p:nvSpPr>
        <p:spPr>
          <a:xfrm>
            <a:off x="9125712" y="3968496"/>
            <a:ext cx="1600200" cy="201168"/>
          </a:xfrm>
          <a:prstGeom prst="rect">
            <a:avLst/>
          </a:prstGeom>
          <a:noFill/>
          <a:ln/>
        </p:spPr>
        <p:txBody>
          <a:bodyPr wrap="square" lIns="0" tIns="0" rIns="0" bIns="0" rtlCol="0" anchor="ctr">
            <a:normAutofit/>
          </a:bodyPr>
          <a:lstStyle/>
          <a:p>
            <a:pPr indent="0" marL="0">
              <a:buNone/>
            </a:pPr>
            <a:r>
              <a:rPr lang="en-US" sz="1030" u="sng" dirty="0">
                <a:solidFill>
                  <a:srgbClr val="50E6FF"/>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RAPP Brainstem quest</a:t>
            </a:r>
            <a:endParaRPr lang="en-US" sz="1030" dirty="0"/>
          </a:p>
        </p:txBody>
      </p:sp>
      <p:sp>
        <p:nvSpPr>
          <p:cNvPr id="18" name="Text 15"/>
          <p:cNvSpPr/>
          <p:nvPr/>
        </p:nvSpPr>
        <p:spPr>
          <a:xfrm>
            <a:off x="7845552" y="4791456"/>
            <a:ext cx="731520" cy="201168"/>
          </a:xfrm>
          <a:prstGeom prst="rect">
            <a:avLst/>
          </a:prstGeom>
          <a:noFill/>
          <a:ln/>
        </p:spPr>
        <p:txBody>
          <a:bodyPr wrap="square" lIns="0" tIns="0" rIns="0" bIns="0" rtlCol="0" anchor="ctr"/>
          <a:lstStyle/>
          <a:p>
            <a:pPr indent="0" marL="0">
              <a:buNone/>
            </a:pPr>
            <a:r>
              <a:rPr lang="en-US" sz="1100" b="1" dirty="0">
                <a:solidFill>
                  <a:srgbClr val="FFFFFF"/>
                </a:solidFill>
                <a:latin typeface="Segoe UI Semibold" pitchFamily="34" charset="0"/>
                <a:ea typeface="Segoe UI Semibold" pitchFamily="34" charset="-122"/>
                <a:cs typeface="Segoe UI Semibold" pitchFamily="34" charset="-120"/>
              </a:rPr>
              <a:t>SHARE</a:t>
            </a:r>
            <a:endParaRPr lang="en-US" sz="1100" dirty="0"/>
          </a:p>
        </p:txBody>
      </p:sp>
      <p:sp>
        <p:nvSpPr>
          <p:cNvPr id="19" name="Text 16"/>
          <p:cNvSpPr/>
          <p:nvPr/>
        </p:nvSpPr>
        <p:spPr>
          <a:xfrm>
            <a:off x="8577072" y="4791456"/>
            <a:ext cx="2194560" cy="384048"/>
          </a:xfrm>
          <a:prstGeom prst="rect">
            <a:avLst/>
          </a:prstGeom>
          <a:noFill/>
          <a:ln/>
        </p:spPr>
        <p:txBody>
          <a:bodyPr wrap="square" lIns="0" tIns="0" rIns="0" bIns="0" rtlCol="0" anchor="ctr">
            <a:normAutofit/>
          </a:bodyPr>
          <a:lstStyle/>
          <a:p>
            <a:pPr indent="0" marL="0">
              <a:buNone/>
            </a:pPr>
            <a:r>
              <a:rPr lang="en-US" sz="1020" dirty="0">
                <a:solidFill>
                  <a:srgbClr val="DCEEFF"/>
                </a:solidFill>
                <a:latin typeface="Segoe UI" pitchFamily="34" charset="0"/>
                <a:ea typeface="Segoe UI" pitchFamily="34" charset="-122"/>
                <a:cs typeface="Segoe UI" pitchFamily="34" charset="-120"/>
              </a:rPr>
              <a:t>Source + MVP + artifacts + test evidence</a:t>
            </a:r>
            <a:endParaRPr lang="en-US" sz="1020" dirty="0"/>
          </a:p>
        </p:txBody>
      </p:sp>
      <p:sp>
        <p:nvSpPr>
          <p:cNvPr id="20" name="Shape 17"/>
          <p:cNvSpPr/>
          <p:nvPr/>
        </p:nvSpPr>
        <p:spPr>
          <a:xfrm>
            <a:off x="731520" y="4773168"/>
            <a:ext cx="1051560" cy="310896"/>
          </a:xfrm>
          <a:prstGeom prst="roundRect">
            <a:avLst/>
          </a:prstGeom>
          <a:solidFill>
            <a:srgbClr val="FFFFFF"/>
          </a:solidFill>
          <a:ln w="12700">
            <a:solidFill>
              <a:srgbClr val="FFFFFF">
                <a:alpha val="0"/>
              </a:srgbClr>
            </a:solidFill>
            <a:prstDash val="solid"/>
          </a:ln>
        </p:spPr>
      </p:sp>
      <p:sp>
        <p:nvSpPr>
          <p:cNvPr id="21" name="Text 18"/>
          <p:cNvSpPr/>
          <p:nvPr/>
        </p:nvSpPr>
        <p:spPr>
          <a:xfrm>
            <a:off x="795528" y="4828032"/>
            <a:ext cx="923544" cy="164592"/>
          </a:xfrm>
          <a:prstGeom prst="rect">
            <a:avLst/>
          </a:prstGeom>
          <a:noFill/>
          <a:ln/>
        </p:spPr>
        <p:txBody>
          <a:bodyPr wrap="square" lIns="0" tIns="0" rIns="0" bIns="0" rtlCol="0" anchor="ctr">
            <a:normAutofit/>
          </a:bodyPr>
          <a:lstStyle/>
          <a:p>
            <a:pPr algn="ctr" indent="0" marL="0">
              <a:buNone/>
            </a:pPr>
            <a:r>
              <a:rPr lang="en-US" sz="820" b="1" dirty="0">
                <a:solidFill>
                  <a:srgbClr val="005A9E"/>
                </a:solidFill>
                <a:latin typeface="Segoe UI Semibold" pitchFamily="34" charset="0"/>
                <a:ea typeface="Segoe UI Semibold" pitchFamily="34" charset="-122"/>
                <a:cs typeface="Segoe UI Semibold" pitchFamily="34" charset="-120"/>
              </a:rPr>
              <a:t>SIGN IN</a:t>
            </a:r>
            <a:endParaRPr lang="en-US" sz="820" dirty="0"/>
          </a:p>
        </p:txBody>
      </p:sp>
      <p:sp>
        <p:nvSpPr>
          <p:cNvPr id="22" name="Shape 19"/>
          <p:cNvSpPr/>
          <p:nvPr/>
        </p:nvSpPr>
        <p:spPr>
          <a:xfrm>
            <a:off x="1975104" y="4773168"/>
            <a:ext cx="1051560" cy="310896"/>
          </a:xfrm>
          <a:prstGeom prst="roundRect">
            <a:avLst/>
          </a:prstGeom>
          <a:solidFill>
            <a:srgbClr val="FFFFFF"/>
          </a:solidFill>
          <a:ln w="12700">
            <a:solidFill>
              <a:srgbClr val="FFFFFF">
                <a:alpha val="0"/>
              </a:srgbClr>
            </a:solidFill>
            <a:prstDash val="solid"/>
          </a:ln>
        </p:spPr>
      </p:sp>
      <p:sp>
        <p:nvSpPr>
          <p:cNvPr id="23" name="Text 20"/>
          <p:cNvSpPr/>
          <p:nvPr/>
        </p:nvSpPr>
        <p:spPr>
          <a:xfrm>
            <a:off x="2039112" y="4828032"/>
            <a:ext cx="923544" cy="164592"/>
          </a:xfrm>
          <a:prstGeom prst="rect">
            <a:avLst/>
          </a:prstGeom>
          <a:noFill/>
          <a:ln/>
        </p:spPr>
        <p:txBody>
          <a:bodyPr wrap="square" lIns="0" tIns="0" rIns="0" bIns="0" rtlCol="0" anchor="ctr">
            <a:normAutofit/>
          </a:bodyPr>
          <a:lstStyle/>
          <a:p>
            <a:pPr algn="ctr" indent="0" marL="0">
              <a:buNone/>
            </a:pPr>
            <a:r>
              <a:rPr lang="en-US" sz="820" b="1" dirty="0">
                <a:solidFill>
                  <a:srgbClr val="005A9E"/>
                </a:solidFill>
                <a:latin typeface="Segoe UI Semibold" pitchFamily="34" charset="0"/>
                <a:ea typeface="Segoe UI Semibold" pitchFamily="34" charset="-122"/>
                <a:cs typeface="Segoe UI Semibold" pitchFamily="34" charset="-120"/>
              </a:rPr>
              <a:t>DOCUMENTS</a:t>
            </a:r>
            <a:endParaRPr lang="en-US" sz="820" dirty="0"/>
          </a:p>
        </p:txBody>
      </p:sp>
      <p:sp>
        <p:nvSpPr>
          <p:cNvPr id="24" name="Shape 21"/>
          <p:cNvSpPr/>
          <p:nvPr/>
        </p:nvSpPr>
        <p:spPr>
          <a:xfrm>
            <a:off x="3218688" y="4773168"/>
            <a:ext cx="1051560" cy="310896"/>
          </a:xfrm>
          <a:prstGeom prst="roundRect">
            <a:avLst/>
          </a:prstGeom>
          <a:solidFill>
            <a:srgbClr val="FFFFFF"/>
          </a:solidFill>
          <a:ln w="12700">
            <a:solidFill>
              <a:srgbClr val="FFFFFF">
                <a:alpha val="0"/>
              </a:srgbClr>
            </a:solidFill>
            <a:prstDash val="solid"/>
          </a:ln>
        </p:spPr>
      </p:sp>
      <p:sp>
        <p:nvSpPr>
          <p:cNvPr id="25" name="Text 22"/>
          <p:cNvSpPr/>
          <p:nvPr/>
        </p:nvSpPr>
        <p:spPr>
          <a:xfrm>
            <a:off x="3282696" y="4828032"/>
            <a:ext cx="923544" cy="164592"/>
          </a:xfrm>
          <a:prstGeom prst="rect">
            <a:avLst/>
          </a:prstGeom>
          <a:noFill/>
          <a:ln/>
        </p:spPr>
        <p:txBody>
          <a:bodyPr wrap="square" lIns="0" tIns="0" rIns="0" bIns="0" rtlCol="0" anchor="ctr">
            <a:normAutofit/>
          </a:bodyPr>
          <a:lstStyle/>
          <a:p>
            <a:pPr algn="ctr" indent="0" marL="0">
              <a:buNone/>
            </a:pPr>
            <a:r>
              <a:rPr lang="en-US" sz="820" b="1" dirty="0">
                <a:solidFill>
                  <a:srgbClr val="005A9E"/>
                </a:solidFill>
                <a:latin typeface="Segoe UI Semibold" pitchFamily="34" charset="0"/>
                <a:ea typeface="Segoe UI Semibold" pitchFamily="34" charset="-122"/>
                <a:cs typeface="Segoe UI Semibold" pitchFamily="34" charset="-120"/>
              </a:rPr>
              <a:t>MVP</a:t>
            </a:r>
            <a:endParaRPr lang="en-US" sz="820" dirty="0"/>
          </a:p>
        </p:txBody>
      </p:sp>
      <p:sp>
        <p:nvSpPr>
          <p:cNvPr id="26" name="Shape 23"/>
          <p:cNvSpPr/>
          <p:nvPr/>
        </p:nvSpPr>
        <p:spPr>
          <a:xfrm>
            <a:off x="4462272" y="4773168"/>
            <a:ext cx="1051560" cy="310896"/>
          </a:xfrm>
          <a:prstGeom prst="roundRect">
            <a:avLst/>
          </a:prstGeom>
          <a:solidFill>
            <a:srgbClr val="FFFFFF"/>
          </a:solidFill>
          <a:ln w="12700">
            <a:solidFill>
              <a:srgbClr val="FFFFFF">
                <a:alpha val="0"/>
              </a:srgbClr>
            </a:solidFill>
            <a:prstDash val="solid"/>
          </a:ln>
        </p:spPr>
      </p:sp>
      <p:sp>
        <p:nvSpPr>
          <p:cNvPr id="27" name="Text 24"/>
          <p:cNvSpPr/>
          <p:nvPr/>
        </p:nvSpPr>
        <p:spPr>
          <a:xfrm>
            <a:off x="4526280" y="4828032"/>
            <a:ext cx="923544" cy="164592"/>
          </a:xfrm>
          <a:prstGeom prst="rect">
            <a:avLst/>
          </a:prstGeom>
          <a:noFill/>
          <a:ln/>
        </p:spPr>
        <p:txBody>
          <a:bodyPr wrap="square" lIns="0" tIns="0" rIns="0" bIns="0" rtlCol="0" anchor="ctr">
            <a:normAutofit/>
          </a:bodyPr>
          <a:lstStyle/>
          <a:p>
            <a:pPr algn="ctr" indent="0" marL="0">
              <a:buNone/>
            </a:pPr>
            <a:r>
              <a:rPr lang="en-US" sz="820" b="1" dirty="0">
                <a:solidFill>
                  <a:srgbClr val="005A9E"/>
                </a:solidFill>
                <a:latin typeface="Segoe UI Semibold" pitchFamily="34" charset="0"/>
                <a:ea typeface="Segoe UI Semibold" pitchFamily="34" charset="-122"/>
                <a:cs typeface="Segoe UI Semibold" pitchFamily="34" charset="-120"/>
              </a:rPr>
              <a:t>REVIEW</a:t>
            </a:r>
            <a:endParaRPr lang="en-US" sz="820" dirty="0"/>
          </a:p>
        </p:txBody>
      </p:sp>
      <p:sp>
        <p:nvSpPr>
          <p:cNvPr id="28" name="Shape 25"/>
          <p:cNvSpPr/>
          <p:nvPr/>
        </p:nvSpPr>
        <p:spPr>
          <a:xfrm>
            <a:off x="5705856" y="4773168"/>
            <a:ext cx="1051560" cy="310896"/>
          </a:xfrm>
          <a:prstGeom prst="roundRect">
            <a:avLst/>
          </a:prstGeom>
          <a:solidFill>
            <a:srgbClr val="50E6FF"/>
          </a:solidFill>
          <a:ln w="12700">
            <a:solidFill>
              <a:srgbClr val="50E6FF">
                <a:alpha val="0"/>
              </a:srgbClr>
            </a:solidFill>
            <a:prstDash val="solid"/>
          </a:ln>
        </p:spPr>
      </p:sp>
      <p:sp>
        <p:nvSpPr>
          <p:cNvPr id="29" name="Text 26"/>
          <p:cNvSpPr/>
          <p:nvPr/>
        </p:nvSpPr>
        <p:spPr>
          <a:xfrm>
            <a:off x="5769864" y="4828032"/>
            <a:ext cx="923544" cy="164592"/>
          </a:xfrm>
          <a:prstGeom prst="rect">
            <a:avLst/>
          </a:prstGeom>
          <a:noFill/>
          <a:ln/>
        </p:spPr>
        <p:txBody>
          <a:bodyPr wrap="square" lIns="0" tIns="0" rIns="0" bIns="0" rtlCol="0" anchor="ctr">
            <a:normAutofit/>
          </a:bodyPr>
          <a:lstStyle/>
          <a:p>
            <a:pPr algn="ctr" indent="0" marL="0">
              <a:buNone/>
            </a:pPr>
            <a:r>
              <a:rPr lang="en-US" sz="820" b="1" dirty="0">
                <a:solidFill>
                  <a:srgbClr val="103A6B"/>
                </a:solidFill>
                <a:latin typeface="Segoe UI Semibold" pitchFamily="34" charset="0"/>
                <a:ea typeface="Segoe UI Semibold" pitchFamily="34" charset="-122"/>
                <a:cs typeface="Segoe UI Semibold" pitchFamily="34" charset="-120"/>
              </a:rPr>
              <a:t>DEPLOY</a:t>
            </a:r>
            <a:endParaRPr lang="en-US" sz="820" dirty="0"/>
          </a:p>
        </p:txBody>
      </p:sp>
      <p:sp>
        <p:nvSpPr>
          <p:cNvPr id="30" name="Text 27"/>
          <p:cNvSpPr/>
          <p:nvPr/>
        </p:nvSpPr>
        <p:spPr>
          <a:xfrm>
            <a:off x="731520" y="6254496"/>
            <a:ext cx="2926080" cy="164592"/>
          </a:xfrm>
          <a:prstGeom prst="rect">
            <a:avLst/>
          </a:prstGeom>
          <a:noFill/>
          <a:ln/>
        </p:spPr>
        <p:txBody>
          <a:bodyPr wrap="square" lIns="0" tIns="0" rIns="0" bIns="0" rtlCol="0" anchor="ctr"/>
          <a:lstStyle/>
          <a:p>
            <a:pPr indent="0" marL="0">
              <a:buNone/>
            </a:pPr>
            <a:r>
              <a:rPr lang="en-US" sz="950" dirty="0">
                <a:solidFill>
                  <a:srgbClr val="BFE6FF"/>
                </a:solidFill>
                <a:latin typeface="Segoe UI" pitchFamily="34" charset="0"/>
                <a:ea typeface="Segoe UI" pitchFamily="34" charset="-122"/>
                <a:cs typeface="Segoe UI" pitchFamily="34" charset="-120"/>
              </a:rPr>
              <a:t>Microsoft  |  MCAPS AIBAST</a:t>
            </a:r>
            <a:endParaRPr lang="en-US" sz="950" dirty="0"/>
          </a:p>
        </p:txBody>
      </p:sp>
      <p:sp>
        <p:nvSpPr>
          <p:cNvPr id="31" name="Text 28"/>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BFE6FF"/>
                </a:solidFill>
                <a:latin typeface="Segoe UI" pitchFamily="34" charset="0"/>
                <a:ea typeface="Segoe UI" pitchFamily="34" charset="-122"/>
                <a:cs typeface="Segoe UI" pitchFamily="34" charset="-120"/>
              </a:rPr>
              <a:t>FY27 RAPP Workshop  |  17</a:t>
            </a:r>
            <a:endParaRPr lang="en-US" sz="8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103A6B"/>
          </a:solidFill>
          <a:ln w="12700">
            <a:solidFill>
              <a:srgbClr val="103A6B">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103A6B"/>
                </a:solidFill>
                <a:latin typeface="Segoe UI Semibold" pitchFamily="34" charset="0"/>
                <a:ea typeface="Segoe UI Semibold" pitchFamily="34" charset="-122"/>
                <a:cs typeface="Segoe UI Semibold" pitchFamily="34" charset="-120"/>
              </a:rPr>
              <a:t>FACILITATOR APPENDIX</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Workshop bill of materials.</a:t>
            </a:r>
            <a:endParaRPr lang="en-US" sz="2800" dirty="0"/>
          </a:p>
        </p:txBody>
      </p:sp>
      <p:sp>
        <p:nvSpPr>
          <p:cNvPr id="10" name="Shape 8"/>
          <p:cNvSpPr/>
          <p:nvPr/>
        </p:nvSpPr>
        <p:spPr>
          <a:xfrm>
            <a:off x="8961120" y="731520"/>
            <a:ext cx="2514600" cy="310896"/>
          </a:xfrm>
          <a:prstGeom prst="roundRect">
            <a:avLst/>
          </a:prstGeom>
          <a:solidFill>
            <a:srgbClr val="DCEEFF"/>
          </a:solidFill>
          <a:ln w="12700">
            <a:solidFill>
              <a:srgbClr val="DCEEFF">
                <a:alpha val="0"/>
              </a:srgbClr>
            </a:solidFill>
            <a:prstDash val="solid"/>
          </a:ln>
        </p:spPr>
      </p:sp>
      <p:sp>
        <p:nvSpPr>
          <p:cNvPr id="11" name="Text 9"/>
          <p:cNvSpPr/>
          <p:nvPr/>
        </p:nvSpPr>
        <p:spPr>
          <a:xfrm>
            <a:off x="9025128" y="786384"/>
            <a:ext cx="2386584" cy="164592"/>
          </a:xfrm>
          <a:prstGeom prst="rect">
            <a:avLst/>
          </a:prstGeom>
          <a:noFill/>
          <a:ln/>
        </p:spPr>
        <p:txBody>
          <a:bodyPr wrap="square" lIns="0" tIns="0" rIns="0" bIns="0" rtlCol="0" anchor="ctr">
            <a:normAutofit/>
          </a:bodyPr>
          <a:lstStyle/>
          <a:p>
            <a:pPr algn="ctr" indent="0" marL="0">
              <a:buNone/>
            </a:pPr>
            <a:r>
              <a:rPr lang="en-US" sz="940" b="1" dirty="0">
                <a:solidFill>
                  <a:srgbClr val="005A9E"/>
                </a:solidFill>
                <a:latin typeface="Segoe UI Semibold" pitchFamily="34" charset="0"/>
                <a:ea typeface="Segoe UI Semibold" pitchFamily="34" charset="-122"/>
                <a:cs typeface="Segoe UI Semibold" pitchFamily="34" charset="-120"/>
              </a:rPr>
              <a:t>SEND 3 BUSINESS DAYS BEFORE</a:t>
            </a:r>
            <a:endParaRPr lang="en-US" sz="940" dirty="0"/>
          </a:p>
        </p:txBody>
      </p:sp>
      <p:sp>
        <p:nvSpPr>
          <p:cNvPr id="12" name="Shape 10"/>
          <p:cNvSpPr/>
          <p:nvPr/>
        </p:nvSpPr>
        <p:spPr>
          <a:xfrm>
            <a:off x="594360" y="1783080"/>
            <a:ext cx="3502152" cy="3977640"/>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13" name="Shape 11"/>
          <p:cNvSpPr/>
          <p:nvPr/>
        </p:nvSpPr>
        <p:spPr>
          <a:xfrm>
            <a:off x="850392" y="2057400"/>
            <a:ext cx="1463040" cy="310896"/>
          </a:xfrm>
          <a:prstGeom prst="roundRect">
            <a:avLst/>
          </a:prstGeom>
          <a:solidFill>
            <a:srgbClr val="DCEEFF"/>
          </a:solidFill>
          <a:ln w="12700">
            <a:solidFill>
              <a:srgbClr val="DCEEFF">
                <a:alpha val="0"/>
              </a:srgbClr>
            </a:solidFill>
            <a:prstDash val="solid"/>
          </a:ln>
        </p:spPr>
      </p:sp>
      <p:sp>
        <p:nvSpPr>
          <p:cNvPr id="14" name="Text 12"/>
          <p:cNvSpPr/>
          <p:nvPr/>
        </p:nvSpPr>
        <p:spPr>
          <a:xfrm>
            <a:off x="914400" y="2112264"/>
            <a:ext cx="1335024" cy="164592"/>
          </a:xfrm>
          <a:prstGeom prst="rect">
            <a:avLst/>
          </a:prstGeom>
          <a:noFill/>
          <a:ln/>
        </p:spPr>
        <p:txBody>
          <a:bodyPr wrap="square" lIns="0" tIns="0" rIns="0" bIns="0" rtlCol="0" anchor="ctr">
            <a:normAutofit/>
          </a:bodyPr>
          <a:lstStyle/>
          <a:p>
            <a:pPr algn="ctr" indent="0" marL="0">
              <a:buNone/>
            </a:pPr>
            <a:r>
              <a:rPr lang="en-US" sz="970" b="1" dirty="0">
                <a:solidFill>
                  <a:srgbClr val="0078D4"/>
                </a:solidFill>
                <a:latin typeface="Segoe UI Semibold" pitchFamily="34" charset="0"/>
                <a:ea typeface="Segoe UI Semibold" pitchFamily="34" charset="-122"/>
                <a:cs typeface="Segoe UI Semibold" pitchFamily="34" charset="-120"/>
              </a:rPr>
              <a:t>PARTICIPANT</a:t>
            </a:r>
            <a:endParaRPr lang="en-US" sz="970" dirty="0"/>
          </a:p>
        </p:txBody>
      </p:sp>
      <p:sp>
        <p:nvSpPr>
          <p:cNvPr id="15" name="Shape 13"/>
          <p:cNvSpPr/>
          <p:nvPr/>
        </p:nvSpPr>
        <p:spPr>
          <a:xfrm>
            <a:off x="850392" y="2743200"/>
            <a:ext cx="228600" cy="228600"/>
          </a:xfrm>
          <a:prstGeom prst="ellipse">
            <a:avLst/>
          </a:prstGeom>
          <a:solidFill>
            <a:srgbClr val="DCEEFF"/>
          </a:solidFill>
          <a:ln w="12700">
            <a:solidFill>
              <a:srgbClr val="0078D4"/>
            </a:solidFill>
            <a:prstDash val="solid"/>
          </a:ln>
        </p:spPr>
      </p:sp>
      <p:sp>
        <p:nvSpPr>
          <p:cNvPr id="16" name="Text 14"/>
          <p:cNvSpPr/>
          <p:nvPr/>
        </p:nvSpPr>
        <p:spPr>
          <a:xfrm>
            <a:off x="888797" y="2757830"/>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17" name="Text 15"/>
          <p:cNvSpPr/>
          <p:nvPr/>
        </p:nvSpPr>
        <p:spPr>
          <a:xfrm>
            <a:off x="1179576" y="2724912"/>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Microsoft Entra ID account</a:t>
            </a:r>
            <a:endParaRPr lang="en-US" sz="1320" dirty="0"/>
          </a:p>
        </p:txBody>
      </p:sp>
      <p:sp>
        <p:nvSpPr>
          <p:cNvPr id="18" name="Shape 16"/>
          <p:cNvSpPr/>
          <p:nvPr/>
        </p:nvSpPr>
        <p:spPr>
          <a:xfrm>
            <a:off x="850392" y="3255264"/>
            <a:ext cx="228600" cy="228600"/>
          </a:xfrm>
          <a:prstGeom prst="ellipse">
            <a:avLst/>
          </a:prstGeom>
          <a:solidFill>
            <a:srgbClr val="DCEEFF"/>
          </a:solidFill>
          <a:ln w="12700">
            <a:solidFill>
              <a:srgbClr val="0078D4"/>
            </a:solidFill>
            <a:prstDash val="solid"/>
          </a:ln>
        </p:spPr>
      </p:sp>
      <p:sp>
        <p:nvSpPr>
          <p:cNvPr id="19" name="Text 17"/>
          <p:cNvSpPr/>
          <p:nvPr/>
        </p:nvSpPr>
        <p:spPr>
          <a:xfrm>
            <a:off x="888797" y="3269894"/>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20" name="Text 18"/>
          <p:cNvSpPr/>
          <p:nvPr/>
        </p:nvSpPr>
        <p:spPr>
          <a:xfrm>
            <a:off x="1179576" y="3236976"/>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Copilot Studio / maker access</a:t>
            </a:r>
            <a:endParaRPr lang="en-US" sz="1320" dirty="0"/>
          </a:p>
        </p:txBody>
      </p:sp>
      <p:sp>
        <p:nvSpPr>
          <p:cNvPr id="21" name="Shape 19"/>
          <p:cNvSpPr/>
          <p:nvPr/>
        </p:nvSpPr>
        <p:spPr>
          <a:xfrm>
            <a:off x="850392" y="3767328"/>
            <a:ext cx="228600" cy="228600"/>
          </a:xfrm>
          <a:prstGeom prst="ellipse">
            <a:avLst/>
          </a:prstGeom>
          <a:solidFill>
            <a:srgbClr val="DCEEFF"/>
          </a:solidFill>
          <a:ln w="12700">
            <a:solidFill>
              <a:srgbClr val="0078D4"/>
            </a:solidFill>
            <a:prstDash val="solid"/>
          </a:ln>
        </p:spPr>
      </p:sp>
      <p:sp>
        <p:nvSpPr>
          <p:cNvPr id="22" name="Text 20"/>
          <p:cNvSpPr/>
          <p:nvPr/>
        </p:nvSpPr>
        <p:spPr>
          <a:xfrm>
            <a:off x="888797" y="3781958"/>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23" name="Text 21"/>
          <p:cNvSpPr/>
          <p:nvPr/>
        </p:nvSpPr>
        <p:spPr>
          <a:xfrm>
            <a:off x="1179576" y="3749040"/>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Modern browser + popup permission</a:t>
            </a:r>
            <a:endParaRPr lang="en-US" sz="1320" dirty="0"/>
          </a:p>
        </p:txBody>
      </p:sp>
      <p:sp>
        <p:nvSpPr>
          <p:cNvPr id="24" name="Shape 22"/>
          <p:cNvSpPr/>
          <p:nvPr/>
        </p:nvSpPr>
        <p:spPr>
          <a:xfrm>
            <a:off x="850392" y="4279392"/>
            <a:ext cx="228600" cy="228600"/>
          </a:xfrm>
          <a:prstGeom prst="ellipse">
            <a:avLst/>
          </a:prstGeom>
          <a:solidFill>
            <a:srgbClr val="DCEEFF"/>
          </a:solidFill>
          <a:ln w="12700">
            <a:solidFill>
              <a:srgbClr val="0078D4"/>
            </a:solidFill>
            <a:prstDash val="solid"/>
          </a:ln>
        </p:spPr>
      </p:sp>
      <p:sp>
        <p:nvSpPr>
          <p:cNvPr id="25" name="Text 23"/>
          <p:cNvSpPr/>
          <p:nvPr/>
        </p:nvSpPr>
        <p:spPr>
          <a:xfrm>
            <a:off x="888797" y="4294022"/>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26" name="Text 24"/>
          <p:cNvSpPr/>
          <p:nvPr/>
        </p:nvSpPr>
        <p:spPr>
          <a:xfrm>
            <a:off x="1179576" y="4261104"/>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One sanitized source document</a:t>
            </a:r>
            <a:endParaRPr lang="en-US" sz="1320" dirty="0"/>
          </a:p>
        </p:txBody>
      </p:sp>
      <p:sp>
        <p:nvSpPr>
          <p:cNvPr id="27" name="Shape 25"/>
          <p:cNvSpPr/>
          <p:nvPr/>
        </p:nvSpPr>
        <p:spPr>
          <a:xfrm>
            <a:off x="850392" y="4791456"/>
            <a:ext cx="228600" cy="228600"/>
          </a:xfrm>
          <a:prstGeom prst="ellipse">
            <a:avLst/>
          </a:prstGeom>
          <a:solidFill>
            <a:srgbClr val="DCEEFF"/>
          </a:solidFill>
          <a:ln w="12700">
            <a:solidFill>
              <a:srgbClr val="0078D4"/>
            </a:solidFill>
            <a:prstDash val="solid"/>
          </a:ln>
        </p:spPr>
      </p:sp>
      <p:sp>
        <p:nvSpPr>
          <p:cNvPr id="28" name="Text 26"/>
          <p:cNvSpPr/>
          <p:nvPr/>
        </p:nvSpPr>
        <p:spPr>
          <a:xfrm>
            <a:off x="888797" y="4806086"/>
            <a:ext cx="155448" cy="128016"/>
          </a:xfrm>
          <a:prstGeom prst="rect">
            <a:avLst/>
          </a:prstGeom>
          <a:noFill/>
          <a:ln/>
        </p:spPr>
        <p:txBody>
          <a:bodyPr wrap="square" lIns="0" tIns="0" rIns="0" bIns="0" rtlCol="0" anchor="ctr"/>
          <a:lstStyle/>
          <a:p>
            <a:pPr algn="ctr" indent="0" marL="0">
              <a:buNone/>
            </a:pPr>
            <a:r>
              <a:rPr lang="en-US" sz="950" b="1" dirty="0">
                <a:solidFill>
                  <a:srgbClr val="0078D4"/>
                </a:solidFill>
                <a:latin typeface="Segoe UI Semibold" pitchFamily="34" charset="0"/>
                <a:ea typeface="Segoe UI Semibold" pitchFamily="34" charset="-122"/>
                <a:cs typeface="Segoe UI Semibold" pitchFamily="34" charset="-120"/>
              </a:rPr>
              <a:t>✓</a:t>
            </a:r>
            <a:endParaRPr lang="en-US" sz="950" dirty="0"/>
          </a:p>
        </p:txBody>
      </p:sp>
      <p:sp>
        <p:nvSpPr>
          <p:cNvPr id="29" name="Text 27"/>
          <p:cNvSpPr/>
          <p:nvPr/>
        </p:nvSpPr>
        <p:spPr>
          <a:xfrm>
            <a:off x="1179576" y="4773168"/>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Target success measure</a:t>
            </a:r>
            <a:endParaRPr lang="en-US" sz="1320" dirty="0"/>
          </a:p>
        </p:txBody>
      </p:sp>
      <p:sp>
        <p:nvSpPr>
          <p:cNvPr id="30" name="Shape 28"/>
          <p:cNvSpPr/>
          <p:nvPr/>
        </p:nvSpPr>
        <p:spPr>
          <a:xfrm>
            <a:off x="4343400" y="1783080"/>
            <a:ext cx="3502152" cy="3977640"/>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31" name="Shape 29"/>
          <p:cNvSpPr/>
          <p:nvPr/>
        </p:nvSpPr>
        <p:spPr>
          <a:xfrm>
            <a:off x="4599432" y="2057400"/>
            <a:ext cx="1463040" cy="310896"/>
          </a:xfrm>
          <a:prstGeom prst="roundRect">
            <a:avLst/>
          </a:prstGeom>
          <a:solidFill>
            <a:srgbClr val="F9E3DB"/>
          </a:solidFill>
          <a:ln w="12700">
            <a:solidFill>
              <a:srgbClr val="F9E3DB">
                <a:alpha val="0"/>
              </a:srgbClr>
            </a:solidFill>
            <a:prstDash val="solid"/>
          </a:ln>
        </p:spPr>
      </p:sp>
      <p:sp>
        <p:nvSpPr>
          <p:cNvPr id="32" name="Text 30"/>
          <p:cNvSpPr/>
          <p:nvPr/>
        </p:nvSpPr>
        <p:spPr>
          <a:xfrm>
            <a:off x="4663440" y="2112264"/>
            <a:ext cx="1335024" cy="164592"/>
          </a:xfrm>
          <a:prstGeom prst="rect">
            <a:avLst/>
          </a:prstGeom>
          <a:noFill/>
          <a:ln/>
        </p:spPr>
        <p:txBody>
          <a:bodyPr wrap="square" lIns="0" tIns="0" rIns="0" bIns="0" rtlCol="0" anchor="ctr">
            <a:normAutofit/>
          </a:bodyPr>
          <a:lstStyle/>
          <a:p>
            <a:pPr algn="ctr" indent="0" marL="0">
              <a:buNone/>
            </a:pPr>
            <a:r>
              <a:rPr lang="en-US" sz="970" b="1" dirty="0">
                <a:solidFill>
                  <a:srgbClr val="D83B01"/>
                </a:solidFill>
                <a:latin typeface="Segoe UI Semibold" pitchFamily="34" charset="0"/>
                <a:ea typeface="Segoe UI Semibold" pitchFamily="34" charset="-122"/>
                <a:cs typeface="Segoe UI Semibold" pitchFamily="34" charset="-120"/>
              </a:rPr>
              <a:t>FACILITATOR</a:t>
            </a:r>
            <a:endParaRPr lang="en-US" sz="970" dirty="0"/>
          </a:p>
        </p:txBody>
      </p:sp>
      <p:sp>
        <p:nvSpPr>
          <p:cNvPr id="33" name="Shape 31"/>
          <p:cNvSpPr/>
          <p:nvPr/>
        </p:nvSpPr>
        <p:spPr>
          <a:xfrm>
            <a:off x="4599432" y="2743200"/>
            <a:ext cx="228600" cy="228600"/>
          </a:xfrm>
          <a:prstGeom prst="ellipse">
            <a:avLst/>
          </a:prstGeom>
          <a:solidFill>
            <a:srgbClr val="DCEEFF"/>
          </a:solidFill>
          <a:ln w="12700">
            <a:solidFill>
              <a:srgbClr val="D83B01"/>
            </a:solidFill>
            <a:prstDash val="solid"/>
          </a:ln>
        </p:spPr>
      </p:sp>
      <p:sp>
        <p:nvSpPr>
          <p:cNvPr id="34" name="Text 32"/>
          <p:cNvSpPr/>
          <p:nvPr/>
        </p:nvSpPr>
        <p:spPr>
          <a:xfrm>
            <a:off x="4637837" y="2757830"/>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35" name="Text 33"/>
          <p:cNvSpPr/>
          <p:nvPr/>
        </p:nvSpPr>
        <p:spPr>
          <a:xfrm>
            <a:off x="4928616" y="2724912"/>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RAPP workshop URL + tested sign-in</a:t>
            </a:r>
            <a:endParaRPr lang="en-US" sz="1320" dirty="0"/>
          </a:p>
        </p:txBody>
      </p:sp>
      <p:sp>
        <p:nvSpPr>
          <p:cNvPr id="36" name="Shape 34"/>
          <p:cNvSpPr/>
          <p:nvPr/>
        </p:nvSpPr>
        <p:spPr>
          <a:xfrm>
            <a:off x="4599432" y="3255264"/>
            <a:ext cx="228600" cy="228600"/>
          </a:xfrm>
          <a:prstGeom prst="ellipse">
            <a:avLst/>
          </a:prstGeom>
          <a:solidFill>
            <a:srgbClr val="DCEEFF"/>
          </a:solidFill>
          <a:ln w="12700">
            <a:solidFill>
              <a:srgbClr val="D83B01"/>
            </a:solidFill>
            <a:prstDash val="solid"/>
          </a:ln>
        </p:spPr>
      </p:sp>
      <p:sp>
        <p:nvSpPr>
          <p:cNvPr id="37" name="Text 35"/>
          <p:cNvSpPr/>
          <p:nvPr/>
        </p:nvSpPr>
        <p:spPr>
          <a:xfrm>
            <a:off x="4637837" y="3269894"/>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38" name="Text 36"/>
          <p:cNvSpPr/>
          <p:nvPr/>
        </p:nvSpPr>
        <p:spPr>
          <a:xfrm>
            <a:off x="4928616" y="3236976"/>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Scenario source file + answer key</a:t>
            </a:r>
            <a:endParaRPr lang="en-US" sz="1320" dirty="0"/>
          </a:p>
        </p:txBody>
      </p:sp>
      <p:sp>
        <p:nvSpPr>
          <p:cNvPr id="39" name="Shape 37"/>
          <p:cNvSpPr/>
          <p:nvPr/>
        </p:nvSpPr>
        <p:spPr>
          <a:xfrm>
            <a:off x="4599432" y="3767328"/>
            <a:ext cx="228600" cy="228600"/>
          </a:xfrm>
          <a:prstGeom prst="ellipse">
            <a:avLst/>
          </a:prstGeom>
          <a:solidFill>
            <a:srgbClr val="DCEEFF"/>
          </a:solidFill>
          <a:ln w="12700">
            <a:solidFill>
              <a:srgbClr val="D83B01"/>
            </a:solidFill>
            <a:prstDash val="solid"/>
          </a:ln>
        </p:spPr>
      </p:sp>
      <p:sp>
        <p:nvSpPr>
          <p:cNvPr id="40" name="Text 38"/>
          <p:cNvSpPr/>
          <p:nvPr/>
        </p:nvSpPr>
        <p:spPr>
          <a:xfrm>
            <a:off x="4637837" y="3781958"/>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41" name="Text 39"/>
          <p:cNvSpPr/>
          <p:nvPr/>
        </p:nvSpPr>
        <p:spPr>
          <a:xfrm>
            <a:off x="4928616" y="3749040"/>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Prebuilt demo and live solution ZIPs</a:t>
            </a:r>
            <a:endParaRPr lang="en-US" sz="1320" dirty="0"/>
          </a:p>
        </p:txBody>
      </p:sp>
      <p:sp>
        <p:nvSpPr>
          <p:cNvPr id="42" name="Shape 40"/>
          <p:cNvSpPr/>
          <p:nvPr/>
        </p:nvSpPr>
        <p:spPr>
          <a:xfrm>
            <a:off x="4599432" y="4279392"/>
            <a:ext cx="228600" cy="228600"/>
          </a:xfrm>
          <a:prstGeom prst="ellipse">
            <a:avLst/>
          </a:prstGeom>
          <a:solidFill>
            <a:srgbClr val="DCEEFF"/>
          </a:solidFill>
          <a:ln w="12700">
            <a:solidFill>
              <a:srgbClr val="D83B01"/>
            </a:solidFill>
            <a:prstDash val="solid"/>
          </a:ln>
        </p:spPr>
      </p:sp>
      <p:sp>
        <p:nvSpPr>
          <p:cNvPr id="43" name="Text 41"/>
          <p:cNvSpPr/>
          <p:nvPr/>
        </p:nvSpPr>
        <p:spPr>
          <a:xfrm>
            <a:off x="4637837" y="4294022"/>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44" name="Text 42"/>
          <p:cNvSpPr/>
          <p:nvPr/>
        </p:nvSpPr>
        <p:spPr>
          <a:xfrm>
            <a:off x="4928616" y="4261104"/>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Deck with speaker notes</a:t>
            </a:r>
            <a:endParaRPr lang="en-US" sz="1320" dirty="0"/>
          </a:p>
        </p:txBody>
      </p:sp>
      <p:sp>
        <p:nvSpPr>
          <p:cNvPr id="45" name="Shape 43"/>
          <p:cNvSpPr/>
          <p:nvPr/>
        </p:nvSpPr>
        <p:spPr>
          <a:xfrm>
            <a:off x="4599432" y="4791456"/>
            <a:ext cx="228600" cy="228600"/>
          </a:xfrm>
          <a:prstGeom prst="ellipse">
            <a:avLst/>
          </a:prstGeom>
          <a:solidFill>
            <a:srgbClr val="DCEEFF"/>
          </a:solidFill>
          <a:ln w="12700">
            <a:solidFill>
              <a:srgbClr val="D83B01"/>
            </a:solidFill>
            <a:prstDash val="solid"/>
          </a:ln>
        </p:spPr>
      </p:sp>
      <p:sp>
        <p:nvSpPr>
          <p:cNvPr id="46" name="Text 44"/>
          <p:cNvSpPr/>
          <p:nvPr/>
        </p:nvSpPr>
        <p:spPr>
          <a:xfrm>
            <a:off x="4637837" y="4806086"/>
            <a:ext cx="155448" cy="128016"/>
          </a:xfrm>
          <a:prstGeom prst="rect">
            <a:avLst/>
          </a:prstGeom>
          <a:noFill/>
          <a:ln/>
        </p:spPr>
        <p:txBody>
          <a:bodyPr wrap="square" lIns="0" tIns="0" rIns="0" bIns="0" rtlCol="0" anchor="ctr"/>
          <a:lstStyle/>
          <a:p>
            <a:pPr algn="ctr" indent="0" marL="0">
              <a:buNone/>
            </a:pPr>
            <a:r>
              <a:rPr lang="en-US" sz="950" b="1" dirty="0">
                <a:solidFill>
                  <a:srgbClr val="D83B01"/>
                </a:solidFill>
                <a:latin typeface="Segoe UI Semibold" pitchFamily="34" charset="0"/>
                <a:ea typeface="Segoe UI Semibold" pitchFamily="34" charset="-122"/>
                <a:cs typeface="Segoe UI Semibold" pitchFamily="34" charset="-120"/>
              </a:rPr>
              <a:t>✓</a:t>
            </a:r>
            <a:endParaRPr lang="en-US" sz="950" dirty="0"/>
          </a:p>
        </p:txBody>
      </p:sp>
      <p:sp>
        <p:nvSpPr>
          <p:cNvPr id="47" name="Text 45"/>
          <p:cNvSpPr/>
          <p:nvPr/>
        </p:nvSpPr>
        <p:spPr>
          <a:xfrm>
            <a:off x="4928616" y="4773168"/>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Timer, survey, and evidence checklist</a:t>
            </a:r>
            <a:endParaRPr lang="en-US" sz="1320" dirty="0"/>
          </a:p>
        </p:txBody>
      </p:sp>
      <p:sp>
        <p:nvSpPr>
          <p:cNvPr id="48" name="Shape 46"/>
          <p:cNvSpPr/>
          <p:nvPr/>
        </p:nvSpPr>
        <p:spPr>
          <a:xfrm>
            <a:off x="8092440" y="1783080"/>
            <a:ext cx="3502152" cy="3977640"/>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49" name="Shape 47"/>
          <p:cNvSpPr/>
          <p:nvPr/>
        </p:nvSpPr>
        <p:spPr>
          <a:xfrm>
            <a:off x="8348472" y="2057400"/>
            <a:ext cx="1463040" cy="310896"/>
          </a:xfrm>
          <a:prstGeom prst="roundRect">
            <a:avLst/>
          </a:prstGeom>
          <a:solidFill>
            <a:srgbClr val="DFF6DD"/>
          </a:solidFill>
          <a:ln w="12700">
            <a:solidFill>
              <a:srgbClr val="DFF6DD">
                <a:alpha val="0"/>
              </a:srgbClr>
            </a:solidFill>
            <a:prstDash val="solid"/>
          </a:ln>
        </p:spPr>
      </p:sp>
      <p:sp>
        <p:nvSpPr>
          <p:cNvPr id="50" name="Text 48"/>
          <p:cNvSpPr/>
          <p:nvPr/>
        </p:nvSpPr>
        <p:spPr>
          <a:xfrm>
            <a:off x="8412480" y="2112264"/>
            <a:ext cx="1335024" cy="164592"/>
          </a:xfrm>
          <a:prstGeom prst="rect">
            <a:avLst/>
          </a:prstGeom>
          <a:noFill/>
          <a:ln/>
        </p:spPr>
        <p:txBody>
          <a:bodyPr wrap="square" lIns="0" tIns="0" rIns="0" bIns="0" rtlCol="0" anchor="ctr">
            <a:normAutofit/>
          </a:bodyPr>
          <a:lstStyle/>
          <a:p>
            <a:pPr algn="ctr" indent="0" marL="0">
              <a:buNone/>
            </a:pPr>
            <a:r>
              <a:rPr lang="en-US" sz="970" b="1" dirty="0">
                <a:solidFill>
                  <a:srgbClr val="107C10"/>
                </a:solidFill>
                <a:latin typeface="Segoe UI Semibold" pitchFamily="34" charset="0"/>
                <a:ea typeface="Segoe UI Semibold" pitchFamily="34" charset="-122"/>
                <a:cs typeface="Segoe UI Semibold" pitchFamily="34" charset="-120"/>
              </a:rPr>
              <a:t>ENVIRONMENT</a:t>
            </a:r>
            <a:endParaRPr lang="en-US" sz="970" dirty="0"/>
          </a:p>
        </p:txBody>
      </p:sp>
      <p:sp>
        <p:nvSpPr>
          <p:cNvPr id="51" name="Shape 49"/>
          <p:cNvSpPr/>
          <p:nvPr/>
        </p:nvSpPr>
        <p:spPr>
          <a:xfrm>
            <a:off x="8348472" y="2743200"/>
            <a:ext cx="228600" cy="228600"/>
          </a:xfrm>
          <a:prstGeom prst="ellipse">
            <a:avLst/>
          </a:prstGeom>
          <a:solidFill>
            <a:srgbClr val="DFF6DD"/>
          </a:solidFill>
          <a:ln w="12700">
            <a:solidFill>
              <a:srgbClr val="107C10"/>
            </a:solidFill>
            <a:prstDash val="solid"/>
          </a:ln>
        </p:spPr>
      </p:sp>
      <p:sp>
        <p:nvSpPr>
          <p:cNvPr id="52" name="Text 50"/>
          <p:cNvSpPr/>
          <p:nvPr/>
        </p:nvSpPr>
        <p:spPr>
          <a:xfrm>
            <a:off x="8386877" y="2757830"/>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53" name="Text 51"/>
          <p:cNvSpPr/>
          <p:nvPr/>
        </p:nvSpPr>
        <p:spPr>
          <a:xfrm>
            <a:off x="8677656" y="2724912"/>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Dedicated Dataverse workshop environment</a:t>
            </a:r>
            <a:endParaRPr lang="en-US" sz="1320" dirty="0"/>
          </a:p>
        </p:txBody>
      </p:sp>
      <p:sp>
        <p:nvSpPr>
          <p:cNvPr id="54" name="Shape 52"/>
          <p:cNvSpPr/>
          <p:nvPr/>
        </p:nvSpPr>
        <p:spPr>
          <a:xfrm>
            <a:off x="8348472" y="3255264"/>
            <a:ext cx="228600" cy="228600"/>
          </a:xfrm>
          <a:prstGeom prst="ellipse">
            <a:avLst/>
          </a:prstGeom>
          <a:solidFill>
            <a:srgbClr val="DFF6DD"/>
          </a:solidFill>
          <a:ln w="12700">
            <a:solidFill>
              <a:srgbClr val="107C10"/>
            </a:solidFill>
            <a:prstDash val="solid"/>
          </a:ln>
        </p:spPr>
      </p:sp>
      <p:sp>
        <p:nvSpPr>
          <p:cNvPr id="55" name="Text 53"/>
          <p:cNvSpPr/>
          <p:nvPr/>
        </p:nvSpPr>
        <p:spPr>
          <a:xfrm>
            <a:off x="8386877" y="3269894"/>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56" name="Text 54"/>
          <p:cNvSpPr/>
          <p:nvPr/>
        </p:nvSpPr>
        <p:spPr>
          <a:xfrm>
            <a:off x="8677656" y="3236976"/>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Maker / System Customizer permissions</a:t>
            </a:r>
            <a:endParaRPr lang="en-US" sz="1320" dirty="0"/>
          </a:p>
        </p:txBody>
      </p:sp>
      <p:sp>
        <p:nvSpPr>
          <p:cNvPr id="57" name="Shape 55"/>
          <p:cNvSpPr/>
          <p:nvPr/>
        </p:nvSpPr>
        <p:spPr>
          <a:xfrm>
            <a:off x="8348472" y="3767328"/>
            <a:ext cx="228600" cy="228600"/>
          </a:xfrm>
          <a:prstGeom prst="ellipse">
            <a:avLst/>
          </a:prstGeom>
          <a:solidFill>
            <a:srgbClr val="DFF6DD"/>
          </a:solidFill>
          <a:ln w="12700">
            <a:solidFill>
              <a:srgbClr val="107C10"/>
            </a:solidFill>
            <a:prstDash val="solid"/>
          </a:ln>
        </p:spPr>
      </p:sp>
      <p:sp>
        <p:nvSpPr>
          <p:cNvPr id="58" name="Text 56"/>
          <p:cNvSpPr/>
          <p:nvPr/>
        </p:nvSpPr>
        <p:spPr>
          <a:xfrm>
            <a:off x="8386877" y="3781958"/>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59" name="Text 57"/>
          <p:cNvSpPr/>
          <p:nvPr/>
        </p:nvSpPr>
        <p:spPr>
          <a:xfrm>
            <a:off x="8677656" y="3749040"/>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Copilot Studio availability</a:t>
            </a:r>
            <a:endParaRPr lang="en-US" sz="1320" dirty="0"/>
          </a:p>
        </p:txBody>
      </p:sp>
      <p:sp>
        <p:nvSpPr>
          <p:cNvPr id="60" name="Shape 58"/>
          <p:cNvSpPr/>
          <p:nvPr/>
        </p:nvSpPr>
        <p:spPr>
          <a:xfrm>
            <a:off x="8348472" y="4279392"/>
            <a:ext cx="228600" cy="228600"/>
          </a:xfrm>
          <a:prstGeom prst="ellipse">
            <a:avLst/>
          </a:prstGeom>
          <a:solidFill>
            <a:srgbClr val="DFF6DD"/>
          </a:solidFill>
          <a:ln w="12700">
            <a:solidFill>
              <a:srgbClr val="107C10"/>
            </a:solidFill>
            <a:prstDash val="solid"/>
          </a:ln>
        </p:spPr>
      </p:sp>
      <p:sp>
        <p:nvSpPr>
          <p:cNvPr id="61" name="Text 59"/>
          <p:cNvSpPr/>
          <p:nvPr/>
        </p:nvSpPr>
        <p:spPr>
          <a:xfrm>
            <a:off x="8386877" y="4294022"/>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62" name="Text 60"/>
          <p:cNvSpPr/>
          <p:nvPr/>
        </p:nvSpPr>
        <p:spPr>
          <a:xfrm>
            <a:off x="8677656" y="4261104"/>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Connection policy understood</a:t>
            </a:r>
            <a:endParaRPr lang="en-US" sz="1320" dirty="0"/>
          </a:p>
        </p:txBody>
      </p:sp>
      <p:sp>
        <p:nvSpPr>
          <p:cNvPr id="63" name="Shape 61"/>
          <p:cNvSpPr/>
          <p:nvPr/>
        </p:nvSpPr>
        <p:spPr>
          <a:xfrm>
            <a:off x="8348472" y="4791456"/>
            <a:ext cx="228600" cy="228600"/>
          </a:xfrm>
          <a:prstGeom prst="ellipse">
            <a:avLst/>
          </a:prstGeom>
          <a:solidFill>
            <a:srgbClr val="DFF6DD"/>
          </a:solidFill>
          <a:ln w="12700">
            <a:solidFill>
              <a:srgbClr val="107C10"/>
            </a:solidFill>
            <a:prstDash val="solid"/>
          </a:ln>
        </p:spPr>
      </p:sp>
      <p:sp>
        <p:nvSpPr>
          <p:cNvPr id="64" name="Text 62"/>
          <p:cNvSpPr/>
          <p:nvPr/>
        </p:nvSpPr>
        <p:spPr>
          <a:xfrm>
            <a:off x="8386877" y="4806086"/>
            <a:ext cx="155448" cy="128016"/>
          </a:xfrm>
          <a:prstGeom prst="rect">
            <a:avLst/>
          </a:prstGeom>
          <a:noFill/>
          <a:ln/>
        </p:spPr>
        <p:txBody>
          <a:bodyPr wrap="square" lIns="0" tIns="0" rIns="0" bIns="0" rtlCol="0" anchor="ctr"/>
          <a:lstStyle/>
          <a:p>
            <a:pPr algn="ctr" indent="0" marL="0">
              <a:buNone/>
            </a:pPr>
            <a:r>
              <a:rPr lang="en-US" sz="950" b="1" dirty="0">
                <a:solidFill>
                  <a:srgbClr val="107C10"/>
                </a:solidFill>
                <a:latin typeface="Segoe UI Semibold" pitchFamily="34" charset="0"/>
                <a:ea typeface="Segoe UI Semibold" pitchFamily="34" charset="-122"/>
                <a:cs typeface="Segoe UI Semibold" pitchFamily="34" charset="-120"/>
              </a:rPr>
              <a:t>✓</a:t>
            </a:r>
            <a:endParaRPr lang="en-US" sz="950" dirty="0"/>
          </a:p>
        </p:txBody>
      </p:sp>
      <p:sp>
        <p:nvSpPr>
          <p:cNvPr id="65" name="Text 63"/>
          <p:cNvSpPr/>
          <p:nvPr/>
        </p:nvSpPr>
        <p:spPr>
          <a:xfrm>
            <a:off x="8677656" y="4773168"/>
            <a:ext cx="2596896" cy="310896"/>
          </a:xfrm>
          <a:prstGeom prst="rect">
            <a:avLst/>
          </a:prstGeom>
          <a:noFill/>
          <a:ln/>
        </p:spPr>
        <p:txBody>
          <a:bodyPr wrap="square" lIns="0" tIns="0" rIns="0" bIns="0" rtlCol="0" anchor="ctr">
            <a:normAutofit/>
          </a:bodyPr>
          <a:lstStyle/>
          <a:p>
            <a:pPr indent="0" marL="0">
              <a:buNone/>
            </a:pPr>
            <a:pPr indent="0" marL="0">
              <a:buNone/>
            </a:pPr>
            <a:r>
              <a:rPr lang="en-US" sz="1320" dirty="0">
                <a:solidFill>
                  <a:srgbClr val="3B3A39"/>
                </a:solidFill>
                <a:latin typeface="Segoe UI" pitchFamily="34" charset="0"/>
                <a:ea typeface="Segoe UI" pitchFamily="34" charset="-122"/>
                <a:cs typeface="Segoe UI" pitchFamily="34" charset="-120"/>
              </a:rPr>
              <a:t xml:space="preserve">  No concurrent solution import</a:t>
            </a:r>
            <a:endParaRPr lang="en-US" sz="1320" dirty="0"/>
          </a:p>
        </p:txBody>
      </p:sp>
      <p:sp>
        <p:nvSpPr>
          <p:cNvPr id="66" name="Text 64"/>
          <p:cNvSpPr/>
          <p:nvPr/>
        </p:nvSpPr>
        <p:spPr>
          <a:xfrm>
            <a:off x="1051560" y="5989320"/>
            <a:ext cx="10058400" cy="274320"/>
          </a:xfrm>
          <a:prstGeom prst="rect">
            <a:avLst/>
          </a:prstGeom>
          <a:noFill/>
          <a:ln/>
        </p:spPr>
        <p:txBody>
          <a:bodyPr wrap="square" lIns="0" tIns="0" rIns="0" bIns="0" rtlCol="0" anchor="ctr"/>
          <a:lstStyle/>
          <a:p>
            <a:pPr algn="ctr" indent="0" marL="0">
              <a:buNone/>
            </a:pPr>
            <a:r>
              <a:rPr lang="en-US" sz="1150" b="1" dirty="0">
                <a:solidFill>
                  <a:srgbClr val="103A6B"/>
                </a:solidFill>
                <a:latin typeface="Segoe UI Semibold" pitchFamily="34" charset="0"/>
                <a:ea typeface="Segoe UI Semibold" pitchFamily="34" charset="-122"/>
                <a:cs typeface="Segoe UI Semibold" pitchFamily="34" charset="-120"/>
              </a:rPr>
              <a:t>Fallback rule: if access blocks a participant for more than 3 minutes, pair them with a working driver and continue the learning flow.</a:t>
            </a:r>
            <a:endParaRPr lang="en-US" sz="1150" dirty="0"/>
          </a:p>
        </p:txBody>
      </p:sp>
      <p:sp>
        <p:nvSpPr>
          <p:cNvPr id="67" name="Text 65"/>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Appendix  |  18</a:t>
            </a:r>
            <a:endParaRPr lang="en-US" sz="8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103A6B"/>
          </a:solidFill>
          <a:ln w="12700">
            <a:solidFill>
              <a:srgbClr val="103A6B">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103A6B"/>
                </a:solidFill>
                <a:latin typeface="Segoe UI Semibold" pitchFamily="34" charset="0"/>
                <a:ea typeface="Segoe UI Semibold" pitchFamily="34" charset="-122"/>
                <a:cs typeface="Segoe UI Semibold" pitchFamily="34" charset="-120"/>
              </a:rPr>
              <a:t>FACILITATOR APPENDIX</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Five-minute pre-session survey.</a:t>
            </a:r>
            <a:endParaRPr lang="en-US" sz="2800" dirty="0"/>
          </a:p>
        </p:txBody>
      </p:sp>
      <p:sp>
        <p:nvSpPr>
          <p:cNvPr id="10" name="Shape 8"/>
          <p:cNvSpPr/>
          <p:nvPr/>
        </p:nvSpPr>
        <p:spPr>
          <a:xfrm>
            <a:off x="9555480" y="731520"/>
            <a:ext cx="1920240" cy="310896"/>
          </a:xfrm>
          <a:prstGeom prst="roundRect">
            <a:avLst/>
          </a:prstGeom>
          <a:solidFill>
            <a:srgbClr val="DFF6DD"/>
          </a:solidFill>
          <a:ln w="12700">
            <a:solidFill>
              <a:srgbClr val="DFF6DD">
                <a:alpha val="0"/>
              </a:srgbClr>
            </a:solidFill>
            <a:prstDash val="solid"/>
          </a:ln>
        </p:spPr>
      </p:sp>
      <p:sp>
        <p:nvSpPr>
          <p:cNvPr id="11" name="Text 9"/>
          <p:cNvSpPr/>
          <p:nvPr/>
        </p:nvSpPr>
        <p:spPr>
          <a:xfrm>
            <a:off x="9619488" y="786384"/>
            <a:ext cx="1792224" cy="164592"/>
          </a:xfrm>
          <a:prstGeom prst="rect">
            <a:avLst/>
          </a:prstGeom>
          <a:noFill/>
          <a:ln/>
        </p:spPr>
        <p:txBody>
          <a:bodyPr wrap="square" lIns="0" tIns="0" rIns="0" bIns="0" rtlCol="0" anchor="ctr">
            <a:normAutofit/>
          </a:bodyPr>
          <a:lstStyle/>
          <a:p>
            <a:pPr algn="ctr" indent="0" marL="0">
              <a:buNone/>
            </a:pPr>
            <a:r>
              <a:rPr lang="en-US" sz="940" b="1" dirty="0">
                <a:solidFill>
                  <a:srgbClr val="0B560B"/>
                </a:solidFill>
                <a:latin typeface="Segoe UI Semibold" pitchFamily="34" charset="0"/>
                <a:ea typeface="Segoe UI Semibold" pitchFamily="34" charset="-122"/>
                <a:cs typeface="Segoe UI Semibold" pitchFamily="34" charset="-120"/>
              </a:rPr>
              <a:t>CUSTOMER INPUT</a:t>
            </a:r>
            <a:endParaRPr lang="en-US" sz="940" dirty="0"/>
          </a:p>
        </p:txBody>
      </p:sp>
      <p:sp>
        <p:nvSpPr>
          <p:cNvPr id="12" name="Shape 10"/>
          <p:cNvSpPr/>
          <p:nvPr/>
        </p:nvSpPr>
        <p:spPr>
          <a:xfrm>
            <a:off x="640080" y="1737360"/>
            <a:ext cx="5257800" cy="859536"/>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13" name="Text 11"/>
          <p:cNvSpPr/>
          <p:nvPr/>
        </p:nvSpPr>
        <p:spPr>
          <a:xfrm>
            <a:off x="822960" y="1938528"/>
            <a:ext cx="457200" cy="237744"/>
          </a:xfrm>
          <a:prstGeom prst="rect">
            <a:avLst/>
          </a:prstGeom>
          <a:noFill/>
          <a:ln/>
        </p:spPr>
        <p:txBody>
          <a:bodyPr wrap="square" lIns="0" tIns="0" rIns="0" bIns="0" rtlCol="0" anchor="ctr"/>
          <a:lstStyle/>
          <a:p>
            <a:pPr indent="0" marL="0">
              <a:buNone/>
            </a:pPr>
            <a:r>
              <a:rPr lang="en-US" sz="1500" b="1" dirty="0">
                <a:solidFill>
                  <a:srgbClr val="0078D4"/>
                </a:solidFill>
                <a:latin typeface="Segoe UI Semibold" pitchFamily="34" charset="0"/>
                <a:ea typeface="Segoe UI Semibold" pitchFamily="34" charset="-122"/>
                <a:cs typeface="Segoe UI Semibold" pitchFamily="34" charset="-120"/>
              </a:rPr>
              <a:t>01</a:t>
            </a:r>
            <a:endParaRPr lang="en-US" sz="1500" dirty="0"/>
          </a:p>
        </p:txBody>
      </p:sp>
      <p:sp>
        <p:nvSpPr>
          <p:cNvPr id="14" name="Text 12"/>
          <p:cNvSpPr/>
          <p:nvPr/>
        </p:nvSpPr>
        <p:spPr>
          <a:xfrm>
            <a:off x="1371600" y="1883664"/>
            <a:ext cx="3246120" cy="365760"/>
          </a:xfrm>
          <a:prstGeom prst="rect">
            <a:avLst/>
          </a:prstGeom>
          <a:noFill/>
          <a:ln/>
        </p:spPr>
        <p:txBody>
          <a:bodyPr wrap="square" lIns="0" tIns="0" rIns="0" bIns="0" rtlCol="0" anchor="ctr">
            <a:normAutofit/>
          </a:bodyP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What business problem should the agent solve?</a:t>
            </a:r>
            <a:endParaRPr lang="en-US" sz="1150" dirty="0"/>
          </a:p>
        </p:txBody>
      </p:sp>
      <p:sp>
        <p:nvSpPr>
          <p:cNvPr id="15" name="Shape 13"/>
          <p:cNvSpPr/>
          <p:nvPr/>
        </p:nvSpPr>
        <p:spPr>
          <a:xfrm>
            <a:off x="4617720" y="2002536"/>
            <a:ext cx="1069848" cy="310896"/>
          </a:xfrm>
          <a:prstGeom prst="roundRect">
            <a:avLst/>
          </a:prstGeom>
          <a:solidFill>
            <a:srgbClr val="DCEEFF"/>
          </a:solidFill>
          <a:ln w="12700">
            <a:solidFill>
              <a:srgbClr val="DCEEFF">
                <a:alpha val="0"/>
              </a:srgbClr>
            </a:solidFill>
            <a:prstDash val="solid"/>
          </a:ln>
        </p:spPr>
      </p:sp>
      <p:sp>
        <p:nvSpPr>
          <p:cNvPr id="16" name="Text 14"/>
          <p:cNvSpPr/>
          <p:nvPr/>
        </p:nvSpPr>
        <p:spPr>
          <a:xfrm>
            <a:off x="4681728" y="2057400"/>
            <a:ext cx="941832" cy="164592"/>
          </a:xfrm>
          <a:prstGeom prst="rect">
            <a:avLst/>
          </a:prstGeom>
          <a:noFill/>
          <a:ln/>
        </p:spPr>
        <p:txBody>
          <a:bodyPr wrap="square" lIns="0" tIns="0" rIns="0" bIns="0" rtlCol="0" anchor="ctr">
            <a:normAutofit/>
          </a:bodyPr>
          <a:lstStyle/>
          <a:p>
            <a:pPr algn="ctr" indent="0" marL="0">
              <a:buNone/>
            </a:pPr>
            <a:r>
              <a:rPr lang="en-US" sz="760" b="1" dirty="0">
                <a:solidFill>
                  <a:srgbClr val="005A9E"/>
                </a:solidFill>
                <a:latin typeface="Segoe UI Semibold" pitchFamily="34" charset="0"/>
                <a:ea typeface="Segoe UI Semibold" pitchFamily="34" charset="-122"/>
                <a:cs typeface="Segoe UI Semibold" pitchFamily="34" charset="-120"/>
              </a:rPr>
              <a:t>SHORT PARAGRAPH</a:t>
            </a:r>
            <a:endParaRPr lang="en-US" sz="760" dirty="0"/>
          </a:p>
        </p:txBody>
      </p:sp>
      <p:sp>
        <p:nvSpPr>
          <p:cNvPr id="17" name="Shape 15"/>
          <p:cNvSpPr/>
          <p:nvPr/>
        </p:nvSpPr>
        <p:spPr>
          <a:xfrm>
            <a:off x="640080" y="2816352"/>
            <a:ext cx="5257800" cy="859536"/>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18" name="Text 16"/>
          <p:cNvSpPr/>
          <p:nvPr/>
        </p:nvSpPr>
        <p:spPr>
          <a:xfrm>
            <a:off x="822960" y="3017520"/>
            <a:ext cx="457200" cy="237744"/>
          </a:xfrm>
          <a:prstGeom prst="rect">
            <a:avLst/>
          </a:prstGeom>
          <a:noFill/>
          <a:ln/>
        </p:spPr>
        <p:txBody>
          <a:bodyPr wrap="square" lIns="0" tIns="0" rIns="0" bIns="0" rtlCol="0" anchor="ctr"/>
          <a:lstStyle/>
          <a:p>
            <a:pPr indent="0" marL="0">
              <a:buNone/>
            </a:pPr>
            <a:r>
              <a:rPr lang="en-US" sz="1500" b="1" dirty="0">
                <a:solidFill>
                  <a:srgbClr val="0078D4"/>
                </a:solidFill>
                <a:latin typeface="Segoe UI Semibold" pitchFamily="34" charset="0"/>
                <a:ea typeface="Segoe UI Semibold" pitchFamily="34" charset="-122"/>
                <a:cs typeface="Segoe UI Semibold" pitchFamily="34" charset="-120"/>
              </a:rPr>
              <a:t>02</a:t>
            </a:r>
            <a:endParaRPr lang="en-US" sz="1500" dirty="0"/>
          </a:p>
        </p:txBody>
      </p:sp>
      <p:sp>
        <p:nvSpPr>
          <p:cNvPr id="19" name="Text 17"/>
          <p:cNvSpPr/>
          <p:nvPr/>
        </p:nvSpPr>
        <p:spPr>
          <a:xfrm>
            <a:off x="1371600" y="2962656"/>
            <a:ext cx="3246120" cy="365760"/>
          </a:xfrm>
          <a:prstGeom prst="rect">
            <a:avLst/>
          </a:prstGeom>
          <a:noFill/>
          <a:ln/>
        </p:spPr>
        <p:txBody>
          <a:bodyPr wrap="square" lIns="0" tIns="0" rIns="0" bIns="0" rtlCol="0" anchor="ctr">
            <a:normAutofit/>
          </a:bodyP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Who uses the process today?</a:t>
            </a:r>
            <a:endParaRPr lang="en-US" sz="1150" dirty="0"/>
          </a:p>
        </p:txBody>
      </p:sp>
      <p:sp>
        <p:nvSpPr>
          <p:cNvPr id="20" name="Shape 18"/>
          <p:cNvSpPr/>
          <p:nvPr/>
        </p:nvSpPr>
        <p:spPr>
          <a:xfrm>
            <a:off x="4617720" y="3081528"/>
            <a:ext cx="1069848" cy="310896"/>
          </a:xfrm>
          <a:prstGeom prst="roundRect">
            <a:avLst/>
          </a:prstGeom>
          <a:solidFill>
            <a:srgbClr val="DCEEFF"/>
          </a:solidFill>
          <a:ln w="12700">
            <a:solidFill>
              <a:srgbClr val="DCEEFF">
                <a:alpha val="0"/>
              </a:srgbClr>
            </a:solidFill>
            <a:prstDash val="solid"/>
          </a:ln>
        </p:spPr>
      </p:sp>
      <p:sp>
        <p:nvSpPr>
          <p:cNvPr id="21" name="Text 19"/>
          <p:cNvSpPr/>
          <p:nvPr/>
        </p:nvSpPr>
        <p:spPr>
          <a:xfrm>
            <a:off x="4681728" y="3136392"/>
            <a:ext cx="941832" cy="164592"/>
          </a:xfrm>
          <a:prstGeom prst="rect">
            <a:avLst/>
          </a:prstGeom>
          <a:noFill/>
          <a:ln/>
        </p:spPr>
        <p:txBody>
          <a:bodyPr wrap="square" lIns="0" tIns="0" rIns="0" bIns="0" rtlCol="0" anchor="ctr">
            <a:normAutofit/>
          </a:bodyPr>
          <a:lstStyle/>
          <a:p>
            <a:pPr algn="ctr" indent="0" marL="0">
              <a:buNone/>
            </a:pPr>
            <a:r>
              <a:rPr lang="en-US" sz="760" b="1" dirty="0">
                <a:solidFill>
                  <a:srgbClr val="005A9E"/>
                </a:solidFill>
                <a:latin typeface="Segoe UI Semibold" pitchFamily="34" charset="0"/>
                <a:ea typeface="Segoe UI Semibold" pitchFamily="34" charset="-122"/>
                <a:cs typeface="Segoe UI Semibold" pitchFamily="34" charset="-120"/>
              </a:rPr>
              <a:t>ROLES / PERSONAS</a:t>
            </a:r>
            <a:endParaRPr lang="en-US" sz="760" dirty="0"/>
          </a:p>
        </p:txBody>
      </p:sp>
      <p:sp>
        <p:nvSpPr>
          <p:cNvPr id="22" name="Shape 20"/>
          <p:cNvSpPr/>
          <p:nvPr/>
        </p:nvSpPr>
        <p:spPr>
          <a:xfrm>
            <a:off x="640080" y="3895344"/>
            <a:ext cx="5257800" cy="859536"/>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23" name="Text 21"/>
          <p:cNvSpPr/>
          <p:nvPr/>
        </p:nvSpPr>
        <p:spPr>
          <a:xfrm>
            <a:off x="822960" y="4096512"/>
            <a:ext cx="457200" cy="237744"/>
          </a:xfrm>
          <a:prstGeom prst="rect">
            <a:avLst/>
          </a:prstGeom>
          <a:noFill/>
          <a:ln/>
        </p:spPr>
        <p:txBody>
          <a:bodyPr wrap="square" lIns="0" tIns="0" rIns="0" bIns="0" rtlCol="0" anchor="ctr"/>
          <a:lstStyle/>
          <a:p>
            <a:pPr indent="0" marL="0">
              <a:buNone/>
            </a:pPr>
            <a:r>
              <a:rPr lang="en-US" sz="1500" b="1" dirty="0">
                <a:solidFill>
                  <a:srgbClr val="0078D4"/>
                </a:solidFill>
                <a:latin typeface="Segoe UI Semibold" pitchFamily="34" charset="0"/>
                <a:ea typeface="Segoe UI Semibold" pitchFamily="34" charset="-122"/>
                <a:cs typeface="Segoe UI Semibold" pitchFamily="34" charset="-120"/>
              </a:rPr>
              <a:t>03</a:t>
            </a:r>
            <a:endParaRPr lang="en-US" sz="1500" dirty="0"/>
          </a:p>
        </p:txBody>
      </p:sp>
      <p:sp>
        <p:nvSpPr>
          <p:cNvPr id="24" name="Text 22"/>
          <p:cNvSpPr/>
          <p:nvPr/>
        </p:nvSpPr>
        <p:spPr>
          <a:xfrm>
            <a:off x="1371600" y="4041648"/>
            <a:ext cx="3246120" cy="365760"/>
          </a:xfrm>
          <a:prstGeom prst="rect">
            <a:avLst/>
          </a:prstGeom>
          <a:noFill/>
          <a:ln/>
        </p:spPr>
        <p:txBody>
          <a:bodyPr wrap="square" lIns="0" tIns="0" rIns="0" bIns="0" rtlCol="0" anchor="ctr">
            <a:normAutofit/>
          </a:bodyP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What happens from trigger to outcome?</a:t>
            </a:r>
            <a:endParaRPr lang="en-US" sz="1150" dirty="0"/>
          </a:p>
        </p:txBody>
      </p:sp>
      <p:sp>
        <p:nvSpPr>
          <p:cNvPr id="25" name="Shape 23"/>
          <p:cNvSpPr/>
          <p:nvPr/>
        </p:nvSpPr>
        <p:spPr>
          <a:xfrm>
            <a:off x="4617720" y="4160520"/>
            <a:ext cx="1069848" cy="310896"/>
          </a:xfrm>
          <a:prstGeom prst="roundRect">
            <a:avLst/>
          </a:prstGeom>
          <a:solidFill>
            <a:srgbClr val="DCEEFF"/>
          </a:solidFill>
          <a:ln w="12700">
            <a:solidFill>
              <a:srgbClr val="DCEEFF">
                <a:alpha val="0"/>
              </a:srgbClr>
            </a:solidFill>
            <a:prstDash val="solid"/>
          </a:ln>
        </p:spPr>
      </p:sp>
      <p:sp>
        <p:nvSpPr>
          <p:cNvPr id="26" name="Text 24"/>
          <p:cNvSpPr/>
          <p:nvPr/>
        </p:nvSpPr>
        <p:spPr>
          <a:xfrm>
            <a:off x="4681728" y="4215384"/>
            <a:ext cx="941832" cy="164592"/>
          </a:xfrm>
          <a:prstGeom prst="rect">
            <a:avLst/>
          </a:prstGeom>
          <a:noFill/>
          <a:ln/>
        </p:spPr>
        <p:txBody>
          <a:bodyPr wrap="square" lIns="0" tIns="0" rIns="0" bIns="0" rtlCol="0" anchor="ctr">
            <a:normAutofit/>
          </a:bodyPr>
          <a:lstStyle/>
          <a:p>
            <a:pPr algn="ctr" indent="0" marL="0">
              <a:buNone/>
            </a:pPr>
            <a:r>
              <a:rPr lang="en-US" sz="760" b="1" dirty="0">
                <a:solidFill>
                  <a:srgbClr val="005A9E"/>
                </a:solidFill>
                <a:latin typeface="Segoe UI Semibold" pitchFamily="34" charset="0"/>
                <a:ea typeface="Segoe UI Semibold" pitchFamily="34" charset="-122"/>
                <a:cs typeface="Segoe UI Semibold" pitchFamily="34" charset="-120"/>
              </a:rPr>
              <a:t>3-7 STEPS</a:t>
            </a:r>
            <a:endParaRPr lang="en-US" sz="760" dirty="0"/>
          </a:p>
        </p:txBody>
      </p:sp>
      <p:sp>
        <p:nvSpPr>
          <p:cNvPr id="27" name="Shape 25"/>
          <p:cNvSpPr/>
          <p:nvPr/>
        </p:nvSpPr>
        <p:spPr>
          <a:xfrm>
            <a:off x="640080" y="4974336"/>
            <a:ext cx="5257800" cy="859536"/>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28" name="Text 26"/>
          <p:cNvSpPr/>
          <p:nvPr/>
        </p:nvSpPr>
        <p:spPr>
          <a:xfrm>
            <a:off x="822960" y="5175504"/>
            <a:ext cx="457200" cy="237744"/>
          </a:xfrm>
          <a:prstGeom prst="rect">
            <a:avLst/>
          </a:prstGeom>
          <a:noFill/>
          <a:ln/>
        </p:spPr>
        <p:txBody>
          <a:bodyPr wrap="square" lIns="0" tIns="0" rIns="0" bIns="0" rtlCol="0" anchor="ctr"/>
          <a:lstStyle/>
          <a:p>
            <a:pPr indent="0" marL="0">
              <a:buNone/>
            </a:pPr>
            <a:r>
              <a:rPr lang="en-US" sz="1500" b="1" dirty="0">
                <a:solidFill>
                  <a:srgbClr val="0078D4"/>
                </a:solidFill>
                <a:latin typeface="Segoe UI Semibold" pitchFamily="34" charset="0"/>
                <a:ea typeface="Segoe UI Semibold" pitchFamily="34" charset="-122"/>
                <a:cs typeface="Segoe UI Semibold" pitchFamily="34" charset="-120"/>
              </a:rPr>
              <a:t>04</a:t>
            </a:r>
            <a:endParaRPr lang="en-US" sz="1500" dirty="0"/>
          </a:p>
        </p:txBody>
      </p:sp>
      <p:sp>
        <p:nvSpPr>
          <p:cNvPr id="29" name="Text 27"/>
          <p:cNvSpPr/>
          <p:nvPr/>
        </p:nvSpPr>
        <p:spPr>
          <a:xfrm>
            <a:off x="1371600" y="5120640"/>
            <a:ext cx="3246120" cy="365760"/>
          </a:xfrm>
          <a:prstGeom prst="rect">
            <a:avLst/>
          </a:prstGeom>
          <a:noFill/>
          <a:ln/>
        </p:spPr>
        <p:txBody>
          <a:bodyPr wrap="square" lIns="0" tIns="0" rIns="0" bIns="0" rtlCol="0" anchor="ctr">
            <a:normAutofit/>
          </a:bodyP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What are the top one to three capabilities?</a:t>
            </a:r>
            <a:endParaRPr lang="en-US" sz="1150" dirty="0"/>
          </a:p>
        </p:txBody>
      </p:sp>
      <p:sp>
        <p:nvSpPr>
          <p:cNvPr id="30" name="Shape 28"/>
          <p:cNvSpPr/>
          <p:nvPr/>
        </p:nvSpPr>
        <p:spPr>
          <a:xfrm>
            <a:off x="4617720" y="5239512"/>
            <a:ext cx="1069848" cy="310896"/>
          </a:xfrm>
          <a:prstGeom prst="roundRect">
            <a:avLst/>
          </a:prstGeom>
          <a:solidFill>
            <a:srgbClr val="DCEEFF"/>
          </a:solidFill>
          <a:ln w="12700">
            <a:solidFill>
              <a:srgbClr val="DCEEFF">
                <a:alpha val="0"/>
              </a:srgbClr>
            </a:solidFill>
            <a:prstDash val="solid"/>
          </a:ln>
        </p:spPr>
      </p:sp>
      <p:sp>
        <p:nvSpPr>
          <p:cNvPr id="31" name="Text 29"/>
          <p:cNvSpPr/>
          <p:nvPr/>
        </p:nvSpPr>
        <p:spPr>
          <a:xfrm>
            <a:off x="4681728" y="5294376"/>
            <a:ext cx="941832" cy="164592"/>
          </a:xfrm>
          <a:prstGeom prst="rect">
            <a:avLst/>
          </a:prstGeom>
          <a:noFill/>
          <a:ln/>
        </p:spPr>
        <p:txBody>
          <a:bodyPr wrap="square" lIns="0" tIns="0" rIns="0" bIns="0" rtlCol="0" anchor="ctr">
            <a:normAutofit/>
          </a:bodyPr>
          <a:lstStyle/>
          <a:p>
            <a:pPr algn="ctr" indent="0" marL="0">
              <a:buNone/>
            </a:pPr>
            <a:r>
              <a:rPr lang="en-US" sz="760" b="1" dirty="0">
                <a:solidFill>
                  <a:srgbClr val="005A9E"/>
                </a:solidFill>
                <a:latin typeface="Segoe UI Semibold" pitchFamily="34" charset="0"/>
                <a:ea typeface="Segoe UI Semibold" pitchFamily="34" charset="-122"/>
                <a:cs typeface="Segoe UI Semibold" pitchFamily="34" charset="-120"/>
              </a:rPr>
              <a:t>RANKED LIST</a:t>
            </a:r>
            <a:endParaRPr lang="en-US" sz="760" dirty="0"/>
          </a:p>
        </p:txBody>
      </p:sp>
      <p:sp>
        <p:nvSpPr>
          <p:cNvPr id="32" name="Shape 30"/>
          <p:cNvSpPr/>
          <p:nvPr/>
        </p:nvSpPr>
        <p:spPr>
          <a:xfrm>
            <a:off x="6263640" y="1737360"/>
            <a:ext cx="5257800" cy="859536"/>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33" name="Text 31"/>
          <p:cNvSpPr/>
          <p:nvPr/>
        </p:nvSpPr>
        <p:spPr>
          <a:xfrm>
            <a:off x="6446520" y="1938528"/>
            <a:ext cx="457200" cy="237744"/>
          </a:xfrm>
          <a:prstGeom prst="rect">
            <a:avLst/>
          </a:prstGeom>
          <a:noFill/>
          <a:ln/>
        </p:spPr>
        <p:txBody>
          <a:bodyPr wrap="square" lIns="0" tIns="0" rIns="0" bIns="0" rtlCol="0" anchor="ctr"/>
          <a:lstStyle/>
          <a:p>
            <a:pPr indent="0" marL="0">
              <a:buNone/>
            </a:pPr>
            <a:r>
              <a:rPr lang="en-US" sz="1500" b="1" dirty="0">
                <a:solidFill>
                  <a:srgbClr val="107C10"/>
                </a:solidFill>
                <a:latin typeface="Segoe UI Semibold" pitchFamily="34" charset="0"/>
                <a:ea typeface="Segoe UI Semibold" pitchFamily="34" charset="-122"/>
                <a:cs typeface="Segoe UI Semibold" pitchFamily="34" charset="-120"/>
              </a:rPr>
              <a:t>05</a:t>
            </a:r>
            <a:endParaRPr lang="en-US" sz="1500" dirty="0"/>
          </a:p>
        </p:txBody>
      </p:sp>
      <p:sp>
        <p:nvSpPr>
          <p:cNvPr id="34" name="Text 32"/>
          <p:cNvSpPr/>
          <p:nvPr/>
        </p:nvSpPr>
        <p:spPr>
          <a:xfrm>
            <a:off x="6995160" y="1883664"/>
            <a:ext cx="3246120" cy="365760"/>
          </a:xfrm>
          <a:prstGeom prst="rect">
            <a:avLst/>
          </a:prstGeom>
          <a:noFill/>
          <a:ln/>
        </p:spPr>
        <p:txBody>
          <a:bodyPr wrap="square" lIns="0" tIns="0" rIns="0" bIns="0" rtlCol="0" anchor="ctr">
            <a:normAutofit/>
          </a:bodyP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Which systems or knowledge sources are involved?</a:t>
            </a:r>
            <a:endParaRPr lang="en-US" sz="1150" dirty="0"/>
          </a:p>
        </p:txBody>
      </p:sp>
      <p:sp>
        <p:nvSpPr>
          <p:cNvPr id="35" name="Shape 33"/>
          <p:cNvSpPr/>
          <p:nvPr/>
        </p:nvSpPr>
        <p:spPr>
          <a:xfrm>
            <a:off x="10241280" y="2002536"/>
            <a:ext cx="1069848" cy="310896"/>
          </a:xfrm>
          <a:prstGeom prst="roundRect">
            <a:avLst/>
          </a:prstGeom>
          <a:solidFill>
            <a:srgbClr val="DCEEFF"/>
          </a:solidFill>
          <a:ln w="12700">
            <a:solidFill>
              <a:srgbClr val="DCEEFF">
                <a:alpha val="0"/>
              </a:srgbClr>
            </a:solidFill>
            <a:prstDash val="solid"/>
          </a:ln>
        </p:spPr>
      </p:sp>
      <p:sp>
        <p:nvSpPr>
          <p:cNvPr id="36" name="Text 34"/>
          <p:cNvSpPr/>
          <p:nvPr/>
        </p:nvSpPr>
        <p:spPr>
          <a:xfrm>
            <a:off x="10305288" y="2057400"/>
            <a:ext cx="941832" cy="164592"/>
          </a:xfrm>
          <a:prstGeom prst="rect">
            <a:avLst/>
          </a:prstGeom>
          <a:noFill/>
          <a:ln/>
        </p:spPr>
        <p:txBody>
          <a:bodyPr wrap="square" lIns="0" tIns="0" rIns="0" bIns="0" rtlCol="0" anchor="ctr">
            <a:normAutofit/>
          </a:bodyPr>
          <a:lstStyle/>
          <a:p>
            <a:pPr algn="ctr" indent="0" marL="0">
              <a:buNone/>
            </a:pPr>
            <a:r>
              <a:rPr lang="en-US" sz="760" b="1" dirty="0">
                <a:solidFill>
                  <a:srgbClr val="005A9E"/>
                </a:solidFill>
                <a:latin typeface="Segoe UI Semibold" pitchFamily="34" charset="0"/>
                <a:ea typeface="Segoe UI Semibold" pitchFamily="34" charset="-122"/>
                <a:cs typeface="Segoe UI Semibold" pitchFamily="34" charset="-120"/>
              </a:rPr>
              <a:t>NAMES ONLY</a:t>
            </a:r>
            <a:endParaRPr lang="en-US" sz="760" dirty="0"/>
          </a:p>
        </p:txBody>
      </p:sp>
      <p:sp>
        <p:nvSpPr>
          <p:cNvPr id="37" name="Shape 35"/>
          <p:cNvSpPr/>
          <p:nvPr/>
        </p:nvSpPr>
        <p:spPr>
          <a:xfrm>
            <a:off x="6263640" y="2816352"/>
            <a:ext cx="5257800" cy="859536"/>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38" name="Text 36"/>
          <p:cNvSpPr/>
          <p:nvPr/>
        </p:nvSpPr>
        <p:spPr>
          <a:xfrm>
            <a:off x="6446520" y="3017520"/>
            <a:ext cx="457200" cy="237744"/>
          </a:xfrm>
          <a:prstGeom prst="rect">
            <a:avLst/>
          </a:prstGeom>
          <a:noFill/>
          <a:ln/>
        </p:spPr>
        <p:txBody>
          <a:bodyPr wrap="square" lIns="0" tIns="0" rIns="0" bIns="0" rtlCol="0" anchor="ctr"/>
          <a:lstStyle/>
          <a:p>
            <a:pPr indent="0" marL="0">
              <a:buNone/>
            </a:pPr>
            <a:r>
              <a:rPr lang="en-US" sz="1500" b="1" dirty="0">
                <a:solidFill>
                  <a:srgbClr val="107C10"/>
                </a:solidFill>
                <a:latin typeface="Segoe UI Semibold" pitchFamily="34" charset="0"/>
                <a:ea typeface="Segoe UI Semibold" pitchFamily="34" charset="-122"/>
                <a:cs typeface="Segoe UI Semibold" pitchFamily="34" charset="-120"/>
              </a:rPr>
              <a:t>06</a:t>
            </a:r>
            <a:endParaRPr lang="en-US" sz="1500" dirty="0"/>
          </a:p>
        </p:txBody>
      </p:sp>
      <p:sp>
        <p:nvSpPr>
          <p:cNvPr id="39" name="Text 37"/>
          <p:cNvSpPr/>
          <p:nvPr/>
        </p:nvSpPr>
        <p:spPr>
          <a:xfrm>
            <a:off x="6995160" y="2962656"/>
            <a:ext cx="3246120" cy="365760"/>
          </a:xfrm>
          <a:prstGeom prst="rect">
            <a:avLst/>
          </a:prstGeom>
          <a:noFill/>
          <a:ln/>
        </p:spPr>
        <p:txBody>
          <a:bodyPr wrap="square" lIns="0" tIns="0" rIns="0" bIns="0" rtlCol="0" anchor="ctr">
            <a:normAutofit/>
          </a:bodyP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What sample file can you safely provide?</a:t>
            </a:r>
            <a:endParaRPr lang="en-US" sz="1150" dirty="0"/>
          </a:p>
        </p:txBody>
      </p:sp>
      <p:sp>
        <p:nvSpPr>
          <p:cNvPr id="40" name="Shape 38"/>
          <p:cNvSpPr/>
          <p:nvPr/>
        </p:nvSpPr>
        <p:spPr>
          <a:xfrm>
            <a:off x="10241280" y="3081528"/>
            <a:ext cx="1069848" cy="310896"/>
          </a:xfrm>
          <a:prstGeom prst="roundRect">
            <a:avLst/>
          </a:prstGeom>
          <a:solidFill>
            <a:srgbClr val="DCEEFF"/>
          </a:solidFill>
          <a:ln w="12700">
            <a:solidFill>
              <a:srgbClr val="DCEEFF">
                <a:alpha val="0"/>
              </a:srgbClr>
            </a:solidFill>
            <a:prstDash val="solid"/>
          </a:ln>
        </p:spPr>
      </p:sp>
      <p:sp>
        <p:nvSpPr>
          <p:cNvPr id="41" name="Text 39"/>
          <p:cNvSpPr/>
          <p:nvPr/>
        </p:nvSpPr>
        <p:spPr>
          <a:xfrm>
            <a:off x="10305288" y="3136392"/>
            <a:ext cx="941832" cy="164592"/>
          </a:xfrm>
          <a:prstGeom prst="rect">
            <a:avLst/>
          </a:prstGeom>
          <a:noFill/>
          <a:ln/>
        </p:spPr>
        <p:txBody>
          <a:bodyPr wrap="square" lIns="0" tIns="0" rIns="0" bIns="0" rtlCol="0" anchor="ctr">
            <a:normAutofit/>
          </a:bodyPr>
          <a:lstStyle/>
          <a:p>
            <a:pPr algn="ctr" indent="0" marL="0">
              <a:buNone/>
            </a:pPr>
            <a:r>
              <a:rPr lang="en-US" sz="760" b="1" dirty="0">
                <a:solidFill>
                  <a:srgbClr val="005A9E"/>
                </a:solidFill>
                <a:latin typeface="Segoe UI Semibold" pitchFamily="34" charset="0"/>
                <a:ea typeface="Segoe UI Semibold" pitchFamily="34" charset="-122"/>
                <a:cs typeface="Segoe UI Semibold" pitchFamily="34" charset="-120"/>
              </a:rPr>
              <a:t>TYPE + CLASSIFICATION</a:t>
            </a:r>
            <a:endParaRPr lang="en-US" sz="760" dirty="0"/>
          </a:p>
        </p:txBody>
      </p:sp>
      <p:sp>
        <p:nvSpPr>
          <p:cNvPr id="42" name="Shape 40"/>
          <p:cNvSpPr/>
          <p:nvPr/>
        </p:nvSpPr>
        <p:spPr>
          <a:xfrm>
            <a:off x="6263640" y="3895344"/>
            <a:ext cx="5257800" cy="859536"/>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43" name="Text 41"/>
          <p:cNvSpPr/>
          <p:nvPr/>
        </p:nvSpPr>
        <p:spPr>
          <a:xfrm>
            <a:off x="6446520" y="4096512"/>
            <a:ext cx="457200" cy="237744"/>
          </a:xfrm>
          <a:prstGeom prst="rect">
            <a:avLst/>
          </a:prstGeom>
          <a:noFill/>
          <a:ln/>
        </p:spPr>
        <p:txBody>
          <a:bodyPr wrap="square" lIns="0" tIns="0" rIns="0" bIns="0" rtlCol="0" anchor="ctr"/>
          <a:lstStyle/>
          <a:p>
            <a:pPr indent="0" marL="0">
              <a:buNone/>
            </a:pPr>
            <a:r>
              <a:rPr lang="en-US" sz="1500" b="1" dirty="0">
                <a:solidFill>
                  <a:srgbClr val="107C10"/>
                </a:solidFill>
                <a:latin typeface="Segoe UI Semibold" pitchFamily="34" charset="0"/>
                <a:ea typeface="Segoe UI Semibold" pitchFamily="34" charset="-122"/>
                <a:cs typeface="Segoe UI Semibold" pitchFamily="34" charset="-120"/>
              </a:rPr>
              <a:t>07</a:t>
            </a:r>
            <a:endParaRPr lang="en-US" sz="1500" dirty="0"/>
          </a:p>
        </p:txBody>
      </p:sp>
      <p:sp>
        <p:nvSpPr>
          <p:cNvPr id="44" name="Text 42"/>
          <p:cNvSpPr/>
          <p:nvPr/>
        </p:nvSpPr>
        <p:spPr>
          <a:xfrm>
            <a:off x="6995160" y="4041648"/>
            <a:ext cx="3246120" cy="365760"/>
          </a:xfrm>
          <a:prstGeom prst="rect">
            <a:avLst/>
          </a:prstGeom>
          <a:noFill/>
          <a:ln/>
        </p:spPr>
        <p:txBody>
          <a:bodyPr wrap="square" lIns="0" tIns="0" rIns="0" bIns="0" rtlCol="0" anchor="ctr">
            <a:normAutofit/>
          </a:bodyP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How will we know the prototype worked?</a:t>
            </a:r>
            <a:endParaRPr lang="en-US" sz="1150" dirty="0"/>
          </a:p>
        </p:txBody>
      </p:sp>
      <p:sp>
        <p:nvSpPr>
          <p:cNvPr id="45" name="Shape 43"/>
          <p:cNvSpPr/>
          <p:nvPr/>
        </p:nvSpPr>
        <p:spPr>
          <a:xfrm>
            <a:off x="10241280" y="4160520"/>
            <a:ext cx="1069848" cy="310896"/>
          </a:xfrm>
          <a:prstGeom prst="roundRect">
            <a:avLst/>
          </a:prstGeom>
          <a:solidFill>
            <a:srgbClr val="DCEEFF"/>
          </a:solidFill>
          <a:ln w="12700">
            <a:solidFill>
              <a:srgbClr val="DCEEFF">
                <a:alpha val="0"/>
              </a:srgbClr>
            </a:solidFill>
            <a:prstDash val="solid"/>
          </a:ln>
        </p:spPr>
      </p:sp>
      <p:sp>
        <p:nvSpPr>
          <p:cNvPr id="46" name="Text 44"/>
          <p:cNvSpPr/>
          <p:nvPr/>
        </p:nvSpPr>
        <p:spPr>
          <a:xfrm>
            <a:off x="10305288" y="4215384"/>
            <a:ext cx="941832" cy="164592"/>
          </a:xfrm>
          <a:prstGeom prst="rect">
            <a:avLst/>
          </a:prstGeom>
          <a:noFill/>
          <a:ln/>
        </p:spPr>
        <p:txBody>
          <a:bodyPr wrap="square" lIns="0" tIns="0" rIns="0" bIns="0" rtlCol="0" anchor="ctr">
            <a:normAutofit/>
          </a:bodyPr>
          <a:lstStyle/>
          <a:p>
            <a:pPr algn="ctr" indent="0" marL="0">
              <a:buNone/>
            </a:pPr>
            <a:r>
              <a:rPr lang="en-US" sz="760" b="1" dirty="0">
                <a:solidFill>
                  <a:srgbClr val="005A9E"/>
                </a:solidFill>
                <a:latin typeface="Segoe UI Semibold" pitchFamily="34" charset="0"/>
                <a:ea typeface="Segoe UI Semibold" pitchFamily="34" charset="-122"/>
                <a:cs typeface="Segoe UI Semibold" pitchFamily="34" charset="-120"/>
              </a:rPr>
              <a:t>ONE MEASURABLE SIGNAL</a:t>
            </a:r>
            <a:endParaRPr lang="en-US" sz="760" dirty="0"/>
          </a:p>
        </p:txBody>
      </p:sp>
      <p:sp>
        <p:nvSpPr>
          <p:cNvPr id="47" name="Shape 45"/>
          <p:cNvSpPr/>
          <p:nvPr/>
        </p:nvSpPr>
        <p:spPr>
          <a:xfrm>
            <a:off x="6263640" y="4974336"/>
            <a:ext cx="5257800" cy="859536"/>
          </a:xfrm>
          <a:prstGeom prst="roundRect">
            <a:avLst/>
          </a:prstGeom>
          <a:solidFill>
            <a:srgbClr val="FAF9F8"/>
          </a:solidFill>
          <a:ln w="12700">
            <a:solidFill>
              <a:srgbClr val="E1DFDD"/>
            </a:solidFill>
            <a:prstDash val="solid"/>
          </a:ln>
          <a:effectLst>
            <a:outerShdw sx="100000" sy="100000" kx="0" ky="0" algn="bl" rotWithShape="0" blurRad="63500" dist="50800" dir="8100000">
              <a:srgbClr val="000000">
                <a:alpha val="12000"/>
              </a:srgbClr>
            </a:outerShdw>
          </a:effectLst>
        </p:spPr>
      </p:sp>
      <p:sp>
        <p:nvSpPr>
          <p:cNvPr id="48" name="Text 46"/>
          <p:cNvSpPr/>
          <p:nvPr/>
        </p:nvSpPr>
        <p:spPr>
          <a:xfrm>
            <a:off x="6446520" y="5175504"/>
            <a:ext cx="457200" cy="237744"/>
          </a:xfrm>
          <a:prstGeom prst="rect">
            <a:avLst/>
          </a:prstGeom>
          <a:noFill/>
          <a:ln/>
        </p:spPr>
        <p:txBody>
          <a:bodyPr wrap="square" lIns="0" tIns="0" rIns="0" bIns="0" rtlCol="0" anchor="ctr"/>
          <a:lstStyle/>
          <a:p>
            <a:pPr indent="0" marL="0">
              <a:buNone/>
            </a:pPr>
            <a:r>
              <a:rPr lang="en-US" sz="1500" b="1" dirty="0">
                <a:solidFill>
                  <a:srgbClr val="107C10"/>
                </a:solidFill>
                <a:latin typeface="Segoe UI Semibold" pitchFamily="34" charset="0"/>
                <a:ea typeface="Segoe UI Semibold" pitchFamily="34" charset="-122"/>
                <a:cs typeface="Segoe UI Semibold" pitchFamily="34" charset="-120"/>
              </a:rPr>
              <a:t>08</a:t>
            </a:r>
            <a:endParaRPr lang="en-US" sz="1500" dirty="0"/>
          </a:p>
        </p:txBody>
      </p:sp>
      <p:sp>
        <p:nvSpPr>
          <p:cNvPr id="49" name="Text 47"/>
          <p:cNvSpPr/>
          <p:nvPr/>
        </p:nvSpPr>
        <p:spPr>
          <a:xfrm>
            <a:off x="6995160" y="5120640"/>
            <a:ext cx="3246120" cy="365760"/>
          </a:xfrm>
          <a:prstGeom prst="rect">
            <a:avLst/>
          </a:prstGeom>
          <a:noFill/>
          <a:ln/>
        </p:spPr>
        <p:txBody>
          <a:bodyPr wrap="square" lIns="0" tIns="0" rIns="0" bIns="0" rtlCol="0" anchor="ctr">
            <a:normAutofit/>
          </a:bodyPr>
          <a:lstStyle/>
          <a:p>
            <a:pPr indent="0" marL="0">
              <a:buNone/>
            </a:pPr>
            <a:r>
              <a:rPr lang="en-US" sz="1150" b="1" dirty="0">
                <a:solidFill>
                  <a:srgbClr val="1B1A19"/>
                </a:solidFill>
                <a:latin typeface="Segoe UI Semibold" pitchFamily="34" charset="0"/>
                <a:ea typeface="Segoe UI Semibold" pitchFamily="34" charset="-122"/>
                <a:cs typeface="Segoe UI Semibold" pitchFamily="34" charset="-120"/>
              </a:rPr>
              <a:t>Do attendees have maker access?</a:t>
            </a:r>
            <a:endParaRPr lang="en-US" sz="1150" dirty="0"/>
          </a:p>
        </p:txBody>
      </p:sp>
      <p:sp>
        <p:nvSpPr>
          <p:cNvPr id="50" name="Shape 48"/>
          <p:cNvSpPr/>
          <p:nvPr/>
        </p:nvSpPr>
        <p:spPr>
          <a:xfrm>
            <a:off x="10241280" y="5239512"/>
            <a:ext cx="1069848" cy="310896"/>
          </a:xfrm>
          <a:prstGeom prst="roundRect">
            <a:avLst/>
          </a:prstGeom>
          <a:solidFill>
            <a:srgbClr val="DCEEFF"/>
          </a:solidFill>
          <a:ln w="12700">
            <a:solidFill>
              <a:srgbClr val="DCEEFF">
                <a:alpha val="0"/>
              </a:srgbClr>
            </a:solidFill>
            <a:prstDash val="solid"/>
          </a:ln>
        </p:spPr>
      </p:sp>
      <p:sp>
        <p:nvSpPr>
          <p:cNvPr id="51" name="Text 49"/>
          <p:cNvSpPr/>
          <p:nvPr/>
        </p:nvSpPr>
        <p:spPr>
          <a:xfrm>
            <a:off x="10305288" y="5294376"/>
            <a:ext cx="941832" cy="164592"/>
          </a:xfrm>
          <a:prstGeom prst="rect">
            <a:avLst/>
          </a:prstGeom>
          <a:noFill/>
          <a:ln/>
        </p:spPr>
        <p:txBody>
          <a:bodyPr wrap="square" lIns="0" tIns="0" rIns="0" bIns="0" rtlCol="0" anchor="ctr">
            <a:normAutofit/>
          </a:bodyPr>
          <a:lstStyle/>
          <a:p>
            <a:pPr algn="ctr" indent="0" marL="0">
              <a:buNone/>
            </a:pPr>
            <a:r>
              <a:rPr lang="en-US" sz="760" b="1" dirty="0">
                <a:solidFill>
                  <a:srgbClr val="005A9E"/>
                </a:solidFill>
                <a:latin typeface="Segoe UI Semibold" pitchFamily="34" charset="0"/>
                <a:ea typeface="Segoe UI Semibold" pitchFamily="34" charset="-122"/>
                <a:cs typeface="Segoe UI Semibold" pitchFamily="34" charset="-120"/>
              </a:rPr>
              <a:t>YES / NO / UNSURE</a:t>
            </a:r>
            <a:endParaRPr lang="en-US" sz="760" dirty="0"/>
          </a:p>
        </p:txBody>
      </p:sp>
      <p:sp>
        <p:nvSpPr>
          <p:cNvPr id="52" name="Shape 50"/>
          <p:cNvSpPr/>
          <p:nvPr/>
        </p:nvSpPr>
        <p:spPr>
          <a:xfrm>
            <a:off x="1234440" y="5870448"/>
            <a:ext cx="9738360" cy="438912"/>
          </a:xfrm>
          <a:prstGeom prst="roundRect">
            <a:avLst/>
          </a:prstGeom>
          <a:solidFill>
            <a:srgbClr val="FFF4CE"/>
          </a:solidFill>
          <a:ln w="10160">
            <a:solidFill>
              <a:srgbClr val="FFB900"/>
            </a:solidFill>
            <a:prstDash val="solid"/>
          </a:ln>
        </p:spPr>
      </p:sp>
      <p:sp>
        <p:nvSpPr>
          <p:cNvPr id="53" name="Text 51"/>
          <p:cNvSpPr/>
          <p:nvPr/>
        </p:nvSpPr>
        <p:spPr>
          <a:xfrm>
            <a:off x="1490472" y="5989320"/>
            <a:ext cx="9235440" cy="182880"/>
          </a:xfrm>
          <a:prstGeom prst="rect">
            <a:avLst/>
          </a:prstGeom>
          <a:noFill/>
          <a:ln/>
        </p:spPr>
        <p:txBody>
          <a:bodyPr wrap="square" lIns="0" tIns="0" rIns="0" bIns="0" rtlCol="0" anchor="ctr"/>
          <a:lstStyle/>
          <a:p>
            <a:pPr algn="ctr" indent="0" marL="0">
              <a:buNone/>
            </a:pPr>
            <a:r>
              <a:rPr lang="en-US" sz="1000" b="1" dirty="0">
                <a:solidFill>
                  <a:srgbClr val="605E5C"/>
                </a:solidFill>
                <a:latin typeface="Segoe UI Semibold" pitchFamily="34" charset="0"/>
                <a:ea typeface="Segoe UI Semibold" pitchFamily="34" charset="-122"/>
                <a:cs typeface="Segoe UI Semibold" pitchFamily="34" charset="-120"/>
              </a:rPr>
              <a:t>Do not request customer secrets or production data in the survey. Ask only for enough signal to shape the workshop scenario.</a:t>
            </a:r>
            <a:endParaRPr lang="en-US" sz="1000" dirty="0"/>
          </a:p>
        </p:txBody>
      </p:sp>
      <p:sp>
        <p:nvSpPr>
          <p:cNvPr id="54" name="Text 52"/>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Appendix  |  19</a:t>
            </a:r>
            <a:endParaRPr lang="en-US" sz="8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9F8"/>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103A6B"/>
          </a:solidFill>
          <a:ln w="12700">
            <a:solidFill>
              <a:srgbClr val="103A6B">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103A6B"/>
                </a:solidFill>
                <a:latin typeface="Segoe UI Semibold" pitchFamily="34" charset="0"/>
                <a:ea typeface="Segoe UI Semibold" pitchFamily="34" charset="-122"/>
                <a:cs typeface="Segoe UI Semibold" pitchFamily="34" charset="-120"/>
              </a:rPr>
              <a:t>FACILITATOR APPENDIX</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Proposed pilot handoffs: avoid duplicate discovery.</a:t>
            </a:r>
            <a:endParaRPr lang="en-US" sz="2800" dirty="0"/>
          </a:p>
        </p:txBody>
      </p:sp>
      <p:sp>
        <p:nvSpPr>
          <p:cNvPr id="10" name="Shape 8"/>
          <p:cNvSpPr/>
          <p:nvPr/>
        </p:nvSpPr>
        <p:spPr>
          <a:xfrm>
            <a:off x="640080" y="1828800"/>
            <a:ext cx="10899648" cy="804672"/>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11" name="Shape 9"/>
          <p:cNvSpPr/>
          <p:nvPr/>
        </p:nvSpPr>
        <p:spPr>
          <a:xfrm>
            <a:off x="868680" y="2075688"/>
            <a:ext cx="2148840" cy="310896"/>
          </a:xfrm>
          <a:prstGeom prst="roundRect">
            <a:avLst/>
          </a:prstGeom>
          <a:solidFill>
            <a:srgbClr val="F9E3DB"/>
          </a:solidFill>
          <a:ln w="12700">
            <a:solidFill>
              <a:srgbClr val="F9E3DB">
                <a:alpha val="0"/>
              </a:srgbClr>
            </a:solidFill>
            <a:prstDash val="solid"/>
          </a:ln>
        </p:spPr>
      </p:sp>
      <p:sp>
        <p:nvSpPr>
          <p:cNvPr id="12" name="Text 10"/>
          <p:cNvSpPr/>
          <p:nvPr/>
        </p:nvSpPr>
        <p:spPr>
          <a:xfrm>
            <a:off x="932688" y="2130552"/>
            <a:ext cx="2020824" cy="164592"/>
          </a:xfrm>
          <a:prstGeom prst="rect">
            <a:avLst/>
          </a:prstGeom>
          <a:noFill/>
          <a:ln/>
        </p:spPr>
        <p:txBody>
          <a:bodyPr wrap="square" lIns="0" tIns="0" rIns="0" bIns="0" rtlCol="0" anchor="ctr">
            <a:normAutofit/>
          </a:bodyPr>
          <a:lstStyle/>
          <a:p>
            <a:pPr algn="ctr" indent="0" marL="0">
              <a:buNone/>
            </a:pPr>
            <a:r>
              <a:rPr lang="en-US" sz="860" b="1" dirty="0">
                <a:solidFill>
                  <a:srgbClr val="D83B01"/>
                </a:solidFill>
                <a:latin typeface="Segoe UI Semibold" pitchFamily="34" charset="0"/>
                <a:ea typeface="Segoe UI Semibold" pitchFamily="34" charset="-122"/>
                <a:cs typeface="Segoe UI Semibold" pitchFamily="34" charset="-120"/>
              </a:rPr>
              <a:t>AIdeate / use-case discovery</a:t>
            </a:r>
            <a:endParaRPr lang="en-US" sz="860" dirty="0"/>
          </a:p>
        </p:txBody>
      </p:sp>
      <p:sp>
        <p:nvSpPr>
          <p:cNvPr id="13" name="Text 11"/>
          <p:cNvSpPr/>
          <p:nvPr/>
        </p:nvSpPr>
        <p:spPr>
          <a:xfrm>
            <a:off x="3246120" y="2057400"/>
            <a:ext cx="5486400" cy="210312"/>
          </a:xfrm>
          <a:prstGeom prst="rect">
            <a:avLst/>
          </a:prstGeom>
          <a:noFill/>
          <a:ln/>
        </p:spPr>
        <p:txBody>
          <a:bodyPr wrap="square" lIns="0" tIns="0" rIns="0" bIns="0" rtlCol="0" anchor="ctr">
            <a:normAutofit/>
          </a:bodyPr>
          <a:lstStyle/>
          <a:p>
            <a:pPr algn="ctr" indent="0" marL="0">
              <a:buNone/>
            </a:pPr>
            <a:r>
              <a:rPr lang="en-US" sz="1080" dirty="0">
                <a:solidFill>
                  <a:srgbClr val="3B3A39"/>
                </a:solidFill>
                <a:latin typeface="Segoe UI" pitchFamily="34" charset="0"/>
                <a:ea typeface="Segoe UI" pitchFamily="34" charset="-122"/>
                <a:cs typeface="Segoe UI" pitchFamily="34" charset="-120"/>
              </a:rPr>
              <a:t>Problem framing  |  user + process  |  prioritization  |  success metric</a:t>
            </a:r>
            <a:endParaRPr lang="en-US" sz="1080" dirty="0"/>
          </a:p>
        </p:txBody>
      </p:sp>
      <p:sp>
        <p:nvSpPr>
          <p:cNvPr id="14" name="Text 12"/>
          <p:cNvSpPr/>
          <p:nvPr/>
        </p:nvSpPr>
        <p:spPr>
          <a:xfrm>
            <a:off x="8915400" y="2039112"/>
            <a:ext cx="2194560" cy="228600"/>
          </a:xfrm>
          <a:prstGeom prst="rect">
            <a:avLst/>
          </a:prstGeom>
          <a:noFill/>
          <a:ln/>
        </p:spPr>
        <p:txBody>
          <a:bodyPr wrap="square" lIns="0" tIns="0" rIns="0" bIns="0" rtlCol="0" anchor="ctr">
            <a:normAutofit/>
          </a:bodyPr>
          <a:lstStyle/>
          <a:p>
            <a:pPr algn="ctr" indent="0" marL="0">
              <a:buNone/>
            </a:pPr>
            <a:r>
              <a:rPr lang="en-US" sz="980" b="1" dirty="0">
                <a:solidFill>
                  <a:srgbClr val="D83B01"/>
                </a:solidFill>
                <a:latin typeface="Segoe UI Semibold" pitchFamily="34" charset="0"/>
                <a:ea typeface="Segoe UI Semibold" pitchFamily="34" charset="-122"/>
                <a:cs typeface="Segoe UI Semibold" pitchFamily="34" charset="-120"/>
              </a:rPr>
              <a:t>Confirmed scenario brief</a:t>
            </a:r>
            <a:endParaRPr lang="en-US" sz="980" dirty="0"/>
          </a:p>
        </p:txBody>
      </p:sp>
      <p:sp>
        <p:nvSpPr>
          <p:cNvPr id="15" name="Shape 13"/>
          <p:cNvSpPr/>
          <p:nvPr/>
        </p:nvSpPr>
        <p:spPr>
          <a:xfrm>
            <a:off x="640080" y="2907792"/>
            <a:ext cx="10899648" cy="804672"/>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16" name="Shape 14"/>
          <p:cNvSpPr/>
          <p:nvPr/>
        </p:nvSpPr>
        <p:spPr>
          <a:xfrm>
            <a:off x="868680" y="3154680"/>
            <a:ext cx="2148840" cy="310896"/>
          </a:xfrm>
          <a:prstGeom prst="roundRect">
            <a:avLst/>
          </a:prstGeom>
          <a:solidFill>
            <a:srgbClr val="DCEEFF"/>
          </a:solidFill>
          <a:ln w="12700">
            <a:solidFill>
              <a:srgbClr val="DCEEFF">
                <a:alpha val="0"/>
              </a:srgbClr>
            </a:solidFill>
            <a:prstDash val="solid"/>
          </a:ln>
        </p:spPr>
      </p:sp>
      <p:sp>
        <p:nvSpPr>
          <p:cNvPr id="17" name="Text 15"/>
          <p:cNvSpPr/>
          <p:nvPr/>
        </p:nvSpPr>
        <p:spPr>
          <a:xfrm>
            <a:off x="932688" y="3209544"/>
            <a:ext cx="2020824" cy="164592"/>
          </a:xfrm>
          <a:prstGeom prst="rect">
            <a:avLst/>
          </a:prstGeom>
          <a:noFill/>
          <a:ln/>
        </p:spPr>
        <p:txBody>
          <a:bodyPr wrap="square" lIns="0" tIns="0" rIns="0" bIns="0" rtlCol="0" anchor="ctr">
            <a:normAutofit/>
          </a:bodyPr>
          <a:lstStyle/>
          <a:p>
            <a:pPr algn="ctr" indent="0" marL="0">
              <a:buNone/>
            </a:pPr>
            <a:r>
              <a:rPr lang="en-US" sz="860" b="1" dirty="0">
                <a:solidFill>
                  <a:srgbClr val="0078D4"/>
                </a:solidFill>
                <a:latin typeface="Segoe UI Semibold" pitchFamily="34" charset="0"/>
                <a:ea typeface="Segoe UI Semibold" pitchFamily="34" charset="-122"/>
                <a:cs typeface="Segoe UI Semibold" pitchFamily="34" charset="-120"/>
              </a:rPr>
              <a:t>RAPP workshop</a:t>
            </a:r>
            <a:endParaRPr lang="en-US" sz="860" dirty="0"/>
          </a:p>
        </p:txBody>
      </p:sp>
      <p:sp>
        <p:nvSpPr>
          <p:cNvPr id="18" name="Text 16"/>
          <p:cNvSpPr/>
          <p:nvPr/>
        </p:nvSpPr>
        <p:spPr>
          <a:xfrm>
            <a:off x="3246120" y="3136392"/>
            <a:ext cx="5486400" cy="210312"/>
          </a:xfrm>
          <a:prstGeom prst="rect">
            <a:avLst/>
          </a:prstGeom>
          <a:noFill/>
          <a:ln/>
        </p:spPr>
        <p:txBody>
          <a:bodyPr wrap="square" lIns="0" tIns="0" rIns="0" bIns="0" rtlCol="0" anchor="ctr">
            <a:normAutofit/>
          </a:bodyPr>
          <a:lstStyle/>
          <a:p>
            <a:pPr algn="ctr" indent="0" marL="0">
              <a:buNone/>
            </a:pPr>
            <a:r>
              <a:rPr lang="en-US" sz="1080" dirty="0">
                <a:solidFill>
                  <a:srgbClr val="3B3A39"/>
                </a:solidFill>
                <a:latin typeface="Segoe UI" pitchFamily="34" charset="0"/>
                <a:ea typeface="Segoe UI" pitchFamily="34" charset="-122"/>
                <a:cs typeface="Segoe UI" pitchFamily="34" charset="-120"/>
              </a:rPr>
              <a:t>Evidence upload  |  MVP confirmation  |  agent generation  |  deploy + test</a:t>
            </a:r>
            <a:endParaRPr lang="en-US" sz="1080" dirty="0"/>
          </a:p>
        </p:txBody>
      </p:sp>
      <p:sp>
        <p:nvSpPr>
          <p:cNvPr id="19" name="Text 17"/>
          <p:cNvSpPr/>
          <p:nvPr/>
        </p:nvSpPr>
        <p:spPr>
          <a:xfrm>
            <a:off x="8915400" y="3118104"/>
            <a:ext cx="2194560" cy="228600"/>
          </a:xfrm>
          <a:prstGeom prst="rect">
            <a:avLst/>
          </a:prstGeom>
          <a:noFill/>
          <a:ln/>
        </p:spPr>
        <p:txBody>
          <a:bodyPr wrap="square" lIns="0" tIns="0" rIns="0" bIns="0" rtlCol="0" anchor="ctr">
            <a:normAutofit/>
          </a:bodyPr>
          <a:lstStyle/>
          <a:p>
            <a:pPr algn="ctr" indent="0" marL="0">
              <a:buNone/>
            </a:pPr>
            <a:r>
              <a:rPr lang="en-US" sz="980" b="1" dirty="0">
                <a:solidFill>
                  <a:srgbClr val="0078D4"/>
                </a:solidFill>
                <a:latin typeface="Segoe UI Semibold" pitchFamily="34" charset="0"/>
                <a:ea typeface="Segoe UI Semibold" pitchFamily="34" charset="-122"/>
                <a:cs typeface="Segoe UI Semibold" pitchFamily="34" charset="-120"/>
              </a:rPr>
              <a:t>Prototype + evidence package</a:t>
            </a:r>
            <a:endParaRPr lang="en-US" sz="980" dirty="0"/>
          </a:p>
        </p:txBody>
      </p:sp>
      <p:sp>
        <p:nvSpPr>
          <p:cNvPr id="20" name="Shape 18"/>
          <p:cNvSpPr/>
          <p:nvPr/>
        </p:nvSpPr>
        <p:spPr>
          <a:xfrm>
            <a:off x="640080" y="3986784"/>
            <a:ext cx="10899648" cy="804672"/>
          </a:xfrm>
          <a:prstGeom prst="roundRect">
            <a:avLst/>
          </a:prstGeom>
          <a:solidFill>
            <a:srgbClr val="FFFFFF"/>
          </a:solidFill>
          <a:ln w="12700">
            <a:solidFill>
              <a:srgbClr val="8661C5"/>
            </a:solidFill>
            <a:prstDash val="solid"/>
          </a:ln>
          <a:effectLst>
            <a:outerShdw sx="100000" sy="100000" kx="0" ky="0" algn="bl" rotWithShape="0" blurRad="63500" dist="50800" dir="8100000">
              <a:srgbClr val="000000">
                <a:alpha val="12000"/>
              </a:srgbClr>
            </a:outerShdw>
          </a:effectLst>
        </p:spPr>
      </p:sp>
      <p:sp>
        <p:nvSpPr>
          <p:cNvPr id="21" name="Shape 19"/>
          <p:cNvSpPr/>
          <p:nvPr/>
        </p:nvSpPr>
        <p:spPr>
          <a:xfrm>
            <a:off x="868680" y="4233672"/>
            <a:ext cx="2148840" cy="310896"/>
          </a:xfrm>
          <a:prstGeom prst="roundRect">
            <a:avLst/>
          </a:prstGeom>
          <a:solidFill>
            <a:srgbClr val="EDE7F6"/>
          </a:solidFill>
          <a:ln w="12700">
            <a:solidFill>
              <a:srgbClr val="EDE7F6">
                <a:alpha val="0"/>
              </a:srgbClr>
            </a:solidFill>
            <a:prstDash val="solid"/>
          </a:ln>
        </p:spPr>
      </p:sp>
      <p:sp>
        <p:nvSpPr>
          <p:cNvPr id="22" name="Text 20"/>
          <p:cNvSpPr/>
          <p:nvPr/>
        </p:nvSpPr>
        <p:spPr>
          <a:xfrm>
            <a:off x="932688" y="4288536"/>
            <a:ext cx="2020824" cy="164592"/>
          </a:xfrm>
          <a:prstGeom prst="rect">
            <a:avLst/>
          </a:prstGeom>
          <a:noFill/>
          <a:ln/>
        </p:spPr>
        <p:txBody>
          <a:bodyPr wrap="square" lIns="0" tIns="0" rIns="0" bIns="0" rtlCol="0" anchor="ctr">
            <a:normAutofit/>
          </a:bodyPr>
          <a:lstStyle/>
          <a:p>
            <a:pPr algn="ctr" indent="0" marL="0">
              <a:buNone/>
            </a:pPr>
            <a:r>
              <a:rPr lang="en-US" sz="860" b="1" dirty="0">
                <a:solidFill>
                  <a:srgbClr val="8661C5"/>
                </a:solidFill>
                <a:latin typeface="Segoe UI Semibold" pitchFamily="34" charset="0"/>
                <a:ea typeface="Segoe UI Semibold" pitchFamily="34" charset="-122"/>
                <a:cs typeface="Segoe UI Semibold" pitchFamily="34" charset="-120"/>
              </a:rPr>
              <a:t>Partner / delivery team</a:t>
            </a:r>
            <a:endParaRPr lang="en-US" sz="860" dirty="0"/>
          </a:p>
        </p:txBody>
      </p:sp>
      <p:sp>
        <p:nvSpPr>
          <p:cNvPr id="23" name="Text 21"/>
          <p:cNvSpPr/>
          <p:nvPr/>
        </p:nvSpPr>
        <p:spPr>
          <a:xfrm>
            <a:off x="3246120" y="4215384"/>
            <a:ext cx="5486400" cy="210312"/>
          </a:xfrm>
          <a:prstGeom prst="rect">
            <a:avLst/>
          </a:prstGeom>
          <a:noFill/>
          <a:ln/>
        </p:spPr>
        <p:txBody>
          <a:bodyPr wrap="square" lIns="0" tIns="0" rIns="0" bIns="0" rtlCol="0" anchor="ctr">
            <a:normAutofit/>
          </a:bodyPr>
          <a:lstStyle/>
          <a:p>
            <a:pPr algn="ctr" indent="0" marL="0">
              <a:buNone/>
            </a:pPr>
            <a:r>
              <a:rPr lang="en-US" sz="1080" dirty="0">
                <a:solidFill>
                  <a:srgbClr val="3B3A39"/>
                </a:solidFill>
                <a:latin typeface="Segoe UI" pitchFamily="34" charset="0"/>
                <a:ea typeface="Segoe UI" pitchFamily="34" charset="-122"/>
                <a:cs typeface="Segoe UI" pitchFamily="34" charset="-120"/>
              </a:rPr>
              <a:t>Integration design  |  operating model  |  change plan  |  production backlog</a:t>
            </a:r>
            <a:endParaRPr lang="en-US" sz="1080" dirty="0"/>
          </a:p>
        </p:txBody>
      </p:sp>
      <p:sp>
        <p:nvSpPr>
          <p:cNvPr id="24" name="Text 22"/>
          <p:cNvSpPr/>
          <p:nvPr/>
        </p:nvSpPr>
        <p:spPr>
          <a:xfrm>
            <a:off x="8915400" y="4197096"/>
            <a:ext cx="2194560" cy="228600"/>
          </a:xfrm>
          <a:prstGeom prst="rect">
            <a:avLst/>
          </a:prstGeom>
          <a:noFill/>
          <a:ln/>
        </p:spPr>
        <p:txBody>
          <a:bodyPr wrap="square" lIns="0" tIns="0" rIns="0" bIns="0" rtlCol="0" anchor="ctr">
            <a:normAutofit/>
          </a:bodyPr>
          <a:lstStyle/>
          <a:p>
            <a:pPr algn="ctr" indent="0" marL="0">
              <a:buNone/>
            </a:pPr>
            <a:r>
              <a:rPr lang="en-US" sz="980" b="1" dirty="0">
                <a:solidFill>
                  <a:srgbClr val="8661C5"/>
                </a:solidFill>
                <a:latin typeface="Segoe UI Semibold" pitchFamily="34" charset="0"/>
                <a:ea typeface="Segoe UI Semibold" pitchFamily="34" charset="-122"/>
                <a:cs typeface="Segoe UI Semibold" pitchFamily="34" charset="-120"/>
              </a:rPr>
              <a:t>Scale and implementation plan</a:t>
            </a:r>
            <a:endParaRPr lang="en-US" sz="980" dirty="0"/>
          </a:p>
        </p:txBody>
      </p:sp>
      <p:sp>
        <p:nvSpPr>
          <p:cNvPr id="25" name="Shape 23"/>
          <p:cNvSpPr/>
          <p:nvPr/>
        </p:nvSpPr>
        <p:spPr>
          <a:xfrm>
            <a:off x="640080" y="5065776"/>
            <a:ext cx="10899648" cy="804672"/>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26" name="Shape 24"/>
          <p:cNvSpPr/>
          <p:nvPr/>
        </p:nvSpPr>
        <p:spPr>
          <a:xfrm>
            <a:off x="868680" y="5312664"/>
            <a:ext cx="2148840" cy="310896"/>
          </a:xfrm>
          <a:prstGeom prst="roundRect">
            <a:avLst/>
          </a:prstGeom>
          <a:solidFill>
            <a:srgbClr val="DFF6DD"/>
          </a:solidFill>
          <a:ln w="12700">
            <a:solidFill>
              <a:srgbClr val="DFF6DD">
                <a:alpha val="0"/>
              </a:srgbClr>
            </a:solidFill>
            <a:prstDash val="solid"/>
          </a:ln>
        </p:spPr>
      </p:sp>
      <p:sp>
        <p:nvSpPr>
          <p:cNvPr id="27" name="Text 25"/>
          <p:cNvSpPr/>
          <p:nvPr/>
        </p:nvSpPr>
        <p:spPr>
          <a:xfrm>
            <a:off x="932688" y="5367528"/>
            <a:ext cx="2020824" cy="164592"/>
          </a:xfrm>
          <a:prstGeom prst="rect">
            <a:avLst/>
          </a:prstGeom>
          <a:noFill/>
          <a:ln/>
        </p:spPr>
        <p:txBody>
          <a:bodyPr wrap="square" lIns="0" tIns="0" rIns="0" bIns="0" rtlCol="0" anchor="ctr">
            <a:normAutofit/>
          </a:bodyPr>
          <a:lstStyle/>
          <a:p>
            <a:pPr algn="ctr" indent="0" marL="0">
              <a:buNone/>
            </a:pPr>
            <a:r>
              <a:rPr lang="en-US" sz="860" b="1" dirty="0">
                <a:solidFill>
                  <a:srgbClr val="107C10"/>
                </a:solidFill>
                <a:latin typeface="Segoe UI Semibold" pitchFamily="34" charset="0"/>
                <a:ea typeface="Segoe UI Semibold" pitchFamily="34" charset="-122"/>
                <a:cs typeface="Segoe UI Semibold" pitchFamily="34" charset="-120"/>
              </a:rPr>
              <a:t>Customer owners</a:t>
            </a:r>
            <a:endParaRPr lang="en-US" sz="860" dirty="0"/>
          </a:p>
        </p:txBody>
      </p:sp>
      <p:sp>
        <p:nvSpPr>
          <p:cNvPr id="28" name="Text 26"/>
          <p:cNvSpPr/>
          <p:nvPr/>
        </p:nvSpPr>
        <p:spPr>
          <a:xfrm>
            <a:off x="3246120" y="5294376"/>
            <a:ext cx="5486400" cy="210312"/>
          </a:xfrm>
          <a:prstGeom prst="rect">
            <a:avLst/>
          </a:prstGeom>
          <a:noFill/>
          <a:ln/>
        </p:spPr>
        <p:txBody>
          <a:bodyPr wrap="square" lIns="0" tIns="0" rIns="0" bIns="0" rtlCol="0" anchor="ctr">
            <a:normAutofit/>
          </a:bodyPr>
          <a:lstStyle/>
          <a:p>
            <a:pPr algn="ctr" indent="0" marL="0">
              <a:buNone/>
            </a:pPr>
            <a:r>
              <a:rPr lang="en-US" sz="1080" dirty="0">
                <a:solidFill>
                  <a:srgbClr val="3B3A39"/>
                </a:solidFill>
                <a:latin typeface="Segoe UI" pitchFamily="34" charset="0"/>
                <a:ea typeface="Segoe UI" pitchFamily="34" charset="-122"/>
                <a:cs typeface="Segoe UI" pitchFamily="34" charset="-120"/>
              </a:rPr>
              <a:t>Provide evidence  |  approve MVP  |  validate behavior  |  own go-live decisions</a:t>
            </a:r>
            <a:endParaRPr lang="en-US" sz="1080" dirty="0"/>
          </a:p>
        </p:txBody>
      </p:sp>
      <p:sp>
        <p:nvSpPr>
          <p:cNvPr id="29" name="Text 27"/>
          <p:cNvSpPr/>
          <p:nvPr/>
        </p:nvSpPr>
        <p:spPr>
          <a:xfrm>
            <a:off x="8915400" y="5276088"/>
            <a:ext cx="2194560" cy="228600"/>
          </a:xfrm>
          <a:prstGeom prst="rect">
            <a:avLst/>
          </a:prstGeom>
          <a:noFill/>
          <a:ln/>
        </p:spPr>
        <p:txBody>
          <a:bodyPr wrap="square" lIns="0" tIns="0" rIns="0" bIns="0" rtlCol="0" anchor="ctr">
            <a:normAutofit/>
          </a:bodyPr>
          <a:lstStyle/>
          <a:p>
            <a:pPr algn="ctr" indent="0" marL="0">
              <a:buNone/>
            </a:pPr>
            <a:r>
              <a:rPr lang="en-US" sz="980" b="1" dirty="0">
                <a:solidFill>
                  <a:srgbClr val="107C10"/>
                </a:solidFill>
                <a:latin typeface="Segoe UI Semibold" pitchFamily="34" charset="0"/>
                <a:ea typeface="Segoe UI Semibold" pitchFamily="34" charset="-122"/>
                <a:cs typeface="Segoe UI Semibold" pitchFamily="34" charset="-120"/>
              </a:rPr>
              <a:t>Decisions + accountable owner</a:t>
            </a:r>
            <a:endParaRPr lang="en-US" sz="980" dirty="0"/>
          </a:p>
        </p:txBody>
      </p:sp>
      <p:sp>
        <p:nvSpPr>
          <p:cNvPr id="30" name="Text 28"/>
          <p:cNvSpPr/>
          <p:nvPr/>
        </p:nvSpPr>
        <p:spPr>
          <a:xfrm>
            <a:off x="658368" y="6080760"/>
            <a:ext cx="1828800" cy="182880"/>
          </a:xfrm>
          <a:prstGeom prst="rect">
            <a:avLst/>
          </a:prstGeom>
          <a:noFill/>
          <a:ln/>
        </p:spPr>
        <p:txBody>
          <a:bodyPr wrap="square" lIns="0" tIns="0" rIns="0" bIns="0" rtlCol="0" anchor="ctr"/>
          <a:lstStyle/>
          <a:p>
            <a:pPr indent="0" marL="0">
              <a:buNone/>
            </a:pPr>
            <a:r>
              <a:rPr lang="en-US" sz="950" b="1" spc="100" kern="0" dirty="0">
                <a:solidFill>
                  <a:srgbClr val="605E5C"/>
                </a:solidFill>
                <a:latin typeface="Segoe UI Semibold" pitchFamily="34" charset="0"/>
                <a:ea typeface="Segoe UI Semibold" pitchFamily="34" charset="-122"/>
                <a:cs typeface="Segoe UI Semibold" pitchFamily="34" charset="-120"/>
              </a:rPr>
              <a:t>SHARE WITH PILOT LEADS</a:t>
            </a:r>
            <a:endParaRPr lang="en-US" sz="950" dirty="0"/>
          </a:p>
        </p:txBody>
      </p:sp>
      <p:sp>
        <p:nvSpPr>
          <p:cNvPr id="31" name="Text 29"/>
          <p:cNvSpPr/>
          <p:nvPr/>
        </p:nvSpPr>
        <p:spPr>
          <a:xfrm>
            <a:off x="2651760" y="6053328"/>
            <a:ext cx="5760720" cy="228600"/>
          </a:xfrm>
          <a:prstGeom prst="rect">
            <a:avLst/>
          </a:prstGeom>
          <a:noFill/>
          <a:ln/>
        </p:spPr>
        <p:txBody>
          <a:bodyPr wrap="square" lIns="0" tIns="0" rIns="0" bIns="0" rtlCol="0" anchor="ctr"/>
          <a:lstStyle/>
          <a:p>
            <a:pPr indent="0" marL="0">
              <a:buNone/>
            </a:pPr>
            <a:r>
              <a:rPr lang="en-US" sz="1080" b="1" dirty="0">
                <a:solidFill>
                  <a:srgbClr val="103A6B"/>
                </a:solidFill>
                <a:latin typeface="Segoe UI Semibold" pitchFamily="34" charset="0"/>
                <a:ea typeface="Segoe UI Semibold" pitchFamily="34" charset="-122"/>
                <a:cs typeface="Segoe UI Semibold" pitchFamily="34" charset="-120"/>
              </a:rPr>
              <a:t>This deck  |  pre-survey  |  scenario brief  |  RAPP output checklist</a:t>
            </a:r>
            <a:endParaRPr lang="en-US" sz="1080" dirty="0"/>
          </a:p>
        </p:txBody>
      </p:sp>
      <p:sp>
        <p:nvSpPr>
          <p:cNvPr id="32" name="Text 30"/>
          <p:cNvSpPr/>
          <p:nvPr/>
        </p:nvSpPr>
        <p:spPr>
          <a:xfrm>
            <a:off x="8595360" y="6053328"/>
            <a:ext cx="2880360" cy="228600"/>
          </a:xfrm>
          <a:prstGeom prst="rect">
            <a:avLst/>
          </a:prstGeom>
          <a:noFill/>
          <a:ln/>
        </p:spPr>
        <p:txBody>
          <a:bodyPr wrap="square" lIns="0" tIns="0" rIns="0" bIns="0" rtlCol="0" anchor="ctr"/>
          <a:lstStyle/>
          <a:p>
            <a:pPr algn="r" indent="0" marL="0">
              <a:buNone/>
            </a:pPr>
            <a:r>
              <a:rPr lang="en-US" sz="980" dirty="0">
                <a:solidFill>
                  <a:srgbClr val="605E5C"/>
                </a:solidFill>
                <a:latin typeface="Segoe UI" pitchFamily="34" charset="0"/>
                <a:ea typeface="Segoe UI" pitchFamily="34" charset="-122"/>
                <a:cs typeface="Segoe UI" pitchFamily="34" charset="-120"/>
              </a:rPr>
              <a:t>Confirm boundaries before each customer cohort.</a:t>
            </a:r>
            <a:endParaRPr lang="en-US" sz="980" dirty="0"/>
          </a:p>
        </p:txBody>
      </p:sp>
      <p:sp>
        <p:nvSpPr>
          <p:cNvPr id="33" name="Text 31"/>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Appendix  |  20</a:t>
            </a:r>
            <a:endParaRPr lang="en-US" sz="8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3"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4"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5"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6"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7" name="Shape 5"/>
          <p:cNvSpPr/>
          <p:nvPr/>
        </p:nvSpPr>
        <p:spPr>
          <a:xfrm>
            <a:off x="566928" y="822960"/>
            <a:ext cx="155448" cy="41148"/>
          </a:xfrm>
          <a:prstGeom prst="rect">
            <a:avLst/>
          </a:prstGeom>
          <a:solidFill>
            <a:srgbClr val="103A6B"/>
          </a:solidFill>
          <a:ln w="12700">
            <a:solidFill>
              <a:srgbClr val="103A6B">
                <a:alpha val="0"/>
              </a:srgbClr>
            </a:solidFill>
            <a:prstDash val="solid"/>
          </a:ln>
        </p:spPr>
      </p:sp>
      <p:sp>
        <p:nvSpPr>
          <p:cNvPr id="8"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103A6B"/>
                </a:solidFill>
                <a:latin typeface="Segoe UI Semibold" pitchFamily="34" charset="0"/>
                <a:ea typeface="Segoe UI Semibold" pitchFamily="34" charset="-122"/>
                <a:cs typeface="Segoe UI Semibold" pitchFamily="34" charset="-120"/>
              </a:rPr>
              <a:t>FACILITATOR APPENDIX</a:t>
            </a:r>
            <a:endParaRPr lang="en-US" sz="900" dirty="0"/>
          </a:p>
        </p:txBody>
      </p:sp>
      <p:sp>
        <p:nvSpPr>
          <p:cNvPr id="9" name="Text 7"/>
          <p:cNvSpPr/>
          <p:nvPr/>
        </p:nvSpPr>
        <p:spPr>
          <a:xfrm>
            <a:off x="566928" y="1033272"/>
            <a:ext cx="10972800" cy="749808"/>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Fast recovery without losing the room.</a:t>
            </a:r>
            <a:endParaRPr lang="en-US" sz="2800" dirty="0"/>
          </a:p>
        </p:txBody>
      </p:sp>
      <p:sp>
        <p:nvSpPr>
          <p:cNvPr id="10" name="Shape 8"/>
          <p:cNvSpPr/>
          <p:nvPr/>
        </p:nvSpPr>
        <p:spPr>
          <a:xfrm>
            <a:off x="640080" y="1737360"/>
            <a:ext cx="3063240" cy="1627632"/>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11" name="Shape 9"/>
          <p:cNvSpPr/>
          <p:nvPr/>
        </p:nvSpPr>
        <p:spPr>
          <a:xfrm>
            <a:off x="868680" y="1965960"/>
            <a:ext cx="1737360" cy="310896"/>
          </a:xfrm>
          <a:prstGeom prst="roundRect">
            <a:avLst/>
          </a:prstGeom>
          <a:solidFill>
            <a:srgbClr val="F9E3DB"/>
          </a:solidFill>
          <a:ln w="12700">
            <a:solidFill>
              <a:srgbClr val="F9E3DB">
                <a:alpha val="0"/>
              </a:srgbClr>
            </a:solidFill>
            <a:prstDash val="solid"/>
          </a:ln>
        </p:spPr>
      </p:sp>
      <p:sp>
        <p:nvSpPr>
          <p:cNvPr id="12" name="Text 10"/>
          <p:cNvSpPr/>
          <p:nvPr/>
        </p:nvSpPr>
        <p:spPr>
          <a:xfrm>
            <a:off x="932688" y="2020824"/>
            <a:ext cx="1609344" cy="164592"/>
          </a:xfrm>
          <a:prstGeom prst="rect">
            <a:avLst/>
          </a:prstGeom>
          <a:noFill/>
          <a:ln/>
        </p:spPr>
        <p:txBody>
          <a:bodyPr wrap="square" lIns="0" tIns="0" rIns="0" bIns="0" rtlCol="0" anchor="ctr">
            <a:normAutofit/>
          </a:bodyPr>
          <a:lstStyle/>
          <a:p>
            <a:pPr algn="ctr" indent="0" marL="0">
              <a:buNone/>
            </a:pPr>
            <a:r>
              <a:rPr lang="en-US" sz="850" b="1" dirty="0">
                <a:solidFill>
                  <a:srgbClr val="D83B01"/>
                </a:solidFill>
                <a:latin typeface="Segoe UI Semibold" pitchFamily="34" charset="0"/>
                <a:ea typeface="Segoe UI Semibold" pitchFamily="34" charset="-122"/>
                <a:cs typeface="Segoe UI Semibold" pitchFamily="34" charset="-120"/>
              </a:rPr>
              <a:t>WRONG MVP</a:t>
            </a:r>
            <a:endParaRPr lang="en-US" sz="850" dirty="0"/>
          </a:p>
        </p:txBody>
      </p:sp>
      <p:sp>
        <p:nvSpPr>
          <p:cNvPr id="13" name="Text 11"/>
          <p:cNvSpPr/>
          <p:nvPr/>
        </p:nvSpPr>
        <p:spPr>
          <a:xfrm>
            <a:off x="896112" y="2496312"/>
            <a:ext cx="2542032" cy="530352"/>
          </a:xfrm>
          <a:prstGeom prst="rect">
            <a:avLst/>
          </a:prstGeom>
          <a:noFill/>
          <a:ln/>
        </p:spPr>
        <p:txBody>
          <a:bodyPr wrap="square" lIns="0" tIns="0" rIns="0" bIns="0" rtlCol="0" anchor="ctr">
            <a:normAutofit/>
          </a:bodyPr>
          <a:lstStyle/>
          <a:p>
            <a:pPr indent="0" marL="0">
              <a:buNone/>
            </a:pPr>
            <a:r>
              <a:rPr lang="en-US" sz="1050" dirty="0">
                <a:solidFill>
                  <a:srgbClr val="3B3A39"/>
                </a:solidFill>
                <a:latin typeface="Segoe UI" pitchFamily="34" charset="0"/>
                <a:ea typeface="Segoe UI" pitchFamily="34" charset="-122"/>
                <a:cs typeface="Segoe UI" pitchFamily="34" charset="-120"/>
              </a:rPr>
              <a:t>Edit the title or statement. Re-derive only after changing the source.</a:t>
            </a:r>
            <a:endParaRPr lang="en-US" sz="1050" dirty="0"/>
          </a:p>
        </p:txBody>
      </p:sp>
      <p:sp>
        <p:nvSpPr>
          <p:cNvPr id="14" name="Shape 12"/>
          <p:cNvSpPr/>
          <p:nvPr/>
        </p:nvSpPr>
        <p:spPr>
          <a:xfrm>
            <a:off x="4069080" y="1737360"/>
            <a:ext cx="3063240" cy="1627632"/>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15" name="Shape 13"/>
          <p:cNvSpPr/>
          <p:nvPr/>
        </p:nvSpPr>
        <p:spPr>
          <a:xfrm>
            <a:off x="4297680" y="1965960"/>
            <a:ext cx="1737360" cy="310896"/>
          </a:xfrm>
          <a:prstGeom prst="roundRect">
            <a:avLst/>
          </a:prstGeom>
          <a:solidFill>
            <a:srgbClr val="DCEEFF"/>
          </a:solidFill>
          <a:ln w="12700">
            <a:solidFill>
              <a:srgbClr val="DCEEFF">
                <a:alpha val="0"/>
              </a:srgbClr>
            </a:solidFill>
            <a:prstDash val="solid"/>
          </a:ln>
        </p:spPr>
      </p:sp>
      <p:sp>
        <p:nvSpPr>
          <p:cNvPr id="16" name="Text 14"/>
          <p:cNvSpPr/>
          <p:nvPr/>
        </p:nvSpPr>
        <p:spPr>
          <a:xfrm>
            <a:off x="4361688" y="2020824"/>
            <a:ext cx="1609344" cy="164592"/>
          </a:xfrm>
          <a:prstGeom prst="rect">
            <a:avLst/>
          </a:prstGeom>
          <a:noFill/>
          <a:ln/>
        </p:spPr>
        <p:txBody>
          <a:bodyPr wrap="square" lIns="0" tIns="0" rIns="0" bIns="0" rtlCol="0" anchor="ctr">
            <a:normAutofit/>
          </a:bodyPr>
          <a:lstStyle/>
          <a:p>
            <a:pPr algn="ctr" indent="0" marL="0">
              <a:buNone/>
            </a:pPr>
            <a:r>
              <a:rPr lang="en-US" sz="850" b="1" dirty="0">
                <a:solidFill>
                  <a:srgbClr val="0078D4"/>
                </a:solidFill>
                <a:latin typeface="Segoe UI Semibold" pitchFamily="34" charset="0"/>
                <a:ea typeface="Segoe UI Semibold" pitchFamily="34" charset="-122"/>
                <a:cs typeface="Segoe UI Semibold" pitchFamily="34" charset="-120"/>
              </a:rPr>
              <a:t>NO ENVIRONMENT VISIBLE</a:t>
            </a:r>
            <a:endParaRPr lang="en-US" sz="850" dirty="0"/>
          </a:p>
        </p:txBody>
      </p:sp>
      <p:sp>
        <p:nvSpPr>
          <p:cNvPr id="17" name="Text 15"/>
          <p:cNvSpPr/>
          <p:nvPr/>
        </p:nvSpPr>
        <p:spPr>
          <a:xfrm>
            <a:off x="4325112" y="2496312"/>
            <a:ext cx="2542032" cy="530352"/>
          </a:xfrm>
          <a:prstGeom prst="rect">
            <a:avLst/>
          </a:prstGeom>
          <a:noFill/>
          <a:ln/>
        </p:spPr>
        <p:txBody>
          <a:bodyPr wrap="square" lIns="0" tIns="0" rIns="0" bIns="0" rtlCol="0" anchor="ctr">
            <a:normAutofit/>
          </a:bodyPr>
          <a:lstStyle/>
          <a:p>
            <a:pPr indent="0" marL="0">
              <a:buNone/>
            </a:pPr>
            <a:r>
              <a:rPr lang="en-US" sz="1050" dirty="0">
                <a:solidFill>
                  <a:srgbClr val="3B3A39"/>
                </a:solidFill>
                <a:latin typeface="Segoe UI" pitchFamily="34" charset="0"/>
                <a:ea typeface="Segoe UI" pitchFamily="34" charset="-122"/>
                <a:cs typeface="Segoe UI" pitchFamily="34" charset="-120"/>
              </a:rPr>
              <a:t>Check tenant and maker access. Pair the participant while access is fixed.</a:t>
            </a:r>
            <a:endParaRPr lang="en-US" sz="1050" dirty="0"/>
          </a:p>
        </p:txBody>
      </p:sp>
      <p:sp>
        <p:nvSpPr>
          <p:cNvPr id="18" name="Shape 16"/>
          <p:cNvSpPr/>
          <p:nvPr/>
        </p:nvSpPr>
        <p:spPr>
          <a:xfrm>
            <a:off x="7498080" y="1737360"/>
            <a:ext cx="3063240" cy="1627632"/>
          </a:xfrm>
          <a:prstGeom prst="roundRect">
            <a:avLst/>
          </a:prstGeom>
          <a:solidFill>
            <a:srgbClr val="FFFFFF"/>
          </a:solidFill>
          <a:ln w="12700">
            <a:solidFill>
              <a:srgbClr val="A4262C"/>
            </a:solidFill>
            <a:prstDash val="solid"/>
          </a:ln>
          <a:effectLst>
            <a:outerShdw sx="100000" sy="100000" kx="0" ky="0" algn="bl" rotWithShape="0" blurRad="63500" dist="50800" dir="8100000">
              <a:srgbClr val="000000">
                <a:alpha val="12000"/>
              </a:srgbClr>
            </a:outerShdw>
          </a:effectLst>
        </p:spPr>
      </p:sp>
      <p:sp>
        <p:nvSpPr>
          <p:cNvPr id="19" name="Shape 17"/>
          <p:cNvSpPr/>
          <p:nvPr/>
        </p:nvSpPr>
        <p:spPr>
          <a:xfrm>
            <a:off x="7726680" y="1965960"/>
            <a:ext cx="1737360" cy="310896"/>
          </a:xfrm>
          <a:prstGeom prst="roundRect">
            <a:avLst/>
          </a:prstGeom>
          <a:solidFill>
            <a:srgbClr val="FDE7E9"/>
          </a:solidFill>
          <a:ln w="12700">
            <a:solidFill>
              <a:srgbClr val="FDE7E9">
                <a:alpha val="0"/>
              </a:srgbClr>
            </a:solidFill>
            <a:prstDash val="solid"/>
          </a:ln>
        </p:spPr>
      </p:sp>
      <p:sp>
        <p:nvSpPr>
          <p:cNvPr id="20" name="Text 18"/>
          <p:cNvSpPr/>
          <p:nvPr/>
        </p:nvSpPr>
        <p:spPr>
          <a:xfrm>
            <a:off x="7790688" y="2020824"/>
            <a:ext cx="1609344" cy="164592"/>
          </a:xfrm>
          <a:prstGeom prst="rect">
            <a:avLst/>
          </a:prstGeom>
          <a:noFill/>
          <a:ln/>
        </p:spPr>
        <p:txBody>
          <a:bodyPr wrap="square" lIns="0" tIns="0" rIns="0" bIns="0" rtlCol="0" anchor="ctr">
            <a:normAutofit/>
          </a:bodyPr>
          <a:lstStyle/>
          <a:p>
            <a:pPr algn="ctr" indent="0" marL="0">
              <a:buNone/>
            </a:pPr>
            <a:r>
              <a:rPr lang="en-US" sz="850" b="1" dirty="0">
                <a:solidFill>
                  <a:srgbClr val="A4262C"/>
                </a:solidFill>
                <a:latin typeface="Segoe UI Semibold" pitchFamily="34" charset="0"/>
                <a:ea typeface="Segoe UI Semibold" pitchFamily="34" charset="-122"/>
                <a:cs typeface="Segoe UI Semibold" pitchFamily="34" charset="-120"/>
              </a:rPr>
              <a:t>GENERATION FAILS</a:t>
            </a:r>
            <a:endParaRPr lang="en-US" sz="850" dirty="0"/>
          </a:p>
        </p:txBody>
      </p:sp>
      <p:sp>
        <p:nvSpPr>
          <p:cNvPr id="21" name="Text 19"/>
          <p:cNvSpPr/>
          <p:nvPr/>
        </p:nvSpPr>
        <p:spPr>
          <a:xfrm>
            <a:off x="7754112" y="2496312"/>
            <a:ext cx="2542032" cy="530352"/>
          </a:xfrm>
          <a:prstGeom prst="rect">
            <a:avLst/>
          </a:prstGeom>
          <a:noFill/>
          <a:ln/>
        </p:spPr>
        <p:txBody>
          <a:bodyPr wrap="square" lIns="0" tIns="0" rIns="0" bIns="0" rtlCol="0" anchor="ctr">
            <a:normAutofit/>
          </a:bodyPr>
          <a:lstStyle/>
          <a:p>
            <a:pPr indent="0" marL="0">
              <a:buNone/>
            </a:pPr>
            <a:r>
              <a:rPr lang="en-US" sz="1050" dirty="0">
                <a:solidFill>
                  <a:srgbClr val="3B3A39"/>
                </a:solidFill>
                <a:latin typeface="Segoe UI" pitchFamily="34" charset="0"/>
                <a:ea typeface="Segoe UI" pitchFamily="34" charset="-122"/>
                <a:cs typeface="Segoe UI" pitchFamily="34" charset="-120"/>
              </a:rPr>
              <a:t>Verify sign-in, file type, file size, and that at least one document is present.</a:t>
            </a:r>
            <a:endParaRPr lang="en-US" sz="1050" dirty="0"/>
          </a:p>
        </p:txBody>
      </p:sp>
      <p:sp>
        <p:nvSpPr>
          <p:cNvPr id="22" name="Shape 20"/>
          <p:cNvSpPr/>
          <p:nvPr/>
        </p:nvSpPr>
        <p:spPr>
          <a:xfrm>
            <a:off x="640080" y="3886200"/>
            <a:ext cx="3063240" cy="1627632"/>
          </a:xfrm>
          <a:prstGeom prst="roundRect">
            <a:avLst/>
          </a:prstGeom>
          <a:solidFill>
            <a:srgbClr val="FFFFFF"/>
          </a:solidFill>
          <a:ln w="12700">
            <a:solidFill>
              <a:srgbClr val="8661C5"/>
            </a:solidFill>
            <a:prstDash val="solid"/>
          </a:ln>
          <a:effectLst>
            <a:outerShdw sx="100000" sy="100000" kx="0" ky="0" algn="bl" rotWithShape="0" blurRad="63500" dist="50800" dir="8100000">
              <a:srgbClr val="000000">
                <a:alpha val="12000"/>
              </a:srgbClr>
            </a:outerShdw>
          </a:effectLst>
        </p:spPr>
      </p:sp>
      <p:sp>
        <p:nvSpPr>
          <p:cNvPr id="23" name="Shape 21"/>
          <p:cNvSpPr/>
          <p:nvPr/>
        </p:nvSpPr>
        <p:spPr>
          <a:xfrm>
            <a:off x="868680" y="4114800"/>
            <a:ext cx="1737360" cy="310896"/>
          </a:xfrm>
          <a:prstGeom prst="roundRect">
            <a:avLst/>
          </a:prstGeom>
          <a:solidFill>
            <a:srgbClr val="EDE7F6"/>
          </a:solidFill>
          <a:ln w="12700">
            <a:solidFill>
              <a:srgbClr val="EDE7F6">
                <a:alpha val="0"/>
              </a:srgbClr>
            </a:solidFill>
            <a:prstDash val="solid"/>
          </a:ln>
        </p:spPr>
      </p:sp>
      <p:sp>
        <p:nvSpPr>
          <p:cNvPr id="24" name="Text 22"/>
          <p:cNvSpPr/>
          <p:nvPr/>
        </p:nvSpPr>
        <p:spPr>
          <a:xfrm>
            <a:off x="932688" y="4169664"/>
            <a:ext cx="1609344" cy="164592"/>
          </a:xfrm>
          <a:prstGeom prst="rect">
            <a:avLst/>
          </a:prstGeom>
          <a:noFill/>
          <a:ln/>
        </p:spPr>
        <p:txBody>
          <a:bodyPr wrap="square" lIns="0" tIns="0" rIns="0" bIns="0" rtlCol="0" anchor="ctr">
            <a:normAutofit/>
          </a:bodyPr>
          <a:lstStyle/>
          <a:p>
            <a:pPr algn="ctr" indent="0" marL="0">
              <a:buNone/>
            </a:pPr>
            <a:r>
              <a:rPr lang="en-US" sz="850" b="1" dirty="0">
                <a:solidFill>
                  <a:srgbClr val="8661C5"/>
                </a:solidFill>
                <a:latin typeface="Segoe UI Semibold" pitchFamily="34" charset="0"/>
                <a:ea typeface="Segoe UI Semibold" pitchFamily="34" charset="-122"/>
                <a:cs typeface="Segoe UI Semibold" pitchFamily="34" charset="-120"/>
              </a:rPr>
              <a:t>LIVE CONNECTIONS</a:t>
            </a:r>
            <a:endParaRPr lang="en-US" sz="850" dirty="0"/>
          </a:p>
        </p:txBody>
      </p:sp>
      <p:sp>
        <p:nvSpPr>
          <p:cNvPr id="25" name="Text 23"/>
          <p:cNvSpPr/>
          <p:nvPr/>
        </p:nvSpPr>
        <p:spPr>
          <a:xfrm>
            <a:off x="896112" y="4645152"/>
            <a:ext cx="2542032" cy="530352"/>
          </a:xfrm>
          <a:prstGeom prst="rect">
            <a:avLst/>
          </a:prstGeom>
          <a:noFill/>
          <a:ln/>
        </p:spPr>
        <p:txBody>
          <a:bodyPr wrap="square" lIns="0" tIns="0" rIns="0" bIns="0" rtlCol="0" anchor="ctr">
            <a:normAutofit/>
          </a:bodyPr>
          <a:lstStyle/>
          <a:p>
            <a:pPr indent="0" marL="0">
              <a:buNone/>
            </a:pPr>
            <a:r>
              <a:rPr lang="en-US" sz="1050" dirty="0">
                <a:solidFill>
                  <a:srgbClr val="3B3A39"/>
                </a:solidFill>
                <a:latin typeface="Segoe UI" pitchFamily="34" charset="0"/>
                <a:ea typeface="Segoe UI" pitchFamily="34" charset="-122"/>
                <a:cs typeface="Segoe UI" pitchFamily="34" charset="-120"/>
              </a:rPr>
              <a:t>Bind connection references and turn flows on. Use the demo twin meanwhile.</a:t>
            </a:r>
            <a:endParaRPr lang="en-US" sz="1050" dirty="0"/>
          </a:p>
        </p:txBody>
      </p:sp>
      <p:sp>
        <p:nvSpPr>
          <p:cNvPr id="26" name="Shape 24"/>
          <p:cNvSpPr/>
          <p:nvPr/>
        </p:nvSpPr>
        <p:spPr>
          <a:xfrm>
            <a:off x="4069080" y="3886200"/>
            <a:ext cx="3063240" cy="1627632"/>
          </a:xfrm>
          <a:prstGeom prst="roundRect">
            <a:avLst/>
          </a:prstGeom>
          <a:solidFill>
            <a:srgbClr val="FFFFFF"/>
          </a:solidFill>
          <a:ln w="12700">
            <a:solidFill>
              <a:srgbClr val="103A6B"/>
            </a:solidFill>
            <a:prstDash val="solid"/>
          </a:ln>
          <a:effectLst>
            <a:outerShdw sx="100000" sy="100000" kx="0" ky="0" algn="bl" rotWithShape="0" blurRad="63500" dist="50800" dir="8100000">
              <a:srgbClr val="000000">
                <a:alpha val="12000"/>
              </a:srgbClr>
            </a:outerShdw>
          </a:effectLst>
        </p:spPr>
      </p:sp>
      <p:sp>
        <p:nvSpPr>
          <p:cNvPr id="27" name="Shape 25"/>
          <p:cNvSpPr/>
          <p:nvPr/>
        </p:nvSpPr>
        <p:spPr>
          <a:xfrm>
            <a:off x="4297680" y="4114800"/>
            <a:ext cx="1737360" cy="310896"/>
          </a:xfrm>
          <a:prstGeom prst="roundRect">
            <a:avLst/>
          </a:prstGeom>
          <a:solidFill>
            <a:srgbClr val="EAF4FD"/>
          </a:solidFill>
          <a:ln w="12700">
            <a:solidFill>
              <a:srgbClr val="EAF4FD">
                <a:alpha val="0"/>
              </a:srgbClr>
            </a:solidFill>
            <a:prstDash val="solid"/>
          </a:ln>
        </p:spPr>
      </p:sp>
      <p:sp>
        <p:nvSpPr>
          <p:cNvPr id="28" name="Text 26"/>
          <p:cNvSpPr/>
          <p:nvPr/>
        </p:nvSpPr>
        <p:spPr>
          <a:xfrm>
            <a:off x="4361688" y="4169664"/>
            <a:ext cx="1609344" cy="164592"/>
          </a:xfrm>
          <a:prstGeom prst="rect">
            <a:avLst/>
          </a:prstGeom>
          <a:noFill/>
          <a:ln/>
        </p:spPr>
        <p:txBody>
          <a:bodyPr wrap="square" lIns="0" tIns="0" rIns="0" bIns="0" rtlCol="0" anchor="ctr">
            <a:normAutofit/>
          </a:bodyPr>
          <a:lstStyle/>
          <a:p>
            <a:pPr algn="ctr" indent="0" marL="0">
              <a:buNone/>
            </a:pPr>
            <a:r>
              <a:rPr lang="en-US" sz="850" b="1" dirty="0">
                <a:solidFill>
                  <a:srgbClr val="103A6B"/>
                </a:solidFill>
                <a:latin typeface="Segoe UI Semibold" pitchFamily="34" charset="0"/>
                <a:ea typeface="Segoe UI Semibold" pitchFamily="34" charset="-122"/>
                <a:cs typeface="Segoe UI Semibold" pitchFamily="34" charset="-120"/>
              </a:rPr>
              <a:t>IMPORT STALLS</a:t>
            </a:r>
            <a:endParaRPr lang="en-US" sz="850" dirty="0"/>
          </a:p>
        </p:txBody>
      </p:sp>
      <p:sp>
        <p:nvSpPr>
          <p:cNvPr id="29" name="Text 27"/>
          <p:cNvSpPr/>
          <p:nvPr/>
        </p:nvSpPr>
        <p:spPr>
          <a:xfrm>
            <a:off x="4325112" y="4645152"/>
            <a:ext cx="2542032" cy="530352"/>
          </a:xfrm>
          <a:prstGeom prst="rect">
            <a:avLst/>
          </a:prstGeom>
          <a:noFill/>
          <a:ln/>
        </p:spPr>
        <p:txBody>
          <a:bodyPr wrap="square" lIns="0" tIns="0" rIns="0" bIns="0" rtlCol="0" anchor="ctr">
            <a:normAutofit/>
          </a:bodyPr>
          <a:lstStyle/>
          <a:p>
            <a:pPr indent="0" marL="0">
              <a:buNone/>
            </a:pPr>
            <a:r>
              <a:rPr lang="en-US" sz="1050" dirty="0">
                <a:solidFill>
                  <a:srgbClr val="3B3A39"/>
                </a:solidFill>
                <a:latin typeface="Segoe UI" pitchFamily="34" charset="0"/>
                <a:ea typeface="Segoe UI" pitchFamily="34" charset="-122"/>
                <a:cs typeface="Segoe UI" pitchFamily="34" charset="-120"/>
              </a:rPr>
              <a:t>Avoid concurrent solution imports. Wait for the current Dataverse job to finish.</a:t>
            </a:r>
            <a:endParaRPr lang="en-US" sz="1050" dirty="0"/>
          </a:p>
        </p:txBody>
      </p:sp>
      <p:sp>
        <p:nvSpPr>
          <p:cNvPr id="30" name="Shape 28"/>
          <p:cNvSpPr/>
          <p:nvPr/>
        </p:nvSpPr>
        <p:spPr>
          <a:xfrm>
            <a:off x="7498080" y="3886200"/>
            <a:ext cx="3063240" cy="1627632"/>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31" name="Shape 29"/>
          <p:cNvSpPr/>
          <p:nvPr/>
        </p:nvSpPr>
        <p:spPr>
          <a:xfrm>
            <a:off x="7726680" y="4114800"/>
            <a:ext cx="1737360" cy="310896"/>
          </a:xfrm>
          <a:prstGeom prst="roundRect">
            <a:avLst/>
          </a:prstGeom>
          <a:solidFill>
            <a:srgbClr val="DFF6DD"/>
          </a:solidFill>
          <a:ln w="12700">
            <a:solidFill>
              <a:srgbClr val="DFF6DD">
                <a:alpha val="0"/>
              </a:srgbClr>
            </a:solidFill>
            <a:prstDash val="solid"/>
          </a:ln>
        </p:spPr>
      </p:sp>
      <p:sp>
        <p:nvSpPr>
          <p:cNvPr id="32" name="Text 30"/>
          <p:cNvSpPr/>
          <p:nvPr/>
        </p:nvSpPr>
        <p:spPr>
          <a:xfrm>
            <a:off x="7790688" y="4169664"/>
            <a:ext cx="1609344" cy="164592"/>
          </a:xfrm>
          <a:prstGeom prst="rect">
            <a:avLst/>
          </a:prstGeom>
          <a:noFill/>
          <a:ln/>
        </p:spPr>
        <p:txBody>
          <a:bodyPr wrap="square" lIns="0" tIns="0" rIns="0" bIns="0" rtlCol="0" anchor="ctr">
            <a:normAutofit/>
          </a:bodyPr>
          <a:lstStyle/>
          <a:p>
            <a:pPr algn="ctr" indent="0" marL="0">
              <a:buNone/>
            </a:pPr>
            <a:r>
              <a:rPr lang="en-US" sz="850" b="1" dirty="0">
                <a:solidFill>
                  <a:srgbClr val="107C10"/>
                </a:solidFill>
                <a:latin typeface="Segoe UI Semibold" pitchFamily="34" charset="0"/>
                <a:ea typeface="Segoe UI Semibold" pitchFamily="34" charset="-122"/>
                <a:cs typeface="Segoe UI Semibold" pitchFamily="34" charset="-120"/>
              </a:rPr>
              <a:t>LIVE BEHAVIOR DIFFERS</a:t>
            </a:r>
            <a:endParaRPr lang="en-US" sz="850" dirty="0"/>
          </a:p>
        </p:txBody>
      </p:sp>
      <p:sp>
        <p:nvSpPr>
          <p:cNvPr id="33" name="Text 31"/>
          <p:cNvSpPr/>
          <p:nvPr/>
        </p:nvSpPr>
        <p:spPr>
          <a:xfrm>
            <a:off x="7754112" y="4645152"/>
            <a:ext cx="2542032" cy="530352"/>
          </a:xfrm>
          <a:prstGeom prst="rect">
            <a:avLst/>
          </a:prstGeom>
          <a:noFill/>
          <a:ln/>
        </p:spPr>
        <p:txBody>
          <a:bodyPr wrap="square" lIns="0" tIns="0" rIns="0" bIns="0" rtlCol="0" anchor="ctr">
            <a:normAutofit/>
          </a:bodyPr>
          <a:lstStyle/>
          <a:p>
            <a:pPr indent="0" marL="0">
              <a:buNone/>
            </a:pPr>
            <a:r>
              <a:rPr lang="en-US" sz="1050" dirty="0">
                <a:solidFill>
                  <a:srgbClr val="3B3A39"/>
                </a:solidFill>
                <a:latin typeface="Segoe UI" pitchFamily="34" charset="0"/>
                <a:ea typeface="Segoe UI" pitchFamily="34" charset="-122"/>
                <a:cs typeface="Segoe UI" pitchFamily="34" charset="-120"/>
              </a:rPr>
              <a:t>Check connection binding, permissions, DLP policy, and live-system test data.</a:t>
            </a:r>
            <a:endParaRPr lang="en-US" sz="1050" dirty="0"/>
          </a:p>
        </p:txBody>
      </p:sp>
      <p:sp>
        <p:nvSpPr>
          <p:cNvPr id="34" name="Text 32"/>
          <p:cNvSpPr/>
          <p:nvPr/>
        </p:nvSpPr>
        <p:spPr>
          <a:xfrm>
            <a:off x="1097280" y="5961888"/>
            <a:ext cx="9966960" cy="274320"/>
          </a:xfrm>
          <a:prstGeom prst="rect">
            <a:avLst/>
          </a:prstGeom>
          <a:noFill/>
          <a:ln/>
        </p:spPr>
        <p:txBody>
          <a:bodyPr wrap="square" lIns="0" tIns="0" rIns="0" bIns="0" rtlCol="0" anchor="ctr"/>
          <a:lstStyle/>
          <a:p>
            <a:pPr algn="ctr" indent="0" marL="0">
              <a:buNone/>
            </a:pPr>
            <a:r>
              <a:rPr lang="en-US" sz="1100" b="1" dirty="0">
                <a:solidFill>
                  <a:srgbClr val="103A6B"/>
                </a:solidFill>
                <a:latin typeface="Segoe UI Semibold" pitchFamily="34" charset="0"/>
                <a:ea typeface="Segoe UI Semibold" pitchFamily="34" charset="-122"/>
                <a:cs typeface="Segoe UI Semibold" pitchFamily="34" charset="-120"/>
              </a:rPr>
              <a:t>Three-minute rule: preserve workshop momentum first; diagnose deeply after the session with the exported test case and telemetry.</a:t>
            </a:r>
            <a:endParaRPr lang="en-US" sz="1100" dirty="0"/>
          </a:p>
        </p:txBody>
      </p:sp>
      <p:sp>
        <p:nvSpPr>
          <p:cNvPr id="35" name="Text 33"/>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Appendix  |  21</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0" y="0"/>
            <a:ext cx="12191695" cy="6858000"/>
          </a:xfrm>
          <a:prstGeom prst="rect">
            <a:avLst/>
          </a:prstGeom>
        </p:spPr>
      </p:pic>
      <p:sp>
        <p:nvSpPr>
          <p:cNvPr id="3" name="Shape 0"/>
          <p:cNvSpPr/>
          <p:nvPr/>
        </p:nvSpPr>
        <p:spPr>
          <a:xfrm>
            <a:off x="566928" y="310896"/>
            <a:ext cx="64008" cy="64008"/>
          </a:xfrm>
          <a:prstGeom prst="rect">
            <a:avLst/>
          </a:prstGeom>
          <a:solidFill>
            <a:srgbClr val="F25022"/>
          </a:solidFill>
          <a:ln w="12700">
            <a:solidFill>
              <a:srgbClr val="F25022">
                <a:alpha val="0"/>
              </a:srgbClr>
            </a:solidFill>
            <a:prstDash val="solid"/>
          </a:ln>
        </p:spPr>
      </p:sp>
      <p:sp>
        <p:nvSpPr>
          <p:cNvPr id="4" name="Shape 1"/>
          <p:cNvSpPr/>
          <p:nvPr/>
        </p:nvSpPr>
        <p:spPr>
          <a:xfrm>
            <a:off x="642457" y="310896"/>
            <a:ext cx="64008" cy="64008"/>
          </a:xfrm>
          <a:prstGeom prst="rect">
            <a:avLst/>
          </a:prstGeom>
          <a:solidFill>
            <a:srgbClr val="7FBA00"/>
          </a:solidFill>
          <a:ln w="12700">
            <a:solidFill>
              <a:srgbClr val="7FBA00">
                <a:alpha val="0"/>
              </a:srgbClr>
            </a:solidFill>
            <a:prstDash val="solid"/>
          </a:ln>
        </p:spPr>
      </p:sp>
      <p:sp>
        <p:nvSpPr>
          <p:cNvPr id="5" name="Shape 2"/>
          <p:cNvSpPr/>
          <p:nvPr/>
        </p:nvSpPr>
        <p:spPr>
          <a:xfrm>
            <a:off x="566928" y="386425"/>
            <a:ext cx="64008" cy="64008"/>
          </a:xfrm>
          <a:prstGeom prst="rect">
            <a:avLst/>
          </a:prstGeom>
          <a:solidFill>
            <a:srgbClr val="00A4EF"/>
          </a:solidFill>
          <a:ln w="12700">
            <a:solidFill>
              <a:srgbClr val="00A4EF">
                <a:alpha val="0"/>
              </a:srgbClr>
            </a:solidFill>
            <a:prstDash val="solid"/>
          </a:ln>
        </p:spPr>
      </p:sp>
      <p:sp>
        <p:nvSpPr>
          <p:cNvPr id="6" name="Shape 3"/>
          <p:cNvSpPr/>
          <p:nvPr/>
        </p:nvSpPr>
        <p:spPr>
          <a:xfrm>
            <a:off x="642457" y="386425"/>
            <a:ext cx="64008" cy="64008"/>
          </a:xfrm>
          <a:prstGeom prst="rect">
            <a:avLst/>
          </a:prstGeom>
          <a:solidFill>
            <a:srgbClr val="FFB900"/>
          </a:solidFill>
          <a:ln w="12700">
            <a:solidFill>
              <a:srgbClr val="FFB900">
                <a:alpha val="0"/>
              </a:srgbClr>
            </a:solidFill>
            <a:prstDash val="solid"/>
          </a:ln>
        </p:spPr>
      </p:sp>
      <p:sp>
        <p:nvSpPr>
          <p:cNvPr id="7" name="Text 4"/>
          <p:cNvSpPr/>
          <p:nvPr/>
        </p:nvSpPr>
        <p:spPr>
          <a:xfrm>
            <a:off x="822960" y="269748"/>
            <a:ext cx="3931920" cy="201168"/>
          </a:xfrm>
          <a:prstGeom prst="rect">
            <a:avLst/>
          </a:prstGeom>
          <a:noFill/>
          <a:ln/>
        </p:spPr>
        <p:txBody>
          <a:bodyPr wrap="square" lIns="0" tIns="0" rIns="0" bIns="0" rtlCol="0" anchor="ctr"/>
          <a:lstStyle/>
          <a:p>
            <a:pPr indent="0" marL="0">
              <a:buNone/>
            </a:pPr>
            <a:r>
              <a:rPr lang="en-US" sz="900" spc="20" kern="0" dirty="0">
                <a:solidFill>
                  <a:srgbClr val="605E5C"/>
                </a:solidFill>
                <a:latin typeface="Segoe UI" pitchFamily="34" charset="0"/>
                <a:ea typeface="Segoe UI" pitchFamily="34" charset="-122"/>
                <a:cs typeface="Segoe UI" pitchFamily="34" charset="-120"/>
              </a:rPr>
              <a:t>RAPP  |  Rapid Agent Prototype Platform</a:t>
            </a:r>
            <a:endParaRPr lang="en-US" sz="900" dirty="0"/>
          </a:p>
        </p:txBody>
      </p:sp>
      <p:sp>
        <p:nvSpPr>
          <p:cNvPr id="8" name="Shape 5"/>
          <p:cNvSpPr/>
          <p:nvPr/>
        </p:nvSpPr>
        <p:spPr>
          <a:xfrm>
            <a:off x="566928" y="822960"/>
            <a:ext cx="155448" cy="41148"/>
          </a:xfrm>
          <a:prstGeom prst="rect">
            <a:avLst/>
          </a:prstGeom>
          <a:solidFill>
            <a:srgbClr val="0078D4"/>
          </a:solidFill>
          <a:ln w="12700">
            <a:solidFill>
              <a:srgbClr val="0078D4">
                <a:alpha val="0"/>
              </a:srgbClr>
            </a:solidFill>
            <a:prstDash val="solid"/>
          </a:ln>
        </p:spPr>
      </p:sp>
      <p:sp>
        <p:nvSpPr>
          <p:cNvPr id="9" name="Text 6"/>
          <p:cNvSpPr/>
          <p:nvPr/>
        </p:nvSpPr>
        <p:spPr>
          <a:xfrm>
            <a:off x="795528" y="749808"/>
            <a:ext cx="5303520" cy="201168"/>
          </a:xfrm>
          <a:prstGeom prst="rect">
            <a:avLst/>
          </a:prstGeom>
          <a:noFill/>
          <a:ln/>
        </p:spPr>
        <p:txBody>
          <a:bodyPr wrap="square" lIns="0" tIns="0" rIns="0" bIns="0" rtlCol="0" anchor="ctr"/>
          <a:lstStyle/>
          <a:p>
            <a:pPr indent="0" marL="0">
              <a:buNone/>
            </a:pPr>
            <a:r>
              <a:rPr lang="en-US" sz="900" b="1" spc="160" kern="0" dirty="0">
                <a:solidFill>
                  <a:srgbClr val="0078D4"/>
                </a:solidFill>
                <a:latin typeface="Segoe UI Semibold" pitchFamily="34" charset="0"/>
                <a:ea typeface="Segoe UI Semibold" pitchFamily="34" charset="-122"/>
                <a:cs typeface="Segoe UI Semibold" pitchFamily="34" charset="-120"/>
              </a:rPr>
              <a:t>PARTICIPANT TAKEAWAY</a:t>
            </a:r>
            <a:endParaRPr lang="en-US" sz="900" dirty="0"/>
          </a:p>
        </p:txBody>
      </p:sp>
      <p:sp>
        <p:nvSpPr>
          <p:cNvPr id="10" name="Text 7"/>
          <p:cNvSpPr/>
          <p:nvPr/>
        </p:nvSpPr>
        <p:spPr>
          <a:xfrm>
            <a:off x="566928" y="1033272"/>
            <a:ext cx="10972800" cy="621792"/>
          </a:xfrm>
          <a:prstGeom prst="rect">
            <a:avLst/>
          </a:prstGeom>
          <a:noFill/>
          <a:ln/>
        </p:spPr>
        <p:txBody>
          <a:bodyPr wrap="square" lIns="0" tIns="0" rIns="0" bIns="0" rtlCol="0" anchor="ctr">
            <a:normAutofit/>
          </a:bodyPr>
          <a:lstStyle/>
          <a:p>
            <a:pPr indent="0" marL="0">
              <a:buNone/>
            </a:pPr>
            <a:r>
              <a:rPr lang="en-US" sz="2800" b="1" dirty="0">
                <a:solidFill>
                  <a:srgbClr val="1B1A19"/>
                </a:solidFill>
                <a:latin typeface="Segoe UI Semibold" pitchFamily="34" charset="0"/>
                <a:ea typeface="Segoe UI Semibold" pitchFamily="34" charset="-122"/>
                <a:cs typeface="Segoe UI Semibold" pitchFamily="34" charset="-120"/>
              </a:rPr>
              <a:t>RAPP quick reference.</a:t>
            </a:r>
            <a:endParaRPr lang="en-US" sz="2800" dirty="0"/>
          </a:p>
        </p:txBody>
      </p:sp>
      <p:sp>
        <p:nvSpPr>
          <p:cNvPr id="11" name="Shape 8"/>
          <p:cNvSpPr/>
          <p:nvPr/>
        </p:nvSpPr>
        <p:spPr>
          <a:xfrm>
            <a:off x="640080" y="1856232"/>
            <a:ext cx="7315200" cy="658368"/>
          </a:xfrm>
          <a:prstGeom prst="roundRect">
            <a:avLst/>
          </a:prstGeom>
          <a:solidFill>
            <a:srgbClr val="FFFFFF"/>
          </a:solidFill>
          <a:ln w="12700">
            <a:solidFill>
              <a:srgbClr val="0078D4"/>
            </a:solidFill>
            <a:prstDash val="solid"/>
          </a:ln>
          <a:effectLst>
            <a:outerShdw sx="100000" sy="100000" kx="0" ky="0" algn="bl" rotWithShape="0" blurRad="63500" dist="50800" dir="8100000">
              <a:srgbClr val="000000">
                <a:alpha val="12000"/>
              </a:srgbClr>
            </a:outerShdw>
          </a:effectLst>
        </p:spPr>
      </p:sp>
      <p:sp>
        <p:nvSpPr>
          <p:cNvPr id="12" name="Shape 9"/>
          <p:cNvSpPr/>
          <p:nvPr/>
        </p:nvSpPr>
        <p:spPr>
          <a:xfrm>
            <a:off x="822960" y="1901952"/>
            <a:ext cx="566928" cy="566928"/>
          </a:xfrm>
          <a:prstGeom prst="ellipse">
            <a:avLst/>
          </a:prstGeom>
          <a:solidFill>
            <a:srgbClr val="DCEEFF"/>
          </a:solidFill>
          <a:ln w="15240">
            <a:solidFill>
              <a:srgbClr val="0078D4"/>
            </a:solidFill>
            <a:prstDash val="solid"/>
          </a:ln>
        </p:spPr>
      </p:sp>
      <p:sp>
        <p:nvSpPr>
          <p:cNvPr id="13" name="Text 10"/>
          <p:cNvSpPr/>
          <p:nvPr/>
        </p:nvSpPr>
        <p:spPr>
          <a:xfrm>
            <a:off x="905256" y="2057400"/>
            <a:ext cx="402336" cy="164592"/>
          </a:xfrm>
          <a:prstGeom prst="rect">
            <a:avLst/>
          </a:prstGeom>
          <a:noFill/>
          <a:ln/>
        </p:spPr>
        <p:txBody>
          <a:bodyPr wrap="square" lIns="0" tIns="0" rIns="0" bIns="0" rtlCol="0" anchor="ctr"/>
          <a:lstStyle/>
          <a:p>
            <a:pPr algn="ctr" indent="0" marL="0">
              <a:buNone/>
            </a:pPr>
            <a:r>
              <a:rPr lang="en-US" sz="1200" b="1" dirty="0">
                <a:solidFill>
                  <a:srgbClr val="0078D4"/>
                </a:solidFill>
                <a:latin typeface="Segoe UI Semibold" pitchFamily="34" charset="0"/>
                <a:ea typeface="Segoe UI Semibold" pitchFamily="34" charset="-122"/>
                <a:cs typeface="Segoe UI Semibold" pitchFamily="34" charset="-120"/>
              </a:rPr>
              <a:t>1</a:t>
            </a:r>
            <a:endParaRPr lang="en-US" sz="1200" dirty="0"/>
          </a:p>
        </p:txBody>
      </p:sp>
      <p:sp>
        <p:nvSpPr>
          <p:cNvPr id="14" name="Text 11"/>
          <p:cNvSpPr/>
          <p:nvPr/>
        </p:nvSpPr>
        <p:spPr>
          <a:xfrm>
            <a:off x="1572768" y="2039112"/>
            <a:ext cx="1234440" cy="201168"/>
          </a:xfrm>
          <a:prstGeom prst="rect">
            <a:avLst/>
          </a:prstGeom>
          <a:noFill/>
          <a:ln/>
        </p:spPr>
        <p:txBody>
          <a:bodyPr wrap="square" lIns="0" tIns="0" rIns="0" bIns="0" rtlCol="0" anchor="ctr"/>
          <a:lstStyle/>
          <a:p>
            <a:pPr indent="0" marL="0">
              <a:buNone/>
            </a:pPr>
            <a:r>
              <a:rPr lang="en-US" sz="1250" b="1" dirty="0">
                <a:solidFill>
                  <a:srgbClr val="0078D4"/>
                </a:solidFill>
                <a:latin typeface="Segoe UI Semibold" pitchFamily="34" charset="0"/>
                <a:ea typeface="Segoe UI Semibold" pitchFamily="34" charset="-122"/>
                <a:cs typeface="Segoe UI Semibold" pitchFamily="34" charset="-120"/>
              </a:rPr>
              <a:t>SIGN IN</a:t>
            </a:r>
            <a:endParaRPr lang="en-US" sz="1250" dirty="0"/>
          </a:p>
        </p:txBody>
      </p:sp>
      <p:sp>
        <p:nvSpPr>
          <p:cNvPr id="15" name="Text 12"/>
          <p:cNvSpPr/>
          <p:nvPr/>
        </p:nvSpPr>
        <p:spPr>
          <a:xfrm>
            <a:off x="2788920" y="2039112"/>
            <a:ext cx="2834640" cy="201168"/>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Use your Microsoft account.</a:t>
            </a:r>
            <a:endParaRPr lang="en-US" sz="1100" dirty="0"/>
          </a:p>
        </p:txBody>
      </p:sp>
      <p:sp>
        <p:nvSpPr>
          <p:cNvPr id="16" name="Shape 13"/>
          <p:cNvSpPr/>
          <p:nvPr/>
        </p:nvSpPr>
        <p:spPr>
          <a:xfrm>
            <a:off x="5806440" y="2029968"/>
            <a:ext cx="1874520" cy="310896"/>
          </a:xfrm>
          <a:prstGeom prst="roundRect">
            <a:avLst/>
          </a:prstGeom>
          <a:solidFill>
            <a:srgbClr val="DCEEFF"/>
          </a:solidFill>
          <a:ln w="12700">
            <a:solidFill>
              <a:srgbClr val="DCEEFF">
                <a:alpha val="0"/>
              </a:srgbClr>
            </a:solidFill>
            <a:prstDash val="solid"/>
          </a:ln>
        </p:spPr>
      </p:sp>
      <p:sp>
        <p:nvSpPr>
          <p:cNvPr id="17" name="Text 14"/>
          <p:cNvSpPr/>
          <p:nvPr/>
        </p:nvSpPr>
        <p:spPr>
          <a:xfrm>
            <a:off x="5870448" y="2084832"/>
            <a:ext cx="1746504" cy="164592"/>
          </a:xfrm>
          <a:prstGeom prst="rect">
            <a:avLst/>
          </a:prstGeom>
          <a:noFill/>
          <a:ln/>
        </p:spPr>
        <p:txBody>
          <a:bodyPr wrap="square" lIns="0" tIns="0" rIns="0" bIns="0" rtlCol="0" anchor="ctr">
            <a:normAutofit/>
          </a:bodyPr>
          <a:lstStyle/>
          <a:p>
            <a:pPr algn="ctr" indent="0" marL="0">
              <a:buNone/>
            </a:pPr>
            <a:r>
              <a:rPr lang="en-US" sz="850" b="1" dirty="0">
                <a:solidFill>
                  <a:srgbClr val="0078D4"/>
                </a:solidFill>
                <a:latin typeface="Segoe UI Semibold" pitchFamily="34" charset="0"/>
                <a:ea typeface="Segoe UI Semibold" pitchFamily="34" charset="-122"/>
                <a:cs typeface="Segoe UI Semibold" pitchFamily="34" charset="-120"/>
              </a:rPr>
              <a:t>AUTHENTICATED SESSION</a:t>
            </a:r>
            <a:endParaRPr lang="en-US" sz="850" dirty="0"/>
          </a:p>
        </p:txBody>
      </p:sp>
      <p:sp>
        <p:nvSpPr>
          <p:cNvPr id="18" name="Shape 15"/>
          <p:cNvSpPr/>
          <p:nvPr/>
        </p:nvSpPr>
        <p:spPr>
          <a:xfrm>
            <a:off x="640080" y="2633472"/>
            <a:ext cx="7315200" cy="658368"/>
          </a:xfrm>
          <a:prstGeom prst="roundRect">
            <a:avLst/>
          </a:prstGeom>
          <a:solidFill>
            <a:srgbClr val="FFFFFF"/>
          </a:solidFill>
          <a:ln w="12700">
            <a:solidFill>
              <a:srgbClr val="107C10"/>
            </a:solidFill>
            <a:prstDash val="solid"/>
          </a:ln>
          <a:effectLst>
            <a:outerShdw sx="100000" sy="100000" kx="0" ky="0" algn="bl" rotWithShape="0" blurRad="63500" dist="50800" dir="8100000">
              <a:srgbClr val="000000">
                <a:alpha val="12000"/>
              </a:srgbClr>
            </a:outerShdw>
          </a:effectLst>
        </p:spPr>
      </p:sp>
      <p:sp>
        <p:nvSpPr>
          <p:cNvPr id="19" name="Shape 16"/>
          <p:cNvSpPr/>
          <p:nvPr/>
        </p:nvSpPr>
        <p:spPr>
          <a:xfrm>
            <a:off x="822960" y="2679192"/>
            <a:ext cx="566928" cy="566928"/>
          </a:xfrm>
          <a:prstGeom prst="ellipse">
            <a:avLst/>
          </a:prstGeom>
          <a:solidFill>
            <a:srgbClr val="DFF6DD"/>
          </a:solidFill>
          <a:ln w="15240">
            <a:solidFill>
              <a:srgbClr val="107C10"/>
            </a:solidFill>
            <a:prstDash val="solid"/>
          </a:ln>
        </p:spPr>
      </p:sp>
      <p:sp>
        <p:nvSpPr>
          <p:cNvPr id="20" name="Text 17"/>
          <p:cNvSpPr/>
          <p:nvPr/>
        </p:nvSpPr>
        <p:spPr>
          <a:xfrm>
            <a:off x="905256" y="2834640"/>
            <a:ext cx="402336" cy="164592"/>
          </a:xfrm>
          <a:prstGeom prst="rect">
            <a:avLst/>
          </a:prstGeom>
          <a:noFill/>
          <a:ln/>
        </p:spPr>
        <p:txBody>
          <a:bodyPr wrap="square" lIns="0" tIns="0" rIns="0" bIns="0" rtlCol="0" anchor="ctr"/>
          <a:lstStyle/>
          <a:p>
            <a:pPr algn="ctr" indent="0" marL="0">
              <a:buNone/>
            </a:pPr>
            <a:r>
              <a:rPr lang="en-US" sz="1200" b="1" dirty="0">
                <a:solidFill>
                  <a:srgbClr val="107C10"/>
                </a:solidFill>
                <a:latin typeface="Segoe UI Semibold" pitchFamily="34" charset="0"/>
                <a:ea typeface="Segoe UI Semibold" pitchFamily="34" charset="-122"/>
                <a:cs typeface="Segoe UI Semibold" pitchFamily="34" charset="-120"/>
              </a:rPr>
              <a:t>2</a:t>
            </a:r>
            <a:endParaRPr lang="en-US" sz="1200" dirty="0"/>
          </a:p>
        </p:txBody>
      </p:sp>
      <p:sp>
        <p:nvSpPr>
          <p:cNvPr id="21" name="Text 18"/>
          <p:cNvSpPr/>
          <p:nvPr/>
        </p:nvSpPr>
        <p:spPr>
          <a:xfrm>
            <a:off x="1572768" y="2816352"/>
            <a:ext cx="1234440" cy="201168"/>
          </a:xfrm>
          <a:prstGeom prst="rect">
            <a:avLst/>
          </a:prstGeom>
          <a:noFill/>
          <a:ln/>
        </p:spPr>
        <p:txBody>
          <a:bodyPr wrap="square" lIns="0" tIns="0" rIns="0" bIns="0" rtlCol="0" anchor="ctr"/>
          <a:lstStyle/>
          <a:p>
            <a:pPr indent="0" marL="0">
              <a:buNone/>
            </a:pPr>
            <a:r>
              <a:rPr lang="en-US" sz="1250" b="1" dirty="0">
                <a:solidFill>
                  <a:srgbClr val="107C10"/>
                </a:solidFill>
                <a:latin typeface="Segoe UI Semibold" pitchFamily="34" charset="0"/>
                <a:ea typeface="Segoe UI Semibold" pitchFamily="34" charset="-122"/>
                <a:cs typeface="Segoe UI Semibold" pitchFamily="34" charset="-120"/>
              </a:rPr>
              <a:t>DOCUMENTS</a:t>
            </a:r>
            <a:endParaRPr lang="en-US" sz="1250" dirty="0"/>
          </a:p>
        </p:txBody>
      </p:sp>
      <p:sp>
        <p:nvSpPr>
          <p:cNvPr id="22" name="Text 19"/>
          <p:cNvSpPr/>
          <p:nvPr/>
        </p:nvSpPr>
        <p:spPr>
          <a:xfrm>
            <a:off x="2788920" y="2816352"/>
            <a:ext cx="2834640" cy="201168"/>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Upload focused, permitted evidence.</a:t>
            </a:r>
            <a:endParaRPr lang="en-US" sz="1100" dirty="0"/>
          </a:p>
        </p:txBody>
      </p:sp>
      <p:sp>
        <p:nvSpPr>
          <p:cNvPr id="23" name="Shape 20"/>
          <p:cNvSpPr/>
          <p:nvPr/>
        </p:nvSpPr>
        <p:spPr>
          <a:xfrm>
            <a:off x="5806440" y="2807208"/>
            <a:ext cx="1874520" cy="310896"/>
          </a:xfrm>
          <a:prstGeom prst="roundRect">
            <a:avLst/>
          </a:prstGeom>
          <a:solidFill>
            <a:srgbClr val="DFF6DD"/>
          </a:solidFill>
          <a:ln w="12700">
            <a:solidFill>
              <a:srgbClr val="DFF6DD">
                <a:alpha val="0"/>
              </a:srgbClr>
            </a:solidFill>
            <a:prstDash val="solid"/>
          </a:ln>
        </p:spPr>
      </p:sp>
      <p:sp>
        <p:nvSpPr>
          <p:cNvPr id="24" name="Text 21"/>
          <p:cNvSpPr/>
          <p:nvPr/>
        </p:nvSpPr>
        <p:spPr>
          <a:xfrm>
            <a:off x="5870448" y="2862072"/>
            <a:ext cx="1746504" cy="164592"/>
          </a:xfrm>
          <a:prstGeom prst="rect">
            <a:avLst/>
          </a:prstGeom>
          <a:noFill/>
          <a:ln/>
        </p:spPr>
        <p:txBody>
          <a:bodyPr wrap="square" lIns="0" tIns="0" rIns="0" bIns="0" rtlCol="0" anchor="ctr">
            <a:normAutofit/>
          </a:bodyPr>
          <a:lstStyle/>
          <a:p>
            <a:pPr algn="ctr" indent="0" marL="0">
              <a:buNone/>
            </a:pPr>
            <a:r>
              <a:rPr lang="en-US" sz="850" b="1" dirty="0">
                <a:solidFill>
                  <a:srgbClr val="107C10"/>
                </a:solidFill>
                <a:latin typeface="Segoe UI Semibold" pitchFamily="34" charset="0"/>
                <a:ea typeface="Segoe UI Semibold" pitchFamily="34" charset="-122"/>
                <a:cs typeface="Segoe UI Semibold" pitchFamily="34" charset="-120"/>
              </a:rPr>
              <a:t>SOURCE SET</a:t>
            </a:r>
            <a:endParaRPr lang="en-US" sz="850" dirty="0"/>
          </a:p>
        </p:txBody>
      </p:sp>
      <p:sp>
        <p:nvSpPr>
          <p:cNvPr id="25" name="Shape 22"/>
          <p:cNvSpPr/>
          <p:nvPr/>
        </p:nvSpPr>
        <p:spPr>
          <a:xfrm>
            <a:off x="640080" y="3410712"/>
            <a:ext cx="7315200" cy="658368"/>
          </a:xfrm>
          <a:prstGeom prst="roundRect">
            <a:avLst/>
          </a:prstGeom>
          <a:solidFill>
            <a:srgbClr val="FFFFFF"/>
          </a:solidFill>
          <a:ln w="12700">
            <a:solidFill>
              <a:srgbClr val="D83B01"/>
            </a:solidFill>
            <a:prstDash val="solid"/>
          </a:ln>
          <a:effectLst>
            <a:outerShdw sx="100000" sy="100000" kx="0" ky="0" algn="bl" rotWithShape="0" blurRad="63500" dist="50800" dir="8100000">
              <a:srgbClr val="000000">
                <a:alpha val="12000"/>
              </a:srgbClr>
            </a:outerShdw>
          </a:effectLst>
        </p:spPr>
      </p:sp>
      <p:sp>
        <p:nvSpPr>
          <p:cNvPr id="26" name="Shape 23"/>
          <p:cNvSpPr/>
          <p:nvPr/>
        </p:nvSpPr>
        <p:spPr>
          <a:xfrm>
            <a:off x="822960" y="3456432"/>
            <a:ext cx="566928" cy="566928"/>
          </a:xfrm>
          <a:prstGeom prst="ellipse">
            <a:avLst/>
          </a:prstGeom>
          <a:solidFill>
            <a:srgbClr val="F9E3DB"/>
          </a:solidFill>
          <a:ln w="15240">
            <a:solidFill>
              <a:srgbClr val="D83B01"/>
            </a:solidFill>
            <a:prstDash val="solid"/>
          </a:ln>
        </p:spPr>
      </p:sp>
      <p:sp>
        <p:nvSpPr>
          <p:cNvPr id="27" name="Text 24"/>
          <p:cNvSpPr/>
          <p:nvPr/>
        </p:nvSpPr>
        <p:spPr>
          <a:xfrm>
            <a:off x="905256" y="3611880"/>
            <a:ext cx="402336" cy="164592"/>
          </a:xfrm>
          <a:prstGeom prst="rect">
            <a:avLst/>
          </a:prstGeom>
          <a:noFill/>
          <a:ln/>
        </p:spPr>
        <p:txBody>
          <a:bodyPr wrap="square" lIns="0" tIns="0" rIns="0" bIns="0" rtlCol="0" anchor="ctr"/>
          <a:lstStyle/>
          <a:p>
            <a:pPr algn="ctr" indent="0" marL="0">
              <a:buNone/>
            </a:pPr>
            <a:r>
              <a:rPr lang="en-US" sz="1200" b="1" dirty="0">
                <a:solidFill>
                  <a:srgbClr val="D83B01"/>
                </a:solidFill>
                <a:latin typeface="Segoe UI Semibold" pitchFamily="34" charset="0"/>
                <a:ea typeface="Segoe UI Semibold" pitchFamily="34" charset="-122"/>
                <a:cs typeface="Segoe UI Semibold" pitchFamily="34" charset="-120"/>
              </a:rPr>
              <a:t>3</a:t>
            </a:r>
            <a:endParaRPr lang="en-US" sz="1200" dirty="0"/>
          </a:p>
        </p:txBody>
      </p:sp>
      <p:sp>
        <p:nvSpPr>
          <p:cNvPr id="28" name="Text 25"/>
          <p:cNvSpPr/>
          <p:nvPr/>
        </p:nvSpPr>
        <p:spPr>
          <a:xfrm>
            <a:off x="1572768" y="3593592"/>
            <a:ext cx="1234440" cy="201168"/>
          </a:xfrm>
          <a:prstGeom prst="rect">
            <a:avLst/>
          </a:prstGeom>
          <a:noFill/>
          <a:ln/>
        </p:spPr>
        <p:txBody>
          <a:bodyPr wrap="square" lIns="0" tIns="0" rIns="0" bIns="0" rtlCol="0" anchor="ctr"/>
          <a:lstStyle/>
          <a:p>
            <a:pPr indent="0" marL="0">
              <a:buNone/>
            </a:pPr>
            <a:r>
              <a:rPr lang="en-US" sz="1250" b="1" dirty="0">
                <a:solidFill>
                  <a:srgbClr val="D83B01"/>
                </a:solidFill>
                <a:latin typeface="Segoe UI Semibold" pitchFamily="34" charset="0"/>
                <a:ea typeface="Segoe UI Semibold" pitchFamily="34" charset="-122"/>
                <a:cs typeface="Segoe UI Semibold" pitchFamily="34" charset="-120"/>
              </a:rPr>
              <a:t>MVP</a:t>
            </a:r>
            <a:endParaRPr lang="en-US" sz="1250" dirty="0"/>
          </a:p>
        </p:txBody>
      </p:sp>
      <p:sp>
        <p:nvSpPr>
          <p:cNvPr id="29" name="Text 26"/>
          <p:cNvSpPr/>
          <p:nvPr/>
        </p:nvSpPr>
        <p:spPr>
          <a:xfrm>
            <a:off x="2788920" y="3593592"/>
            <a:ext cx="2834640" cy="201168"/>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Read, edit, and explicitly confirm.</a:t>
            </a:r>
            <a:endParaRPr lang="en-US" sz="1100" dirty="0"/>
          </a:p>
        </p:txBody>
      </p:sp>
      <p:sp>
        <p:nvSpPr>
          <p:cNvPr id="30" name="Shape 27"/>
          <p:cNvSpPr/>
          <p:nvPr/>
        </p:nvSpPr>
        <p:spPr>
          <a:xfrm>
            <a:off x="5806440" y="3584448"/>
            <a:ext cx="1874520" cy="310896"/>
          </a:xfrm>
          <a:prstGeom prst="roundRect">
            <a:avLst/>
          </a:prstGeom>
          <a:solidFill>
            <a:srgbClr val="F9E3DB"/>
          </a:solidFill>
          <a:ln w="12700">
            <a:solidFill>
              <a:srgbClr val="F9E3DB">
                <a:alpha val="0"/>
              </a:srgbClr>
            </a:solidFill>
            <a:prstDash val="solid"/>
          </a:ln>
        </p:spPr>
      </p:sp>
      <p:sp>
        <p:nvSpPr>
          <p:cNvPr id="31" name="Text 28"/>
          <p:cNvSpPr/>
          <p:nvPr/>
        </p:nvSpPr>
        <p:spPr>
          <a:xfrm>
            <a:off x="5870448" y="3639312"/>
            <a:ext cx="1746504" cy="164592"/>
          </a:xfrm>
          <a:prstGeom prst="rect">
            <a:avLst/>
          </a:prstGeom>
          <a:noFill/>
          <a:ln/>
        </p:spPr>
        <p:txBody>
          <a:bodyPr wrap="square" lIns="0" tIns="0" rIns="0" bIns="0" rtlCol="0" anchor="ctr">
            <a:normAutofit/>
          </a:bodyPr>
          <a:lstStyle/>
          <a:p>
            <a:pPr algn="ctr" indent="0" marL="0">
              <a:buNone/>
            </a:pPr>
            <a:r>
              <a:rPr lang="en-US" sz="850" b="1" dirty="0">
                <a:solidFill>
                  <a:srgbClr val="D83B01"/>
                </a:solidFill>
                <a:latin typeface="Segoe UI Semibold" pitchFamily="34" charset="0"/>
                <a:ea typeface="Segoe UI Semibold" pitchFamily="34" charset="-122"/>
                <a:cs typeface="Segoe UI Semibold" pitchFamily="34" charset="-120"/>
              </a:rPr>
              <a:t>APPROVED USE CASE</a:t>
            </a:r>
            <a:endParaRPr lang="en-US" sz="850" dirty="0"/>
          </a:p>
        </p:txBody>
      </p:sp>
      <p:sp>
        <p:nvSpPr>
          <p:cNvPr id="32" name="Shape 29"/>
          <p:cNvSpPr/>
          <p:nvPr/>
        </p:nvSpPr>
        <p:spPr>
          <a:xfrm>
            <a:off x="640080" y="4187952"/>
            <a:ext cx="7315200" cy="658368"/>
          </a:xfrm>
          <a:prstGeom prst="roundRect">
            <a:avLst/>
          </a:prstGeom>
          <a:solidFill>
            <a:srgbClr val="FFFFFF"/>
          </a:solidFill>
          <a:ln w="12700">
            <a:solidFill>
              <a:srgbClr val="8661C5"/>
            </a:solidFill>
            <a:prstDash val="solid"/>
          </a:ln>
          <a:effectLst>
            <a:outerShdw sx="100000" sy="100000" kx="0" ky="0" algn="bl" rotWithShape="0" blurRad="63500" dist="50800" dir="8100000">
              <a:srgbClr val="000000">
                <a:alpha val="12000"/>
              </a:srgbClr>
            </a:outerShdw>
          </a:effectLst>
        </p:spPr>
      </p:sp>
      <p:sp>
        <p:nvSpPr>
          <p:cNvPr id="33" name="Shape 30"/>
          <p:cNvSpPr/>
          <p:nvPr/>
        </p:nvSpPr>
        <p:spPr>
          <a:xfrm>
            <a:off x="822960" y="4233672"/>
            <a:ext cx="566928" cy="566928"/>
          </a:xfrm>
          <a:prstGeom prst="ellipse">
            <a:avLst/>
          </a:prstGeom>
          <a:solidFill>
            <a:srgbClr val="EDE7F6"/>
          </a:solidFill>
          <a:ln w="15240">
            <a:solidFill>
              <a:srgbClr val="8661C5"/>
            </a:solidFill>
            <a:prstDash val="solid"/>
          </a:ln>
        </p:spPr>
      </p:sp>
      <p:sp>
        <p:nvSpPr>
          <p:cNvPr id="34" name="Text 31"/>
          <p:cNvSpPr/>
          <p:nvPr/>
        </p:nvSpPr>
        <p:spPr>
          <a:xfrm>
            <a:off x="905256" y="4389120"/>
            <a:ext cx="402336" cy="164592"/>
          </a:xfrm>
          <a:prstGeom prst="rect">
            <a:avLst/>
          </a:prstGeom>
          <a:noFill/>
          <a:ln/>
        </p:spPr>
        <p:txBody>
          <a:bodyPr wrap="square" lIns="0" tIns="0" rIns="0" bIns="0" rtlCol="0" anchor="ctr"/>
          <a:lstStyle/>
          <a:p>
            <a:pPr algn="ctr" indent="0" marL="0">
              <a:buNone/>
            </a:pPr>
            <a:r>
              <a:rPr lang="en-US" sz="1200" b="1" dirty="0">
                <a:solidFill>
                  <a:srgbClr val="8661C5"/>
                </a:solidFill>
                <a:latin typeface="Segoe UI Semibold" pitchFamily="34" charset="0"/>
                <a:ea typeface="Segoe UI Semibold" pitchFamily="34" charset="-122"/>
                <a:cs typeface="Segoe UI Semibold" pitchFamily="34" charset="-120"/>
              </a:rPr>
              <a:t>4</a:t>
            </a:r>
            <a:endParaRPr lang="en-US" sz="1200" dirty="0"/>
          </a:p>
        </p:txBody>
      </p:sp>
      <p:sp>
        <p:nvSpPr>
          <p:cNvPr id="35" name="Text 32"/>
          <p:cNvSpPr/>
          <p:nvPr/>
        </p:nvSpPr>
        <p:spPr>
          <a:xfrm>
            <a:off x="1572768" y="4370832"/>
            <a:ext cx="1234440" cy="201168"/>
          </a:xfrm>
          <a:prstGeom prst="rect">
            <a:avLst/>
          </a:prstGeom>
          <a:noFill/>
          <a:ln/>
        </p:spPr>
        <p:txBody>
          <a:bodyPr wrap="square" lIns="0" tIns="0" rIns="0" bIns="0" rtlCol="0" anchor="ctr"/>
          <a:lstStyle/>
          <a:p>
            <a:pPr indent="0" marL="0">
              <a:buNone/>
            </a:pPr>
            <a:r>
              <a:rPr lang="en-US" sz="1250" b="1" dirty="0">
                <a:solidFill>
                  <a:srgbClr val="8661C5"/>
                </a:solidFill>
                <a:latin typeface="Segoe UI Semibold" pitchFamily="34" charset="0"/>
                <a:ea typeface="Segoe UI Semibold" pitchFamily="34" charset="-122"/>
                <a:cs typeface="Segoe UI Semibold" pitchFamily="34" charset="-120"/>
              </a:rPr>
              <a:t>REVIEW</a:t>
            </a:r>
            <a:endParaRPr lang="en-US" sz="1250" dirty="0"/>
          </a:p>
        </p:txBody>
      </p:sp>
      <p:sp>
        <p:nvSpPr>
          <p:cNvPr id="36" name="Text 33"/>
          <p:cNvSpPr/>
          <p:nvPr/>
        </p:nvSpPr>
        <p:spPr>
          <a:xfrm>
            <a:off x="2788920" y="4370832"/>
            <a:ext cx="2834640" cy="201168"/>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Inspect capabilities and two twins.</a:t>
            </a:r>
            <a:endParaRPr lang="en-US" sz="1100" dirty="0"/>
          </a:p>
        </p:txBody>
      </p:sp>
      <p:sp>
        <p:nvSpPr>
          <p:cNvPr id="37" name="Shape 34"/>
          <p:cNvSpPr/>
          <p:nvPr/>
        </p:nvSpPr>
        <p:spPr>
          <a:xfrm>
            <a:off x="5806440" y="4361688"/>
            <a:ext cx="1874520" cy="310896"/>
          </a:xfrm>
          <a:prstGeom prst="roundRect">
            <a:avLst/>
          </a:prstGeom>
          <a:solidFill>
            <a:srgbClr val="EDE7F6"/>
          </a:solidFill>
          <a:ln w="12700">
            <a:solidFill>
              <a:srgbClr val="EDE7F6">
                <a:alpha val="0"/>
              </a:srgbClr>
            </a:solidFill>
            <a:prstDash val="solid"/>
          </a:ln>
        </p:spPr>
      </p:sp>
      <p:sp>
        <p:nvSpPr>
          <p:cNvPr id="38" name="Text 35"/>
          <p:cNvSpPr/>
          <p:nvPr/>
        </p:nvSpPr>
        <p:spPr>
          <a:xfrm>
            <a:off x="5870448" y="4416552"/>
            <a:ext cx="1746504" cy="164592"/>
          </a:xfrm>
          <a:prstGeom prst="rect">
            <a:avLst/>
          </a:prstGeom>
          <a:noFill/>
          <a:ln/>
        </p:spPr>
        <p:txBody>
          <a:bodyPr wrap="square" lIns="0" tIns="0" rIns="0" bIns="0" rtlCol="0" anchor="ctr">
            <a:normAutofit/>
          </a:bodyPr>
          <a:lstStyle/>
          <a:p>
            <a:pPr algn="ctr" indent="0" marL="0">
              <a:buNone/>
            </a:pPr>
            <a:r>
              <a:rPr lang="en-US" sz="850" b="1" dirty="0">
                <a:solidFill>
                  <a:srgbClr val="8661C5"/>
                </a:solidFill>
                <a:latin typeface="Segoe UI Semibold" pitchFamily="34" charset="0"/>
                <a:ea typeface="Segoe UI Semibold" pitchFamily="34" charset="-122"/>
                <a:cs typeface="Segoe UI Semibold" pitchFamily="34" charset="-120"/>
              </a:rPr>
              <a:t>AGENT FILES + ZIPS</a:t>
            </a:r>
            <a:endParaRPr lang="en-US" sz="850" dirty="0"/>
          </a:p>
        </p:txBody>
      </p:sp>
      <p:sp>
        <p:nvSpPr>
          <p:cNvPr id="39" name="Shape 36"/>
          <p:cNvSpPr/>
          <p:nvPr/>
        </p:nvSpPr>
        <p:spPr>
          <a:xfrm>
            <a:off x="640080" y="4965192"/>
            <a:ext cx="7315200" cy="658368"/>
          </a:xfrm>
          <a:prstGeom prst="roundRect">
            <a:avLst/>
          </a:prstGeom>
          <a:solidFill>
            <a:srgbClr val="FFFFFF"/>
          </a:solidFill>
          <a:ln w="12700">
            <a:solidFill>
              <a:srgbClr val="103A6B"/>
            </a:solidFill>
            <a:prstDash val="solid"/>
          </a:ln>
          <a:effectLst>
            <a:outerShdw sx="100000" sy="100000" kx="0" ky="0" algn="bl" rotWithShape="0" blurRad="63500" dist="50800" dir="8100000">
              <a:srgbClr val="000000">
                <a:alpha val="12000"/>
              </a:srgbClr>
            </a:outerShdw>
          </a:effectLst>
        </p:spPr>
      </p:sp>
      <p:sp>
        <p:nvSpPr>
          <p:cNvPr id="40" name="Shape 37"/>
          <p:cNvSpPr/>
          <p:nvPr/>
        </p:nvSpPr>
        <p:spPr>
          <a:xfrm>
            <a:off x="822960" y="5010912"/>
            <a:ext cx="566928" cy="566928"/>
          </a:xfrm>
          <a:prstGeom prst="ellipse">
            <a:avLst/>
          </a:prstGeom>
          <a:solidFill>
            <a:srgbClr val="EAF4FD"/>
          </a:solidFill>
          <a:ln w="15240">
            <a:solidFill>
              <a:srgbClr val="103A6B"/>
            </a:solidFill>
            <a:prstDash val="solid"/>
          </a:ln>
        </p:spPr>
      </p:sp>
      <p:sp>
        <p:nvSpPr>
          <p:cNvPr id="41" name="Text 38"/>
          <p:cNvSpPr/>
          <p:nvPr/>
        </p:nvSpPr>
        <p:spPr>
          <a:xfrm>
            <a:off x="905256" y="5166360"/>
            <a:ext cx="402336" cy="164592"/>
          </a:xfrm>
          <a:prstGeom prst="rect">
            <a:avLst/>
          </a:prstGeom>
          <a:noFill/>
          <a:ln/>
        </p:spPr>
        <p:txBody>
          <a:bodyPr wrap="square" lIns="0" tIns="0" rIns="0" bIns="0" rtlCol="0" anchor="ctr"/>
          <a:lstStyle/>
          <a:p>
            <a:pPr algn="ctr" indent="0" marL="0">
              <a:buNone/>
            </a:pPr>
            <a:r>
              <a:rPr lang="en-US" sz="1200" b="1" dirty="0">
                <a:solidFill>
                  <a:srgbClr val="103A6B"/>
                </a:solidFill>
                <a:latin typeface="Segoe UI Semibold" pitchFamily="34" charset="0"/>
                <a:ea typeface="Segoe UI Semibold" pitchFamily="34" charset="-122"/>
                <a:cs typeface="Segoe UI Semibold" pitchFamily="34" charset="-120"/>
              </a:rPr>
              <a:t>5</a:t>
            </a:r>
            <a:endParaRPr lang="en-US" sz="1200" dirty="0"/>
          </a:p>
        </p:txBody>
      </p:sp>
      <p:sp>
        <p:nvSpPr>
          <p:cNvPr id="42" name="Text 39"/>
          <p:cNvSpPr/>
          <p:nvPr/>
        </p:nvSpPr>
        <p:spPr>
          <a:xfrm>
            <a:off x="1572768" y="5148072"/>
            <a:ext cx="1234440" cy="201168"/>
          </a:xfrm>
          <a:prstGeom prst="rect">
            <a:avLst/>
          </a:prstGeom>
          <a:noFill/>
          <a:ln/>
        </p:spPr>
        <p:txBody>
          <a:bodyPr wrap="square" lIns="0" tIns="0" rIns="0" bIns="0" rtlCol="0" anchor="ctr"/>
          <a:lstStyle/>
          <a:p>
            <a:pPr indent="0" marL="0">
              <a:buNone/>
            </a:pPr>
            <a:r>
              <a:rPr lang="en-US" sz="1250" b="1" dirty="0">
                <a:solidFill>
                  <a:srgbClr val="103A6B"/>
                </a:solidFill>
                <a:latin typeface="Segoe UI Semibold" pitchFamily="34" charset="0"/>
                <a:ea typeface="Segoe UI Semibold" pitchFamily="34" charset="-122"/>
                <a:cs typeface="Segoe UI Semibold" pitchFamily="34" charset="-120"/>
              </a:rPr>
              <a:t>DEPLOY</a:t>
            </a:r>
            <a:endParaRPr lang="en-US" sz="1250" dirty="0"/>
          </a:p>
        </p:txBody>
      </p:sp>
      <p:sp>
        <p:nvSpPr>
          <p:cNvPr id="43" name="Text 40"/>
          <p:cNvSpPr/>
          <p:nvPr/>
        </p:nvSpPr>
        <p:spPr>
          <a:xfrm>
            <a:off x="2788920" y="5148072"/>
            <a:ext cx="2834640" cy="201168"/>
          </a:xfrm>
          <a:prstGeom prst="rect">
            <a:avLst/>
          </a:prstGeom>
          <a:noFill/>
          <a:ln/>
        </p:spPr>
        <p:txBody>
          <a:bodyPr wrap="square" lIns="0" tIns="0" rIns="0" bIns="0" rtlCol="0" anchor="ctr">
            <a:normAutofit/>
          </a:bodyPr>
          <a:lstStyle/>
          <a:p>
            <a:pPr indent="0" marL="0">
              <a:buNone/>
            </a:pPr>
            <a:r>
              <a:rPr lang="en-US" sz="1100" dirty="0">
                <a:solidFill>
                  <a:srgbClr val="3B3A39"/>
                </a:solidFill>
                <a:latin typeface="Segoe UI" pitchFamily="34" charset="0"/>
                <a:ea typeface="Segoe UI" pitchFamily="34" charset="-122"/>
                <a:cs typeface="Segoe UI" pitchFamily="34" charset="-120"/>
              </a:rPr>
              <a:t>Choose environment, import, test.</a:t>
            </a:r>
            <a:endParaRPr lang="en-US" sz="1100" dirty="0"/>
          </a:p>
        </p:txBody>
      </p:sp>
      <p:sp>
        <p:nvSpPr>
          <p:cNvPr id="44" name="Shape 41"/>
          <p:cNvSpPr/>
          <p:nvPr/>
        </p:nvSpPr>
        <p:spPr>
          <a:xfrm>
            <a:off x="5806440" y="5138928"/>
            <a:ext cx="1874520" cy="310896"/>
          </a:xfrm>
          <a:prstGeom prst="roundRect">
            <a:avLst/>
          </a:prstGeom>
          <a:solidFill>
            <a:srgbClr val="EAF4FD"/>
          </a:solidFill>
          <a:ln w="12700">
            <a:solidFill>
              <a:srgbClr val="EAF4FD">
                <a:alpha val="0"/>
              </a:srgbClr>
            </a:solidFill>
            <a:prstDash val="solid"/>
          </a:ln>
        </p:spPr>
      </p:sp>
      <p:sp>
        <p:nvSpPr>
          <p:cNvPr id="45" name="Text 42"/>
          <p:cNvSpPr/>
          <p:nvPr/>
        </p:nvSpPr>
        <p:spPr>
          <a:xfrm>
            <a:off x="5870448" y="5193792"/>
            <a:ext cx="1746504" cy="164592"/>
          </a:xfrm>
          <a:prstGeom prst="rect">
            <a:avLst/>
          </a:prstGeom>
          <a:noFill/>
          <a:ln/>
        </p:spPr>
        <p:txBody>
          <a:bodyPr wrap="square" lIns="0" tIns="0" rIns="0" bIns="0" rtlCol="0" anchor="ctr">
            <a:normAutofit/>
          </a:bodyPr>
          <a:lstStyle/>
          <a:p>
            <a:pPr algn="ctr" indent="0" marL="0">
              <a:buNone/>
            </a:pPr>
            <a:r>
              <a:rPr lang="en-US" sz="850" b="1" dirty="0">
                <a:solidFill>
                  <a:srgbClr val="103A6B"/>
                </a:solidFill>
                <a:latin typeface="Segoe UI Semibold" pitchFamily="34" charset="0"/>
                <a:ea typeface="Segoe UI Semibold" pitchFamily="34" charset="-122"/>
                <a:cs typeface="Segoe UI Semibold" pitchFamily="34" charset="-120"/>
              </a:rPr>
              <a:t>COPILOT STUDIO PROTOTYPE</a:t>
            </a:r>
            <a:endParaRPr lang="en-US" sz="850" dirty="0"/>
          </a:p>
        </p:txBody>
      </p:sp>
      <p:sp>
        <p:nvSpPr>
          <p:cNvPr id="46" name="Shape 43"/>
          <p:cNvSpPr/>
          <p:nvPr/>
        </p:nvSpPr>
        <p:spPr>
          <a:xfrm>
            <a:off x="8275320" y="1856232"/>
            <a:ext cx="3273552" cy="3721608"/>
          </a:xfrm>
          <a:prstGeom prst="roundRect">
            <a:avLst/>
          </a:prstGeom>
          <a:solidFill>
            <a:srgbClr val="103A6B"/>
          </a:solidFill>
          <a:ln w="12700">
            <a:solidFill>
              <a:srgbClr val="103A6B"/>
            </a:solidFill>
            <a:prstDash val="solid"/>
          </a:ln>
          <a:effectLst>
            <a:outerShdw sx="100000" sy="100000" kx="0" ky="0" algn="bl" rotWithShape="0" blurRad="63500" dist="50800" dir="8100000">
              <a:srgbClr val="000000">
                <a:alpha val="12000"/>
              </a:srgbClr>
            </a:outerShdw>
          </a:effectLst>
        </p:spPr>
      </p:sp>
      <p:sp>
        <p:nvSpPr>
          <p:cNvPr id="47" name="Text 44"/>
          <p:cNvSpPr/>
          <p:nvPr/>
        </p:nvSpPr>
        <p:spPr>
          <a:xfrm>
            <a:off x="8595360" y="2148840"/>
            <a:ext cx="2194560" cy="228600"/>
          </a:xfrm>
          <a:prstGeom prst="rect">
            <a:avLst/>
          </a:prstGeom>
          <a:noFill/>
          <a:ln/>
        </p:spPr>
        <p:txBody>
          <a:bodyPr wrap="square" lIns="0" tIns="0" rIns="0" bIns="0" rtlCol="0" anchor="ctr"/>
          <a:lstStyle/>
          <a:p>
            <a:pPr indent="0" marL="0">
              <a:buNone/>
            </a:pPr>
            <a:r>
              <a:rPr lang="en-US" sz="1150" b="1" spc="100" kern="0" dirty="0">
                <a:solidFill>
                  <a:srgbClr val="50E6FF"/>
                </a:solidFill>
                <a:latin typeface="Segoe UI Semibold" pitchFamily="34" charset="0"/>
                <a:ea typeface="Segoe UI Semibold" pitchFamily="34" charset="-122"/>
                <a:cs typeface="Segoe UI Semibold" pitchFamily="34" charset="-120"/>
              </a:rPr>
              <a:t>QUALITY CHECK</a:t>
            </a:r>
            <a:endParaRPr lang="en-US" sz="1150" dirty="0"/>
          </a:p>
        </p:txBody>
      </p:sp>
      <p:sp>
        <p:nvSpPr>
          <p:cNvPr id="48" name="Shape 45"/>
          <p:cNvSpPr/>
          <p:nvPr/>
        </p:nvSpPr>
        <p:spPr>
          <a:xfrm>
            <a:off x="8595360" y="2651760"/>
            <a:ext cx="201168" cy="201168"/>
          </a:xfrm>
          <a:prstGeom prst="ellipse">
            <a:avLst/>
          </a:prstGeom>
          <a:solidFill>
            <a:srgbClr val="FFFFFF"/>
          </a:solidFill>
          <a:ln w="11430">
            <a:solidFill>
              <a:srgbClr val="50E6FF"/>
            </a:solidFill>
            <a:prstDash val="solid"/>
          </a:ln>
        </p:spPr>
      </p:sp>
      <p:sp>
        <p:nvSpPr>
          <p:cNvPr id="49" name="Text 46"/>
          <p:cNvSpPr/>
          <p:nvPr/>
        </p:nvSpPr>
        <p:spPr>
          <a:xfrm>
            <a:off x="8631936" y="2688336"/>
            <a:ext cx="128016" cy="91440"/>
          </a:xfrm>
          <a:prstGeom prst="rect">
            <a:avLst/>
          </a:prstGeom>
          <a:noFill/>
          <a:ln/>
        </p:spPr>
        <p:txBody>
          <a:bodyPr wrap="square" lIns="0" tIns="0" rIns="0" bIns="0" rtlCol="0" anchor="ctr"/>
          <a:lstStyle/>
          <a:p>
            <a:pPr algn="ctr" indent="0" marL="0">
              <a:buNone/>
            </a:pPr>
            <a:r>
              <a:rPr lang="en-US" sz="750" b="1" dirty="0">
                <a:solidFill>
                  <a:srgbClr val="005A9E"/>
                </a:solidFill>
                <a:latin typeface="Segoe UI Semibold" pitchFamily="34" charset="0"/>
                <a:ea typeface="Segoe UI Semibold" pitchFamily="34" charset="-122"/>
                <a:cs typeface="Segoe UI Semibold" pitchFamily="34" charset="-120"/>
              </a:rPr>
              <a:t>✓</a:t>
            </a:r>
            <a:endParaRPr lang="en-US" sz="750" dirty="0"/>
          </a:p>
        </p:txBody>
      </p:sp>
      <p:sp>
        <p:nvSpPr>
          <p:cNvPr id="50" name="Text 47"/>
          <p:cNvSpPr/>
          <p:nvPr/>
        </p:nvSpPr>
        <p:spPr>
          <a:xfrm>
            <a:off x="8942832" y="2642616"/>
            <a:ext cx="2057400" cy="192024"/>
          </a:xfrm>
          <a:prstGeom prst="rect">
            <a:avLst/>
          </a:prstGeom>
          <a:noFill/>
          <a:ln/>
        </p:spPr>
        <p:txBody>
          <a:bodyPr wrap="square" lIns="0" tIns="0" rIns="0" bIns="0" rtlCol="0" anchor="ctr">
            <a:normAutofit/>
          </a:bodyPr>
          <a:lstStyle/>
          <a:p>
            <a:pPr indent="0" marL="0">
              <a:buNone/>
            </a:pPr>
            <a:r>
              <a:rPr lang="en-US" sz="1020" dirty="0">
                <a:solidFill>
                  <a:srgbClr val="FFFFFF"/>
                </a:solidFill>
                <a:latin typeface="Segoe UI" pitchFamily="34" charset="0"/>
                <a:ea typeface="Segoe UI" pitchFamily="34" charset="-122"/>
                <a:cs typeface="Segoe UI" pitchFamily="34" charset="-120"/>
              </a:rPr>
              <a:t>Problem matches source</a:t>
            </a:r>
            <a:endParaRPr lang="en-US" sz="1020" dirty="0"/>
          </a:p>
        </p:txBody>
      </p:sp>
      <p:sp>
        <p:nvSpPr>
          <p:cNvPr id="51" name="Shape 48"/>
          <p:cNvSpPr/>
          <p:nvPr/>
        </p:nvSpPr>
        <p:spPr>
          <a:xfrm>
            <a:off x="8595360" y="3063240"/>
            <a:ext cx="201168" cy="201168"/>
          </a:xfrm>
          <a:prstGeom prst="ellipse">
            <a:avLst/>
          </a:prstGeom>
          <a:solidFill>
            <a:srgbClr val="FFFFFF"/>
          </a:solidFill>
          <a:ln w="11430">
            <a:solidFill>
              <a:srgbClr val="50E6FF"/>
            </a:solidFill>
            <a:prstDash val="solid"/>
          </a:ln>
        </p:spPr>
      </p:sp>
      <p:sp>
        <p:nvSpPr>
          <p:cNvPr id="52" name="Text 49"/>
          <p:cNvSpPr/>
          <p:nvPr/>
        </p:nvSpPr>
        <p:spPr>
          <a:xfrm>
            <a:off x="8631936" y="3099816"/>
            <a:ext cx="128016" cy="91440"/>
          </a:xfrm>
          <a:prstGeom prst="rect">
            <a:avLst/>
          </a:prstGeom>
          <a:noFill/>
          <a:ln/>
        </p:spPr>
        <p:txBody>
          <a:bodyPr wrap="square" lIns="0" tIns="0" rIns="0" bIns="0" rtlCol="0" anchor="ctr"/>
          <a:lstStyle/>
          <a:p>
            <a:pPr algn="ctr" indent="0" marL="0">
              <a:buNone/>
            </a:pPr>
            <a:r>
              <a:rPr lang="en-US" sz="750" b="1" dirty="0">
                <a:solidFill>
                  <a:srgbClr val="005A9E"/>
                </a:solidFill>
                <a:latin typeface="Segoe UI Semibold" pitchFamily="34" charset="0"/>
                <a:ea typeface="Segoe UI Semibold" pitchFamily="34" charset="-122"/>
                <a:cs typeface="Segoe UI Semibold" pitchFamily="34" charset="-120"/>
              </a:rPr>
              <a:t>✓</a:t>
            </a:r>
            <a:endParaRPr lang="en-US" sz="750" dirty="0"/>
          </a:p>
        </p:txBody>
      </p:sp>
      <p:sp>
        <p:nvSpPr>
          <p:cNvPr id="53" name="Text 50"/>
          <p:cNvSpPr/>
          <p:nvPr/>
        </p:nvSpPr>
        <p:spPr>
          <a:xfrm>
            <a:off x="8942832" y="3054096"/>
            <a:ext cx="2057400" cy="192024"/>
          </a:xfrm>
          <a:prstGeom prst="rect">
            <a:avLst/>
          </a:prstGeom>
          <a:noFill/>
          <a:ln/>
        </p:spPr>
        <p:txBody>
          <a:bodyPr wrap="square" lIns="0" tIns="0" rIns="0" bIns="0" rtlCol="0" anchor="ctr">
            <a:normAutofit/>
          </a:bodyPr>
          <a:lstStyle/>
          <a:p>
            <a:pPr indent="0" marL="0">
              <a:buNone/>
            </a:pPr>
            <a:r>
              <a:rPr lang="en-US" sz="1020" dirty="0">
                <a:solidFill>
                  <a:srgbClr val="FFFFFF"/>
                </a:solidFill>
                <a:latin typeface="Segoe UI" pitchFamily="34" charset="0"/>
                <a:ea typeface="Segoe UI" pitchFamily="34" charset="-122"/>
                <a:cs typeface="Segoe UI" pitchFamily="34" charset="-120"/>
              </a:rPr>
              <a:t>Capabilities match MVP</a:t>
            </a:r>
            <a:endParaRPr lang="en-US" sz="1020" dirty="0"/>
          </a:p>
        </p:txBody>
      </p:sp>
      <p:sp>
        <p:nvSpPr>
          <p:cNvPr id="54" name="Shape 51"/>
          <p:cNvSpPr/>
          <p:nvPr/>
        </p:nvSpPr>
        <p:spPr>
          <a:xfrm>
            <a:off x="8595360" y="3474720"/>
            <a:ext cx="201168" cy="201168"/>
          </a:xfrm>
          <a:prstGeom prst="ellipse">
            <a:avLst/>
          </a:prstGeom>
          <a:solidFill>
            <a:srgbClr val="FFFFFF"/>
          </a:solidFill>
          <a:ln w="11430">
            <a:solidFill>
              <a:srgbClr val="50E6FF"/>
            </a:solidFill>
            <a:prstDash val="solid"/>
          </a:ln>
        </p:spPr>
      </p:sp>
      <p:sp>
        <p:nvSpPr>
          <p:cNvPr id="55" name="Text 52"/>
          <p:cNvSpPr/>
          <p:nvPr/>
        </p:nvSpPr>
        <p:spPr>
          <a:xfrm>
            <a:off x="8631936" y="3511296"/>
            <a:ext cx="128016" cy="91440"/>
          </a:xfrm>
          <a:prstGeom prst="rect">
            <a:avLst/>
          </a:prstGeom>
          <a:noFill/>
          <a:ln/>
        </p:spPr>
        <p:txBody>
          <a:bodyPr wrap="square" lIns="0" tIns="0" rIns="0" bIns="0" rtlCol="0" anchor="ctr"/>
          <a:lstStyle/>
          <a:p>
            <a:pPr algn="ctr" indent="0" marL="0">
              <a:buNone/>
            </a:pPr>
            <a:r>
              <a:rPr lang="en-US" sz="750" b="1" dirty="0">
                <a:solidFill>
                  <a:srgbClr val="005A9E"/>
                </a:solidFill>
                <a:latin typeface="Segoe UI Semibold" pitchFamily="34" charset="0"/>
                <a:ea typeface="Segoe UI Semibold" pitchFamily="34" charset="-122"/>
                <a:cs typeface="Segoe UI Semibold" pitchFamily="34" charset="-120"/>
              </a:rPr>
              <a:t>✓</a:t>
            </a:r>
            <a:endParaRPr lang="en-US" sz="750" dirty="0"/>
          </a:p>
        </p:txBody>
      </p:sp>
      <p:sp>
        <p:nvSpPr>
          <p:cNvPr id="56" name="Text 53"/>
          <p:cNvSpPr/>
          <p:nvPr/>
        </p:nvSpPr>
        <p:spPr>
          <a:xfrm>
            <a:off x="8942832" y="3465576"/>
            <a:ext cx="2057400" cy="192024"/>
          </a:xfrm>
          <a:prstGeom prst="rect">
            <a:avLst/>
          </a:prstGeom>
          <a:noFill/>
          <a:ln/>
        </p:spPr>
        <p:txBody>
          <a:bodyPr wrap="square" lIns="0" tIns="0" rIns="0" bIns="0" rtlCol="0" anchor="ctr">
            <a:normAutofit/>
          </a:bodyPr>
          <a:lstStyle/>
          <a:p>
            <a:pPr indent="0" marL="0">
              <a:buNone/>
            </a:pPr>
            <a:r>
              <a:rPr lang="en-US" sz="1020" dirty="0">
                <a:solidFill>
                  <a:srgbClr val="FFFFFF"/>
                </a:solidFill>
                <a:latin typeface="Segoe UI" pitchFamily="34" charset="0"/>
                <a:ea typeface="Segoe UI" pitchFamily="34" charset="-122"/>
                <a:cs typeface="Segoe UI" pitchFamily="34" charset="-120"/>
              </a:rPr>
              <a:t>Demo uses synthetic data</a:t>
            </a:r>
            <a:endParaRPr lang="en-US" sz="1020" dirty="0"/>
          </a:p>
        </p:txBody>
      </p:sp>
      <p:sp>
        <p:nvSpPr>
          <p:cNvPr id="57" name="Shape 54"/>
          <p:cNvSpPr/>
          <p:nvPr/>
        </p:nvSpPr>
        <p:spPr>
          <a:xfrm>
            <a:off x="8595360" y="3886200"/>
            <a:ext cx="201168" cy="201168"/>
          </a:xfrm>
          <a:prstGeom prst="ellipse">
            <a:avLst/>
          </a:prstGeom>
          <a:solidFill>
            <a:srgbClr val="FFFFFF"/>
          </a:solidFill>
          <a:ln w="11430">
            <a:solidFill>
              <a:srgbClr val="50E6FF"/>
            </a:solidFill>
            <a:prstDash val="solid"/>
          </a:ln>
        </p:spPr>
      </p:sp>
      <p:sp>
        <p:nvSpPr>
          <p:cNvPr id="58" name="Text 55"/>
          <p:cNvSpPr/>
          <p:nvPr/>
        </p:nvSpPr>
        <p:spPr>
          <a:xfrm>
            <a:off x="8631936" y="3922776"/>
            <a:ext cx="128016" cy="91440"/>
          </a:xfrm>
          <a:prstGeom prst="rect">
            <a:avLst/>
          </a:prstGeom>
          <a:noFill/>
          <a:ln/>
        </p:spPr>
        <p:txBody>
          <a:bodyPr wrap="square" lIns="0" tIns="0" rIns="0" bIns="0" rtlCol="0" anchor="ctr"/>
          <a:lstStyle/>
          <a:p>
            <a:pPr algn="ctr" indent="0" marL="0">
              <a:buNone/>
            </a:pPr>
            <a:r>
              <a:rPr lang="en-US" sz="750" b="1" dirty="0">
                <a:solidFill>
                  <a:srgbClr val="005A9E"/>
                </a:solidFill>
                <a:latin typeface="Segoe UI Semibold" pitchFamily="34" charset="0"/>
                <a:ea typeface="Segoe UI Semibold" pitchFamily="34" charset="-122"/>
                <a:cs typeface="Segoe UI Semibold" pitchFamily="34" charset="-120"/>
              </a:rPr>
              <a:t>✓</a:t>
            </a:r>
            <a:endParaRPr lang="en-US" sz="750" dirty="0"/>
          </a:p>
        </p:txBody>
      </p:sp>
      <p:sp>
        <p:nvSpPr>
          <p:cNvPr id="59" name="Text 56"/>
          <p:cNvSpPr/>
          <p:nvPr/>
        </p:nvSpPr>
        <p:spPr>
          <a:xfrm>
            <a:off x="8942832" y="3877056"/>
            <a:ext cx="2057400" cy="192024"/>
          </a:xfrm>
          <a:prstGeom prst="rect">
            <a:avLst/>
          </a:prstGeom>
          <a:noFill/>
          <a:ln/>
        </p:spPr>
        <p:txBody>
          <a:bodyPr wrap="square" lIns="0" tIns="0" rIns="0" bIns="0" rtlCol="0" anchor="ctr">
            <a:normAutofit/>
          </a:bodyPr>
          <a:lstStyle/>
          <a:p>
            <a:pPr indent="0" marL="0">
              <a:buNone/>
            </a:pPr>
            <a:r>
              <a:rPr lang="en-US" sz="1020" dirty="0">
                <a:solidFill>
                  <a:srgbClr val="FFFFFF"/>
                </a:solidFill>
                <a:latin typeface="Segoe UI" pitchFamily="34" charset="0"/>
                <a:ea typeface="Segoe UI" pitchFamily="34" charset="-122"/>
                <a:cs typeface="Segoe UI" pitchFamily="34" charset="-120"/>
              </a:rPr>
              <a:t>Live connections reviewed</a:t>
            </a:r>
            <a:endParaRPr lang="en-US" sz="1020" dirty="0"/>
          </a:p>
        </p:txBody>
      </p:sp>
      <p:sp>
        <p:nvSpPr>
          <p:cNvPr id="60" name="Shape 57"/>
          <p:cNvSpPr/>
          <p:nvPr/>
        </p:nvSpPr>
        <p:spPr>
          <a:xfrm>
            <a:off x="8595360" y="4297680"/>
            <a:ext cx="201168" cy="201168"/>
          </a:xfrm>
          <a:prstGeom prst="ellipse">
            <a:avLst/>
          </a:prstGeom>
          <a:solidFill>
            <a:srgbClr val="FFFFFF"/>
          </a:solidFill>
          <a:ln w="11430">
            <a:solidFill>
              <a:srgbClr val="50E6FF"/>
            </a:solidFill>
            <a:prstDash val="solid"/>
          </a:ln>
        </p:spPr>
      </p:sp>
      <p:sp>
        <p:nvSpPr>
          <p:cNvPr id="61" name="Text 58"/>
          <p:cNvSpPr/>
          <p:nvPr/>
        </p:nvSpPr>
        <p:spPr>
          <a:xfrm>
            <a:off x="8631936" y="4334256"/>
            <a:ext cx="128016" cy="91440"/>
          </a:xfrm>
          <a:prstGeom prst="rect">
            <a:avLst/>
          </a:prstGeom>
          <a:noFill/>
          <a:ln/>
        </p:spPr>
        <p:txBody>
          <a:bodyPr wrap="square" lIns="0" tIns="0" rIns="0" bIns="0" rtlCol="0" anchor="ctr"/>
          <a:lstStyle/>
          <a:p>
            <a:pPr algn="ctr" indent="0" marL="0">
              <a:buNone/>
            </a:pPr>
            <a:r>
              <a:rPr lang="en-US" sz="750" b="1" dirty="0">
                <a:solidFill>
                  <a:srgbClr val="005A9E"/>
                </a:solidFill>
                <a:latin typeface="Segoe UI Semibold" pitchFamily="34" charset="0"/>
                <a:ea typeface="Segoe UI Semibold" pitchFamily="34" charset="-122"/>
                <a:cs typeface="Segoe UI Semibold" pitchFamily="34" charset="-120"/>
              </a:rPr>
              <a:t>✓</a:t>
            </a:r>
            <a:endParaRPr lang="en-US" sz="750" dirty="0"/>
          </a:p>
        </p:txBody>
      </p:sp>
      <p:sp>
        <p:nvSpPr>
          <p:cNvPr id="62" name="Text 59"/>
          <p:cNvSpPr/>
          <p:nvPr/>
        </p:nvSpPr>
        <p:spPr>
          <a:xfrm>
            <a:off x="8942832" y="4288536"/>
            <a:ext cx="2057400" cy="192024"/>
          </a:xfrm>
          <a:prstGeom prst="rect">
            <a:avLst/>
          </a:prstGeom>
          <a:noFill/>
          <a:ln/>
        </p:spPr>
        <p:txBody>
          <a:bodyPr wrap="square" lIns="0" tIns="0" rIns="0" bIns="0" rtlCol="0" anchor="ctr">
            <a:normAutofit/>
          </a:bodyPr>
          <a:lstStyle/>
          <a:p>
            <a:pPr indent="0" marL="0">
              <a:buNone/>
            </a:pPr>
            <a:r>
              <a:rPr lang="en-US" sz="1020" dirty="0">
                <a:solidFill>
                  <a:srgbClr val="FFFFFF"/>
                </a:solidFill>
                <a:latin typeface="Segoe UI" pitchFamily="34" charset="0"/>
                <a:ea typeface="Segoe UI" pitchFamily="34" charset="-122"/>
                <a:cs typeface="Segoe UI" pitchFamily="34" charset="-120"/>
              </a:rPr>
              <a:t>One happy + one edge test</a:t>
            </a:r>
            <a:endParaRPr lang="en-US" sz="1020" dirty="0"/>
          </a:p>
        </p:txBody>
      </p:sp>
      <p:sp>
        <p:nvSpPr>
          <p:cNvPr id="63" name="Shape 60"/>
          <p:cNvSpPr/>
          <p:nvPr/>
        </p:nvSpPr>
        <p:spPr>
          <a:xfrm>
            <a:off x="8595360" y="4709160"/>
            <a:ext cx="201168" cy="201168"/>
          </a:xfrm>
          <a:prstGeom prst="ellipse">
            <a:avLst/>
          </a:prstGeom>
          <a:solidFill>
            <a:srgbClr val="FFFFFF"/>
          </a:solidFill>
          <a:ln w="11430">
            <a:solidFill>
              <a:srgbClr val="50E6FF"/>
            </a:solidFill>
            <a:prstDash val="solid"/>
          </a:ln>
        </p:spPr>
      </p:sp>
      <p:sp>
        <p:nvSpPr>
          <p:cNvPr id="64" name="Text 61"/>
          <p:cNvSpPr/>
          <p:nvPr/>
        </p:nvSpPr>
        <p:spPr>
          <a:xfrm>
            <a:off x="8631936" y="4745736"/>
            <a:ext cx="128016" cy="91440"/>
          </a:xfrm>
          <a:prstGeom prst="rect">
            <a:avLst/>
          </a:prstGeom>
          <a:noFill/>
          <a:ln/>
        </p:spPr>
        <p:txBody>
          <a:bodyPr wrap="square" lIns="0" tIns="0" rIns="0" bIns="0" rtlCol="0" anchor="ctr"/>
          <a:lstStyle/>
          <a:p>
            <a:pPr algn="ctr" indent="0" marL="0">
              <a:buNone/>
            </a:pPr>
            <a:r>
              <a:rPr lang="en-US" sz="750" b="1" dirty="0">
                <a:solidFill>
                  <a:srgbClr val="005A9E"/>
                </a:solidFill>
                <a:latin typeface="Segoe UI Semibold" pitchFamily="34" charset="0"/>
                <a:ea typeface="Segoe UI Semibold" pitchFamily="34" charset="-122"/>
                <a:cs typeface="Segoe UI Semibold" pitchFamily="34" charset="-120"/>
              </a:rPr>
              <a:t>✓</a:t>
            </a:r>
            <a:endParaRPr lang="en-US" sz="750" dirty="0"/>
          </a:p>
        </p:txBody>
      </p:sp>
      <p:sp>
        <p:nvSpPr>
          <p:cNvPr id="65" name="Text 62"/>
          <p:cNvSpPr/>
          <p:nvPr/>
        </p:nvSpPr>
        <p:spPr>
          <a:xfrm>
            <a:off x="8942832" y="4700016"/>
            <a:ext cx="2057400" cy="192024"/>
          </a:xfrm>
          <a:prstGeom prst="rect">
            <a:avLst/>
          </a:prstGeom>
          <a:noFill/>
          <a:ln/>
        </p:spPr>
        <p:txBody>
          <a:bodyPr wrap="square" lIns="0" tIns="0" rIns="0" bIns="0" rtlCol="0" anchor="ctr">
            <a:normAutofit/>
          </a:bodyPr>
          <a:lstStyle/>
          <a:p>
            <a:pPr indent="0" marL="0">
              <a:buNone/>
            </a:pPr>
            <a:r>
              <a:rPr lang="en-US" sz="1020" dirty="0">
                <a:solidFill>
                  <a:srgbClr val="FFFFFF"/>
                </a:solidFill>
                <a:latin typeface="Segoe UI" pitchFamily="34" charset="0"/>
                <a:ea typeface="Segoe UI" pitchFamily="34" charset="-122"/>
                <a:cs typeface="Segoe UI" pitchFamily="34" charset="-120"/>
              </a:rPr>
              <a:t>Next improvement recorded</a:t>
            </a:r>
            <a:endParaRPr lang="en-US" sz="1020" dirty="0"/>
          </a:p>
        </p:txBody>
      </p:sp>
      <p:sp>
        <p:nvSpPr>
          <p:cNvPr id="66" name="Shape 63"/>
          <p:cNvSpPr/>
          <p:nvPr/>
        </p:nvSpPr>
        <p:spPr>
          <a:xfrm>
            <a:off x="8595360" y="5065776"/>
            <a:ext cx="1965960" cy="310896"/>
          </a:xfrm>
          <a:prstGeom prst="roundRect">
            <a:avLst/>
          </a:prstGeom>
          <a:solidFill>
            <a:srgbClr val="FFFFFF"/>
          </a:solidFill>
          <a:ln w="12700">
            <a:solidFill>
              <a:srgbClr val="FFFFFF">
                <a:alpha val="0"/>
              </a:srgbClr>
            </a:solidFill>
            <a:prstDash val="solid"/>
          </a:ln>
        </p:spPr>
      </p:sp>
      <p:sp>
        <p:nvSpPr>
          <p:cNvPr id="67" name="Text 64"/>
          <p:cNvSpPr/>
          <p:nvPr/>
        </p:nvSpPr>
        <p:spPr>
          <a:xfrm>
            <a:off x="8659368" y="5120640"/>
            <a:ext cx="1837944" cy="164592"/>
          </a:xfrm>
          <a:prstGeom prst="rect">
            <a:avLst/>
          </a:prstGeom>
          <a:noFill/>
          <a:ln/>
        </p:spPr>
        <p:txBody>
          <a:bodyPr wrap="square" lIns="0" tIns="0" rIns="0" bIns="0" rtlCol="0" anchor="ctr">
            <a:normAutofit/>
          </a:bodyPr>
          <a:lstStyle/>
          <a:p>
            <a:pPr algn="ctr" indent="0" marL="0">
              <a:buNone/>
            </a:pPr>
            <a:r>
              <a:rPr lang="en-US" sz="950" b="1" dirty="0">
                <a:solidFill>
                  <a:srgbClr val="005A9E"/>
                </a:solidFill>
                <a:latin typeface="Segoe UI Semibold" pitchFamily="34" charset="0"/>
                <a:ea typeface="Segoe UI Semibold" pitchFamily="34" charset="-122"/>
                <a:cs typeface="Segoe UI Semibold" pitchFamily="34" charset="-120"/>
              </a:rPr>
              <a:t>aka.ms/rappinstall</a:t>
            </a:r>
            <a:endParaRPr lang="en-US" sz="950" dirty="0"/>
          </a:p>
        </p:txBody>
      </p:sp>
      <p:sp>
        <p:nvSpPr>
          <p:cNvPr id="68" name="Text 65"/>
          <p:cNvSpPr/>
          <p:nvPr/>
        </p:nvSpPr>
        <p:spPr>
          <a:xfrm>
            <a:off x="1554480" y="5989320"/>
            <a:ext cx="5669280" cy="256032"/>
          </a:xfrm>
          <a:prstGeom prst="rect">
            <a:avLst/>
          </a:prstGeom>
          <a:noFill/>
          <a:ln/>
        </p:spPr>
        <p:txBody>
          <a:bodyPr wrap="square" lIns="0" tIns="0" rIns="0" bIns="0" rtlCol="0" anchor="ctr"/>
          <a:lstStyle/>
          <a:p>
            <a:pPr algn="ctr" indent="0" marL="0">
              <a:buNone/>
            </a:pPr>
            <a:r>
              <a:rPr lang="en-US" sz="1350" b="1" dirty="0">
                <a:solidFill>
                  <a:srgbClr val="103A6B"/>
                </a:solidFill>
                <a:latin typeface="Segoe UI Semibold" pitchFamily="34" charset="0"/>
                <a:ea typeface="Segoe UI Semibold" pitchFamily="34" charset="-122"/>
                <a:cs typeface="Segoe UI Semibold" pitchFamily="34" charset="-120"/>
              </a:rPr>
              <a:t>Use case in. Copilot Studio solution out.</a:t>
            </a:r>
            <a:endParaRPr lang="en-US" sz="1350" dirty="0"/>
          </a:p>
        </p:txBody>
      </p:sp>
      <p:sp>
        <p:nvSpPr>
          <p:cNvPr id="69" name="Text 66"/>
          <p:cNvSpPr/>
          <p:nvPr/>
        </p:nvSpPr>
        <p:spPr>
          <a:xfrm>
            <a:off x="9235440" y="6391656"/>
            <a:ext cx="2377440" cy="164592"/>
          </a:xfrm>
          <a:prstGeom prst="rect">
            <a:avLst/>
          </a:prstGeom>
          <a:noFill/>
          <a:ln/>
        </p:spPr>
        <p:txBody>
          <a:bodyPr wrap="square" lIns="0" tIns="0" rIns="0" bIns="0" rtlCol="0" anchor="ctr"/>
          <a:lstStyle/>
          <a:p>
            <a:pPr algn="r" indent="0" marL="0">
              <a:buNone/>
            </a:pPr>
            <a:r>
              <a:rPr lang="en-US" sz="880" dirty="0">
                <a:solidFill>
                  <a:srgbClr val="8A8886"/>
                </a:solidFill>
                <a:latin typeface="Segoe UI" pitchFamily="34" charset="0"/>
                <a:ea typeface="Segoe UI" pitchFamily="34" charset="-122"/>
                <a:cs typeface="Segoe UI" pitchFamily="34" charset="-120"/>
              </a:rPr>
              <a:t>Appendix  |  22</a:t>
            </a:r>
            <a:endParaRPr lang="en-US" sz="8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FY27 RAPP Workshop Deck</dc:title>
  <dc:subject>One-hour Documents to Copilot Studio workshop</dc:subject>
  <dc:creator>Microsoft MCAPS AIBAST</dc:creator>
  <cp:lastModifiedBy>Microsoft MCAPS AIBAST</cp:lastModifiedBy>
  <cp:revision>1</cp:revision>
  <dcterms:created xsi:type="dcterms:W3CDTF">2026-07-13T14:50:32Z</dcterms:created>
  <dcterms:modified xsi:type="dcterms:W3CDTF">2026-07-13T14:50:32Z</dcterms:modified>
</cp:coreProperties>
</file>