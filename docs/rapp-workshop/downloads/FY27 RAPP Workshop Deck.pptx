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hyperlink" Target="https://aka.ms/rappinstall" TargetMode="External"/><Relationship Id="rId4" Type="http://schemas.openxmlformats.org/officeDocument/2006/relationships/hyperlink" Target="https://blazingbeard.github.io/quests/rapp-brainstem.html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5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201400" y="420624"/>
            <a:ext cx="96012" cy="96012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1314694" y="420624"/>
            <a:ext cx="96012" cy="96012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201400" y="533918"/>
            <a:ext cx="96012" cy="96012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14694" y="533918"/>
            <a:ext cx="96012" cy="96012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5303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10" kern="0" dirty="0">
                <a:solidFill>
                  <a:srgbClr val="BFE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 |  MCAPS AIBAST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13232" y="1298448"/>
            <a:ext cx="640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FY27 RAPP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Workshop</a:t>
            </a:r>
            <a:endParaRPr lang="en-US" sz="3500" dirty="0"/>
          </a:p>
        </p:txBody>
      </p:sp>
      <p:sp>
        <p:nvSpPr>
          <p:cNvPr id="9" name="Text 6"/>
          <p:cNvSpPr/>
          <p:nvPr/>
        </p:nvSpPr>
        <p:spPr>
          <a:xfrm>
            <a:off x="731520" y="2880360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E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Documents → Copilot Studio in 60 minutes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31520" y="3493008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DCEE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facilitator-ready, hands-on path from a customer discovery document to a reviewable Copilot Studio solution.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7818120" y="1234440"/>
            <a:ext cx="3337560" cy="3337560"/>
          </a:xfrm>
          <a:prstGeom prst="roundRect">
            <a:avLst/>
          </a:prstGeom>
          <a:solidFill>
            <a:srgbClr val="0B2A4A">
              <a:alpha val="84000"/>
            </a:srgbClr>
          </a:solidFill>
          <a:ln w="15240">
            <a:solidFill>
              <a:srgbClr val="BFE6FF">
                <a:alpha val="48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01584" y="1755648"/>
            <a:ext cx="27432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8302752" y="3127248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90" kern="0" dirty="0">
                <a:solidFill>
                  <a:srgbClr val="50E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MINUTES TO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spc="90" kern="0" dirty="0">
                <a:solidFill>
                  <a:srgbClr val="50E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WORKING PROTOTYPE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479792" y="510235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96912" y="5541264"/>
            <a:ext cx="6583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DCEE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7982712" y="5152644"/>
            <a:ext cx="1097280" cy="201168"/>
          </a:xfrm>
          <a:prstGeom prst="chevron">
            <a:avLst/>
          </a:prstGeom>
          <a:solidFill>
            <a:srgbClr val="FFFFFF">
              <a:alpha val="5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235440" y="5102352"/>
            <a:ext cx="292608" cy="292608"/>
          </a:xfrm>
          <a:prstGeom prst="ellipse">
            <a:avLst/>
          </a:prstGeom>
          <a:solidFill>
            <a:srgbClr val="50E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52560" y="5541264"/>
            <a:ext cx="6583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DCEE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MVP</a:t>
            </a:r>
            <a:endParaRPr lang="en-US" sz="830" dirty="0"/>
          </a:p>
        </p:txBody>
      </p:sp>
      <p:sp>
        <p:nvSpPr>
          <p:cNvPr id="19" name="Shape 16"/>
          <p:cNvSpPr/>
          <p:nvPr/>
        </p:nvSpPr>
        <p:spPr>
          <a:xfrm>
            <a:off x="9738360" y="5152644"/>
            <a:ext cx="749808" cy="201168"/>
          </a:xfrm>
          <a:prstGeom prst="chevron">
            <a:avLst/>
          </a:prstGeom>
          <a:solidFill>
            <a:srgbClr val="FFFFFF">
              <a:alpha val="5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625328" y="510235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442448" y="5541264"/>
            <a:ext cx="6583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DCEE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SOLUTION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731520" y="6236208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Facilitator + participant deck  |  FY27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WORKSHOP PROMISE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7452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 xml:space="preserve">By minute 60, </a:t>
            </a:r>
            <a:pPr indent="0" marL="0">
              <a:buNone/>
            </a:pPr>
            <a:r>
              <a:rPr lang="en-US" sz="28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document</a:t>
            </a:r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 xml:space="preserve"> becomes a working Copilot Studio prototype.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58368" y="2350008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6773" y="2364638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87552" y="2331720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a focused MVP from customer evidence.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658368" y="2990088"/>
            <a:ext cx="228600" cy="22860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6773" y="3004718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87552" y="2971800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agent files plus live and demo solution twins.</a:t>
            </a:r>
            <a:endParaRPr lang="en-US" sz="1320" dirty="0"/>
          </a:p>
        </p:txBody>
      </p:sp>
      <p:sp>
        <p:nvSpPr>
          <p:cNvPr id="16" name="Shape 14"/>
          <p:cNvSpPr/>
          <p:nvPr/>
        </p:nvSpPr>
        <p:spPr>
          <a:xfrm>
            <a:off x="658368" y="3630168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6773" y="3644798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87552" y="3611880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to a chosen environment and test in Copilot Studio.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658368" y="4270248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8661C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6773" y="4284878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87552" y="4251960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the five-step RAPP process to someone else.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7635240" y="1152144"/>
            <a:ext cx="3822192" cy="4480560"/>
          </a:xfrm>
          <a:prstGeom prst="round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955280" y="1618488"/>
            <a:ext cx="749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8759952" y="187452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 INPUT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348472" y="2542032"/>
            <a:ext cx="2377440" cy="310896"/>
          </a:xfrm>
          <a:prstGeom prst="chevron">
            <a:avLst/>
          </a:prstGeom>
          <a:solidFill>
            <a:srgbClr val="FFFFFF">
              <a:alpha val="7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0" y="3054096"/>
            <a:ext cx="749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8759952" y="331012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SOLUTION TWINS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348472" y="3977640"/>
            <a:ext cx="2377440" cy="310896"/>
          </a:xfrm>
          <a:prstGeom prst="chevron">
            <a:avLst/>
          </a:prstGeom>
          <a:solidFill>
            <a:srgbClr val="FFFFFF">
              <a:alpha val="7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0" y="4480560"/>
            <a:ext cx="749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8759952" y="47365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577072" y="5166360"/>
            <a:ext cx="1965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41080" y="5221224"/>
            <a:ext cx="1837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BUILD ALONG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02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 OF SHOW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hour, weighted toward hands-on work.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58368" y="2286000"/>
            <a:ext cx="1813560" cy="914400"/>
          </a:xfrm>
          <a:prstGeom prst="roundRect">
            <a:avLst/>
          </a:prstGeom>
          <a:solidFill>
            <a:srgbClr val="103A6B"/>
          </a:solidFill>
          <a:ln w="1397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4088" y="2459736"/>
            <a:ext cx="1722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00-10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04088" y="2724912"/>
            <a:ext cx="1722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CEE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ALIGN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2471928" y="2286000"/>
            <a:ext cx="906780" cy="914400"/>
          </a:xfrm>
          <a:prstGeom prst="rect">
            <a:avLst/>
          </a:prstGeom>
          <a:solidFill>
            <a:srgbClr val="D83B01"/>
          </a:solidFill>
          <a:ln w="1397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517648" y="2459736"/>
            <a:ext cx="8153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10-15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517648" y="2724912"/>
            <a:ext cx="8153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CEE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SCENARIO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3378708" y="2286000"/>
            <a:ext cx="1994916" cy="914400"/>
          </a:xfrm>
          <a:prstGeom prst="rect">
            <a:avLst/>
          </a:prstGeom>
          <a:solidFill>
            <a:srgbClr val="0078D4"/>
          </a:solidFill>
          <a:ln w="1397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24428" y="2459736"/>
            <a:ext cx="19034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15-26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424428" y="2724912"/>
            <a:ext cx="19034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CEE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IN + DOCS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5373624" y="2286000"/>
            <a:ext cx="1450848" cy="914400"/>
          </a:xfrm>
          <a:prstGeom prst="rect">
            <a:avLst/>
          </a:prstGeom>
          <a:solidFill>
            <a:srgbClr val="107C10"/>
          </a:solidFill>
          <a:ln w="1397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419344" y="2459736"/>
            <a:ext cx="13594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26-34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419344" y="2724912"/>
            <a:ext cx="13594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CEE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MVP GATE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6824472" y="2286000"/>
            <a:ext cx="1813560" cy="914400"/>
          </a:xfrm>
          <a:prstGeom prst="rect">
            <a:avLst/>
          </a:prstGeom>
          <a:solidFill>
            <a:srgbClr val="8661C5"/>
          </a:solidFill>
          <a:ln w="1397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70192" y="2459736"/>
            <a:ext cx="1722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34-44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870192" y="2724912"/>
            <a:ext cx="1722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CEE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GENERATE + REVIEW</a:t>
            </a:r>
            <a:endParaRPr lang="en-US" sz="880" dirty="0"/>
          </a:p>
        </p:txBody>
      </p:sp>
      <p:sp>
        <p:nvSpPr>
          <p:cNvPr id="26" name="Shape 23"/>
          <p:cNvSpPr/>
          <p:nvPr/>
        </p:nvSpPr>
        <p:spPr>
          <a:xfrm>
            <a:off x="8638032" y="2286000"/>
            <a:ext cx="1450848" cy="914400"/>
          </a:xfrm>
          <a:prstGeom prst="rect">
            <a:avLst/>
          </a:prstGeom>
          <a:solidFill>
            <a:srgbClr val="005A9E"/>
          </a:solidFill>
          <a:ln w="1397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83752" y="2459736"/>
            <a:ext cx="13594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44-52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683752" y="2724912"/>
            <a:ext cx="13594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CEE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</a:t>
            </a:r>
            <a:endParaRPr lang="en-US" sz="880" dirty="0"/>
          </a:p>
        </p:txBody>
      </p:sp>
      <p:sp>
        <p:nvSpPr>
          <p:cNvPr id="29" name="Shape 26"/>
          <p:cNvSpPr/>
          <p:nvPr/>
        </p:nvSpPr>
        <p:spPr>
          <a:xfrm>
            <a:off x="10088880" y="2286000"/>
            <a:ext cx="725424" cy="914400"/>
          </a:xfrm>
          <a:prstGeom prst="rect">
            <a:avLst/>
          </a:prstGeom>
          <a:solidFill>
            <a:srgbClr val="D83B01"/>
          </a:solidFill>
          <a:ln w="1397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134600" y="2459736"/>
            <a:ext cx="6339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52-56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0134600" y="2724912"/>
            <a:ext cx="6339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EE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10814304" y="2286000"/>
            <a:ext cx="725424" cy="914400"/>
          </a:xfrm>
          <a:prstGeom prst="roundRect">
            <a:avLst/>
          </a:prstGeom>
          <a:solidFill>
            <a:srgbClr val="0B560B"/>
          </a:solidFill>
          <a:ln w="1397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860024" y="2459736"/>
            <a:ext cx="6339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56-60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10860024" y="2724912"/>
            <a:ext cx="6339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EE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CLOSE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822960" y="3749040"/>
            <a:ext cx="2240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960120" y="3931920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26</a:t>
            </a:r>
            <a:endParaRPr lang="en-US" sz="2500" dirty="0"/>
          </a:p>
        </p:txBody>
      </p:sp>
      <p:sp>
        <p:nvSpPr>
          <p:cNvPr id="37" name="Text 34"/>
          <p:cNvSpPr/>
          <p:nvPr/>
        </p:nvSpPr>
        <p:spPr>
          <a:xfrm>
            <a:off x="1645920" y="3968496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 ready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1645920" y="436168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 set accepted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3429000" y="3749040"/>
            <a:ext cx="2240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40" name="Text 37"/>
          <p:cNvSpPr/>
          <p:nvPr/>
        </p:nvSpPr>
        <p:spPr>
          <a:xfrm>
            <a:off x="3566160" y="3931920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34</a:t>
            </a:r>
            <a:endParaRPr lang="en-US" sz="2500" dirty="0"/>
          </a:p>
        </p:txBody>
      </p:sp>
      <p:sp>
        <p:nvSpPr>
          <p:cNvPr id="41" name="Text 38"/>
          <p:cNvSpPr/>
          <p:nvPr/>
        </p:nvSpPr>
        <p:spPr>
          <a:xfrm>
            <a:off x="4251960" y="3968496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MVP confirmed</a:t>
            </a:r>
            <a:endParaRPr lang="en-US" sz="1250" dirty="0"/>
          </a:p>
        </p:txBody>
      </p:sp>
      <p:sp>
        <p:nvSpPr>
          <p:cNvPr id="42" name="Text 39"/>
          <p:cNvSpPr/>
          <p:nvPr/>
        </p:nvSpPr>
        <p:spPr>
          <a:xfrm>
            <a:off x="4251960" y="436168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 gate passed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035040" y="3749040"/>
            <a:ext cx="2240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6172200" y="3931920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44</a:t>
            </a:r>
            <a:endParaRPr lang="en-US" sz="2500" dirty="0"/>
          </a:p>
        </p:txBody>
      </p:sp>
      <p:sp>
        <p:nvSpPr>
          <p:cNvPr id="45" name="Text 42"/>
          <p:cNvSpPr/>
          <p:nvPr/>
        </p:nvSpPr>
        <p:spPr>
          <a:xfrm>
            <a:off x="6858000" y="3968496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Assets packaged</a:t>
            </a:r>
            <a:endParaRPr lang="en-US" sz="1250" dirty="0"/>
          </a:p>
        </p:txBody>
      </p:sp>
      <p:sp>
        <p:nvSpPr>
          <p:cNvPr id="46" name="Text 43"/>
          <p:cNvSpPr/>
          <p:nvPr/>
        </p:nvSpPr>
        <p:spPr>
          <a:xfrm>
            <a:off x="6858000" y="436168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+ live twins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8641080" y="3749040"/>
            <a:ext cx="2240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48" name="Text 45"/>
          <p:cNvSpPr/>
          <p:nvPr/>
        </p:nvSpPr>
        <p:spPr>
          <a:xfrm>
            <a:off x="8778240" y="3931920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56</a:t>
            </a:r>
            <a:endParaRPr lang="en-US" sz="2500" dirty="0"/>
          </a:p>
        </p:txBody>
      </p:sp>
      <p:sp>
        <p:nvSpPr>
          <p:cNvPr id="49" name="Text 46"/>
          <p:cNvSpPr/>
          <p:nvPr/>
        </p:nvSpPr>
        <p:spPr>
          <a:xfrm>
            <a:off x="9464040" y="3968496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tested</a:t>
            </a:r>
            <a:endParaRPr lang="en-US" sz="1250" dirty="0"/>
          </a:p>
        </p:txBody>
      </p:sp>
      <p:sp>
        <p:nvSpPr>
          <p:cNvPr id="50" name="Text 47"/>
          <p:cNvSpPr/>
          <p:nvPr/>
        </p:nvSpPr>
        <p:spPr>
          <a:xfrm>
            <a:off x="9464040" y="436168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captured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3794760" y="5559552"/>
            <a:ext cx="4617720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858768" y="5614416"/>
            <a:ext cx="4489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45 MINUTES HANDS-ON AFTER ALIGNMENT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03</a:t>
            </a:r>
            <a:endParaRPr lang="en-US" sz="8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MENTAL MODEL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8961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 xml:space="preserve">RAPP is the </a:t>
            </a:r>
            <a:pPr indent="0" marL="0">
              <a:buNone/>
            </a:pPr>
            <a:r>
              <a:rPr lang="en-US" sz="26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on-ramp</a:t>
            </a:r>
            <a:pPr indent="0" marL="0">
              <a:buNone/>
            </a:pPr>
            <a:r>
              <a:rPr lang="en-US" sz="26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not another destination.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94360" y="199339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turns customer evidence into portable agent logic, then translates that work into the Microsoft stack that fits.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" y="2907792"/>
            <a:ext cx="4892040" cy="2148840"/>
          </a:xfrm>
          <a:prstGeom prst="roundRect">
            <a:avLst/>
          </a:prstGeom>
          <a:solidFill>
            <a:srgbClr val="EAF4FD"/>
          </a:solidFill>
          <a:ln w="12700">
            <a:solidFill>
              <a:srgbClr val="BFE6FF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246120"/>
            <a:ext cx="566928" cy="5669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340156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27632" y="32278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evidence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27632" y="3621024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Transcript, requirements, notes, tables, or existing agent source.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" y="44074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this workshop: RAPP = the five-step Documents → Copilot Studio workflow.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6080760" y="1920240"/>
            <a:ext cx="1572768" cy="1508760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pic>
        <p:nvPicPr>
          <p:cNvPr id="18" name="Image 0" descr="Power Apps"/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6528816" y="2148840"/>
            <a:ext cx="676656" cy="67665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190488" y="2971800"/>
            <a:ext cx="1353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Power Apps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927848" y="1920240"/>
            <a:ext cx="1572768" cy="1508760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pic>
        <p:nvPicPr>
          <p:cNvPr id="21" name="Image 1" descr="Copilot Studi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5904" y="2148840"/>
            <a:ext cx="676656" cy="67665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037576" y="2971800"/>
            <a:ext cx="1353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Copilot Studio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9774936" y="1920240"/>
            <a:ext cx="1572768" cy="1508760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pic>
        <p:nvPicPr>
          <p:cNvPr id="24" name="Image 2" descr="Power Automate"/>
          <p:cNvPicPr>
            <a:picLocks noChangeAspect="1"/>
          </p:cNvPicPr>
          <p:nvPr/>
        </p:nvPicPr>
        <p:blipFill>
          <a:blip r:embed="rId3">
            <a:alphaModFix amt="65000"/>
          </a:blip>
          <a:stretch>
            <a:fillRect/>
          </a:stretch>
        </p:blipFill>
        <p:spPr>
          <a:xfrm>
            <a:off x="10222992" y="2148840"/>
            <a:ext cx="676656" cy="6766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884664" y="2971800"/>
            <a:ext cx="1353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Power Automate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6080760" y="3749040"/>
            <a:ext cx="1572768" cy="1508760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pic>
        <p:nvPicPr>
          <p:cNvPr id="27" name="Image 3" descr="Power BI"/>
          <p:cNvPicPr>
            <a:picLocks noChangeAspect="1"/>
          </p:cNvPicPr>
          <p:nvPr/>
        </p:nvPicPr>
        <p:blipFill>
          <a:blip r:embed="rId4">
            <a:alphaModFix amt="65000"/>
          </a:blip>
          <a:stretch>
            <a:fillRect/>
          </a:stretch>
        </p:blipFill>
        <p:spPr>
          <a:xfrm>
            <a:off x="6528816" y="3977640"/>
            <a:ext cx="676656" cy="67665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190488" y="4800600"/>
            <a:ext cx="1353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Power BI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7927848" y="3749040"/>
            <a:ext cx="1572768" cy="1508760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4" descr="Dataverse"/>
          <p:cNvPicPr>
            <a:picLocks noChangeAspect="1"/>
          </p:cNvPicPr>
          <p:nvPr/>
        </p:nvPicPr>
        <p:blipFill>
          <a:blip r:embed="rId5">
            <a:alphaModFix amt="65000"/>
          </a:blip>
          <a:stretch>
            <a:fillRect/>
          </a:stretch>
        </p:blipFill>
        <p:spPr>
          <a:xfrm>
            <a:off x="8375904" y="3977640"/>
            <a:ext cx="676656" cy="67665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8037576" y="4800600"/>
            <a:ext cx="1353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Dataverse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9774936" y="3749040"/>
            <a:ext cx="1572768" cy="1508760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pic>
        <p:nvPicPr>
          <p:cNvPr id="33" name="Image 5" descr="Azure AI Foundry"/>
          <p:cNvPicPr>
            <a:picLocks noChangeAspect="1"/>
          </p:cNvPicPr>
          <p:nvPr/>
        </p:nvPicPr>
        <p:blipFill>
          <a:blip r:embed="rId6">
            <a:alphaModFix amt="65000"/>
          </a:blip>
          <a:stretch>
            <a:fillRect/>
          </a:stretch>
        </p:blipFill>
        <p:spPr>
          <a:xfrm>
            <a:off x="10222992" y="3977640"/>
            <a:ext cx="676656" cy="676656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884664" y="4800600"/>
            <a:ext cx="1353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AI Foundry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5321808" y="3154680"/>
            <a:ext cx="411480" cy="457200"/>
          </a:xfrm>
          <a:prstGeom prst="chevron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04</a:t>
            </a:r>
            <a:endParaRPr lang="en-US" sz="8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RAPP PROCESS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guided steps. Three explicit human decisions.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58368" y="1993392"/>
            <a:ext cx="19659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293876" y="2267712"/>
            <a:ext cx="694944" cy="694944"/>
          </a:xfrm>
          <a:prstGeom prst="ellipse">
            <a:avLst/>
          </a:prstGeom>
          <a:solidFill>
            <a:srgbClr val="DCEEFF"/>
          </a:solidFill>
          <a:ln w="17780">
            <a:solidFill>
              <a:srgbClr val="0078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58468" y="2432304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04672" y="3182112"/>
            <a:ext cx="1673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8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IN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361188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Authenticate generation and environment access.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688336" y="2990088"/>
            <a:ext cx="182880" cy="411480"/>
          </a:xfrm>
          <a:prstGeom prst="chevron">
            <a:avLst/>
          </a:prstGeom>
          <a:solidFill>
            <a:srgbClr val="8A8886">
              <a:alpha val="65000"/>
            </a:srgbClr>
          </a:solidFill>
          <a:ln w="12700">
            <a:solidFill>
              <a:srgbClr val="8A888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26080" y="1993392"/>
            <a:ext cx="19659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7C10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561588" y="2267712"/>
            <a:ext cx="694944" cy="694944"/>
          </a:xfrm>
          <a:prstGeom prst="ellipse">
            <a:avLst/>
          </a:prstGeom>
          <a:solidFill>
            <a:srgbClr val="DFF6DD"/>
          </a:solidFill>
          <a:ln w="17780">
            <a:solidFill>
              <a:srgbClr val="107C1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26180" y="2432304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072384" y="3182112"/>
            <a:ext cx="1673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80" kern="0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090672" y="361188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 evidence and name the solution.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956048" y="2990088"/>
            <a:ext cx="182880" cy="411480"/>
          </a:xfrm>
          <a:prstGeom prst="chevron">
            <a:avLst/>
          </a:prstGeom>
          <a:solidFill>
            <a:srgbClr val="8A8886">
              <a:alpha val="65000"/>
            </a:srgbClr>
          </a:solidFill>
          <a:ln w="12700">
            <a:solidFill>
              <a:srgbClr val="8A8886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3792" y="1993392"/>
            <a:ext cx="19659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29300" y="2267712"/>
            <a:ext cx="694944" cy="694944"/>
          </a:xfrm>
          <a:prstGeom prst="ellipse">
            <a:avLst/>
          </a:prstGeom>
          <a:solidFill>
            <a:srgbClr val="F9E3DB"/>
          </a:solidFill>
          <a:ln w="17780">
            <a:solidFill>
              <a:srgbClr val="D83B0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93892" y="2432304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340096" y="3182112"/>
            <a:ext cx="1673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80" kern="0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MVP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358384" y="361188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or confirm the derived use case.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223760" y="2990088"/>
            <a:ext cx="182880" cy="411480"/>
          </a:xfrm>
          <a:prstGeom prst="chevron">
            <a:avLst/>
          </a:prstGeom>
          <a:solidFill>
            <a:srgbClr val="8A8886">
              <a:alpha val="65000"/>
            </a:srgbClr>
          </a:solidFill>
          <a:ln w="12700">
            <a:solidFill>
              <a:srgbClr val="8A8886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61504" y="1993392"/>
            <a:ext cx="19659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97012" y="2267712"/>
            <a:ext cx="694944" cy="694944"/>
          </a:xfrm>
          <a:prstGeom prst="ellipse">
            <a:avLst/>
          </a:prstGeom>
          <a:solidFill>
            <a:srgbClr val="EDE7F6"/>
          </a:solidFill>
          <a:ln w="17780">
            <a:solidFill>
              <a:srgbClr val="8661C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61604" y="2432304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607808" y="3182112"/>
            <a:ext cx="1673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80" kern="0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626096" y="361188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agents, twins, and connector plan.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491472" y="2990088"/>
            <a:ext cx="182880" cy="411480"/>
          </a:xfrm>
          <a:prstGeom prst="chevron">
            <a:avLst/>
          </a:prstGeom>
          <a:solidFill>
            <a:srgbClr val="8A8886">
              <a:alpha val="65000"/>
            </a:srgbClr>
          </a:solidFill>
          <a:ln w="12700">
            <a:solidFill>
              <a:srgbClr val="8A8886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29216" y="1993392"/>
            <a:ext cx="19659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3A6B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364724" y="2267712"/>
            <a:ext cx="694944" cy="694944"/>
          </a:xfrm>
          <a:prstGeom prst="ellipse">
            <a:avLst/>
          </a:prstGeom>
          <a:solidFill>
            <a:srgbClr val="EAF4FD"/>
          </a:solidFill>
          <a:ln w="17780">
            <a:solidFill>
              <a:srgbClr val="103A6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529316" y="2432304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9875520" y="3182112"/>
            <a:ext cx="1673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80" kern="0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9893808" y="361188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environment, import, then publish.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193792" y="4892040"/>
            <a:ext cx="1627632" cy="310896"/>
          </a:xfrm>
          <a:prstGeom prst="roundRect">
            <a:avLst/>
          </a:prstGeom>
          <a:solidFill>
            <a:srgbClr val="FFF4CE"/>
          </a:solidFill>
          <a:ln w="12700">
            <a:solidFill>
              <a:srgbClr val="FFF4CE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57800" y="4946904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B3A3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CONFIRM SCOPE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7461504" y="4892040"/>
            <a:ext cx="1627632" cy="310896"/>
          </a:xfrm>
          <a:prstGeom prst="roundRect">
            <a:avLst/>
          </a:prstGeom>
          <a:solidFill>
            <a:srgbClr val="FFF4CE"/>
          </a:solidFill>
          <a:ln w="12700">
            <a:solidFill>
              <a:srgbClr val="FFF4CE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525512" y="4946904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B3A3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APPROVE ASSETS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9729216" y="4892040"/>
            <a:ext cx="1627632" cy="310896"/>
          </a:xfrm>
          <a:prstGeom prst="roundRect">
            <a:avLst/>
          </a:prstGeom>
          <a:solidFill>
            <a:srgbClr val="FFF4CE"/>
          </a:solidFill>
          <a:ln w="12700">
            <a:solidFill>
              <a:srgbClr val="FFF4CE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793224" y="4946904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B3A3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DEPLOY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2880360" y="54406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Nothing is built or deployed without your say-so.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05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WORKSHOP SCENARIO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 xml:space="preserve">Our build: </a:t>
            </a:r>
            <a:pPr indent="0" marL="0">
              <a:buNone/>
            </a:pPr>
            <a:r>
              <a:rPr lang="en-US" sz="280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Facilities Service Request Assistant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0515600" y="713232"/>
            <a:ext cx="1097280" cy="365760"/>
          </a:xfrm>
          <a:prstGeom prst="round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88752" y="804672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874520"/>
            <a:ext cx="5074920" cy="3611880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96112" y="2139696"/>
            <a:ext cx="2468880" cy="310896"/>
          </a:xfrm>
          <a:prstGeom prst="roundRect">
            <a:avLst/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194560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9729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MEETING TRANSCRIPT EXCERPT</a:t>
            </a:r>
            <a:endParaRPr lang="en-US" sz="940" dirty="0"/>
          </a:p>
        </p:txBody>
      </p:sp>
      <p:sp>
        <p:nvSpPr>
          <p:cNvPr id="15" name="Text 13"/>
          <p:cNvSpPr/>
          <p:nvPr/>
        </p:nvSpPr>
        <p:spPr>
          <a:xfrm>
            <a:off x="914400" y="276148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29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Facilities lead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4400" y="3054096"/>
            <a:ext cx="41605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329184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"Employees report building issues through email and chat. The assistant should collect location, issue type, and urgency; summarize the request; answer from the maintenance FAQ; and create a synthetic service-request receipt."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4736592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is enough signal to begin because it names the user, problem, workflow, outputs, and safety boundary.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1993392"/>
            <a:ext cx="2331720" cy="1170432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263640" y="21945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Intake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6032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for location, type, urgency.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8686800" y="1993392"/>
            <a:ext cx="2331720" cy="1170432"/>
          </a:xfrm>
          <a:prstGeom prst="roundRect">
            <a:avLst/>
          </a:prstGeom>
          <a:solidFill>
            <a:srgbClr val="F9E3DB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869680" y="21945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Triage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869680" y="256032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 and summarize the issue.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6080760" y="3410712"/>
            <a:ext cx="2331720" cy="1170432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263640" y="3611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263640" y="397764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 replies in maintenance guidance.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8686800" y="3410712"/>
            <a:ext cx="2331720" cy="1170432"/>
          </a:xfrm>
          <a:prstGeom prst="roundRect">
            <a:avLst/>
          </a:prstGeom>
          <a:solidFill>
            <a:srgbClr val="EDE7F6"/>
          </a:solidFill>
          <a:ln w="12700">
            <a:solidFill>
              <a:srgbClr val="8661C5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869680" y="3611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Create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869680" y="397764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Simulate or create a service request.</a:t>
            </a:r>
            <a:endParaRPr lang="en-US" sz="1080" dirty="0"/>
          </a:p>
        </p:txBody>
      </p:sp>
      <p:sp>
        <p:nvSpPr>
          <p:cNvPr id="31" name="Shape 29"/>
          <p:cNvSpPr/>
          <p:nvPr/>
        </p:nvSpPr>
        <p:spPr>
          <a:xfrm>
            <a:off x="6080760" y="4800600"/>
            <a:ext cx="4937760" cy="749808"/>
          </a:xfrm>
          <a:prstGeom prst="roundRect">
            <a:avLst/>
          </a:prstGeom>
          <a:solidFill>
            <a:srgbClr val="103A6B"/>
          </a:solidFill>
          <a:ln w="12700">
            <a:solidFill>
              <a:srgbClr val="103A6B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336792" y="5010912"/>
            <a:ext cx="4425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SUCCESS  |  Under 2 min; critical flagged; no production actions.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06</a:t>
            </a:r>
            <a:endParaRPr lang="en-US" sz="8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GOES INTO THE HOPPER?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More detail helps. More noise does not.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594360" y="1847088"/>
            <a:ext cx="3456432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7C10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50392" y="2103120"/>
            <a:ext cx="1737360" cy="310896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157984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INCLUDE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50392" y="2743200"/>
            <a:ext cx="228600" cy="22860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8797" y="2757830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179576" y="272491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Business problem + desired outcome</a:t>
            </a:r>
            <a:endParaRPr lang="en-US" sz="1320" dirty="0"/>
          </a:p>
        </p:txBody>
      </p:sp>
      <p:sp>
        <p:nvSpPr>
          <p:cNvPr id="16" name="Shape 14"/>
          <p:cNvSpPr/>
          <p:nvPr/>
        </p:nvSpPr>
        <p:spPr>
          <a:xfrm>
            <a:off x="850392" y="3273552"/>
            <a:ext cx="228600" cy="22860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8797" y="3288182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79576" y="3255264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Primary users and current workflow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850392" y="3803904"/>
            <a:ext cx="228600" cy="22860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8797" y="3818534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79576" y="3785616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One to three priority capabilities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850392" y="4334256"/>
            <a:ext cx="228600" cy="22860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8797" y="4348886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79576" y="4315968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Constraints, systems, and success measure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4361688" y="1847088"/>
            <a:ext cx="3456432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17720" y="2103120"/>
            <a:ext cx="1737360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81728" y="2157984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HELPFUL EVIDENCE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617720" y="2743200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56125" y="2757830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946904" y="272491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Example requests and expected replies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4617720" y="3273552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56125" y="3288182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46904" y="3255264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Domain terms, policies, or tables</a:t>
            </a:r>
            <a:endParaRPr lang="en-US" sz="1320" dirty="0"/>
          </a:p>
        </p:txBody>
      </p:sp>
      <p:sp>
        <p:nvSpPr>
          <p:cNvPr id="34" name="Shape 32"/>
          <p:cNvSpPr/>
          <p:nvPr/>
        </p:nvSpPr>
        <p:spPr>
          <a:xfrm>
            <a:off x="4617720" y="3803904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56125" y="3818534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946904" y="3785616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Named systems of record</a:t>
            </a:r>
            <a:endParaRPr lang="en-US" sz="1320" dirty="0"/>
          </a:p>
        </p:txBody>
      </p:sp>
      <p:sp>
        <p:nvSpPr>
          <p:cNvPr id="37" name="Shape 35"/>
          <p:cNvSpPr/>
          <p:nvPr/>
        </p:nvSpPr>
        <p:spPr>
          <a:xfrm>
            <a:off x="4617720" y="4334256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56125" y="4348886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946904" y="4315968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Synthetic sample records</a:t>
            </a:r>
            <a:endParaRPr lang="en-US" sz="1320" dirty="0"/>
          </a:p>
        </p:txBody>
      </p:sp>
      <p:sp>
        <p:nvSpPr>
          <p:cNvPr id="40" name="Shape 38"/>
          <p:cNvSpPr/>
          <p:nvPr/>
        </p:nvSpPr>
        <p:spPr>
          <a:xfrm>
            <a:off x="8129016" y="1847088"/>
            <a:ext cx="3456432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385048" y="2103120"/>
            <a:ext cx="1737360" cy="310896"/>
          </a:xfrm>
          <a:prstGeom prst="roundRect">
            <a:avLst/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49056" y="2157984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 FIRST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8385048" y="2743200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23453" y="2757830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714232" y="272491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Remove data you are not allowed to process</a:t>
            </a:r>
            <a:endParaRPr lang="en-US" sz="1320" dirty="0"/>
          </a:p>
        </p:txBody>
      </p:sp>
      <p:sp>
        <p:nvSpPr>
          <p:cNvPr id="46" name="Shape 44"/>
          <p:cNvSpPr/>
          <p:nvPr/>
        </p:nvSpPr>
        <p:spPr>
          <a:xfrm>
            <a:off x="8385048" y="3273552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23453" y="3288182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714232" y="3255264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OCR image-only or handwritten notes</a:t>
            </a:r>
            <a:endParaRPr lang="en-US" sz="1320" dirty="0"/>
          </a:p>
        </p:txBody>
      </p:sp>
      <p:sp>
        <p:nvSpPr>
          <p:cNvPr id="49" name="Shape 47"/>
          <p:cNvSpPr/>
          <p:nvPr/>
        </p:nvSpPr>
        <p:spPr>
          <a:xfrm>
            <a:off x="8385048" y="3803904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23453" y="3818534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714232" y="3785616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Summarize giant document dumps</a:t>
            </a:r>
            <a:endParaRPr lang="en-US" sz="1320" dirty="0"/>
          </a:p>
        </p:txBody>
      </p:sp>
      <p:sp>
        <p:nvSpPr>
          <p:cNvPr id="52" name="Shape 50"/>
          <p:cNvSpPr/>
          <p:nvPr/>
        </p:nvSpPr>
        <p:spPr>
          <a:xfrm>
            <a:off x="8385048" y="4334256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23453" y="4348886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8714232" y="4315968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Separate must-have from future ideas</a:t>
            </a:r>
            <a:endParaRPr lang="en-US" sz="1320" dirty="0"/>
          </a:p>
        </p:txBody>
      </p:sp>
      <p:sp>
        <p:nvSpPr>
          <p:cNvPr id="55" name="Text 53"/>
          <p:cNvSpPr/>
          <p:nvPr/>
        </p:nvSpPr>
        <p:spPr>
          <a:xfrm>
            <a:off x="621792" y="54315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WORKSHOP UPLOADER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423160" y="5358384"/>
            <a:ext cx="932688" cy="310896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F3F2F1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487168" y="5413248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3B3A3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PDF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3511296" y="5358384"/>
            <a:ext cx="932688" cy="310896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F3F2F1">
                <a:alpha val="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575304" y="5413248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3B3A3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DOCX</a:t>
            </a:r>
            <a:endParaRPr lang="en-US" sz="830" dirty="0"/>
          </a:p>
        </p:txBody>
      </p:sp>
      <p:sp>
        <p:nvSpPr>
          <p:cNvPr id="60" name="Shape 58"/>
          <p:cNvSpPr/>
          <p:nvPr/>
        </p:nvSpPr>
        <p:spPr>
          <a:xfrm>
            <a:off x="4599432" y="5358384"/>
            <a:ext cx="932688" cy="310896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F3F2F1">
                <a:alpha val="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63440" y="5413248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3B3A3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PPTX</a:t>
            </a:r>
            <a:endParaRPr lang="en-US" sz="830" dirty="0"/>
          </a:p>
        </p:txBody>
      </p:sp>
      <p:sp>
        <p:nvSpPr>
          <p:cNvPr id="62" name="Shape 60"/>
          <p:cNvSpPr/>
          <p:nvPr/>
        </p:nvSpPr>
        <p:spPr>
          <a:xfrm>
            <a:off x="5687568" y="5358384"/>
            <a:ext cx="932688" cy="310896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F3F2F1">
                <a:alpha val="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51576" y="5413248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3B3A3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XLSX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775704" y="5358384"/>
            <a:ext cx="932688" cy="310896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F3F2F1">
                <a:alpha val="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39712" y="5413248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3B3A3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TXT / MD</a:t>
            </a:r>
            <a:endParaRPr lang="en-US" sz="830" dirty="0"/>
          </a:p>
        </p:txBody>
      </p:sp>
      <p:sp>
        <p:nvSpPr>
          <p:cNvPr id="66" name="Shape 64"/>
          <p:cNvSpPr/>
          <p:nvPr/>
        </p:nvSpPr>
        <p:spPr>
          <a:xfrm>
            <a:off x="7863840" y="5358384"/>
            <a:ext cx="932688" cy="310896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F3F2F1">
                <a:alpha val="0"/>
              </a:srgbClr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27848" y="5413248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3B3A3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CSV / JSON</a:t>
            </a:r>
            <a:endParaRPr lang="en-US" sz="830" dirty="0"/>
          </a:p>
        </p:txBody>
      </p:sp>
      <p:sp>
        <p:nvSpPr>
          <p:cNvPr id="68" name="Shape 66"/>
          <p:cNvSpPr/>
          <p:nvPr/>
        </p:nvSpPr>
        <p:spPr>
          <a:xfrm>
            <a:off x="8951976" y="5358384"/>
            <a:ext cx="932688" cy="310896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F3F2F1">
                <a:alpha val="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015984" y="5413248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3B3A3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RTF / HTML</a:t>
            </a:r>
            <a:endParaRPr lang="en-US" sz="830" dirty="0"/>
          </a:p>
        </p:txBody>
      </p:sp>
      <p:sp>
        <p:nvSpPr>
          <p:cNvPr id="70" name="Shape 68"/>
          <p:cNvSpPr/>
          <p:nvPr/>
        </p:nvSpPr>
        <p:spPr>
          <a:xfrm>
            <a:off x="10040112" y="5358384"/>
            <a:ext cx="932688" cy="310896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F3F2F1">
                <a:alpha val="0"/>
              </a:srgbClr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0104120" y="5413248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3B3A3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PY / ZIP</a:t>
            </a:r>
            <a:endParaRPr lang="en-US" sz="830" dirty="0"/>
          </a:p>
        </p:txBody>
      </p:sp>
      <p:sp>
        <p:nvSpPr>
          <p:cNvPr id="72" name="Text 70"/>
          <p:cNvSpPr/>
          <p:nvPr/>
        </p:nvSpPr>
        <p:spPr>
          <a:xfrm>
            <a:off x="621792" y="58795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A4262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PNG/JPG are not direct workshop uploads: OCR them or place readable text in a PDF/DOCX first.</a:t>
            </a:r>
            <a:endParaRPr lang="en-US" sz="1070" dirty="0"/>
          </a:p>
        </p:txBody>
      </p:sp>
      <p:sp>
        <p:nvSpPr>
          <p:cNvPr id="73" name="Text 71"/>
          <p:cNvSpPr/>
          <p:nvPr/>
        </p:nvSpPr>
        <p:spPr>
          <a:xfrm>
            <a:off x="7818120" y="58795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defaults: 25 files / 40 MB total.</a:t>
            </a:r>
            <a:endParaRPr lang="en-US" sz="1020" dirty="0"/>
          </a:p>
        </p:txBody>
      </p:sp>
      <p:sp>
        <p:nvSpPr>
          <p:cNvPr id="74" name="Text 72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07</a:t>
            </a:r>
            <a:endParaRPr lang="en-US" sz="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in and prove the path before the build.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0515600" y="713232"/>
            <a:ext cx="1097280" cy="365760"/>
          </a:xfrm>
          <a:prstGeom prst="round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88752" y="804672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865376"/>
            <a:ext cx="1965960" cy="3749040"/>
          </a:xfrm>
          <a:prstGeom prst="round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221992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7600" dirty="0"/>
          </a:p>
        </p:txBody>
      </p:sp>
      <p:sp>
        <p:nvSpPr>
          <p:cNvPr id="14" name="Text 12"/>
          <p:cNvSpPr/>
          <p:nvPr/>
        </p:nvSpPr>
        <p:spPr>
          <a:xfrm>
            <a:off x="841248" y="3776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1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IN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96112" y="4325112"/>
            <a:ext cx="1353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Generation identity</a:t>
            </a:r>
            <a:endParaRPr lang="en-US" sz="1130" dirty="0"/>
          </a:p>
          <a:p>
            <a:pPr algn="ctr"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</a:t>
            </a:r>
            <a:endParaRPr lang="en-US" sz="1130" dirty="0"/>
          </a:p>
          <a:p>
            <a:pPr algn="ctr"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identity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2971800" y="1865376"/>
            <a:ext cx="4663440" cy="3090672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73552" y="213969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RAPP  |  Documents → Copilot Studio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2880360"/>
            <a:ext cx="3584448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88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84448" y="3044952"/>
            <a:ext cx="77724" cy="77724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76162" y="3044952"/>
            <a:ext cx="77724" cy="77724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84448" y="3136666"/>
            <a:ext cx="77724" cy="77724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76162" y="3136666"/>
            <a:ext cx="77724" cy="77724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3044952"/>
            <a:ext cx="2514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in with Microsoft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310128" y="3840480"/>
            <a:ext cx="3584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sign-in stays in this browser tab. The wizard advances automatically when authentication succeeds.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28432" y="1865376"/>
            <a:ext cx="3566160" cy="3639312"/>
          </a:xfrm>
          <a:prstGeom prst="roundRect">
            <a:avLst/>
          </a:prstGeom>
          <a:solidFill>
            <a:srgbClr val="EAF4FD"/>
          </a:solidFill>
          <a:ln w="12700">
            <a:solidFill>
              <a:srgbClr val="BFE6FF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321040" y="21945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PREFLIGHT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302752" y="2743200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41157" y="2757830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631936" y="272491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Microsoft Entra ID sign-in.</a:t>
            </a:r>
            <a:endParaRPr lang="en-US" sz="1320" dirty="0"/>
          </a:p>
        </p:txBody>
      </p:sp>
      <p:sp>
        <p:nvSpPr>
          <p:cNvPr id="30" name="Shape 28"/>
          <p:cNvSpPr/>
          <p:nvPr/>
        </p:nvSpPr>
        <p:spPr>
          <a:xfrm>
            <a:off x="8302752" y="3383280"/>
            <a:ext cx="228600" cy="22860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41157" y="3397910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631936" y="336499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Maker rights in the target environment.</a:t>
            </a:r>
            <a:endParaRPr lang="en-US" sz="1320" dirty="0"/>
          </a:p>
        </p:txBody>
      </p:sp>
      <p:sp>
        <p:nvSpPr>
          <p:cNvPr id="33" name="Shape 31"/>
          <p:cNvSpPr/>
          <p:nvPr/>
        </p:nvSpPr>
        <p:spPr>
          <a:xfrm>
            <a:off x="8302752" y="4023360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41157" y="4037990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631936" y="400507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Popups allowed for token prompts.</a:t>
            </a:r>
            <a:endParaRPr lang="en-US" sz="1320" dirty="0"/>
          </a:p>
        </p:txBody>
      </p:sp>
      <p:sp>
        <p:nvSpPr>
          <p:cNvPr id="36" name="Shape 34"/>
          <p:cNvSpPr/>
          <p:nvPr/>
        </p:nvSpPr>
        <p:spPr>
          <a:xfrm>
            <a:off x="8302752" y="4663440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8661C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41157" y="4678070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631936" y="464515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Fallback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Facilitator has a prebuilt demo twin.</a:t>
            </a:r>
            <a:endParaRPr lang="en-US" sz="1320" dirty="0"/>
          </a:p>
        </p:txBody>
      </p:sp>
      <p:sp>
        <p:nvSpPr>
          <p:cNvPr id="39" name="Shape 37"/>
          <p:cNvSpPr/>
          <p:nvPr/>
        </p:nvSpPr>
        <p:spPr>
          <a:xfrm>
            <a:off x="658368" y="5870448"/>
            <a:ext cx="2057400" cy="429768"/>
          </a:xfrm>
          <a:prstGeom prst="roundRect">
            <a:avLst/>
          </a:prstGeom>
          <a:solidFill>
            <a:srgbClr val="0078D4"/>
          </a:solidFill>
          <a:ln w="17780">
            <a:solidFill>
              <a:srgbClr val="0078D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9808" y="5957316"/>
            <a:ext cx="256032" cy="25603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6984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in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2852928" y="5870448"/>
            <a:ext cx="2057400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4368" y="5957316"/>
            <a:ext cx="256032" cy="256032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326440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047488" y="5870448"/>
            <a:ext cx="2057400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38928" y="5957316"/>
            <a:ext cx="256032" cy="256032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16636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45896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MVP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7242048" y="5870448"/>
            <a:ext cx="2057400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33488" y="5957316"/>
            <a:ext cx="256032" cy="256032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6092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65352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436608" y="5870448"/>
            <a:ext cx="2057400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528048" y="5957316"/>
            <a:ext cx="256032" cy="256032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55548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984808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08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 in the evidence. Name the outcome.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0515600" y="713232"/>
            <a:ext cx="1097280" cy="365760"/>
          </a:xfrm>
          <a:prstGeom prst="round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88752" y="804672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828800"/>
            <a:ext cx="6537960" cy="3639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21031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DOCUMENTS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" y="2606040"/>
            <a:ext cx="5897880" cy="1344168"/>
          </a:xfrm>
          <a:prstGeom prst="roundRect">
            <a:avLst/>
          </a:prstGeom>
          <a:solidFill>
            <a:srgbClr val="FAF9F8"/>
          </a:solidFill>
          <a:ln w="1778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55648" y="294436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 FILES HERE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34670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Transcript + supporting evidence beats a folder dump.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4261104"/>
            <a:ext cx="2148840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4315968"/>
            <a:ext cx="2020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facilities_interview.docx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3246120" y="4261104"/>
            <a:ext cx="1920240" cy="310896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10128" y="4315968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maintenance_FAQ.pdf</a:t>
            </a:r>
            <a:endParaRPr lang="en-US" sz="970" dirty="0"/>
          </a:p>
        </p:txBody>
      </p:sp>
      <p:sp>
        <p:nvSpPr>
          <p:cNvPr id="21" name="Shape 19"/>
          <p:cNvSpPr/>
          <p:nvPr/>
        </p:nvSpPr>
        <p:spPr>
          <a:xfrm>
            <a:off x="5349240" y="4261104"/>
            <a:ext cx="1463040" cy="310896"/>
          </a:xfrm>
          <a:prstGeom prst="roundRect">
            <a:avLst/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13248" y="4315968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729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sample_requests.xlsx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14400" y="480060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Solution name (optional)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2514600" y="4700016"/>
            <a:ext cx="23317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88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70048" y="481888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B1A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FacilitiesRequest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543800" y="1828800"/>
            <a:ext cx="4050792" cy="3639312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882128" y="214884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BEST SOURCE FORMULA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882128" y="2679192"/>
            <a:ext cx="566928" cy="5669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64424" y="2834640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613648" y="269748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Narrative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613648" y="29626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problem should the agent solve?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7882128" y="3438144"/>
            <a:ext cx="566928" cy="5669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64424" y="3593592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13648" y="34564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Examples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613648" y="372160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do users ask and what good looks like?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7882128" y="4197096"/>
            <a:ext cx="566928" cy="5669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64424" y="4352544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613648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Boundaries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8613648" y="448056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must it not do or expose?</a:t>
            </a:r>
            <a:endParaRPr lang="en-US" sz="1020" dirty="0"/>
          </a:p>
        </p:txBody>
      </p:sp>
      <p:sp>
        <p:nvSpPr>
          <p:cNvPr id="40" name="Shape 38"/>
          <p:cNvSpPr/>
          <p:nvPr/>
        </p:nvSpPr>
        <p:spPr>
          <a:xfrm>
            <a:off x="7882128" y="5029200"/>
            <a:ext cx="3310128" cy="301752"/>
          </a:xfrm>
          <a:prstGeom prst="roundRect">
            <a:avLst/>
          </a:prstGeom>
          <a:solidFill>
            <a:srgbClr val="FFF4CE"/>
          </a:solidFill>
          <a:ln w="10160">
            <a:solidFill>
              <a:srgbClr val="FFB9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10144" y="5111496"/>
            <a:ext cx="303580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only content you are permitted to process.</a:t>
            </a:r>
            <a:endParaRPr lang="en-US" sz="970" dirty="0"/>
          </a:p>
        </p:txBody>
      </p:sp>
      <p:sp>
        <p:nvSpPr>
          <p:cNvPr id="42" name="Shape 40"/>
          <p:cNvSpPr/>
          <p:nvPr/>
        </p:nvSpPr>
        <p:spPr>
          <a:xfrm>
            <a:off x="658368" y="5870448"/>
            <a:ext cx="2057400" cy="429768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9808" y="5957316"/>
            <a:ext cx="256032" cy="256032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6984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in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852928" y="5870448"/>
            <a:ext cx="2057400" cy="429768"/>
          </a:xfrm>
          <a:prstGeom prst="roundRect">
            <a:avLst/>
          </a:prstGeom>
          <a:solidFill>
            <a:srgbClr val="107C10"/>
          </a:solidFill>
          <a:ln w="17780">
            <a:solidFill>
              <a:srgbClr val="107C1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944368" y="5957316"/>
            <a:ext cx="256032" cy="25603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97180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26440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047488" y="5870448"/>
            <a:ext cx="2057400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138928" y="5957316"/>
            <a:ext cx="256032" cy="256032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6636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45896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MVP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242048" y="5870448"/>
            <a:ext cx="2057400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33488" y="5957316"/>
            <a:ext cx="256032" cy="256032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36092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65352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9436608" y="5870448"/>
            <a:ext cx="2057400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528048" y="5957316"/>
            <a:ext cx="256032" cy="256032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55548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984808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09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MVP gate: read it, correct it, then confirm.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0515600" y="713232"/>
            <a:ext cx="1097280" cy="365760"/>
          </a:xfrm>
          <a:prstGeom prst="round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88752" y="804672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828800"/>
            <a:ext cx="3657600" cy="3767328"/>
          </a:xfrm>
          <a:prstGeom prst="roundRect">
            <a:avLst/>
          </a:prstGeom>
          <a:solidFill>
            <a:srgbClr val="F9E3DB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21762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9729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914400" y="281635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Nothing has been built yet.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14400" y="3383280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2805" y="3397910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243584" y="336499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aloud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Does it match the real problem?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914400" y="3995928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2805" y="4010558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243584" y="3977640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Fix users, scope, systems, or outcomes.</a:t>
            </a:r>
            <a:endParaRPr lang="en-US" sz="1320" dirty="0"/>
          </a:p>
        </p:txBody>
      </p:sp>
      <p:sp>
        <p:nvSpPr>
          <p:cNvPr id="21" name="Shape 19"/>
          <p:cNvSpPr/>
          <p:nvPr/>
        </p:nvSpPr>
        <p:spPr>
          <a:xfrm>
            <a:off x="914400" y="4608576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2805" y="4623206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243584" y="4590288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Only approved text anchors generation.</a:t>
            </a:r>
            <a:endParaRPr lang="en-US" sz="1320" dirty="0"/>
          </a:p>
        </p:txBody>
      </p:sp>
      <p:sp>
        <p:nvSpPr>
          <p:cNvPr id="24" name="Shape 22"/>
          <p:cNvSpPr/>
          <p:nvPr/>
        </p:nvSpPr>
        <p:spPr>
          <a:xfrm>
            <a:off x="4617720" y="1828800"/>
            <a:ext cx="6976872" cy="3767328"/>
          </a:xfrm>
          <a:prstGeom prst="roundRect">
            <a:avLst/>
          </a:prstGeom>
          <a:solidFill>
            <a:srgbClr val="EAF4FD"/>
          </a:solidFill>
          <a:ln w="12700">
            <a:solidFill>
              <a:srgbClr val="BFE6FF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65192" y="2139696"/>
            <a:ext cx="1508760" cy="310896"/>
          </a:xfrm>
          <a:prstGeom prst="round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0" y="2194560"/>
            <a:ext cx="1380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MVP USE CASE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965192" y="272491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Title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965192" y="2971800"/>
            <a:ext cx="6263640" cy="4297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A888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38928" y="3099816"/>
            <a:ext cx="5897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Facilities Service Request Assistant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65192" y="36118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MVP statement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965192" y="3858768"/>
            <a:ext cx="6263640" cy="960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A888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48072" y="4069080"/>
            <a:ext cx="5897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an assistant for employees to report facilities issues. It collects location, category, and urgency; summarizes the request; answers from approved maintenance guidance; and creates a synthetic service-request receipt for workshop testing.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4965192" y="5074920"/>
            <a:ext cx="3200400" cy="393192"/>
          </a:xfrm>
          <a:prstGeom prst="round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84648" y="5193792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CONFIRM MVP → GENERATE</a:t>
            </a:r>
            <a:endParaRPr lang="en-US" sz="1020" dirty="0"/>
          </a:p>
        </p:txBody>
      </p:sp>
      <p:sp>
        <p:nvSpPr>
          <p:cNvPr id="35" name="Shape 33"/>
          <p:cNvSpPr/>
          <p:nvPr/>
        </p:nvSpPr>
        <p:spPr>
          <a:xfrm>
            <a:off x="8577072" y="5074920"/>
            <a:ext cx="214884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732520" y="5202936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RE-DERIVE FROM DOCUMENTS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658368" y="5870448"/>
            <a:ext cx="2057400" cy="429768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49808" y="5957316"/>
            <a:ext cx="256032" cy="256032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6984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in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852928" y="5870448"/>
            <a:ext cx="2057400" cy="429768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44368" y="5957316"/>
            <a:ext cx="256032" cy="256032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97180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26440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047488" y="5870448"/>
            <a:ext cx="2057400" cy="429768"/>
          </a:xfrm>
          <a:prstGeom prst="roundRect">
            <a:avLst/>
          </a:prstGeom>
          <a:solidFill>
            <a:srgbClr val="D83B01"/>
          </a:solidFill>
          <a:ln w="17780">
            <a:solidFill>
              <a:srgbClr val="D83B0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38928" y="5957316"/>
            <a:ext cx="256032" cy="25603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6636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45896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MVP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242048" y="5870448"/>
            <a:ext cx="2057400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333488" y="5957316"/>
            <a:ext cx="256032" cy="256032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6092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65352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436608" y="5870448"/>
            <a:ext cx="2057400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528048" y="5957316"/>
            <a:ext cx="256032" cy="256032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55548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984808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10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4A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RAPP distills the confirmed MVP into portable agent logic.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0515600" y="713232"/>
            <a:ext cx="1097280" cy="365760"/>
          </a:xfrm>
          <a:prstGeom prst="roundRect">
            <a:avLst/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88752" y="804672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048256"/>
            <a:ext cx="21488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2286000"/>
            <a:ext cx="566928" cy="566928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" y="244144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29718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CONFIRMED MVP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868680" y="33832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Human-approved scope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880360" y="2770632"/>
            <a:ext cx="210312" cy="457200"/>
          </a:xfrm>
          <a:prstGeom prst="chevron">
            <a:avLst/>
          </a:prstGeom>
          <a:solidFill>
            <a:srgbClr val="8A8886">
              <a:alpha val="62000"/>
            </a:srgbClr>
          </a:solidFill>
          <a:ln w="12700">
            <a:solidFill>
              <a:srgbClr val="8A888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36392" y="2048256"/>
            <a:ext cx="21488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7C10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319272" y="2286000"/>
            <a:ext cx="566928" cy="566928"/>
          </a:xfrm>
          <a:prstGeom prst="ellipse">
            <a:avLst/>
          </a:prstGeom>
          <a:solidFill>
            <a:srgbClr val="DFF6DD"/>
          </a:solidFill>
          <a:ln w="15240">
            <a:solidFill>
              <a:srgbClr val="107C1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01568" y="244144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19272" y="29718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CAPABILITIES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3364992" y="33832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Intake, triage, answer, create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376672" y="2770632"/>
            <a:ext cx="210312" cy="457200"/>
          </a:xfrm>
          <a:prstGeom prst="chevron">
            <a:avLst/>
          </a:prstGeom>
          <a:solidFill>
            <a:srgbClr val="8A8886">
              <a:alpha val="62000"/>
            </a:srgbClr>
          </a:solidFill>
          <a:ln w="12700">
            <a:solidFill>
              <a:srgbClr val="8A888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2704" y="2048256"/>
            <a:ext cx="21488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815584" y="2286000"/>
            <a:ext cx="566928" cy="566928"/>
          </a:xfrm>
          <a:prstGeom prst="ellipse">
            <a:avLst/>
          </a:prstGeom>
          <a:solidFill>
            <a:srgbClr val="DCEEFF"/>
          </a:solidFill>
          <a:ln w="1524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97880" y="244144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815584" y="29718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FILES</a:t>
            </a:r>
            <a:endParaRPr lang="en-US" sz="1280" dirty="0"/>
          </a:p>
        </p:txBody>
      </p:sp>
      <p:sp>
        <p:nvSpPr>
          <p:cNvPr id="28" name="Text 26"/>
          <p:cNvSpPr/>
          <p:nvPr/>
        </p:nvSpPr>
        <p:spPr>
          <a:xfrm>
            <a:off x="5861304" y="33832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agent.py per capability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872984" y="2770632"/>
            <a:ext cx="210312" cy="457200"/>
          </a:xfrm>
          <a:prstGeom prst="chevron">
            <a:avLst/>
          </a:prstGeom>
          <a:solidFill>
            <a:srgbClr val="8A8886">
              <a:alpha val="62000"/>
            </a:srgbClr>
          </a:solidFill>
          <a:ln w="12700">
            <a:solidFill>
              <a:srgbClr val="8A8886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29016" y="2048256"/>
            <a:ext cx="3401568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11896" y="2286000"/>
            <a:ext cx="566928" cy="566928"/>
          </a:xfrm>
          <a:prstGeom prst="ellipse">
            <a:avLst/>
          </a:prstGeom>
          <a:solidFill>
            <a:srgbClr val="EDE7F6"/>
          </a:solidFill>
          <a:ln w="15240">
            <a:solidFill>
              <a:srgbClr val="8661C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94192" y="244144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311896" y="2971800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SOLUTION PACKAGE</a:t>
            </a:r>
            <a:endParaRPr lang="en-US" sz="1280" dirty="0"/>
          </a:p>
        </p:txBody>
      </p:sp>
      <p:sp>
        <p:nvSpPr>
          <p:cNvPr id="34" name="Text 32"/>
          <p:cNvSpPr/>
          <p:nvPr/>
        </p:nvSpPr>
        <p:spPr>
          <a:xfrm>
            <a:off x="8357616" y="338328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Studio assets + flow wiring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4462272"/>
            <a:ext cx="10890504" cy="987552"/>
          </a:xfrm>
          <a:prstGeom prst="roundRect">
            <a:avLst/>
          </a:prstGeom>
          <a:solidFill>
            <a:srgbClr val="103A6B"/>
          </a:solidFill>
          <a:ln w="12700">
            <a:solidFill>
              <a:srgbClr val="103A6B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932688" y="4736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spc="100" kern="0" dirty="0">
                <a:solidFill>
                  <a:srgbClr val="50E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GENERATED FILES</a:t>
            </a:r>
            <a:endParaRPr lang="en-US" sz="1020" dirty="0"/>
          </a:p>
        </p:txBody>
      </p:sp>
      <p:sp>
        <p:nvSpPr>
          <p:cNvPr id="37" name="Shape 35"/>
          <p:cNvSpPr/>
          <p:nvPr/>
        </p:nvSpPr>
        <p:spPr>
          <a:xfrm>
            <a:off x="2514600" y="4663440"/>
            <a:ext cx="1901952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78608" y="4718304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intake_agent.py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4626864" y="4663440"/>
            <a:ext cx="1901952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90872" y="4718304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triage_agent.py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6739128" y="4663440"/>
            <a:ext cx="1901952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03136" y="4718304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guidance_agent.py</a:t>
            </a:r>
            <a:endParaRPr lang="en-US" sz="930" dirty="0"/>
          </a:p>
        </p:txBody>
      </p:sp>
      <p:sp>
        <p:nvSpPr>
          <p:cNvPr id="43" name="Shape 41"/>
          <p:cNvSpPr/>
          <p:nvPr/>
        </p:nvSpPr>
        <p:spPr>
          <a:xfrm>
            <a:off x="8851392" y="4663440"/>
            <a:ext cx="1901952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915400" y="4718304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service_request_agent.py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1965960" y="554126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Portable logic can be reviewed, shared, and translated instead of disappearing inside a prompt.</a:t>
            </a:r>
            <a:endParaRPr lang="en-US" sz="1220" dirty="0"/>
          </a:p>
        </p:txBody>
      </p:sp>
      <p:sp>
        <p:nvSpPr>
          <p:cNvPr id="46" name="Shape 44"/>
          <p:cNvSpPr/>
          <p:nvPr/>
        </p:nvSpPr>
        <p:spPr>
          <a:xfrm>
            <a:off x="658368" y="5870448"/>
            <a:ext cx="2057400" cy="429768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9808" y="5957316"/>
            <a:ext cx="256032" cy="256032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724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06984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in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852928" y="5870448"/>
            <a:ext cx="2057400" cy="429768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944368" y="5957316"/>
            <a:ext cx="256032" cy="256032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97180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326440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47488" y="5870448"/>
            <a:ext cx="2057400" cy="429768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38928" y="5957316"/>
            <a:ext cx="256032" cy="256032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6636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45896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MVP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242048" y="5870448"/>
            <a:ext cx="2057400" cy="429768"/>
          </a:xfrm>
          <a:prstGeom prst="roundRect">
            <a:avLst/>
          </a:prstGeom>
          <a:solidFill>
            <a:srgbClr val="8661C5"/>
          </a:solidFill>
          <a:ln w="17780">
            <a:solidFill>
              <a:srgbClr val="8661C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333488" y="5957316"/>
            <a:ext cx="256032" cy="25603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6092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765352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9436608" y="5870448"/>
            <a:ext cx="2057400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528048" y="5957316"/>
            <a:ext cx="256032" cy="256032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55548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984808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11</a:t>
            </a:r>
            <a:endParaRPr lang="en-US" sz="8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4B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 two twins before anything enters the environment.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0515600" y="713232"/>
            <a:ext cx="1097280" cy="365760"/>
          </a:xfrm>
          <a:prstGeom prst="roundRect">
            <a:avLst/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88752" y="804672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828800"/>
            <a:ext cx="5257800" cy="3182112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96112" y="2121408"/>
            <a:ext cx="1325880" cy="310896"/>
          </a:xfrm>
          <a:prstGeom prst="round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176272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 TWIN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896112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Safe proof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896112" y="3236976"/>
            <a:ext cx="228600" cy="22860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4517" y="3251606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225296" y="3218688"/>
            <a:ext cx="3968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Synthetic data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No production records.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896112" y="3785616"/>
            <a:ext cx="228600" cy="22860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4517" y="3800246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225296" y="3767328"/>
            <a:ext cx="3968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connections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Works immediately.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896112" y="4334256"/>
            <a:ext cx="228600" cy="22860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4517" y="4348886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225296" y="4315968"/>
            <a:ext cx="3968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scenario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Use it to prove behavior.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6327648" y="1828800"/>
            <a:ext cx="5266944" cy="3182112"/>
          </a:xfrm>
          <a:prstGeom prst="roundRect">
            <a:avLst/>
          </a:prstGeom>
          <a:solidFill>
            <a:srgbClr val="EAF4FD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629400" y="2121408"/>
            <a:ext cx="1600200" cy="310896"/>
          </a:xfrm>
          <a:prstGeom prst="round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93408" y="2176272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PROTOTYPE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6629400" y="2651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Migration contract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6629400" y="3236976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67805" y="3251606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958584" y="3218688"/>
            <a:ext cx="4014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connector steps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Named from the source.</a:t>
            </a:r>
            <a:endParaRPr lang="en-US" sz="1320" dirty="0"/>
          </a:p>
        </p:txBody>
      </p:sp>
      <p:sp>
        <p:nvSpPr>
          <p:cNvPr id="32" name="Shape 30"/>
          <p:cNvSpPr/>
          <p:nvPr/>
        </p:nvSpPr>
        <p:spPr>
          <a:xfrm>
            <a:off x="6629400" y="3785616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67805" y="3800246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958584" y="3767328"/>
            <a:ext cx="4014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Connection references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Bind after import.</a:t>
            </a:r>
            <a:endParaRPr lang="en-US" sz="1320" dirty="0"/>
          </a:p>
        </p:txBody>
      </p:sp>
      <p:sp>
        <p:nvSpPr>
          <p:cNvPr id="35" name="Shape 33"/>
          <p:cNvSpPr/>
          <p:nvPr/>
        </p:nvSpPr>
        <p:spPr>
          <a:xfrm>
            <a:off x="6629400" y="4334256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67805" y="4348886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958584" y="4315968"/>
            <a:ext cx="4014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B1A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README guidance</a:t>
            </a: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Flow-level go-live steps.</a:t>
            </a:r>
            <a:endParaRPr lang="en-US" sz="1320" dirty="0"/>
          </a:p>
        </p:txBody>
      </p:sp>
      <p:sp>
        <p:nvSpPr>
          <p:cNvPr id="38" name="Text 36"/>
          <p:cNvSpPr/>
          <p:nvPr/>
        </p:nvSpPr>
        <p:spPr>
          <a:xfrm>
            <a:off x="640080" y="541324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DOWNLOAD + REVIEW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212848" y="5321808"/>
            <a:ext cx="1600200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76856" y="5376672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live_solution.zip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005072" y="5321808"/>
            <a:ext cx="1508760" cy="310896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069080" y="5376672"/>
            <a:ext cx="1380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demo_twin.zip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696712" y="5321808"/>
            <a:ext cx="1417320" cy="310896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F3F2F1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60720" y="5376672"/>
            <a:ext cx="1289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B3A3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agent.py files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296912" y="5321808"/>
            <a:ext cx="1371600" cy="310896"/>
          </a:xfrm>
          <a:prstGeom prst="roundRect">
            <a:avLst/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60920" y="5376672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729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 driver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1325880" y="5056632"/>
            <a:ext cx="9509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REVIEW: Does every capability trace to the confirmed MVP? Are systems and write actions honest?</a:t>
            </a:r>
            <a:endParaRPr lang="en-US" sz="1070" dirty="0"/>
          </a:p>
        </p:txBody>
      </p:sp>
      <p:sp>
        <p:nvSpPr>
          <p:cNvPr id="48" name="Shape 46"/>
          <p:cNvSpPr/>
          <p:nvPr/>
        </p:nvSpPr>
        <p:spPr>
          <a:xfrm>
            <a:off x="658368" y="5870448"/>
            <a:ext cx="2057400" cy="429768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9808" y="5957316"/>
            <a:ext cx="256032" cy="256032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724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06984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in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2852928" y="5870448"/>
            <a:ext cx="2057400" cy="429768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944368" y="5957316"/>
            <a:ext cx="256032" cy="256032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7180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326440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Documents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047488" y="5870448"/>
            <a:ext cx="2057400" cy="429768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138928" y="5957316"/>
            <a:ext cx="256032" cy="256032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6636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45896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MVP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7242048" y="5870448"/>
            <a:ext cx="2057400" cy="429768"/>
          </a:xfrm>
          <a:prstGeom prst="roundRect">
            <a:avLst/>
          </a:prstGeom>
          <a:solidFill>
            <a:srgbClr val="8661C5"/>
          </a:solidFill>
          <a:ln w="17780">
            <a:solidFill>
              <a:srgbClr val="8661C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33488" y="5957316"/>
            <a:ext cx="256032" cy="25603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765352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436608" y="5870448"/>
            <a:ext cx="2057400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28048" y="5957316"/>
            <a:ext cx="256032" cy="256032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55548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984808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12</a:t>
            </a:r>
            <a:endParaRPr lang="en-US" sz="8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005A9E"/>
          </a:solidFill>
          <a:ln w="12700">
            <a:solidFill>
              <a:srgbClr val="005A9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the environment. Import. Review. Publish.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0515600" y="713232"/>
            <a:ext cx="1097280" cy="365760"/>
          </a:xfrm>
          <a:prstGeom prst="roundRect">
            <a:avLst/>
          </a:prstGeom>
          <a:solidFill>
            <a:srgbClr val="005A9E"/>
          </a:solidFill>
          <a:ln w="12700">
            <a:solidFill>
              <a:srgbClr val="005A9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88752" y="804672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920240"/>
            <a:ext cx="3063240" cy="2907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883664" y="2194560"/>
            <a:ext cx="566928" cy="566928"/>
          </a:xfrm>
          <a:prstGeom prst="ellipse">
            <a:avLst/>
          </a:prstGeom>
          <a:solidFill>
            <a:srgbClr val="DCEEFF"/>
          </a:solidFill>
          <a:ln w="15240">
            <a:solidFill>
              <a:srgbClr val="0078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65960" y="235000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01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signed-in account and select a visible Dataverse environment.</a:t>
            </a:r>
            <a:endParaRPr lang="en-US" sz="1130" dirty="0"/>
          </a:p>
        </p:txBody>
      </p:sp>
      <p:sp>
        <p:nvSpPr>
          <p:cNvPr id="17" name="Shape 15"/>
          <p:cNvSpPr/>
          <p:nvPr/>
        </p:nvSpPr>
        <p:spPr>
          <a:xfrm>
            <a:off x="3813048" y="3072384"/>
            <a:ext cx="438912" cy="566928"/>
          </a:xfrm>
          <a:prstGeom prst="chevron">
            <a:avLst/>
          </a:prstGeom>
          <a:solidFill>
            <a:srgbClr val="8A8886">
              <a:alpha val="70000"/>
            </a:srgbClr>
          </a:solidFill>
          <a:ln w="12700">
            <a:solidFill>
              <a:srgbClr val="8A888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69080" y="1920240"/>
            <a:ext cx="3063240" cy="2907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312664" y="2194560"/>
            <a:ext cx="566928" cy="566928"/>
          </a:xfrm>
          <a:prstGeom prst="ellipse">
            <a:avLst/>
          </a:prstGeom>
          <a:solidFill>
            <a:srgbClr val="EDE7F6"/>
          </a:solidFill>
          <a:ln w="15240">
            <a:solidFill>
              <a:srgbClr val="8661C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94960" y="235000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34340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IMPORT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3891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imports the live prototype, then the demo twin, sequentially.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7242048" y="3072384"/>
            <a:ext cx="438912" cy="566928"/>
          </a:xfrm>
          <a:prstGeom prst="chevron">
            <a:avLst/>
          </a:prstGeom>
          <a:solidFill>
            <a:srgbClr val="8A8886">
              <a:alpha val="70000"/>
            </a:srgbClr>
          </a:solidFill>
          <a:ln w="12700">
            <a:solidFill>
              <a:srgbClr val="8A888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0" y="1920240"/>
            <a:ext cx="3063240" cy="2907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7C10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741664" y="2194560"/>
            <a:ext cx="566928" cy="566928"/>
          </a:xfrm>
          <a:prstGeom prst="ellipse">
            <a:avLst/>
          </a:prstGeom>
          <a:solidFill>
            <a:srgbClr val="DFF6DD"/>
          </a:solidFill>
          <a:ln w="15240">
            <a:solidFill>
              <a:srgbClr val="107C1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23960" y="235000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 + PUBLISH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8181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Copilot Studio, inspect agents and flows, then publish when ready.</a:t>
            </a:r>
            <a:endParaRPr lang="en-US" sz="1130" dirty="0"/>
          </a:p>
        </p:txBody>
      </p:sp>
      <p:pic>
        <p:nvPicPr>
          <p:cNvPr id="29" name="Image 0" descr="Datavers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3936" y="4261104"/>
            <a:ext cx="438912" cy="329184"/>
          </a:xfrm>
          <a:prstGeom prst="rect">
            <a:avLst/>
          </a:prstGeom>
        </p:spPr>
      </p:pic>
      <p:pic>
        <p:nvPicPr>
          <p:cNvPr id="30" name="Image 1" descr="Copilot Studi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4187952"/>
            <a:ext cx="475488" cy="475488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5321808" y="4160520"/>
            <a:ext cx="566928" cy="566928"/>
          </a:xfrm>
          <a:prstGeom prst="ellipse">
            <a:avLst/>
          </a:prstGeom>
          <a:solidFill>
            <a:srgbClr val="EDE7F6"/>
          </a:solidFill>
          <a:ln w="15240">
            <a:solidFill>
              <a:srgbClr val="8661C5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404104" y="431596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ZIP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640080" y="5074920"/>
            <a:ext cx="10890504" cy="548640"/>
          </a:xfrm>
          <a:prstGeom prst="roundRect">
            <a:avLst/>
          </a:prstGeom>
          <a:solidFill>
            <a:srgbClr val="103A6B"/>
          </a:solidFill>
          <a:ln w="12700">
            <a:solidFill>
              <a:srgbClr val="103A6B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34" name="Text 30"/>
          <p:cNvSpPr/>
          <p:nvPr/>
        </p:nvSpPr>
        <p:spPr>
          <a:xfrm>
            <a:off x="914400" y="525780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spc="90" kern="0" dirty="0">
                <a:solidFill>
                  <a:srgbClr val="50E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DEFAULT POSTURE</a:t>
            </a:r>
            <a:endParaRPr lang="en-US" sz="970" dirty="0"/>
          </a:p>
        </p:txBody>
      </p:sp>
      <p:sp>
        <p:nvSpPr>
          <p:cNvPr id="35" name="Text 31"/>
          <p:cNvSpPr/>
          <p:nvPr/>
        </p:nvSpPr>
        <p:spPr>
          <a:xfrm>
            <a:off x="2468880" y="5230368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Import unpublished. Review in Copilot Studio. Bind live connection references. Turn flows on. Publish deliberately.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658368" y="5870448"/>
            <a:ext cx="2057400" cy="429768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49808" y="5957316"/>
            <a:ext cx="256032" cy="256032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77724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106984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in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2852928" y="5870448"/>
            <a:ext cx="2057400" cy="429768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2944368" y="5957316"/>
            <a:ext cx="256032" cy="256032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297180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326440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Documents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5047488" y="5870448"/>
            <a:ext cx="2057400" cy="429768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5138928" y="5957316"/>
            <a:ext cx="256032" cy="256032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516636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800" dirty="0"/>
          </a:p>
        </p:txBody>
      </p:sp>
      <p:sp>
        <p:nvSpPr>
          <p:cNvPr id="47" name="Text 43"/>
          <p:cNvSpPr/>
          <p:nvPr/>
        </p:nvSpPr>
        <p:spPr>
          <a:xfrm>
            <a:off x="545896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MVP</a:t>
            </a:r>
            <a:endParaRPr lang="en-US" sz="1050" dirty="0"/>
          </a:p>
        </p:txBody>
      </p:sp>
      <p:sp>
        <p:nvSpPr>
          <p:cNvPr id="48" name="Shape 44"/>
          <p:cNvSpPr/>
          <p:nvPr/>
        </p:nvSpPr>
        <p:spPr>
          <a:xfrm>
            <a:off x="7242048" y="5870448"/>
            <a:ext cx="2057400" cy="429768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7333488" y="5957316"/>
            <a:ext cx="256032" cy="256032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736092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800" dirty="0"/>
          </a:p>
        </p:txBody>
      </p:sp>
      <p:sp>
        <p:nvSpPr>
          <p:cNvPr id="51" name="Text 47"/>
          <p:cNvSpPr/>
          <p:nvPr/>
        </p:nvSpPr>
        <p:spPr>
          <a:xfrm>
            <a:off x="765352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</a:t>
            </a:r>
            <a:endParaRPr lang="en-US" sz="1050" dirty="0"/>
          </a:p>
        </p:txBody>
      </p:sp>
      <p:sp>
        <p:nvSpPr>
          <p:cNvPr id="52" name="Shape 48"/>
          <p:cNvSpPr/>
          <p:nvPr/>
        </p:nvSpPr>
        <p:spPr>
          <a:xfrm>
            <a:off x="9436608" y="5870448"/>
            <a:ext cx="2057400" cy="429768"/>
          </a:xfrm>
          <a:prstGeom prst="roundRect">
            <a:avLst/>
          </a:prstGeom>
          <a:solidFill>
            <a:srgbClr val="103A6B"/>
          </a:solidFill>
          <a:ln w="17780">
            <a:solidFill>
              <a:srgbClr val="103A6B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9528048" y="5957316"/>
            <a:ext cx="256032" cy="25603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9555480" y="5998464"/>
            <a:ext cx="2011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800" dirty="0"/>
          </a:p>
        </p:txBody>
      </p:sp>
      <p:sp>
        <p:nvSpPr>
          <p:cNvPr id="55" name="Text 51"/>
          <p:cNvSpPr/>
          <p:nvPr/>
        </p:nvSpPr>
        <p:spPr>
          <a:xfrm>
            <a:off x="9848088" y="6003036"/>
            <a:ext cx="1536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13</a:t>
            </a:r>
            <a:endParaRPr lang="en-US" sz="8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 + REFINE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 the promise, not just the happy path.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0515600" y="713232"/>
            <a:ext cx="1097280" cy="365760"/>
          </a:xfrm>
          <a:prstGeom prst="round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88752" y="804672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828800"/>
            <a:ext cx="5577840" cy="3703320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21031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COPILOT STUDIO  |  TEST PANE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2651760"/>
            <a:ext cx="4206240" cy="566928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BFE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5568" y="281635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lights are out on floor 4 near conference room 402. It is blocking a customer meeting.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417320" y="3456432"/>
            <a:ext cx="4407408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F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45920" y="3694176"/>
            <a:ext cx="3931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can help create a facilities request. I captured: floor 4, lighting issue, high urgency, near room 402. Please confirm the building and contact preference.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914400" y="4782312"/>
            <a:ext cx="1234440" cy="310896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4837176"/>
            <a:ext cx="1106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HAPPY PATH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2359152" y="4782312"/>
            <a:ext cx="1143000" cy="310896"/>
          </a:xfrm>
          <a:prstGeom prst="roundRect">
            <a:avLst/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23160" y="4837176"/>
            <a:ext cx="1014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729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EDGE CASE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3712464" y="4782312"/>
            <a:ext cx="1417320" cy="310896"/>
          </a:xfrm>
          <a:prstGeom prst="roundRect">
            <a:avLst/>
          </a:prstGeom>
          <a:solidFill>
            <a:srgbClr val="FDE7E9"/>
          </a:solidFill>
          <a:ln w="12700">
            <a:solidFill>
              <a:srgbClr val="FDE7E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76472" y="4837176"/>
            <a:ext cx="1289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4262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UNKNOWN VALUE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565392" y="1828800"/>
            <a:ext cx="5029200" cy="2761488"/>
          </a:xfrm>
          <a:prstGeom prst="roundRect">
            <a:avLst/>
          </a:prstGeom>
          <a:solidFill>
            <a:srgbClr val="F9E3DB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885432" y="21488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9729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SCORE THE PROTOTYPE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885432" y="267004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96328" y="26334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Understands the request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85432" y="303580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96328" y="2999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Asks only necessary questions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85432" y="340156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96328" y="33649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Uses approved evidence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885432" y="37673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96328" y="37307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Handles unknowns honestly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885432" y="413308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96328" y="4096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Produces the promised artifact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903720" y="4846320"/>
            <a:ext cx="1280160" cy="411480"/>
          </a:xfrm>
          <a:prstGeom prst="chevron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50608" y="4974336"/>
            <a:ext cx="6583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EDIT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366760" y="4846320"/>
            <a:ext cx="1280160" cy="411480"/>
          </a:xfrm>
          <a:prstGeom prst="chevron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40496" y="4974336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REGENERATE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9829800" y="4846320"/>
            <a:ext cx="1280160" cy="411480"/>
          </a:xfrm>
          <a:prstGeom prst="chevron">
            <a:avLst/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94976" y="4974336"/>
            <a:ext cx="713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RETEST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54864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Refine the source or MVP - not the symptom.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14</a:t>
            </a:r>
            <a:endParaRPr lang="en-US" sz="8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A4262C"/>
          </a:solidFill>
          <a:ln w="12700">
            <a:solidFill>
              <a:srgbClr val="A4262C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A4262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RESPONSIBLE PROTOTYPING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Permission. Proof. Production.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40080" y="1874520"/>
            <a:ext cx="306324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212140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554480" y="2103120"/>
            <a:ext cx="1755648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618488" y="2157984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PERMISSION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29718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 upload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9264" y="3584448"/>
            <a:ext cx="2404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6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only content you are permitted to process. Remove sensitive or unnecessary data.</a:t>
            </a:r>
            <a:endParaRPr lang="en-US" sz="1160" dirty="0"/>
          </a:p>
        </p:txBody>
      </p:sp>
      <p:sp>
        <p:nvSpPr>
          <p:cNvPr id="16" name="Shape 14"/>
          <p:cNvSpPr/>
          <p:nvPr/>
        </p:nvSpPr>
        <p:spPr>
          <a:xfrm>
            <a:off x="1865376" y="4453128"/>
            <a:ext cx="621792" cy="621792"/>
          </a:xfrm>
          <a:prstGeom prst="ellipse">
            <a:avLst/>
          </a:prstGeom>
          <a:solidFill>
            <a:srgbClr val="DCEEFF"/>
          </a:solidFill>
          <a:ln w="15240">
            <a:solidFill>
              <a:srgbClr val="0078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29968" y="460857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069080" y="1874520"/>
            <a:ext cx="306324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251960" y="212140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983480" y="2103120"/>
            <a:ext cx="1755648" cy="310896"/>
          </a:xfrm>
          <a:prstGeom prst="roundRect">
            <a:avLst/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47488" y="2157984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PROOF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43400" y="29718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 approval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398264" y="3584448"/>
            <a:ext cx="2404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6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the MVP, capability scope, systems, and generated answers with a human reviewer.</a:t>
            </a:r>
            <a:endParaRPr lang="en-US" sz="1160" dirty="0"/>
          </a:p>
        </p:txBody>
      </p:sp>
      <p:sp>
        <p:nvSpPr>
          <p:cNvPr id="24" name="Shape 22"/>
          <p:cNvSpPr/>
          <p:nvPr/>
        </p:nvSpPr>
        <p:spPr>
          <a:xfrm>
            <a:off x="5294376" y="4453128"/>
            <a:ext cx="621792" cy="621792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58968" y="460857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498080" y="1874520"/>
            <a:ext cx="306324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7C10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680960" y="212140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412480" y="2103120"/>
            <a:ext cx="1755648" cy="310896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76488" y="2157984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72400" y="29718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 publish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827264" y="3584448"/>
            <a:ext cx="2404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6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 reviewed connections, test writes safely, confirm permissions, and publish deliberately.</a:t>
            </a:r>
            <a:endParaRPr lang="en-US" sz="1160" dirty="0"/>
          </a:p>
        </p:txBody>
      </p:sp>
      <p:sp>
        <p:nvSpPr>
          <p:cNvPr id="32" name="Shape 30"/>
          <p:cNvSpPr/>
          <p:nvPr/>
        </p:nvSpPr>
        <p:spPr>
          <a:xfrm>
            <a:off x="8723376" y="4453128"/>
            <a:ext cx="621792" cy="621792"/>
          </a:xfrm>
          <a:prstGeom prst="ellipse">
            <a:avLst/>
          </a:prstGeom>
          <a:solidFill>
            <a:srgbClr val="DFF6DD"/>
          </a:solidFill>
          <a:ln w="15240">
            <a:solidFill>
              <a:srgbClr val="107C1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87968" y="460857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51560" y="5669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262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AI-generated content may be wrong. Human review is a required RAPP step.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15</a:t>
            </a:r>
            <a:endParaRPr lang="en-US" sz="8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TEACH-BACK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you can explain it, you can run it.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0515600" y="713232"/>
            <a:ext cx="1097280" cy="365760"/>
          </a:xfrm>
          <a:prstGeom prst="round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88752" y="804672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" y="1920240"/>
            <a:ext cx="31089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755648" y="2176272"/>
            <a:ext cx="914400" cy="914400"/>
          </a:xfrm>
          <a:prstGeom prst="ellipse">
            <a:avLst/>
          </a:prstGeom>
          <a:solidFill>
            <a:srgbClr val="DCEEFF"/>
          </a:solidFill>
          <a:ln w="15240">
            <a:solidFill>
              <a:srgbClr val="0078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20240" y="25054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2688" y="33467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 THE FIVE STEPS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78408" y="37216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in. Documents. MVP. Review. Deploy.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4069080" y="1920240"/>
            <a:ext cx="31089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166360" y="2176272"/>
            <a:ext cx="914400" cy="91440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30952" y="25054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43400" y="33467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SHOW ONE ARTIFACT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389120" y="37216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twin, live package, agent.py, or test evidence.</a:t>
            </a:r>
            <a:endParaRPr lang="en-US" sz="1060" dirty="0"/>
          </a:p>
        </p:txBody>
      </p:sp>
      <p:sp>
        <p:nvSpPr>
          <p:cNvPr id="22" name="Shape 20"/>
          <p:cNvSpPr/>
          <p:nvPr/>
        </p:nvSpPr>
        <p:spPr>
          <a:xfrm>
            <a:off x="7479792" y="1920240"/>
            <a:ext cx="31089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7C10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577072" y="2176272"/>
            <a:ext cx="914400" cy="914400"/>
          </a:xfrm>
          <a:prstGeom prst="ellipse">
            <a:avLst/>
          </a:prstGeom>
          <a:solidFill>
            <a:srgbClr val="DFF6DD"/>
          </a:solidFill>
          <a:ln w="15240">
            <a:solidFill>
              <a:srgbClr val="107C1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41664" y="25054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54112" y="33467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 THE NEXT CHANGE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799832" y="37216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would you improve before a customer pilot?</a:t>
            </a:r>
            <a:endParaRPr lang="en-US" sz="1060" dirty="0"/>
          </a:p>
        </p:txBody>
      </p:sp>
      <p:sp>
        <p:nvSpPr>
          <p:cNvPr id="27" name="Shape 25"/>
          <p:cNvSpPr/>
          <p:nvPr/>
        </p:nvSpPr>
        <p:spPr>
          <a:xfrm>
            <a:off x="1097280" y="4736592"/>
            <a:ext cx="9966960" cy="786384"/>
          </a:xfrm>
          <a:prstGeom prst="roundRect">
            <a:avLst/>
          </a:prstGeom>
          <a:solidFill>
            <a:srgbClr val="103A6B"/>
          </a:solidFill>
          <a:ln w="12700">
            <a:solidFill>
              <a:srgbClr val="103A6B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417320" y="5001768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DONE = approved MVP + reviewed assets + imported solution + passing test + owned next step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4663440" y="4279392"/>
            <a:ext cx="2834640" cy="310896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F3F2F1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27448" y="4334256"/>
            <a:ext cx="2706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+ 30 SEC TO SWITCH + CLOSE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16</a:t>
            </a:r>
            <a:endParaRPr lang="en-US" sz="8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13232" y="1298448"/>
            <a:ext cx="6858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case in.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Copilot Studio solution out.</a:t>
            </a:r>
            <a:endParaRPr lang="en-US" sz="3500" dirty="0"/>
          </a:p>
        </p:txBody>
      </p:sp>
      <p:sp>
        <p:nvSpPr>
          <p:cNvPr id="9" name="Text 6"/>
          <p:cNvSpPr/>
          <p:nvPr/>
        </p:nvSpPr>
        <p:spPr>
          <a:xfrm>
            <a:off x="731520" y="3063240"/>
            <a:ext cx="6903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50E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Quick to learn. Quick to teach. Quick to start. Quick to share.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7479792" y="1280160"/>
            <a:ext cx="3749040" cy="434340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BFE6FF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845552" y="1700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50E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 IT WITH YOU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845552" y="23408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961120" y="23408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CEE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facilitator-provided RAPP workshop URL.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845552" y="3154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Install local RAPP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125712" y="315468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50E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aka.ms/rappinstall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845552" y="396849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Self-paced quest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125712" y="396849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u="sng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RAPP Brainstem quest</a:t>
            </a:r>
            <a:endParaRPr lang="en-US" sz="1030" dirty="0"/>
          </a:p>
        </p:txBody>
      </p:sp>
      <p:sp>
        <p:nvSpPr>
          <p:cNvPr id="18" name="Text 15"/>
          <p:cNvSpPr/>
          <p:nvPr/>
        </p:nvSpPr>
        <p:spPr>
          <a:xfrm>
            <a:off x="7845552" y="47914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SHARE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577072" y="4791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DCEE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 + MVP + artifacts + test evidence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731520" y="4773168"/>
            <a:ext cx="10515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" y="4828032"/>
            <a:ext cx="923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IN</a:t>
            </a:r>
            <a:endParaRPr lang="en-US" sz="820" dirty="0"/>
          </a:p>
        </p:txBody>
      </p:sp>
      <p:sp>
        <p:nvSpPr>
          <p:cNvPr id="22" name="Shape 19"/>
          <p:cNvSpPr/>
          <p:nvPr/>
        </p:nvSpPr>
        <p:spPr>
          <a:xfrm>
            <a:off x="1975104" y="4773168"/>
            <a:ext cx="10515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039112" y="4828032"/>
            <a:ext cx="923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DOCUMENTS</a:t>
            </a:r>
            <a:endParaRPr lang="en-US" sz="820" dirty="0"/>
          </a:p>
        </p:txBody>
      </p:sp>
      <p:sp>
        <p:nvSpPr>
          <p:cNvPr id="24" name="Shape 21"/>
          <p:cNvSpPr/>
          <p:nvPr/>
        </p:nvSpPr>
        <p:spPr>
          <a:xfrm>
            <a:off x="3218688" y="4773168"/>
            <a:ext cx="10515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282696" y="4828032"/>
            <a:ext cx="923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MVP</a:t>
            </a:r>
            <a:endParaRPr lang="en-US" sz="820" dirty="0"/>
          </a:p>
        </p:txBody>
      </p:sp>
      <p:sp>
        <p:nvSpPr>
          <p:cNvPr id="26" name="Shape 23"/>
          <p:cNvSpPr/>
          <p:nvPr/>
        </p:nvSpPr>
        <p:spPr>
          <a:xfrm>
            <a:off x="4462272" y="4773168"/>
            <a:ext cx="10515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828032"/>
            <a:ext cx="923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</a:t>
            </a:r>
            <a:endParaRPr lang="en-US" sz="820" dirty="0"/>
          </a:p>
        </p:txBody>
      </p:sp>
      <p:sp>
        <p:nvSpPr>
          <p:cNvPr id="28" name="Shape 25"/>
          <p:cNvSpPr/>
          <p:nvPr/>
        </p:nvSpPr>
        <p:spPr>
          <a:xfrm>
            <a:off x="5705856" y="4773168"/>
            <a:ext cx="1051560" cy="310896"/>
          </a:xfrm>
          <a:prstGeom prst="roundRect">
            <a:avLst/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769864" y="4828032"/>
            <a:ext cx="923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</a:t>
            </a:r>
            <a:endParaRPr lang="en-US" sz="820" dirty="0"/>
          </a:p>
        </p:txBody>
      </p:sp>
      <p:sp>
        <p:nvSpPr>
          <p:cNvPr id="30" name="Text 27"/>
          <p:cNvSpPr/>
          <p:nvPr/>
        </p:nvSpPr>
        <p:spPr>
          <a:xfrm>
            <a:off x="731520" y="6254496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|  MCAPS AIBAST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BF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RAPP Workshop  |  17</a:t>
            </a:r>
            <a:endParaRPr lang="en-US" sz="8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FACILITATOR APPENDIX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Workshop bill of materials.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8961120" y="731520"/>
            <a:ext cx="2514600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025128" y="786384"/>
            <a:ext cx="2386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 3 BUSINESS DAYS BEFORE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502152" cy="3977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50392" y="2057400"/>
            <a:ext cx="1463040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112264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PARTICIPANT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850392" y="2743200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8797" y="2757830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79576" y="272491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Microsoft Entra ID account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850392" y="3255264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8797" y="3269894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179576" y="3236976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Copilot Studio / maker access</a:t>
            </a:r>
            <a:endParaRPr lang="en-US" sz="1320" dirty="0"/>
          </a:p>
        </p:txBody>
      </p:sp>
      <p:sp>
        <p:nvSpPr>
          <p:cNvPr id="21" name="Shape 19"/>
          <p:cNvSpPr/>
          <p:nvPr/>
        </p:nvSpPr>
        <p:spPr>
          <a:xfrm>
            <a:off x="850392" y="3767328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8797" y="3781958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79576" y="3749040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Modern browser + popup permission</a:t>
            </a:r>
            <a:endParaRPr lang="en-US" sz="1320" dirty="0"/>
          </a:p>
        </p:txBody>
      </p:sp>
      <p:sp>
        <p:nvSpPr>
          <p:cNvPr id="24" name="Shape 22"/>
          <p:cNvSpPr/>
          <p:nvPr/>
        </p:nvSpPr>
        <p:spPr>
          <a:xfrm>
            <a:off x="850392" y="4279392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8797" y="4294022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79576" y="4261104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One sanitized source document</a:t>
            </a:r>
            <a:endParaRPr lang="en-US" sz="1320" dirty="0"/>
          </a:p>
        </p:txBody>
      </p:sp>
      <p:sp>
        <p:nvSpPr>
          <p:cNvPr id="27" name="Shape 25"/>
          <p:cNvSpPr/>
          <p:nvPr/>
        </p:nvSpPr>
        <p:spPr>
          <a:xfrm>
            <a:off x="850392" y="4791456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8797" y="4806086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79576" y="4773168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Target success measure</a:t>
            </a:r>
            <a:endParaRPr lang="en-US" sz="1320" dirty="0"/>
          </a:p>
        </p:txBody>
      </p:sp>
      <p:sp>
        <p:nvSpPr>
          <p:cNvPr id="30" name="Shape 28"/>
          <p:cNvSpPr/>
          <p:nvPr/>
        </p:nvSpPr>
        <p:spPr>
          <a:xfrm>
            <a:off x="4343400" y="1783080"/>
            <a:ext cx="3502152" cy="3977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99432" y="2057400"/>
            <a:ext cx="1463040" cy="310896"/>
          </a:xfrm>
          <a:prstGeom prst="roundRect">
            <a:avLst/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2112264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FACILITATOR</a:t>
            </a:r>
            <a:endParaRPr lang="en-US" sz="970" dirty="0"/>
          </a:p>
        </p:txBody>
      </p:sp>
      <p:sp>
        <p:nvSpPr>
          <p:cNvPr id="33" name="Shape 31"/>
          <p:cNvSpPr/>
          <p:nvPr/>
        </p:nvSpPr>
        <p:spPr>
          <a:xfrm>
            <a:off x="4599432" y="2743200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37837" y="2757830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928616" y="272491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RAPP workshop URL + tested sign-in</a:t>
            </a:r>
            <a:endParaRPr lang="en-US" sz="1320" dirty="0"/>
          </a:p>
        </p:txBody>
      </p:sp>
      <p:sp>
        <p:nvSpPr>
          <p:cNvPr id="36" name="Shape 34"/>
          <p:cNvSpPr/>
          <p:nvPr/>
        </p:nvSpPr>
        <p:spPr>
          <a:xfrm>
            <a:off x="4599432" y="3255264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37837" y="3269894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928616" y="3236976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Scenario source file + answer key</a:t>
            </a:r>
            <a:endParaRPr lang="en-US" sz="1320" dirty="0"/>
          </a:p>
        </p:txBody>
      </p:sp>
      <p:sp>
        <p:nvSpPr>
          <p:cNvPr id="39" name="Shape 37"/>
          <p:cNvSpPr/>
          <p:nvPr/>
        </p:nvSpPr>
        <p:spPr>
          <a:xfrm>
            <a:off x="4599432" y="3767328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37837" y="3781958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28616" y="3749040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Prebuilt demo and live solution ZIPs</a:t>
            </a:r>
            <a:endParaRPr lang="en-US" sz="1320" dirty="0"/>
          </a:p>
        </p:txBody>
      </p:sp>
      <p:sp>
        <p:nvSpPr>
          <p:cNvPr id="42" name="Shape 40"/>
          <p:cNvSpPr/>
          <p:nvPr/>
        </p:nvSpPr>
        <p:spPr>
          <a:xfrm>
            <a:off x="4599432" y="4279392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637837" y="4294022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928616" y="4261104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Deck + facilitator guide</a:t>
            </a:r>
            <a:endParaRPr lang="en-US" sz="1320" dirty="0"/>
          </a:p>
        </p:txBody>
      </p:sp>
      <p:sp>
        <p:nvSpPr>
          <p:cNvPr id="45" name="Shape 43"/>
          <p:cNvSpPr/>
          <p:nvPr/>
        </p:nvSpPr>
        <p:spPr>
          <a:xfrm>
            <a:off x="4599432" y="4791456"/>
            <a:ext cx="228600" cy="22860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37837" y="4806086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928616" y="4773168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Timer, survey, and evidence checklist</a:t>
            </a:r>
            <a:endParaRPr lang="en-US" sz="1320" dirty="0"/>
          </a:p>
        </p:txBody>
      </p:sp>
      <p:sp>
        <p:nvSpPr>
          <p:cNvPr id="48" name="Shape 46"/>
          <p:cNvSpPr/>
          <p:nvPr/>
        </p:nvSpPr>
        <p:spPr>
          <a:xfrm>
            <a:off x="8092440" y="1783080"/>
            <a:ext cx="3502152" cy="3977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7C10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348472" y="2057400"/>
            <a:ext cx="1463040" cy="310896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2112264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ENVIRONMENT</a:t>
            </a:r>
            <a:endParaRPr lang="en-US" sz="970" dirty="0"/>
          </a:p>
        </p:txBody>
      </p:sp>
      <p:sp>
        <p:nvSpPr>
          <p:cNvPr id="51" name="Shape 49"/>
          <p:cNvSpPr/>
          <p:nvPr/>
        </p:nvSpPr>
        <p:spPr>
          <a:xfrm>
            <a:off x="8348472" y="2743200"/>
            <a:ext cx="228600" cy="22860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386877" y="2757830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677656" y="272491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Dedicated Dataverse workshop environment</a:t>
            </a:r>
            <a:endParaRPr lang="en-US" sz="1320" dirty="0"/>
          </a:p>
        </p:txBody>
      </p:sp>
      <p:sp>
        <p:nvSpPr>
          <p:cNvPr id="54" name="Shape 52"/>
          <p:cNvSpPr/>
          <p:nvPr/>
        </p:nvSpPr>
        <p:spPr>
          <a:xfrm>
            <a:off x="8348472" y="3255264"/>
            <a:ext cx="228600" cy="22860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386877" y="3269894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8677656" y="3236976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Maker / System Customizer permissions</a:t>
            </a:r>
            <a:endParaRPr lang="en-US" sz="1320" dirty="0"/>
          </a:p>
        </p:txBody>
      </p:sp>
      <p:sp>
        <p:nvSpPr>
          <p:cNvPr id="57" name="Shape 55"/>
          <p:cNvSpPr/>
          <p:nvPr/>
        </p:nvSpPr>
        <p:spPr>
          <a:xfrm>
            <a:off x="8348472" y="3767328"/>
            <a:ext cx="228600" cy="22860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386877" y="3781958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8677656" y="3749040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Copilot Studio availability</a:t>
            </a:r>
            <a:endParaRPr lang="en-US" sz="1320" dirty="0"/>
          </a:p>
        </p:txBody>
      </p:sp>
      <p:sp>
        <p:nvSpPr>
          <p:cNvPr id="60" name="Shape 58"/>
          <p:cNvSpPr/>
          <p:nvPr/>
        </p:nvSpPr>
        <p:spPr>
          <a:xfrm>
            <a:off x="8348472" y="4279392"/>
            <a:ext cx="228600" cy="22860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386877" y="4294022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8677656" y="4261104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Connection policy understood</a:t>
            </a:r>
            <a:endParaRPr lang="en-US" sz="1320" dirty="0"/>
          </a:p>
        </p:txBody>
      </p:sp>
      <p:sp>
        <p:nvSpPr>
          <p:cNvPr id="63" name="Shape 61"/>
          <p:cNvSpPr/>
          <p:nvPr/>
        </p:nvSpPr>
        <p:spPr>
          <a:xfrm>
            <a:off x="8348472" y="4791456"/>
            <a:ext cx="228600" cy="22860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386877" y="4806086"/>
            <a:ext cx="155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8677656" y="4773168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pPr indent="0" marL="0">
              <a:buNone/>
            </a:pPr>
            <a:r>
              <a:rPr lang="en-US" sz="132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No concurrent solution import</a:t>
            </a:r>
            <a:endParaRPr lang="en-US" sz="1320" dirty="0"/>
          </a:p>
        </p:txBody>
      </p:sp>
      <p:sp>
        <p:nvSpPr>
          <p:cNvPr id="66" name="Text 64"/>
          <p:cNvSpPr/>
          <p:nvPr/>
        </p:nvSpPr>
        <p:spPr>
          <a:xfrm>
            <a:off x="105156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 rule: if access blocks a participant for more than 3 minutes, pair them with a working driver and continue the learning flow.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 |  18</a:t>
            </a:r>
            <a:endParaRPr lang="en-US" sz="8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FACILITATOR APPENDIX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Five-minute pre-session survey.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9555480" y="731520"/>
            <a:ext cx="1920240" cy="310896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19488" y="786384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0B56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INPUT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640080" y="1737360"/>
            <a:ext cx="5257800" cy="859536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1938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188366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business problem should the agent solve?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17720" y="2002536"/>
            <a:ext cx="1069848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1728" y="2057400"/>
            <a:ext cx="9418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SHORT PARAGRAPH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640080" y="2816352"/>
            <a:ext cx="5257800" cy="859536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30175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296265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uses the process today?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617720" y="3081528"/>
            <a:ext cx="1069848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81728" y="3136392"/>
            <a:ext cx="9418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ROLES / PERSONAS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640080" y="3895344"/>
            <a:ext cx="5257800" cy="859536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2960" y="4096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happens from trigger to outcome?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17720" y="4160520"/>
            <a:ext cx="1069848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81728" y="4215384"/>
            <a:ext cx="9418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3-7 STEPS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640080" y="4974336"/>
            <a:ext cx="5257800" cy="859536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22960" y="51755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71600" y="51206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the top one to three capabilities?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617720" y="5239512"/>
            <a:ext cx="1069848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81728" y="5294376"/>
            <a:ext cx="9418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RANKED LIST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6263640" y="1737360"/>
            <a:ext cx="5257800" cy="859536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446520" y="1938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995160" y="188366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systems or knowledge sources are involved?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241280" y="2002536"/>
            <a:ext cx="1069848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05288" y="2057400"/>
            <a:ext cx="9418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NAMES ONLY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6263640" y="2816352"/>
            <a:ext cx="5257800" cy="859536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446520" y="30175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995160" y="296265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sample file can you safely provide?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10241280" y="3081528"/>
            <a:ext cx="1069848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305288" y="3136392"/>
            <a:ext cx="9418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TYPE + CLASSIFICATION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6263640" y="3895344"/>
            <a:ext cx="5257800" cy="859536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446520" y="4096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995160" y="404164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will we know the prototype worked?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10241280" y="4160520"/>
            <a:ext cx="1069848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305288" y="4215384"/>
            <a:ext cx="9418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MEASURABLE SIGNAL</a:t>
            </a:r>
            <a:endParaRPr lang="en-US" sz="760" dirty="0"/>
          </a:p>
        </p:txBody>
      </p:sp>
      <p:sp>
        <p:nvSpPr>
          <p:cNvPr id="47" name="Shape 45"/>
          <p:cNvSpPr/>
          <p:nvPr/>
        </p:nvSpPr>
        <p:spPr>
          <a:xfrm>
            <a:off x="6263640" y="4974336"/>
            <a:ext cx="5257800" cy="859536"/>
          </a:xfrm>
          <a:prstGeom prst="roundRect">
            <a:avLst/>
          </a:prstGeom>
          <a:solidFill>
            <a:srgbClr val="FAF9F8"/>
          </a:solidFill>
          <a:ln w="12700">
            <a:solidFill>
              <a:srgbClr val="E1DFDD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446520" y="51755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6995160" y="51206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attendees have maker access?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0241280" y="5239512"/>
            <a:ext cx="1069848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305288" y="5294376"/>
            <a:ext cx="9418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 / NO / UNSURE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1234440" y="5870448"/>
            <a:ext cx="9738360" cy="438912"/>
          </a:xfrm>
          <a:prstGeom prst="roundRect">
            <a:avLst/>
          </a:prstGeom>
          <a:solidFill>
            <a:srgbClr val="FFF4CE"/>
          </a:solidFill>
          <a:ln w="10160">
            <a:solidFill>
              <a:srgbClr val="FFB9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490472" y="5989320"/>
            <a:ext cx="9235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not request customer secrets or production data in the survey. Ask only for enough signal to shape the workshop scenario.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 |  19</a:t>
            </a:r>
            <a:endParaRPr lang="en-US" sz="8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FACILITATOR APPENDIX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pilot handoffs: avoid duplicate discovery.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40080" y="1828800"/>
            <a:ext cx="1089964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2075688"/>
            <a:ext cx="2148840" cy="310896"/>
          </a:xfrm>
          <a:prstGeom prst="roundRect">
            <a:avLst/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2130552"/>
            <a:ext cx="2020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AIdeate / use-case discovery</a:t>
            </a:r>
            <a:endParaRPr lang="en-US" sz="860" dirty="0"/>
          </a:p>
        </p:txBody>
      </p:sp>
      <p:sp>
        <p:nvSpPr>
          <p:cNvPr id="13" name="Text 11"/>
          <p:cNvSpPr/>
          <p:nvPr/>
        </p:nvSpPr>
        <p:spPr>
          <a:xfrm>
            <a:off x="3246120" y="2057400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framing  |  user + process  |  prioritization  |  success metric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8915400" y="20391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Confirmed scenario brief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40080" y="2907792"/>
            <a:ext cx="1089964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3154680"/>
            <a:ext cx="2148840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3209544"/>
            <a:ext cx="2020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RAPP workshop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3246120" y="3136392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upload  |  MVP confirmation  |  agent generation  |  deploy + test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8915400" y="311810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Prototype + evidence package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40080" y="3986784"/>
            <a:ext cx="1089964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4233672"/>
            <a:ext cx="2148840" cy="310896"/>
          </a:xfrm>
          <a:prstGeom prst="round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4288536"/>
            <a:ext cx="2020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Partner / delivery team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3246120" y="4215384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 design  |  operating model  |  change plan  |  production backlog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8915400" y="419709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Scale and implementation plan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40080" y="5065776"/>
            <a:ext cx="1089964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7C10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5312664"/>
            <a:ext cx="2148840" cy="310896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5367528"/>
            <a:ext cx="2020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owners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3246120" y="5294376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 evidence  |  approve MVP  |  validate behavior  |  own go-live decisions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8915400" y="527608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Decisions + accountable owner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658368" y="60807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05E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SHARE WITH PILOT LEADS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651760" y="6053328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deck  |  pre-survey  |  scenario brief  |  RAPP output checklist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8595360" y="6053328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boundaries before each customer cohort.</a:t>
            </a:r>
            <a:endParaRPr lang="en-US" sz="980" dirty="0"/>
          </a:p>
        </p:txBody>
      </p:sp>
      <p:sp>
        <p:nvSpPr>
          <p:cNvPr id="33" name="Text 31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 |  20</a:t>
            </a:r>
            <a:endParaRPr lang="en-US" sz="8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FACILITATOR APPENDIX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033272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 recovery without losing the room.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40080" y="1737360"/>
            <a:ext cx="306324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1965960"/>
            <a:ext cx="1737360" cy="310896"/>
          </a:xfrm>
          <a:prstGeom prst="roundRect">
            <a:avLst/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2020824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WRONG MVP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96112" y="2496312"/>
            <a:ext cx="2542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the title or statement. Re-derive only after changing the source.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069080" y="1737360"/>
            <a:ext cx="306324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965960"/>
            <a:ext cx="1737360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61688" y="2020824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ENVIRONMENT VISIBLE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325112" y="2496312"/>
            <a:ext cx="2542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tenant and maker access. Pair the participant while access is fixed.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498080" y="1737360"/>
            <a:ext cx="306324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4262C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26680" y="1965960"/>
            <a:ext cx="1737360" cy="310896"/>
          </a:xfrm>
          <a:prstGeom prst="roundRect">
            <a:avLst/>
          </a:prstGeom>
          <a:solidFill>
            <a:srgbClr val="FDE7E9"/>
          </a:solidFill>
          <a:ln w="12700">
            <a:solidFill>
              <a:srgbClr val="FDE7E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90688" y="2020824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4262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GENERATION FAILS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754112" y="2496312"/>
            <a:ext cx="2542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sign-in, file type, file size, and that at least one document is present.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306324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68680" y="4114800"/>
            <a:ext cx="1737360" cy="310896"/>
          </a:xfrm>
          <a:prstGeom prst="round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688" y="4169664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CONNECTIONS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96112" y="4645152"/>
            <a:ext cx="2542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 connection references and turn flows on. Use the demo twin meanwhile.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069080" y="3886200"/>
            <a:ext cx="306324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3A6B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297680" y="4114800"/>
            <a:ext cx="1737360" cy="310896"/>
          </a:xfrm>
          <a:prstGeom prst="roundRect">
            <a:avLst/>
          </a:prstGeom>
          <a:solidFill>
            <a:srgbClr val="EAF4FD"/>
          </a:solidFill>
          <a:ln w="12700">
            <a:solidFill>
              <a:srgbClr val="EAF4FD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61688" y="4169664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IMPORT STALLS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325112" y="4645152"/>
            <a:ext cx="2542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Avoid concurrent solution imports. Wait for the current Dataverse job to finish.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498080" y="3886200"/>
            <a:ext cx="306324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7C10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726680" y="4114800"/>
            <a:ext cx="1737360" cy="310896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90688" y="4169664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BEHAVIOR DIFFERS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754112" y="4645152"/>
            <a:ext cx="2542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connection binding, permissions, DLP policy, and live-system test data.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097280" y="596188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Three-minute rule: preserve workshop momentum first; diagnose deeply after the session with the exported test case and telemetry.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 |  21</a:t>
            </a:r>
            <a:endParaRPr lang="en-US" sz="8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310896"/>
            <a:ext cx="64008" cy="64008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2457" y="310896"/>
            <a:ext cx="64008" cy="64008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66928" y="386425"/>
            <a:ext cx="64008" cy="64008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2457" y="386425"/>
            <a:ext cx="64008" cy="64008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2697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" kern="0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  |  Rapid Agent Prototype Platform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822960"/>
            <a:ext cx="155448" cy="411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74980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PARTICIPANT TAKEAWAY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66928" y="103327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RAPP quick reference.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40080" y="1856232"/>
            <a:ext cx="73152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22960" y="1901952"/>
            <a:ext cx="566928" cy="566928"/>
          </a:xfrm>
          <a:prstGeom prst="ellipse">
            <a:avLst/>
          </a:prstGeom>
          <a:solidFill>
            <a:srgbClr val="DCEEFF"/>
          </a:solidFill>
          <a:ln w="15240">
            <a:solidFill>
              <a:srgbClr val="0078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5256" y="2057400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572768" y="2039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SIGN IN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2788920" y="20391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your Microsoft account.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806440" y="2029968"/>
            <a:ext cx="1874520" cy="310896"/>
          </a:xfrm>
          <a:prstGeom prst="round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70448" y="2084832"/>
            <a:ext cx="1746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AUTHENTICATED SESSION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40080" y="2633472"/>
            <a:ext cx="73152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7C10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22960" y="2679192"/>
            <a:ext cx="566928" cy="566928"/>
          </a:xfrm>
          <a:prstGeom prst="ellipse">
            <a:avLst/>
          </a:prstGeom>
          <a:solidFill>
            <a:srgbClr val="DFF6DD"/>
          </a:solidFill>
          <a:ln w="15240">
            <a:solidFill>
              <a:srgbClr val="107C1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05256" y="2834640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572768" y="281635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DOCUMENTS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2788920" y="28163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 focused, permitted evidence.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806440" y="2807208"/>
            <a:ext cx="1874520" cy="310896"/>
          </a:xfrm>
          <a:prstGeom prst="roundRect">
            <a:avLst/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870448" y="2862072"/>
            <a:ext cx="1746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7C1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 SET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640080" y="3410712"/>
            <a:ext cx="73152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22960" y="3456432"/>
            <a:ext cx="566928" cy="566928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05256" y="3611880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572768" y="35935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MVP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2788920" y="35935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Read, edit, and explicitly confirm.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806440" y="3584448"/>
            <a:ext cx="1874520" cy="310896"/>
          </a:xfrm>
          <a:prstGeom prst="roundRect">
            <a:avLst/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870448" y="3639312"/>
            <a:ext cx="1746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83B0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APPROVED USE CASE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640080" y="4187952"/>
            <a:ext cx="73152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61C5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22960" y="4233672"/>
            <a:ext cx="566928" cy="566928"/>
          </a:xfrm>
          <a:prstGeom prst="ellipse">
            <a:avLst/>
          </a:prstGeom>
          <a:solidFill>
            <a:srgbClr val="EDE7F6"/>
          </a:solidFill>
          <a:ln w="15240">
            <a:solidFill>
              <a:srgbClr val="8661C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05256" y="4389120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572768" y="437083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2788920" y="43708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capabilities and two twins.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806440" y="4361688"/>
            <a:ext cx="1874520" cy="310896"/>
          </a:xfrm>
          <a:prstGeom prst="round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870448" y="4416552"/>
            <a:ext cx="1746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FILES + ZIPS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40080" y="4965192"/>
            <a:ext cx="73152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3A6B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822960" y="5010912"/>
            <a:ext cx="566928" cy="566928"/>
          </a:xfrm>
          <a:prstGeom prst="ellipse">
            <a:avLst/>
          </a:prstGeom>
          <a:solidFill>
            <a:srgbClr val="EAF4FD"/>
          </a:solidFill>
          <a:ln w="15240">
            <a:solidFill>
              <a:srgbClr val="103A6B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05256" y="5166360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1572768" y="514807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2788920" y="514807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B3A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environment, import, test.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5806440" y="5138928"/>
            <a:ext cx="1874520" cy="310896"/>
          </a:xfrm>
          <a:prstGeom prst="roundRect">
            <a:avLst/>
          </a:prstGeom>
          <a:solidFill>
            <a:srgbClr val="EAF4FD"/>
          </a:solidFill>
          <a:ln w="12700">
            <a:solidFill>
              <a:srgbClr val="EAF4FD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870448" y="5193792"/>
            <a:ext cx="1746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COPILOT STUDIO PROTOTYPE</a:t>
            </a:r>
            <a:endParaRPr lang="en-US" sz="850" dirty="0"/>
          </a:p>
        </p:txBody>
      </p:sp>
      <p:sp>
        <p:nvSpPr>
          <p:cNvPr id="46" name="Shape 43"/>
          <p:cNvSpPr/>
          <p:nvPr/>
        </p:nvSpPr>
        <p:spPr>
          <a:xfrm>
            <a:off x="8275320" y="1856232"/>
            <a:ext cx="3273552" cy="3721608"/>
          </a:xfrm>
          <a:prstGeom prst="roundRect">
            <a:avLst/>
          </a:prstGeom>
          <a:solidFill>
            <a:srgbClr val="103A6B"/>
          </a:solidFill>
          <a:ln w="12700">
            <a:solidFill>
              <a:srgbClr val="103A6B"/>
            </a:solidFill>
            <a:prstDash val="solid"/>
          </a:ln>
          <a:effectLst>
            <a:outerShdw sx="100000" sy="100000" kx="0" ky="0" algn="bl" rotWithShape="0" blurRad="63500" dist="50800" dir="8100000">
              <a:srgbClr val="000000">
                <a:alpha val="12000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8595360" y="21488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0E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QUALITY CHECK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8595360" y="265176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50E6FF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631936" y="268833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750" dirty="0"/>
          </a:p>
        </p:txBody>
      </p:sp>
      <p:sp>
        <p:nvSpPr>
          <p:cNvPr id="50" name="Text 47"/>
          <p:cNvSpPr/>
          <p:nvPr/>
        </p:nvSpPr>
        <p:spPr>
          <a:xfrm>
            <a:off x="8942832" y="2642616"/>
            <a:ext cx="2057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matches source</a:t>
            </a:r>
            <a:endParaRPr lang="en-US" sz="1020" dirty="0"/>
          </a:p>
        </p:txBody>
      </p:sp>
      <p:sp>
        <p:nvSpPr>
          <p:cNvPr id="51" name="Shape 48"/>
          <p:cNvSpPr/>
          <p:nvPr/>
        </p:nvSpPr>
        <p:spPr>
          <a:xfrm>
            <a:off x="8595360" y="306324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50E6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631936" y="309981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8942832" y="3054096"/>
            <a:ext cx="2057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 match MVP</a:t>
            </a:r>
            <a:endParaRPr lang="en-US" sz="1020" dirty="0"/>
          </a:p>
        </p:txBody>
      </p:sp>
      <p:sp>
        <p:nvSpPr>
          <p:cNvPr id="54" name="Shape 51"/>
          <p:cNvSpPr/>
          <p:nvPr/>
        </p:nvSpPr>
        <p:spPr>
          <a:xfrm>
            <a:off x="8595360" y="347472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50E6FF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631936" y="351129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750" dirty="0"/>
          </a:p>
        </p:txBody>
      </p:sp>
      <p:sp>
        <p:nvSpPr>
          <p:cNvPr id="56" name="Text 53"/>
          <p:cNvSpPr/>
          <p:nvPr/>
        </p:nvSpPr>
        <p:spPr>
          <a:xfrm>
            <a:off x="8942832" y="3465576"/>
            <a:ext cx="2057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uses synthetic data</a:t>
            </a:r>
            <a:endParaRPr lang="en-US" sz="1020" dirty="0"/>
          </a:p>
        </p:txBody>
      </p:sp>
      <p:sp>
        <p:nvSpPr>
          <p:cNvPr id="57" name="Shape 54"/>
          <p:cNvSpPr/>
          <p:nvPr/>
        </p:nvSpPr>
        <p:spPr>
          <a:xfrm>
            <a:off x="8595360" y="388620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50E6FF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631936" y="392277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750" dirty="0"/>
          </a:p>
        </p:txBody>
      </p:sp>
      <p:sp>
        <p:nvSpPr>
          <p:cNvPr id="59" name="Text 56"/>
          <p:cNvSpPr/>
          <p:nvPr/>
        </p:nvSpPr>
        <p:spPr>
          <a:xfrm>
            <a:off x="8942832" y="3877056"/>
            <a:ext cx="2057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connections reviewed</a:t>
            </a:r>
            <a:endParaRPr lang="en-US" sz="1020" dirty="0"/>
          </a:p>
        </p:txBody>
      </p:sp>
      <p:sp>
        <p:nvSpPr>
          <p:cNvPr id="60" name="Shape 57"/>
          <p:cNvSpPr/>
          <p:nvPr/>
        </p:nvSpPr>
        <p:spPr>
          <a:xfrm>
            <a:off x="8595360" y="429768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50E6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8631936" y="433425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8942832" y="4288536"/>
            <a:ext cx="2057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happy + one edge test</a:t>
            </a:r>
            <a:endParaRPr lang="en-US" sz="1020" dirty="0"/>
          </a:p>
        </p:txBody>
      </p:sp>
      <p:sp>
        <p:nvSpPr>
          <p:cNvPr id="63" name="Shape 60"/>
          <p:cNvSpPr/>
          <p:nvPr/>
        </p:nvSpPr>
        <p:spPr>
          <a:xfrm>
            <a:off x="8595360" y="470916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50E6FF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8631936" y="474573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750" dirty="0"/>
          </a:p>
        </p:txBody>
      </p:sp>
      <p:sp>
        <p:nvSpPr>
          <p:cNvPr id="65" name="Text 62"/>
          <p:cNvSpPr/>
          <p:nvPr/>
        </p:nvSpPr>
        <p:spPr>
          <a:xfrm>
            <a:off x="8942832" y="4700016"/>
            <a:ext cx="2057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improvement recorded</a:t>
            </a:r>
            <a:endParaRPr lang="en-US" sz="1020" dirty="0"/>
          </a:p>
        </p:txBody>
      </p:sp>
      <p:sp>
        <p:nvSpPr>
          <p:cNvPr id="66" name="Shape 63"/>
          <p:cNvSpPr/>
          <p:nvPr/>
        </p:nvSpPr>
        <p:spPr>
          <a:xfrm>
            <a:off x="8595360" y="5065776"/>
            <a:ext cx="1965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8659368" y="5120640"/>
            <a:ext cx="1837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A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aka.ms/rappinstall</a:t>
            </a:r>
            <a:endParaRPr lang="en-US" sz="950" dirty="0"/>
          </a:p>
        </p:txBody>
      </p:sp>
      <p:sp>
        <p:nvSpPr>
          <p:cNvPr id="68" name="Text 65"/>
          <p:cNvSpPr/>
          <p:nvPr/>
        </p:nvSpPr>
        <p:spPr>
          <a:xfrm>
            <a:off x="1554480" y="598932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3A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case in. Copilot Studio solution out.</a:t>
            </a:r>
            <a:endParaRPr lang="en-US" sz="1350" dirty="0"/>
          </a:p>
        </p:txBody>
      </p:sp>
      <p:sp>
        <p:nvSpPr>
          <p:cNvPr id="69" name="Text 66"/>
          <p:cNvSpPr/>
          <p:nvPr/>
        </p:nvSpPr>
        <p:spPr>
          <a:xfrm>
            <a:off x="9235440" y="639165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 |  22</a:t>
            </a:r>
            <a:endParaRPr lang="en-US" sz="8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RAPP Workshop Deck</dc:title>
  <dc:subject>One-hour Documents to Copilot Studio workshop</dc:subject>
  <dc:creator>Microsoft MCAPS AIBAST</dc:creator>
  <cp:lastModifiedBy>Microsoft MCAPS AIBAST</cp:lastModifiedBy>
  <cp:revision>1</cp:revision>
  <dcterms:created xsi:type="dcterms:W3CDTF">2026-07-13T15:29:22Z</dcterms:created>
  <dcterms:modified xsi:type="dcterms:W3CDTF">2026-07-13T15:29:22Z</dcterms:modified>
</cp:coreProperties>
</file>