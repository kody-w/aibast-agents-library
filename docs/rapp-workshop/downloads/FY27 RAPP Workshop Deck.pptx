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4C8FF8-4C82-2688-6295-2EA3B95CB3A0}" v="18" dt="2026-07-13T18:53:22.229"/>
    <p1510:client id="{881926AE-43CF-2946-B2C2-899D00E22EA1}" v="2" dt="2026-07-13T18:18:46.993"/>
    <p1510:client id="{CE7227AC-7413-EDA3-9EE5-3B81692A1937}" v="250" dt="2026-07-13T18:34:55.125"/>
    <p1510:client id="{DAF118D1-87FC-1793-BB95-849192F179AD}" v="183" dt="2026-07-13T18:41:32.5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CCA2AEB-0849-4D2C-896C-DE9A699AF44D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6C2A1B-F5BD-481C-8508-25C35C1EAC8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5E5E37-A262-49D9-A5F1-226CBD043D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41EDC9-3460-4C77-969D-048BD8452B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11ADB9-7FCE-4486-B304-3BEAA659D4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BAA197-BA01-4D3D-9DEE-848C4712D2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9EF9CD-DC88-4528-81E9-B32E8D54873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69D12F2-4E71-4B80-B9EF-87D2F3DAF0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9C13F2-1027-4E8A-B404-F961EAE8B5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F7F70E-60E4-43F4-96E9-7BE74C6032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7BEAD4-C917-4613-AD3F-AFC0582802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D17706F-9D31-4B06-96F3-A9CB752B17E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1AC46B-A63A-4AEB-9381-2B01008D8D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442D74-91A1-4A79-BBFB-A7180F0346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7A58B2-066E-4749-BC69-C785770652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58CD19-54AB-4596-9712-0B9FEDA7930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296177-8639-4898-88DA-40077679F4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08885F-E7DE-4886-9086-7DDE3E5B4E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40357B-D98B-4766-BB89-40F8B6F3CE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0330B0-12E3-4BBE-BF31-8073B3D47B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C321DF-2B2C-4E5C-98AF-9529F46311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90EE9A-ADD6-4E8C-8FB3-2D3FF2BD78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15AA8B-C40C-4714-8EDB-D30F5A989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3" Type="http://schemas.openxmlformats.org/officeDocument/2006/relationships/hyperlink" Target="https://aka.ms/rappinstal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microsoft/aibast-agents-library" TargetMode="External"/><Relationship Id="rId4" Type="http://schemas.openxmlformats.org/officeDocument/2006/relationships/hyperlink" Target="https://microsoft.github.io/aibast-agents-library" TargetMode="External"/><Relationship Id="rId6" Type="http://schemas.openxmlformats.org/officeDocument/2006/relationships/hyperlink" Target="https://aka.ms/rappinstall" TargetMode="External"/><Relationship Id="rId7" Type="http://schemas.openxmlformats.org/officeDocument/2006/relationships/hyperlink" Target="https://aka.ms/rappinstall" TargetMode="External"/><Relationship Id="rId8" Type="http://schemas.openxmlformats.org/officeDocument/2006/relationships/hyperlink" Target="https://github.com/microsoft/aibast-agents-library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aka.ms/rappinstal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0"/>
          <p:cNvSpPr/>
          <p:nvPr/>
        </p:nvSpPr>
        <p:spPr>
          <a:xfrm>
            <a:off x="11201400" y="420480"/>
            <a:ext cx="95760" cy="9576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1"/>
          <p:cNvSpPr/>
          <p:nvPr/>
        </p:nvSpPr>
        <p:spPr>
          <a:xfrm>
            <a:off x="11314800" y="420480"/>
            <a:ext cx="95760" cy="9576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2"/>
          <p:cNvSpPr/>
          <p:nvPr/>
        </p:nvSpPr>
        <p:spPr>
          <a:xfrm>
            <a:off x="11201400" y="533880"/>
            <a:ext cx="95760" cy="9576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3"/>
          <p:cNvSpPr/>
          <p:nvPr/>
        </p:nvSpPr>
        <p:spPr>
          <a:xfrm>
            <a:off x="11314800" y="533880"/>
            <a:ext cx="95760" cy="9576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713160" y="530280"/>
            <a:ext cx="29257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 spc="111">
                <a:solidFill>
                  <a:srgbClr val="BFE6FF"/>
                </a:solidFill>
                <a:effectLst/>
                <a:uFillTx/>
                <a:latin typeface="Segoe UI Semibold"/>
                <a:ea typeface="Segoe UI Semibold"/>
              </a:rPr>
              <a:t>MICROSOFT  |  MCAPS AIBAST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713160" y="1371600"/>
            <a:ext cx="658332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FY27 RAPP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Workshop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6"/>
          <p:cNvSpPr/>
          <p:nvPr/>
        </p:nvSpPr>
        <p:spPr>
          <a:xfrm>
            <a:off x="749880" y="3127320"/>
            <a:ext cx="566640" cy="4536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7"/>
          <p:cNvSpPr/>
          <p:nvPr/>
        </p:nvSpPr>
        <p:spPr>
          <a:xfrm>
            <a:off x="731520" y="3310200"/>
            <a:ext cx="65833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A working local agent in 60 minutes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8"/>
          <p:cNvSpPr/>
          <p:nvPr/>
        </p:nvSpPr>
        <p:spPr>
          <a:xfrm>
            <a:off x="731520" y="3913560"/>
            <a:ext cx="64004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DCEEFF"/>
                </a:solidFill>
                <a:effectLst/>
                <a:uFillTx/>
                <a:latin typeface="Segoe UI"/>
                <a:ea typeface="Segoe UI"/>
              </a:rPr>
              <a:t>A facilitator-ready, hands-on path from one source document to one local agent running on your own machine in the RAPP Brainstem.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9"/>
          <p:cNvSpPr/>
          <p:nvPr/>
        </p:nvSpPr>
        <p:spPr>
          <a:xfrm>
            <a:off x="731520" y="4827960"/>
            <a:ext cx="2048040" cy="456840"/>
          </a:xfrm>
          <a:prstGeom prst="roundRect">
            <a:avLst>
              <a:gd name="adj" fmla="val 12000"/>
            </a:avLst>
          </a:prstGeom>
          <a:solidFill>
            <a:srgbClr val="0B2A4A">
              <a:alpha val="76000"/>
            </a:srgbClr>
          </a:solidFill>
          <a:ln w="12700">
            <a:solidFill>
              <a:srgbClr val="BFE6FF">
                <a:alpha val="4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0"/>
          <p:cNvSpPr/>
          <p:nvPr/>
        </p:nvSpPr>
        <p:spPr>
          <a:xfrm>
            <a:off x="822960" y="4937760"/>
            <a:ext cx="1865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60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QUICK TO LEARN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1"/>
          <p:cNvSpPr/>
          <p:nvPr/>
        </p:nvSpPr>
        <p:spPr>
          <a:xfrm>
            <a:off x="2944440" y="4827960"/>
            <a:ext cx="2048040" cy="456840"/>
          </a:xfrm>
          <a:prstGeom prst="roundRect">
            <a:avLst>
              <a:gd name="adj" fmla="val 12000"/>
            </a:avLst>
          </a:prstGeom>
          <a:solidFill>
            <a:srgbClr val="0B2A4A">
              <a:alpha val="76000"/>
            </a:srgbClr>
          </a:solidFill>
          <a:ln w="12700">
            <a:solidFill>
              <a:srgbClr val="BFE6FF">
                <a:alpha val="4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2"/>
          <p:cNvSpPr/>
          <p:nvPr/>
        </p:nvSpPr>
        <p:spPr>
          <a:xfrm>
            <a:off x="3035880" y="4937760"/>
            <a:ext cx="1865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60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QUICK TO TEACH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3"/>
          <p:cNvSpPr/>
          <p:nvPr/>
        </p:nvSpPr>
        <p:spPr>
          <a:xfrm>
            <a:off x="5157360" y="4827960"/>
            <a:ext cx="2048040" cy="456840"/>
          </a:xfrm>
          <a:prstGeom prst="roundRect">
            <a:avLst>
              <a:gd name="adj" fmla="val 12000"/>
            </a:avLst>
          </a:prstGeom>
          <a:solidFill>
            <a:srgbClr val="0B2A4A">
              <a:alpha val="76000"/>
            </a:srgbClr>
          </a:solidFill>
          <a:ln w="12700">
            <a:solidFill>
              <a:srgbClr val="BFE6FF">
                <a:alpha val="4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5248800" y="4937760"/>
            <a:ext cx="18651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60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QUICK TO 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7772400" y="1234440"/>
            <a:ext cx="3730320" cy="4553280"/>
          </a:xfrm>
          <a:prstGeom prst="roundRect">
            <a:avLst>
              <a:gd name="adj" fmla="val 2451"/>
            </a:avLst>
          </a:prstGeom>
          <a:solidFill>
            <a:srgbClr val="0B2A4A">
              <a:alpha val="88000"/>
            </a:srgbClr>
          </a:solidFill>
          <a:ln w="16510">
            <a:solidFill>
              <a:srgbClr val="BFE6FF">
                <a:alpha val="52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6"/>
          <p:cNvSpPr/>
          <p:nvPr/>
        </p:nvSpPr>
        <p:spPr>
          <a:xfrm>
            <a:off x="7955280" y="1591200"/>
            <a:ext cx="3364560" cy="12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60</a:t>
            </a:r>
            <a:endParaRPr lang="en-US" sz="7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7"/>
          <p:cNvSpPr/>
          <p:nvPr/>
        </p:nvSpPr>
        <p:spPr>
          <a:xfrm>
            <a:off x="8028360" y="2999160"/>
            <a:ext cx="321840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91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MINUTES TO A WORKING LOCAL AGENT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8"/>
          <p:cNvSpPr/>
          <p:nvPr/>
        </p:nvSpPr>
        <p:spPr>
          <a:xfrm>
            <a:off x="8321040" y="3712320"/>
            <a:ext cx="2633400" cy="360"/>
          </a:xfrm>
          <a:prstGeom prst="line">
            <a:avLst/>
          </a:prstGeom>
          <a:ln w="12700">
            <a:solidFill>
              <a:srgbClr val="BFE6FF">
                <a:alpha val="5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9"/>
          <p:cNvSpPr/>
          <p:nvPr/>
        </p:nvSpPr>
        <p:spPr>
          <a:xfrm>
            <a:off x="8202240" y="4260960"/>
            <a:ext cx="347040" cy="3470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"/>
          <p:cNvSpPr/>
          <p:nvPr/>
        </p:nvSpPr>
        <p:spPr>
          <a:xfrm>
            <a:off x="7872840" y="4700160"/>
            <a:ext cx="100548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SOURCE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1"/>
          <p:cNvSpPr/>
          <p:nvPr/>
        </p:nvSpPr>
        <p:spPr>
          <a:xfrm>
            <a:off x="8716079" y="4306680"/>
            <a:ext cx="566640" cy="25560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2"/>
          <p:cNvSpPr/>
          <p:nvPr/>
        </p:nvSpPr>
        <p:spPr>
          <a:xfrm>
            <a:off x="9464040" y="4260960"/>
            <a:ext cx="347040" cy="347040"/>
          </a:xfrm>
          <a:prstGeom prst="ellipse">
            <a:avLst/>
          </a:prstGeom>
          <a:solidFill>
            <a:srgbClr val="50E6FF"/>
          </a:solidFill>
          <a:ln w="1270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3"/>
          <p:cNvSpPr/>
          <p:nvPr/>
        </p:nvSpPr>
        <p:spPr>
          <a:xfrm>
            <a:off x="9135000" y="4700160"/>
            <a:ext cx="100548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COPILOT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4"/>
          <p:cNvSpPr/>
          <p:nvPr/>
        </p:nvSpPr>
        <p:spPr>
          <a:xfrm>
            <a:off x="9977879" y="4306680"/>
            <a:ext cx="566640" cy="25560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10725840" y="4260960"/>
            <a:ext cx="347040" cy="3470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6"/>
          <p:cNvSpPr/>
          <p:nvPr/>
        </p:nvSpPr>
        <p:spPr>
          <a:xfrm>
            <a:off x="10396800" y="4700160"/>
            <a:ext cx="100548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BRAINSTEM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7"/>
          <p:cNvSpPr/>
          <p:nvPr/>
        </p:nvSpPr>
        <p:spPr>
          <a:xfrm>
            <a:off x="731520" y="6236280"/>
            <a:ext cx="42058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BFE6FF"/>
                </a:solidFill>
                <a:effectLst/>
                <a:uFillTx/>
                <a:latin typeface="Segoe UI"/>
                <a:ea typeface="Segoe UI"/>
              </a:rPr>
              <a:t>Facilitator + participant deck  |  FY27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THE WORKSHOP PROMISE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7"/>
          <p:cNvSpPr/>
          <p:nvPr/>
        </p:nvSpPr>
        <p:spPr>
          <a:xfrm>
            <a:off x="567000" y="1193840"/>
            <a:ext cx="758916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By minute 60, one source becomes</a:t>
            </a:r>
            <a:br/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one working local prototype.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658440" y="2592800"/>
            <a:ext cx="3657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 spc="11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FOUR WORKSHOP OUTCOMES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658440" y="295856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696600" y="299483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987480" y="2940560"/>
            <a:ext cx="60714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Tell Copilot to open aka.ms/rappinstall, sign in, and start Brainstem.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2"/>
          <p:cNvSpPr/>
          <p:nvPr/>
        </p:nvSpPr>
        <p:spPr>
          <a:xfrm>
            <a:off x="658440" y="35986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696600" y="363491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987480" y="3580640"/>
            <a:ext cx="60714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Tell Copilot to turn your source into a local prototype.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5"/>
          <p:cNvSpPr/>
          <p:nvPr/>
        </p:nvSpPr>
        <p:spPr>
          <a:xfrm>
            <a:off x="658440" y="423872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6"/>
          <p:cNvSpPr/>
          <p:nvPr/>
        </p:nvSpPr>
        <p:spPr>
          <a:xfrm>
            <a:off x="696600" y="427499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7"/>
          <p:cNvSpPr/>
          <p:nvPr/>
        </p:nvSpPr>
        <p:spPr>
          <a:xfrm>
            <a:off x="987480" y="4220720"/>
            <a:ext cx="60714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Tell Brainstem your scenario and check the response.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8"/>
          <p:cNvSpPr/>
          <p:nvPr/>
        </p:nvSpPr>
        <p:spPr>
          <a:xfrm>
            <a:off x="658440" y="487880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9"/>
          <p:cNvSpPr/>
          <p:nvPr/>
        </p:nvSpPr>
        <p:spPr>
          <a:xfrm>
            <a:off x="696600" y="491507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987480" y="4860800"/>
            <a:ext cx="60714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Tell Copilot to package the prototype for a teammate.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1"/>
          <p:cNvSpPr/>
          <p:nvPr/>
        </p:nvSpPr>
        <p:spPr>
          <a:xfrm>
            <a:off x="7635240" y="1152000"/>
            <a:ext cx="3821760" cy="44802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2"/>
          <p:cNvSpPr/>
          <p:nvPr/>
        </p:nvSpPr>
        <p:spPr>
          <a:xfrm>
            <a:off x="7973640" y="1463040"/>
            <a:ext cx="3200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79">
                <a:solidFill>
                  <a:srgbClr val="CFE8FF"/>
                </a:solidFill>
                <a:effectLst/>
                <a:uFillTx/>
                <a:latin typeface="Segoe UI Semibold"/>
                <a:ea typeface="Segoe UI Semibold"/>
              </a:rPr>
              <a:t>WHAT YOU WALK OUT WITH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3"/>
          <p:cNvSpPr/>
          <p:nvPr/>
        </p:nvSpPr>
        <p:spPr>
          <a:xfrm>
            <a:off x="7882200" y="1993320"/>
            <a:ext cx="9140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×1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"/>
          <p:cNvSpPr/>
          <p:nvPr/>
        </p:nvSpPr>
        <p:spPr>
          <a:xfrm>
            <a:off x="8796600" y="206640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SOURCE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5"/>
          <p:cNvSpPr/>
          <p:nvPr/>
        </p:nvSpPr>
        <p:spPr>
          <a:xfrm>
            <a:off x="8796600" y="235908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FE8FF"/>
                </a:solidFill>
                <a:effectLst/>
                <a:uFillTx/>
                <a:latin typeface="Segoe UI"/>
                <a:ea typeface="Segoe UI"/>
              </a:rPr>
              <a:t>one discovery document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6"/>
          <p:cNvSpPr/>
          <p:nvPr/>
        </p:nvSpPr>
        <p:spPr>
          <a:xfrm rot="5400000">
            <a:off x="9322440" y="2743200"/>
            <a:ext cx="310680" cy="365400"/>
          </a:xfrm>
          <a:prstGeom prst="chevron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7"/>
          <p:cNvSpPr/>
          <p:nvPr/>
        </p:nvSpPr>
        <p:spPr>
          <a:xfrm>
            <a:off x="7882200" y="3200400"/>
            <a:ext cx="9140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×1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8"/>
          <p:cNvSpPr/>
          <p:nvPr/>
        </p:nvSpPr>
        <p:spPr>
          <a:xfrm>
            <a:off x="8796600" y="327348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LOCAL PROTOTYPE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9"/>
          <p:cNvSpPr/>
          <p:nvPr/>
        </p:nvSpPr>
        <p:spPr>
          <a:xfrm>
            <a:off x="8796600" y="356616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FE8FF"/>
                </a:solidFill>
                <a:effectLst/>
                <a:uFillTx/>
                <a:latin typeface="Segoe UI"/>
                <a:ea typeface="Segoe UI"/>
              </a:rPr>
              <a:t>built by Copilot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0"/>
          <p:cNvSpPr/>
          <p:nvPr/>
        </p:nvSpPr>
        <p:spPr>
          <a:xfrm rot="5400000">
            <a:off x="9322440" y="3950280"/>
            <a:ext cx="310680" cy="365400"/>
          </a:xfrm>
          <a:prstGeom prst="chevron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1"/>
          <p:cNvSpPr/>
          <p:nvPr/>
        </p:nvSpPr>
        <p:spPr>
          <a:xfrm>
            <a:off x="7882200" y="4407480"/>
            <a:ext cx="9140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×1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2"/>
          <p:cNvSpPr/>
          <p:nvPr/>
        </p:nvSpPr>
        <p:spPr>
          <a:xfrm>
            <a:off x="8796600" y="448056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TESTED RESULT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3"/>
          <p:cNvSpPr/>
          <p:nvPr/>
        </p:nvSpPr>
        <p:spPr>
          <a:xfrm>
            <a:off x="8796600" y="477324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FE8FF"/>
                </a:solidFill>
                <a:effectLst/>
                <a:uFillTx/>
                <a:latin typeface="Segoe UI"/>
                <a:ea typeface="Segoe UI"/>
              </a:rPr>
              <a:t>proven in Brainstem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02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RUN OF SHOW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One hour, weighted toward hands-on work.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8"/>
          <p:cNvSpPr/>
          <p:nvPr/>
        </p:nvSpPr>
        <p:spPr>
          <a:xfrm>
            <a:off x="658440" y="2286000"/>
            <a:ext cx="1813320" cy="91404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397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9"/>
          <p:cNvSpPr/>
          <p:nvPr/>
        </p:nvSpPr>
        <p:spPr>
          <a:xfrm>
            <a:off x="704160" y="245988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00-10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0"/>
          <p:cNvSpPr/>
          <p:nvPr/>
        </p:nvSpPr>
        <p:spPr>
          <a:xfrm>
            <a:off x="704160" y="272484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ALIGN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1"/>
          <p:cNvSpPr/>
          <p:nvPr/>
        </p:nvSpPr>
        <p:spPr>
          <a:xfrm>
            <a:off x="2471760" y="2286000"/>
            <a:ext cx="906480" cy="914040"/>
          </a:xfrm>
          <a:prstGeom prst="rect">
            <a:avLst/>
          </a:prstGeom>
          <a:solidFill>
            <a:srgbClr val="D83B01"/>
          </a:solidFill>
          <a:ln w="1397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2"/>
          <p:cNvSpPr/>
          <p:nvPr/>
        </p:nvSpPr>
        <p:spPr>
          <a:xfrm>
            <a:off x="2517480" y="2459880"/>
            <a:ext cx="81504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10-15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3"/>
          <p:cNvSpPr/>
          <p:nvPr/>
        </p:nvSpPr>
        <p:spPr>
          <a:xfrm>
            <a:off x="2517480" y="2724840"/>
            <a:ext cx="81504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SCENARIO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4"/>
          <p:cNvSpPr/>
          <p:nvPr/>
        </p:nvSpPr>
        <p:spPr>
          <a:xfrm>
            <a:off x="3378600" y="2286000"/>
            <a:ext cx="1813320" cy="914040"/>
          </a:xfrm>
          <a:prstGeom prst="rect">
            <a:avLst/>
          </a:prstGeom>
          <a:solidFill>
            <a:srgbClr val="0078D4"/>
          </a:solidFill>
          <a:ln w="1397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5"/>
          <p:cNvSpPr/>
          <p:nvPr/>
        </p:nvSpPr>
        <p:spPr>
          <a:xfrm>
            <a:off x="3424320" y="245988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15-25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6"/>
          <p:cNvSpPr/>
          <p:nvPr/>
        </p:nvSpPr>
        <p:spPr>
          <a:xfrm>
            <a:off x="3424320" y="272484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INSTALL + START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7"/>
          <p:cNvSpPr/>
          <p:nvPr/>
        </p:nvSpPr>
        <p:spPr>
          <a:xfrm>
            <a:off x="5192280" y="2286000"/>
            <a:ext cx="1813320" cy="914040"/>
          </a:xfrm>
          <a:prstGeom prst="rect">
            <a:avLst/>
          </a:prstGeom>
          <a:solidFill>
            <a:srgbClr val="107C10"/>
          </a:solidFill>
          <a:ln w="1397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8"/>
          <p:cNvSpPr/>
          <p:nvPr/>
        </p:nvSpPr>
        <p:spPr>
          <a:xfrm>
            <a:off x="5238000" y="245988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25-35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9"/>
          <p:cNvSpPr/>
          <p:nvPr/>
        </p:nvSpPr>
        <p:spPr>
          <a:xfrm>
            <a:off x="5238000" y="272484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TELL COPILOT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0"/>
          <p:cNvSpPr/>
          <p:nvPr/>
        </p:nvSpPr>
        <p:spPr>
          <a:xfrm>
            <a:off x="7005960" y="2286000"/>
            <a:ext cx="1813320" cy="914040"/>
          </a:xfrm>
          <a:prstGeom prst="rect">
            <a:avLst/>
          </a:prstGeom>
          <a:solidFill>
            <a:srgbClr val="8661C5"/>
          </a:solidFill>
          <a:ln w="1397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1"/>
          <p:cNvSpPr/>
          <p:nvPr/>
        </p:nvSpPr>
        <p:spPr>
          <a:xfrm>
            <a:off x="7051680" y="245988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35-45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2"/>
          <p:cNvSpPr/>
          <p:nvPr/>
        </p:nvSpPr>
        <p:spPr>
          <a:xfrm>
            <a:off x="7051680" y="272484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TRY BRAINSTEM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3"/>
          <p:cNvSpPr/>
          <p:nvPr/>
        </p:nvSpPr>
        <p:spPr>
          <a:xfrm>
            <a:off x="8819280" y="2286000"/>
            <a:ext cx="1450440" cy="914040"/>
          </a:xfrm>
          <a:prstGeom prst="rect">
            <a:avLst/>
          </a:prstGeom>
          <a:solidFill>
            <a:srgbClr val="005A9E"/>
          </a:solidFill>
          <a:ln w="1397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4"/>
          <p:cNvSpPr/>
          <p:nvPr/>
        </p:nvSpPr>
        <p:spPr>
          <a:xfrm>
            <a:off x="8865000" y="2459880"/>
            <a:ext cx="135900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45-53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5"/>
          <p:cNvSpPr/>
          <p:nvPr/>
        </p:nvSpPr>
        <p:spPr>
          <a:xfrm>
            <a:off x="8865000" y="2724840"/>
            <a:ext cx="135900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IMPROVE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6"/>
          <p:cNvSpPr/>
          <p:nvPr/>
        </p:nvSpPr>
        <p:spPr>
          <a:xfrm>
            <a:off x="10270080" y="2286000"/>
            <a:ext cx="725040" cy="914040"/>
          </a:xfrm>
          <a:prstGeom prst="rect">
            <a:avLst/>
          </a:prstGeom>
          <a:solidFill>
            <a:srgbClr val="D83B01"/>
          </a:solidFill>
          <a:ln w="1397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7"/>
          <p:cNvSpPr/>
          <p:nvPr/>
        </p:nvSpPr>
        <p:spPr>
          <a:xfrm>
            <a:off x="10315800" y="2459880"/>
            <a:ext cx="63360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53-57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8"/>
          <p:cNvSpPr/>
          <p:nvPr/>
        </p:nvSpPr>
        <p:spPr>
          <a:xfrm>
            <a:off x="10315800" y="2724840"/>
            <a:ext cx="63360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9"/>
          <p:cNvSpPr/>
          <p:nvPr/>
        </p:nvSpPr>
        <p:spPr>
          <a:xfrm>
            <a:off x="10995840" y="2286000"/>
            <a:ext cx="543600" cy="914040"/>
          </a:xfrm>
          <a:prstGeom prst="roundRect">
            <a:avLst>
              <a:gd name="adj" fmla="val 16667"/>
            </a:avLst>
          </a:prstGeom>
          <a:solidFill>
            <a:srgbClr val="0B560B"/>
          </a:solidFill>
          <a:ln w="1397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0"/>
          <p:cNvSpPr/>
          <p:nvPr/>
        </p:nvSpPr>
        <p:spPr>
          <a:xfrm>
            <a:off x="11041560" y="2459880"/>
            <a:ext cx="45216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57-60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1"/>
          <p:cNvSpPr/>
          <p:nvPr/>
        </p:nvSpPr>
        <p:spPr>
          <a:xfrm>
            <a:off x="11041560" y="2724840"/>
            <a:ext cx="452160" cy="173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OPTIONAL + CLOSE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2"/>
          <p:cNvSpPr/>
          <p:nvPr/>
        </p:nvSpPr>
        <p:spPr>
          <a:xfrm>
            <a:off x="658440" y="345636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3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KEY CHECKPOINTS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33"/>
          <p:cNvSpPr/>
          <p:nvPr/>
        </p:nvSpPr>
        <p:spPr>
          <a:xfrm>
            <a:off x="5123520" y="3127320"/>
            <a:ext cx="136800" cy="136800"/>
          </a:xfrm>
          <a:prstGeom prst="ellipse">
            <a:avLst/>
          </a:prstGeom>
          <a:solidFill>
            <a:srgbClr val="0078D4"/>
          </a:solidFill>
          <a:ln w="1778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34"/>
          <p:cNvSpPr/>
          <p:nvPr/>
        </p:nvSpPr>
        <p:spPr>
          <a:xfrm>
            <a:off x="5191920" y="3264120"/>
            <a:ext cx="360" cy="713520"/>
          </a:xfrm>
          <a:prstGeom prst="line">
            <a:avLst/>
          </a:prstGeom>
          <a:ln w="17780">
            <a:solidFill>
              <a:srgbClr val="0078D4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35"/>
          <p:cNvSpPr/>
          <p:nvPr/>
        </p:nvSpPr>
        <p:spPr>
          <a:xfrm>
            <a:off x="4483440" y="3977640"/>
            <a:ext cx="141696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7"/>
          <p:cNvSpPr/>
          <p:nvPr/>
        </p:nvSpPr>
        <p:spPr>
          <a:xfrm>
            <a:off x="4574880" y="417888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MIN </a:t>
            </a:r>
            <a:r>
              <a:rPr lang="en-US" sz="26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25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8"/>
          <p:cNvSpPr/>
          <p:nvPr/>
        </p:nvSpPr>
        <p:spPr>
          <a:xfrm>
            <a:off x="4574880" y="469080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Brainstem live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9"/>
          <p:cNvSpPr/>
          <p:nvPr/>
        </p:nvSpPr>
        <p:spPr>
          <a:xfrm>
            <a:off x="4574880" y="4946760"/>
            <a:ext cx="1234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Local page open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40"/>
          <p:cNvSpPr/>
          <p:nvPr/>
        </p:nvSpPr>
        <p:spPr>
          <a:xfrm>
            <a:off x="6937200" y="3127320"/>
            <a:ext cx="136800" cy="136800"/>
          </a:xfrm>
          <a:prstGeom prst="ellipse">
            <a:avLst/>
          </a:prstGeom>
          <a:solidFill>
            <a:srgbClr val="107C10"/>
          </a:solidFill>
          <a:ln w="1778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1"/>
          <p:cNvSpPr/>
          <p:nvPr/>
        </p:nvSpPr>
        <p:spPr>
          <a:xfrm>
            <a:off x="7005600" y="3264120"/>
            <a:ext cx="360" cy="713520"/>
          </a:xfrm>
          <a:prstGeom prst="line">
            <a:avLst/>
          </a:prstGeom>
          <a:ln w="17780">
            <a:solidFill>
              <a:srgbClr val="107C10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42"/>
          <p:cNvSpPr/>
          <p:nvPr/>
        </p:nvSpPr>
        <p:spPr>
          <a:xfrm>
            <a:off x="6297120" y="3977640"/>
            <a:ext cx="141696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44"/>
          <p:cNvSpPr/>
          <p:nvPr/>
        </p:nvSpPr>
        <p:spPr>
          <a:xfrm>
            <a:off x="6388560" y="417888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MIN </a:t>
            </a:r>
            <a:r>
              <a:rPr lang="en-US" sz="26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35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45"/>
          <p:cNvSpPr/>
          <p:nvPr/>
        </p:nvSpPr>
        <p:spPr>
          <a:xfrm>
            <a:off x="6388560" y="469080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Prototype built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46"/>
          <p:cNvSpPr/>
          <p:nvPr/>
        </p:nvSpPr>
        <p:spPr>
          <a:xfrm>
            <a:off x="6388560" y="4946760"/>
            <a:ext cx="1234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Copilot confirms ready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47"/>
          <p:cNvSpPr/>
          <p:nvPr/>
        </p:nvSpPr>
        <p:spPr>
          <a:xfrm>
            <a:off x="8750880" y="3127320"/>
            <a:ext cx="136800" cy="136800"/>
          </a:xfrm>
          <a:prstGeom prst="ellipse">
            <a:avLst/>
          </a:prstGeom>
          <a:solidFill>
            <a:srgbClr val="8661C5"/>
          </a:solidFill>
          <a:ln w="1778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8"/>
          <p:cNvSpPr/>
          <p:nvPr/>
        </p:nvSpPr>
        <p:spPr>
          <a:xfrm>
            <a:off x="8819280" y="3264120"/>
            <a:ext cx="360" cy="713520"/>
          </a:xfrm>
          <a:prstGeom prst="line">
            <a:avLst/>
          </a:prstGeom>
          <a:ln w="17780">
            <a:solidFill>
              <a:srgbClr val="8661C5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49"/>
          <p:cNvSpPr/>
          <p:nvPr/>
        </p:nvSpPr>
        <p:spPr>
          <a:xfrm>
            <a:off x="8110800" y="3977640"/>
            <a:ext cx="141696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51"/>
          <p:cNvSpPr/>
          <p:nvPr/>
        </p:nvSpPr>
        <p:spPr>
          <a:xfrm>
            <a:off x="8202240" y="417888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MIN </a:t>
            </a:r>
            <a:r>
              <a:rPr lang="en-US" sz="26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52"/>
          <p:cNvSpPr/>
          <p:nvPr/>
        </p:nvSpPr>
        <p:spPr>
          <a:xfrm>
            <a:off x="8202240" y="469080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Brainstem tried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53"/>
          <p:cNvSpPr/>
          <p:nvPr/>
        </p:nvSpPr>
        <p:spPr>
          <a:xfrm>
            <a:off x="8202240" y="4946760"/>
            <a:ext cx="1234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Real scenario run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54"/>
          <p:cNvSpPr/>
          <p:nvPr/>
        </p:nvSpPr>
        <p:spPr>
          <a:xfrm>
            <a:off x="10201680" y="3127320"/>
            <a:ext cx="136800" cy="136800"/>
          </a:xfrm>
          <a:prstGeom prst="ellipse">
            <a:avLst/>
          </a:prstGeom>
          <a:solidFill>
            <a:srgbClr val="D83B01"/>
          </a:solidFill>
          <a:ln w="1778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55"/>
          <p:cNvSpPr/>
          <p:nvPr/>
        </p:nvSpPr>
        <p:spPr>
          <a:xfrm>
            <a:off x="10270080" y="3264120"/>
            <a:ext cx="360" cy="713520"/>
          </a:xfrm>
          <a:prstGeom prst="line">
            <a:avLst/>
          </a:prstGeom>
          <a:ln w="17780">
            <a:solidFill>
              <a:srgbClr val="D83B01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56"/>
          <p:cNvSpPr/>
          <p:nvPr/>
        </p:nvSpPr>
        <p:spPr>
          <a:xfrm>
            <a:off x="9561600" y="3977640"/>
            <a:ext cx="141696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8"/>
          <p:cNvSpPr/>
          <p:nvPr/>
        </p:nvSpPr>
        <p:spPr>
          <a:xfrm>
            <a:off x="9653040" y="417888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MIN </a:t>
            </a:r>
            <a:r>
              <a:rPr lang="en-US" sz="26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53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9"/>
          <p:cNvSpPr/>
          <p:nvPr/>
        </p:nvSpPr>
        <p:spPr>
          <a:xfrm>
            <a:off x="9653040" y="469080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Result improved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0"/>
          <p:cNvSpPr/>
          <p:nvPr/>
        </p:nvSpPr>
        <p:spPr>
          <a:xfrm>
            <a:off x="9653040" y="4946760"/>
            <a:ext cx="1234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Evidence captured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61"/>
          <p:cNvSpPr/>
          <p:nvPr/>
        </p:nvSpPr>
        <p:spPr>
          <a:xfrm>
            <a:off x="658440" y="5742360"/>
            <a:ext cx="6309000" cy="456840"/>
          </a:xfrm>
          <a:prstGeom prst="roundRect">
            <a:avLst>
              <a:gd name="adj" fmla="val 12000"/>
            </a:avLst>
          </a:prstGeom>
          <a:solidFill>
            <a:srgbClr val="DCEEFF"/>
          </a:solidFill>
          <a:ln w="12700">
            <a:solidFill>
              <a:srgbClr val="005A9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2"/>
          <p:cNvSpPr/>
          <p:nvPr/>
        </p:nvSpPr>
        <p:spPr>
          <a:xfrm>
            <a:off x="868680" y="5852160"/>
            <a:ext cx="5943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HANDS-ON FROM MINUTE 15: sign in -&gt; tell Copilot -&gt; tell Brainstem -&gt; share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3"/>
          <p:cNvSpPr/>
          <p:nvPr/>
        </p:nvSpPr>
        <p:spPr>
          <a:xfrm>
            <a:off x="7223760" y="585216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15 min align + scenario, then 45 min building with plain-language instructions.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6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03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THE MENTAL MODEL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567000" y="1305052"/>
            <a:ext cx="896076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RAPP is the </a:t>
            </a:r>
            <a:r>
              <a:rPr lang="en-US" sz="26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on-ramp</a:t>
            </a:r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, not another destination.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594360" y="2390807"/>
            <a:ext cx="50288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It turns customer evidence into a working local prototype through plain-language instructions, then - only if needed - extends into the Microsoft stack.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9"/>
          <p:cNvSpPr/>
          <p:nvPr/>
        </p:nvSpPr>
        <p:spPr>
          <a:xfrm>
            <a:off x="594360" y="3213767"/>
            <a:ext cx="4617360" cy="1572480"/>
          </a:xfrm>
          <a:prstGeom prst="roundRect">
            <a:avLst>
              <a:gd name="adj" fmla="val 16667"/>
            </a:avLst>
          </a:prstGeom>
          <a:solidFill>
            <a:srgbClr val="EAF4FD"/>
          </a:solidFill>
          <a:ln w="12700">
            <a:solidFill>
              <a:srgbClr val="BFE6FF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0"/>
          <p:cNvSpPr/>
          <p:nvPr/>
        </p:nvSpPr>
        <p:spPr>
          <a:xfrm>
            <a:off x="868680" y="3497087"/>
            <a:ext cx="566640" cy="5666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1"/>
          <p:cNvSpPr/>
          <p:nvPr/>
        </p:nvSpPr>
        <p:spPr>
          <a:xfrm>
            <a:off x="951120" y="3689678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IN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2"/>
          <p:cNvSpPr/>
          <p:nvPr/>
        </p:nvSpPr>
        <p:spPr>
          <a:xfrm>
            <a:off x="1600200" y="3488087"/>
            <a:ext cx="33829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Customer evidence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3"/>
          <p:cNvSpPr/>
          <p:nvPr/>
        </p:nvSpPr>
        <p:spPr>
          <a:xfrm>
            <a:off x="1600200" y="3853847"/>
            <a:ext cx="333720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Transcript, requirements, notes, tables, or other approved source material.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4"/>
          <p:cNvSpPr/>
          <p:nvPr/>
        </p:nvSpPr>
        <p:spPr>
          <a:xfrm>
            <a:off x="5139000" y="3415007"/>
            <a:ext cx="959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 spc="40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TRANSLATES INTO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5"/>
          <p:cNvSpPr/>
          <p:nvPr/>
        </p:nvSpPr>
        <p:spPr>
          <a:xfrm>
            <a:off x="5212080" y="4000007"/>
            <a:ext cx="566640" cy="360"/>
          </a:xfrm>
          <a:prstGeom prst="line">
            <a:avLst/>
          </a:prstGeom>
          <a:ln w="3048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6"/>
          <p:cNvSpPr/>
          <p:nvPr/>
        </p:nvSpPr>
        <p:spPr>
          <a:xfrm>
            <a:off x="5742360" y="3808127"/>
            <a:ext cx="237600" cy="383760"/>
          </a:xfrm>
          <a:prstGeom prst="chevron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7"/>
          <p:cNvSpPr/>
          <p:nvPr/>
        </p:nvSpPr>
        <p:spPr>
          <a:xfrm>
            <a:off x="6080760" y="2151296"/>
            <a:ext cx="54860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OUT   </a:t>
            </a:r>
            <a:r>
              <a:rPr lang="en-US" sz="1100" b="0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three tiers — start local, extend only if needed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8"/>
          <p:cNvSpPr/>
          <p:nvPr/>
        </p:nvSpPr>
        <p:spPr>
          <a:xfrm>
            <a:off x="594360" y="5042567"/>
            <a:ext cx="4617360" cy="840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For this workshop, RAPP = Sign in -&gt; Start -&gt; Tell Copilot -&gt; Tell Brainstem -&gt; Share.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9"/>
          <p:cNvSpPr/>
          <p:nvPr/>
        </p:nvSpPr>
        <p:spPr>
          <a:xfrm>
            <a:off x="6080760" y="2665127"/>
            <a:ext cx="1737000" cy="2614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0"/>
          <p:cNvSpPr/>
          <p:nvPr/>
        </p:nvSpPr>
        <p:spPr>
          <a:xfrm>
            <a:off x="6300360" y="2536967"/>
            <a:ext cx="1298160" cy="2739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1"/>
          <p:cNvSpPr/>
          <p:nvPr/>
        </p:nvSpPr>
        <p:spPr>
          <a:xfrm>
            <a:off x="6300360" y="2573687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 spc="31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THIS WORKSHOP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2"/>
          <p:cNvSpPr/>
          <p:nvPr/>
        </p:nvSpPr>
        <p:spPr>
          <a:xfrm>
            <a:off x="6190560" y="2866367"/>
            <a:ext cx="1517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79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TIER 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3"/>
          <p:cNvSpPr/>
          <p:nvPr/>
        </p:nvSpPr>
        <p:spPr>
          <a:xfrm>
            <a:off x="6647760" y="3158687"/>
            <a:ext cx="603000" cy="6030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4"/>
          <p:cNvSpPr/>
          <p:nvPr/>
        </p:nvSpPr>
        <p:spPr>
          <a:xfrm>
            <a:off x="6647760" y="3177047"/>
            <a:ext cx="6030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{ 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5"/>
          <p:cNvSpPr/>
          <p:nvPr/>
        </p:nvSpPr>
        <p:spPr>
          <a:xfrm>
            <a:off x="6172200" y="4000007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RAPP Brainstem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6"/>
          <p:cNvSpPr/>
          <p:nvPr/>
        </p:nvSpPr>
        <p:spPr>
          <a:xfrm>
            <a:off x="6190560" y="4475567"/>
            <a:ext cx="151740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Plain-language local prototypes on your own machine.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7"/>
          <p:cNvSpPr/>
          <p:nvPr/>
        </p:nvSpPr>
        <p:spPr>
          <a:xfrm>
            <a:off x="7822800" y="3853847"/>
            <a:ext cx="100080" cy="237240"/>
          </a:xfrm>
          <a:prstGeom prst="chevron">
            <a:avLst>
              <a:gd name="adj" fmla="val 50000"/>
            </a:avLst>
          </a:prstGeom>
          <a:solidFill>
            <a:srgbClr val="E1DFDD"/>
          </a:solidFill>
          <a:ln w="12700">
            <a:solidFill>
              <a:srgbClr val="E1DFD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8"/>
          <p:cNvSpPr/>
          <p:nvPr/>
        </p:nvSpPr>
        <p:spPr>
          <a:xfrm>
            <a:off x="7927920" y="2665127"/>
            <a:ext cx="1737000" cy="261468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9"/>
          <p:cNvSpPr/>
          <p:nvPr/>
        </p:nvSpPr>
        <p:spPr>
          <a:xfrm>
            <a:off x="8147160" y="2536967"/>
            <a:ext cx="1298160" cy="273960"/>
          </a:xfrm>
          <a:prstGeom prst="roundRect">
            <a:avLst>
              <a:gd name="adj" fmla="val 16667"/>
            </a:avLst>
          </a:prstGeom>
          <a:solidFill>
            <a:srgbClr val="605E5C"/>
          </a:solidFill>
          <a:ln w="12700">
            <a:solidFill>
              <a:srgbClr val="605E5C">
                <a:alpha val="0"/>
              </a:srgbClr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0"/>
          <p:cNvSpPr/>
          <p:nvPr/>
        </p:nvSpPr>
        <p:spPr>
          <a:xfrm>
            <a:off x="8147160" y="2573687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 spc="31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OPTIONAL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1"/>
          <p:cNvSpPr/>
          <p:nvPr/>
        </p:nvSpPr>
        <p:spPr>
          <a:xfrm>
            <a:off x="8037720" y="2866367"/>
            <a:ext cx="1517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7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TIER 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Image 0" descr="Azure AI Foundry"/>
          <p:cNvPicPr/>
          <p:nvPr/>
        </p:nvPicPr>
        <p:blipFill>
          <a:blip r:embed="rId3">
            <a:alphaModFix amt="76000"/>
          </a:blip>
          <a:stretch/>
        </p:blipFill>
        <p:spPr>
          <a:xfrm>
            <a:off x="8458200" y="3158687"/>
            <a:ext cx="676440" cy="67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 32"/>
          <p:cNvSpPr/>
          <p:nvPr/>
        </p:nvSpPr>
        <p:spPr>
          <a:xfrm>
            <a:off x="8019360" y="4000007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Azure AI Foundry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3"/>
          <p:cNvSpPr/>
          <p:nvPr/>
        </p:nvSpPr>
        <p:spPr>
          <a:xfrm>
            <a:off x="8037720" y="4475567"/>
            <a:ext cx="151740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Optional cloud scale-out.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34"/>
          <p:cNvSpPr/>
          <p:nvPr/>
        </p:nvSpPr>
        <p:spPr>
          <a:xfrm>
            <a:off x="9669960" y="3853847"/>
            <a:ext cx="100080" cy="237240"/>
          </a:xfrm>
          <a:prstGeom prst="chevron">
            <a:avLst>
              <a:gd name="adj" fmla="val 50000"/>
            </a:avLst>
          </a:prstGeom>
          <a:solidFill>
            <a:srgbClr val="E1DFDD"/>
          </a:solidFill>
          <a:ln w="12700">
            <a:solidFill>
              <a:srgbClr val="E1DFD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5"/>
          <p:cNvSpPr/>
          <p:nvPr/>
        </p:nvSpPr>
        <p:spPr>
          <a:xfrm>
            <a:off x="9775080" y="2665127"/>
            <a:ext cx="1737000" cy="261468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36"/>
          <p:cNvSpPr/>
          <p:nvPr/>
        </p:nvSpPr>
        <p:spPr>
          <a:xfrm>
            <a:off x="9994320" y="2536967"/>
            <a:ext cx="1298160" cy="273960"/>
          </a:xfrm>
          <a:prstGeom prst="roundRect">
            <a:avLst>
              <a:gd name="adj" fmla="val 16667"/>
            </a:avLst>
          </a:prstGeom>
          <a:solidFill>
            <a:srgbClr val="605E5C"/>
          </a:solidFill>
          <a:ln w="12700">
            <a:solidFill>
              <a:srgbClr val="605E5C">
                <a:alpha val="0"/>
              </a:srgbClr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7"/>
          <p:cNvSpPr/>
          <p:nvPr/>
        </p:nvSpPr>
        <p:spPr>
          <a:xfrm>
            <a:off x="9994320" y="2573687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trike="noStrike" spc="31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OPTIONAL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8"/>
          <p:cNvSpPr/>
          <p:nvPr/>
        </p:nvSpPr>
        <p:spPr>
          <a:xfrm>
            <a:off x="9884520" y="2866367"/>
            <a:ext cx="1517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7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TIER 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1" descr="Copilot Studio"/>
          <p:cNvPicPr/>
          <p:nvPr/>
        </p:nvPicPr>
        <p:blipFill>
          <a:blip r:embed="rId4">
            <a:alphaModFix amt="76000"/>
          </a:blip>
          <a:stretch/>
        </p:blipFill>
        <p:spPr>
          <a:xfrm>
            <a:off x="10305360" y="3158687"/>
            <a:ext cx="676440" cy="67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39"/>
          <p:cNvSpPr/>
          <p:nvPr/>
        </p:nvSpPr>
        <p:spPr>
          <a:xfrm>
            <a:off x="9866520" y="4000007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Copilot Studio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40"/>
          <p:cNvSpPr/>
          <p:nvPr/>
        </p:nvSpPr>
        <p:spPr>
          <a:xfrm>
            <a:off x="9884520" y="4475567"/>
            <a:ext cx="151740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Optional M365 packaging.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41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04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THE RAPP PROCESS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Five local steps. No coding required.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8"/>
          <p:cNvSpPr/>
          <p:nvPr/>
        </p:nvSpPr>
        <p:spPr>
          <a:xfrm>
            <a:off x="658440" y="2165704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0"/>
          <p:cNvSpPr/>
          <p:nvPr/>
        </p:nvSpPr>
        <p:spPr>
          <a:xfrm>
            <a:off x="1293840" y="2440024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1293840" y="2531771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804600" y="3354424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spc="7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822960" y="3756543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 to sign in with your GitHub account.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4"/>
          <p:cNvSpPr/>
          <p:nvPr/>
        </p:nvSpPr>
        <p:spPr>
          <a:xfrm>
            <a:off x="2640303" y="3167097"/>
            <a:ext cx="249120" cy="40212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5"/>
          <p:cNvSpPr/>
          <p:nvPr/>
        </p:nvSpPr>
        <p:spPr>
          <a:xfrm>
            <a:off x="2926080" y="2165704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7"/>
          <p:cNvSpPr/>
          <p:nvPr/>
        </p:nvSpPr>
        <p:spPr>
          <a:xfrm>
            <a:off x="3561480" y="2440024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8"/>
          <p:cNvSpPr/>
          <p:nvPr/>
        </p:nvSpPr>
        <p:spPr>
          <a:xfrm>
            <a:off x="3561480" y="2531771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9"/>
          <p:cNvSpPr/>
          <p:nvPr/>
        </p:nvSpPr>
        <p:spPr>
          <a:xfrm>
            <a:off x="3072240" y="3354424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spc="7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0"/>
          <p:cNvSpPr/>
          <p:nvPr/>
        </p:nvSpPr>
        <p:spPr>
          <a:xfrm>
            <a:off x="3090600" y="3756543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 to open aka.ms/rappinstall and start Brainstem.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1"/>
          <p:cNvSpPr/>
          <p:nvPr/>
        </p:nvSpPr>
        <p:spPr>
          <a:xfrm>
            <a:off x="4907943" y="3167097"/>
            <a:ext cx="249120" cy="40212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2"/>
          <p:cNvSpPr/>
          <p:nvPr/>
        </p:nvSpPr>
        <p:spPr>
          <a:xfrm>
            <a:off x="5193720" y="2165704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4"/>
          <p:cNvSpPr/>
          <p:nvPr/>
        </p:nvSpPr>
        <p:spPr>
          <a:xfrm>
            <a:off x="5829480" y="2440024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5"/>
          <p:cNvSpPr/>
          <p:nvPr/>
        </p:nvSpPr>
        <p:spPr>
          <a:xfrm>
            <a:off x="5829480" y="2531771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6"/>
          <p:cNvSpPr/>
          <p:nvPr/>
        </p:nvSpPr>
        <p:spPr>
          <a:xfrm>
            <a:off x="5340240" y="3354424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spc="7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7"/>
          <p:cNvSpPr/>
          <p:nvPr/>
        </p:nvSpPr>
        <p:spPr>
          <a:xfrm>
            <a:off x="5358240" y="3756543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 what to build from your source.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8"/>
          <p:cNvSpPr/>
          <p:nvPr/>
        </p:nvSpPr>
        <p:spPr>
          <a:xfrm>
            <a:off x="7175583" y="3167097"/>
            <a:ext cx="249120" cy="40212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9"/>
          <p:cNvSpPr/>
          <p:nvPr/>
        </p:nvSpPr>
        <p:spPr>
          <a:xfrm>
            <a:off x="6176520" y="4561144"/>
            <a:ext cx="360" cy="329400"/>
          </a:xfrm>
          <a:prstGeom prst="line">
            <a:avLst/>
          </a:prstGeom>
          <a:ln w="19050">
            <a:solidFill>
              <a:srgbClr val="972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30"/>
          <p:cNvSpPr/>
          <p:nvPr/>
        </p:nvSpPr>
        <p:spPr>
          <a:xfrm>
            <a:off x="6067080" y="4451704"/>
            <a:ext cx="219240" cy="219240"/>
          </a:xfrm>
          <a:prstGeom prst="diamond">
            <a:avLst/>
          </a:prstGeom>
          <a:solidFill>
            <a:srgbClr val="FFB900"/>
          </a:solidFill>
          <a:ln w="12700">
            <a:solidFill>
              <a:srgbClr val="972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31"/>
          <p:cNvSpPr/>
          <p:nvPr/>
        </p:nvSpPr>
        <p:spPr>
          <a:xfrm>
            <a:off x="5280840" y="4890544"/>
            <a:ext cx="1791720" cy="456840"/>
          </a:xfrm>
          <a:prstGeom prst="roundRect">
            <a:avLst>
              <a:gd name="adj" fmla="val 12000"/>
            </a:avLst>
          </a:prstGeom>
          <a:solidFill>
            <a:srgbClr val="FFF4CE"/>
          </a:solidFill>
          <a:ln w="15240">
            <a:solidFill>
              <a:srgbClr val="FFB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32"/>
          <p:cNvSpPr/>
          <p:nvPr/>
        </p:nvSpPr>
        <p:spPr>
          <a:xfrm>
            <a:off x="5326560" y="5000344"/>
            <a:ext cx="17002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CONFIRM SCOPE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3"/>
          <p:cNvSpPr/>
          <p:nvPr/>
        </p:nvSpPr>
        <p:spPr>
          <a:xfrm>
            <a:off x="7461360" y="2165704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5"/>
          <p:cNvSpPr/>
          <p:nvPr/>
        </p:nvSpPr>
        <p:spPr>
          <a:xfrm>
            <a:off x="8097120" y="2440024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36"/>
          <p:cNvSpPr/>
          <p:nvPr/>
        </p:nvSpPr>
        <p:spPr>
          <a:xfrm>
            <a:off x="8097120" y="2531771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37"/>
          <p:cNvSpPr/>
          <p:nvPr/>
        </p:nvSpPr>
        <p:spPr>
          <a:xfrm>
            <a:off x="7607880" y="3354424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spc="7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8"/>
          <p:cNvSpPr/>
          <p:nvPr/>
        </p:nvSpPr>
        <p:spPr>
          <a:xfrm>
            <a:off x="7626240" y="3756543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Brainstem a real request; tell Copilot what to improve.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9"/>
          <p:cNvSpPr/>
          <p:nvPr/>
        </p:nvSpPr>
        <p:spPr>
          <a:xfrm>
            <a:off x="9443223" y="3167097"/>
            <a:ext cx="249120" cy="40212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0"/>
          <p:cNvSpPr/>
          <p:nvPr/>
        </p:nvSpPr>
        <p:spPr>
          <a:xfrm>
            <a:off x="8444160" y="4561144"/>
            <a:ext cx="360" cy="329400"/>
          </a:xfrm>
          <a:prstGeom prst="line">
            <a:avLst/>
          </a:prstGeom>
          <a:ln w="19050">
            <a:solidFill>
              <a:srgbClr val="972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1"/>
          <p:cNvSpPr/>
          <p:nvPr/>
        </p:nvSpPr>
        <p:spPr>
          <a:xfrm>
            <a:off x="8334720" y="4451704"/>
            <a:ext cx="219240" cy="219240"/>
          </a:xfrm>
          <a:prstGeom prst="diamond">
            <a:avLst/>
          </a:prstGeom>
          <a:solidFill>
            <a:srgbClr val="FFB900"/>
          </a:solidFill>
          <a:ln w="12700">
            <a:solidFill>
              <a:srgbClr val="972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42"/>
          <p:cNvSpPr/>
          <p:nvPr/>
        </p:nvSpPr>
        <p:spPr>
          <a:xfrm>
            <a:off x="7548480" y="4890544"/>
            <a:ext cx="1791720" cy="456840"/>
          </a:xfrm>
          <a:prstGeom prst="roundRect">
            <a:avLst>
              <a:gd name="adj" fmla="val 12000"/>
            </a:avLst>
          </a:prstGeom>
          <a:solidFill>
            <a:srgbClr val="FFF4CE"/>
          </a:solidFill>
          <a:ln w="15240">
            <a:solidFill>
              <a:srgbClr val="FFB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43"/>
          <p:cNvSpPr/>
          <p:nvPr/>
        </p:nvSpPr>
        <p:spPr>
          <a:xfrm>
            <a:off x="7594200" y="5000344"/>
            <a:ext cx="17002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VERIFY BEHAVIOR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4"/>
          <p:cNvSpPr/>
          <p:nvPr/>
        </p:nvSpPr>
        <p:spPr>
          <a:xfrm>
            <a:off x="9729360" y="2165704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46"/>
          <p:cNvSpPr/>
          <p:nvPr/>
        </p:nvSpPr>
        <p:spPr>
          <a:xfrm>
            <a:off x="10364760" y="2440024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47"/>
          <p:cNvSpPr/>
          <p:nvPr/>
        </p:nvSpPr>
        <p:spPr>
          <a:xfrm>
            <a:off x="10364760" y="2531771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48"/>
          <p:cNvSpPr/>
          <p:nvPr/>
        </p:nvSpPr>
        <p:spPr>
          <a:xfrm>
            <a:off x="9875520" y="3354424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spc="7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49"/>
          <p:cNvSpPr/>
          <p:nvPr/>
        </p:nvSpPr>
        <p:spPr>
          <a:xfrm>
            <a:off x="9893880" y="3756543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 to package it for a teammate.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50"/>
          <p:cNvSpPr/>
          <p:nvPr/>
        </p:nvSpPr>
        <p:spPr>
          <a:xfrm>
            <a:off x="10712160" y="4561144"/>
            <a:ext cx="360" cy="329400"/>
          </a:xfrm>
          <a:prstGeom prst="line">
            <a:avLst/>
          </a:prstGeom>
          <a:ln w="19050">
            <a:solidFill>
              <a:srgbClr val="972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51"/>
          <p:cNvSpPr/>
          <p:nvPr/>
        </p:nvSpPr>
        <p:spPr>
          <a:xfrm>
            <a:off x="10602360" y="4451704"/>
            <a:ext cx="219240" cy="219240"/>
          </a:xfrm>
          <a:prstGeom prst="diamond">
            <a:avLst/>
          </a:prstGeom>
          <a:solidFill>
            <a:srgbClr val="FFB900"/>
          </a:solidFill>
          <a:ln w="12700">
            <a:solidFill>
              <a:srgbClr val="972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52"/>
          <p:cNvSpPr/>
          <p:nvPr/>
        </p:nvSpPr>
        <p:spPr>
          <a:xfrm>
            <a:off x="9816120" y="4890544"/>
            <a:ext cx="1791720" cy="456840"/>
          </a:xfrm>
          <a:prstGeom prst="roundRect">
            <a:avLst>
              <a:gd name="adj" fmla="val 12000"/>
            </a:avLst>
          </a:prstGeom>
          <a:solidFill>
            <a:srgbClr val="FFF4CE"/>
          </a:solidFill>
          <a:ln w="15240">
            <a:solidFill>
              <a:srgbClr val="FFB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3"/>
          <p:cNvSpPr/>
          <p:nvPr/>
        </p:nvSpPr>
        <p:spPr>
          <a:xfrm>
            <a:off x="9861840" y="5000344"/>
            <a:ext cx="17002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SHARE READY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4"/>
          <p:cNvSpPr/>
          <p:nvPr/>
        </p:nvSpPr>
        <p:spPr>
          <a:xfrm>
            <a:off x="3675960" y="5018704"/>
            <a:ext cx="182520" cy="182520"/>
          </a:xfrm>
          <a:prstGeom prst="diamond">
            <a:avLst/>
          </a:prstGeom>
          <a:solidFill>
            <a:srgbClr val="FFB900"/>
          </a:solidFill>
          <a:ln w="12700">
            <a:solidFill>
              <a:srgbClr val="972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55"/>
          <p:cNvSpPr/>
          <p:nvPr/>
        </p:nvSpPr>
        <p:spPr>
          <a:xfrm>
            <a:off x="3931920" y="5000344"/>
            <a:ext cx="12798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= human decision gate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56"/>
          <p:cNvSpPr/>
          <p:nvPr/>
        </p:nvSpPr>
        <p:spPr>
          <a:xfrm>
            <a:off x="2880360" y="5731864"/>
            <a:ext cx="64004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Everything runs locally on your machine — nothing ships without your say-so.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7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05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WORKSHOP SCENARIO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Our build: </a:t>
            </a:r>
            <a:r>
              <a:rPr lang="en-US" sz="28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Facilities Service Request Assistant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594360" y="1874520"/>
            <a:ext cx="5074560" cy="367560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1"/>
          <p:cNvSpPr/>
          <p:nvPr/>
        </p:nvSpPr>
        <p:spPr>
          <a:xfrm>
            <a:off x="1869957" y="2121480"/>
            <a:ext cx="2468520" cy="31068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2"/>
          <p:cNvSpPr/>
          <p:nvPr/>
        </p:nvSpPr>
        <p:spPr>
          <a:xfrm>
            <a:off x="1934037" y="2176200"/>
            <a:ext cx="23403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MEETING TRANSCRIPT </a:t>
            </a:r>
            <a:r>
              <a:rPr lang="en-US" sz="900" b="1">
                <a:solidFill>
                  <a:srgbClr val="972900"/>
                </a:solidFill>
                <a:latin typeface="Segoe UI Semibold"/>
                <a:ea typeface="Segoe UI Semibold"/>
              </a:rPr>
              <a:t>SUMMARY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3"/>
          <p:cNvSpPr/>
          <p:nvPr/>
        </p:nvSpPr>
        <p:spPr>
          <a:xfrm>
            <a:off x="914400" y="2578680"/>
            <a:ext cx="4434480" cy="14810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4"/>
          <p:cNvSpPr/>
          <p:nvPr/>
        </p:nvSpPr>
        <p:spPr>
          <a:xfrm>
            <a:off x="914400" y="2578680"/>
            <a:ext cx="63720" cy="14810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5"/>
          <p:cNvSpPr/>
          <p:nvPr/>
        </p:nvSpPr>
        <p:spPr>
          <a:xfrm>
            <a:off x="1115640" y="2724840"/>
            <a:ext cx="4114440" cy="120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“Employees report building issues through email and chat. The assistant should </a:t>
            </a:r>
            <a:r>
              <a:rPr lang="en-US" sz="1250" b="1" u="none" strike="noStrike">
                <a:solidFill>
                  <a:srgbClr val="0078D4"/>
                </a:solidFill>
                <a:effectLst/>
                <a:uFillTx/>
                <a:latin typeface="Segoe UI"/>
                <a:ea typeface="Segoe UI"/>
              </a:rPr>
              <a:t>(1) collect location, issue type, and urgency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; </a:t>
            </a:r>
            <a:r>
              <a:rPr lang="en-US" sz="1250" b="1" u="none" strike="noStrike">
                <a:solidFill>
                  <a:srgbClr val="972900"/>
                </a:solidFill>
                <a:effectLst/>
                <a:uFillTx/>
                <a:latin typeface="Segoe UI"/>
                <a:ea typeface="Segoe UI"/>
              </a:rPr>
              <a:t>(2) summarize the request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; </a:t>
            </a:r>
            <a:r>
              <a:rPr lang="en-US" sz="1250" b="1" u="none" strike="noStrike">
                <a:solidFill>
                  <a:srgbClr val="0B560B"/>
                </a:solidFill>
                <a:effectLst/>
                <a:uFillTx/>
                <a:latin typeface="Segoe UI"/>
                <a:ea typeface="Segoe UI"/>
              </a:rPr>
              <a:t>(3) answer from the maintenance FAQ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; and </a:t>
            </a:r>
            <a:r>
              <a:rPr lang="en-US" sz="1250" b="1" u="none" strike="noStrike">
                <a:solidFill>
                  <a:srgbClr val="8661C5"/>
                </a:solidFill>
                <a:effectLst/>
                <a:uFillTx/>
                <a:latin typeface="Segoe UI"/>
                <a:ea typeface="Segoe UI"/>
              </a:rPr>
              <a:t>(4) create a synthetic service-request receipt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.”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6"/>
          <p:cNvSpPr/>
          <p:nvPr/>
        </p:nvSpPr>
        <p:spPr>
          <a:xfrm>
            <a:off x="914400" y="4133160"/>
            <a:ext cx="44344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— Facilities lead, customer discovery call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7"/>
          <p:cNvSpPr/>
          <p:nvPr/>
        </p:nvSpPr>
        <p:spPr>
          <a:xfrm>
            <a:off x="914400" y="4572000"/>
            <a:ext cx="44344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60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ENOUGH SIGNAL TO BEGIN — IT NAMES: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8"/>
          <p:cNvSpPr/>
          <p:nvPr/>
        </p:nvSpPr>
        <p:spPr>
          <a:xfrm>
            <a:off x="91440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9"/>
          <p:cNvSpPr/>
          <p:nvPr/>
        </p:nvSpPr>
        <p:spPr>
          <a:xfrm>
            <a:off x="91440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USER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0"/>
          <p:cNvSpPr/>
          <p:nvPr/>
        </p:nvSpPr>
        <p:spPr>
          <a:xfrm>
            <a:off x="181044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1"/>
          <p:cNvSpPr/>
          <p:nvPr/>
        </p:nvSpPr>
        <p:spPr>
          <a:xfrm>
            <a:off x="181044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PROBLEM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22"/>
          <p:cNvSpPr/>
          <p:nvPr/>
        </p:nvSpPr>
        <p:spPr>
          <a:xfrm>
            <a:off x="270648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3"/>
          <p:cNvSpPr/>
          <p:nvPr/>
        </p:nvSpPr>
        <p:spPr>
          <a:xfrm>
            <a:off x="270648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WORKFLOW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4"/>
          <p:cNvSpPr/>
          <p:nvPr/>
        </p:nvSpPr>
        <p:spPr>
          <a:xfrm>
            <a:off x="360288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5"/>
          <p:cNvSpPr/>
          <p:nvPr/>
        </p:nvSpPr>
        <p:spPr>
          <a:xfrm>
            <a:off x="360288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OUTPUTS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26"/>
          <p:cNvSpPr/>
          <p:nvPr/>
        </p:nvSpPr>
        <p:spPr>
          <a:xfrm>
            <a:off x="449892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27"/>
          <p:cNvSpPr/>
          <p:nvPr/>
        </p:nvSpPr>
        <p:spPr>
          <a:xfrm>
            <a:off x="449892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GUARDRAIL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28"/>
          <p:cNvSpPr/>
          <p:nvPr/>
        </p:nvSpPr>
        <p:spPr>
          <a:xfrm>
            <a:off x="6080760" y="1627560"/>
            <a:ext cx="49374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EACH CLAUSE → ONE LOCAL AGENT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9"/>
          <p:cNvSpPr/>
          <p:nvPr/>
        </p:nvSpPr>
        <p:spPr>
          <a:xfrm>
            <a:off x="6080760" y="1974960"/>
            <a:ext cx="233136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1"/>
          <p:cNvSpPr/>
          <p:nvPr/>
        </p:nvSpPr>
        <p:spPr>
          <a:xfrm>
            <a:off x="6282000" y="2176200"/>
            <a:ext cx="383760" cy="38376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32"/>
          <p:cNvSpPr/>
          <p:nvPr/>
        </p:nvSpPr>
        <p:spPr>
          <a:xfrm>
            <a:off x="6282000" y="2194560"/>
            <a:ext cx="383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33"/>
          <p:cNvSpPr/>
          <p:nvPr/>
        </p:nvSpPr>
        <p:spPr>
          <a:xfrm>
            <a:off x="6793920" y="2194560"/>
            <a:ext cx="1508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Intake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4"/>
          <p:cNvSpPr/>
          <p:nvPr/>
        </p:nvSpPr>
        <p:spPr>
          <a:xfrm>
            <a:off x="6793920" y="255132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— collect location, type, urgency.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35"/>
          <p:cNvSpPr/>
          <p:nvPr/>
        </p:nvSpPr>
        <p:spPr>
          <a:xfrm>
            <a:off x="8686800" y="1974960"/>
            <a:ext cx="233136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37"/>
          <p:cNvSpPr/>
          <p:nvPr/>
        </p:nvSpPr>
        <p:spPr>
          <a:xfrm>
            <a:off x="8888040" y="2176200"/>
            <a:ext cx="383760" cy="38376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8"/>
          <p:cNvSpPr/>
          <p:nvPr/>
        </p:nvSpPr>
        <p:spPr>
          <a:xfrm>
            <a:off x="8888040" y="2194560"/>
            <a:ext cx="383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39"/>
          <p:cNvSpPr/>
          <p:nvPr/>
        </p:nvSpPr>
        <p:spPr>
          <a:xfrm>
            <a:off x="9399960" y="2194560"/>
            <a:ext cx="1508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Triage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40"/>
          <p:cNvSpPr/>
          <p:nvPr/>
        </p:nvSpPr>
        <p:spPr>
          <a:xfrm>
            <a:off x="9399960" y="255132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— classify and summarize.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41"/>
          <p:cNvSpPr/>
          <p:nvPr/>
        </p:nvSpPr>
        <p:spPr>
          <a:xfrm>
            <a:off x="6080760" y="3300840"/>
            <a:ext cx="233136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3"/>
          <p:cNvSpPr/>
          <p:nvPr/>
        </p:nvSpPr>
        <p:spPr>
          <a:xfrm>
            <a:off x="6282000" y="3502080"/>
            <a:ext cx="383760" cy="38376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44"/>
          <p:cNvSpPr/>
          <p:nvPr/>
        </p:nvSpPr>
        <p:spPr>
          <a:xfrm>
            <a:off x="6282000" y="3520440"/>
            <a:ext cx="383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5"/>
          <p:cNvSpPr/>
          <p:nvPr/>
        </p:nvSpPr>
        <p:spPr>
          <a:xfrm>
            <a:off x="6793920" y="3520440"/>
            <a:ext cx="1508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Answer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46"/>
          <p:cNvSpPr/>
          <p:nvPr/>
        </p:nvSpPr>
        <p:spPr>
          <a:xfrm>
            <a:off x="6793920" y="387720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— answer from the FAQ.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47"/>
          <p:cNvSpPr/>
          <p:nvPr/>
        </p:nvSpPr>
        <p:spPr>
          <a:xfrm>
            <a:off x="8686800" y="3300840"/>
            <a:ext cx="233136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49"/>
          <p:cNvSpPr/>
          <p:nvPr/>
        </p:nvSpPr>
        <p:spPr>
          <a:xfrm>
            <a:off x="8888040" y="3502080"/>
            <a:ext cx="383760" cy="383760"/>
          </a:xfrm>
          <a:prstGeom prst="ellipse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0"/>
          <p:cNvSpPr/>
          <p:nvPr/>
        </p:nvSpPr>
        <p:spPr>
          <a:xfrm>
            <a:off x="8888040" y="3520440"/>
            <a:ext cx="3837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1"/>
          <p:cNvSpPr/>
          <p:nvPr/>
        </p:nvSpPr>
        <p:spPr>
          <a:xfrm>
            <a:off x="9399960" y="3520440"/>
            <a:ext cx="1508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Create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52"/>
          <p:cNvSpPr/>
          <p:nvPr/>
        </p:nvSpPr>
        <p:spPr>
          <a:xfrm>
            <a:off x="9399960" y="387720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— draft a synthetic receipt.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53"/>
          <p:cNvSpPr/>
          <p:nvPr/>
        </p:nvSpPr>
        <p:spPr>
          <a:xfrm>
            <a:off x="6080760" y="4800600"/>
            <a:ext cx="4937400" cy="74952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2700">
            <a:solidFill>
              <a:srgbClr val="103A6B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54"/>
          <p:cNvSpPr/>
          <p:nvPr/>
        </p:nvSpPr>
        <p:spPr>
          <a:xfrm>
            <a:off x="6309360" y="507492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79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SUCCESS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55"/>
          <p:cNvSpPr/>
          <p:nvPr/>
        </p:nvSpPr>
        <p:spPr>
          <a:xfrm>
            <a:off x="7315200" y="5056560"/>
            <a:ext cx="1234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✓ </a:t>
            </a:r>
            <a:r>
              <a:rPr lang="en-US" sz="103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Runs locally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56"/>
          <p:cNvSpPr/>
          <p:nvPr/>
        </p:nvSpPr>
        <p:spPr>
          <a:xfrm>
            <a:off x="8521920" y="5010840"/>
            <a:ext cx="360" cy="329040"/>
          </a:xfrm>
          <a:prstGeom prst="line">
            <a:avLst/>
          </a:prstGeom>
          <a:ln w="10160">
            <a:solidFill>
              <a:srgbClr val="BFE6FF">
                <a:alpha val="6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7"/>
          <p:cNvSpPr/>
          <p:nvPr/>
        </p:nvSpPr>
        <p:spPr>
          <a:xfrm>
            <a:off x="8577000" y="5056560"/>
            <a:ext cx="1234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✓ </a:t>
            </a:r>
            <a:r>
              <a:rPr lang="en-US" sz="103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Critical flagged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58"/>
          <p:cNvSpPr/>
          <p:nvPr/>
        </p:nvSpPr>
        <p:spPr>
          <a:xfrm>
            <a:off x="9784080" y="5010840"/>
            <a:ext cx="360" cy="329040"/>
          </a:xfrm>
          <a:prstGeom prst="line">
            <a:avLst/>
          </a:prstGeom>
          <a:ln w="10160">
            <a:solidFill>
              <a:srgbClr val="BFE6FF">
                <a:alpha val="60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59"/>
          <p:cNvSpPr/>
          <p:nvPr/>
        </p:nvSpPr>
        <p:spPr>
          <a:xfrm>
            <a:off x="9838800" y="5056560"/>
            <a:ext cx="1234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✓ </a:t>
            </a:r>
            <a:r>
              <a:rPr lang="en-US" sz="103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No cloud calls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0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06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WHAT GOES INTO THE PROTOTYPE?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More detail helps. More noise does not.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8"/>
          <p:cNvSpPr/>
          <p:nvPr/>
        </p:nvSpPr>
        <p:spPr>
          <a:xfrm>
            <a:off x="1387922" y="1783080"/>
            <a:ext cx="3200040" cy="566640"/>
          </a:xfrm>
          <a:prstGeom prst="roundRect">
            <a:avLst>
              <a:gd name="adj" fmla="val 9677"/>
            </a:avLst>
          </a:prstGeom>
          <a:solidFill>
            <a:srgbClr val="F3F2F1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9"/>
          <p:cNvSpPr/>
          <p:nvPr/>
        </p:nvSpPr>
        <p:spPr>
          <a:xfrm>
            <a:off x="1525082" y="188352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Source doc + supporting evidence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0"/>
          <p:cNvSpPr/>
          <p:nvPr/>
        </p:nvSpPr>
        <p:spPr>
          <a:xfrm>
            <a:off x="4663267" y="1847160"/>
            <a:ext cx="896040" cy="438480"/>
          </a:xfrm>
          <a:prstGeom prst="chevron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1"/>
          <p:cNvSpPr/>
          <p:nvPr/>
        </p:nvSpPr>
        <p:spPr>
          <a:xfrm>
            <a:off x="4782427" y="1965960"/>
            <a:ext cx="658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FILTER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2"/>
          <p:cNvSpPr/>
          <p:nvPr/>
        </p:nvSpPr>
        <p:spPr>
          <a:xfrm>
            <a:off x="5621522" y="1783080"/>
            <a:ext cx="2468520" cy="566640"/>
          </a:xfrm>
          <a:prstGeom prst="roundRect">
            <a:avLst>
              <a:gd name="adj" fmla="val 9677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3"/>
          <p:cNvSpPr/>
          <p:nvPr/>
        </p:nvSpPr>
        <p:spPr>
          <a:xfrm>
            <a:off x="5621522" y="18835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ONE CLEAR SIGNAL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4"/>
          <p:cNvSpPr/>
          <p:nvPr/>
        </p:nvSpPr>
        <p:spPr>
          <a:xfrm>
            <a:off x="8291642" y="1883520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Right amount of context, no clutter.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5"/>
          <p:cNvSpPr/>
          <p:nvPr/>
        </p:nvSpPr>
        <p:spPr>
          <a:xfrm>
            <a:off x="594360" y="2578680"/>
            <a:ext cx="5394600" cy="265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6"/>
          <p:cNvSpPr/>
          <p:nvPr/>
        </p:nvSpPr>
        <p:spPr>
          <a:xfrm>
            <a:off x="594360" y="2578680"/>
            <a:ext cx="5394600" cy="4568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7"/>
          <p:cNvSpPr/>
          <p:nvPr/>
        </p:nvSpPr>
        <p:spPr>
          <a:xfrm>
            <a:off x="822960" y="2679120"/>
            <a:ext cx="4937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spc="60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BRING THIS  ·  STRONG SIGNAL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8"/>
          <p:cNvSpPr/>
          <p:nvPr/>
        </p:nvSpPr>
        <p:spPr>
          <a:xfrm>
            <a:off x="868680" y="323712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907200" y="327303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0"/>
          <p:cNvSpPr/>
          <p:nvPr/>
        </p:nvSpPr>
        <p:spPr>
          <a:xfrm>
            <a:off x="1197720" y="321876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Business problem + desired outcome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21"/>
          <p:cNvSpPr/>
          <p:nvPr/>
        </p:nvSpPr>
        <p:spPr>
          <a:xfrm>
            <a:off x="868680" y="356616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2"/>
          <p:cNvSpPr/>
          <p:nvPr/>
        </p:nvSpPr>
        <p:spPr>
          <a:xfrm>
            <a:off x="907200" y="360243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3"/>
          <p:cNvSpPr/>
          <p:nvPr/>
        </p:nvSpPr>
        <p:spPr>
          <a:xfrm>
            <a:off x="1197720" y="354780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Primary users and current workflow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4"/>
          <p:cNvSpPr/>
          <p:nvPr/>
        </p:nvSpPr>
        <p:spPr>
          <a:xfrm>
            <a:off x="868680" y="389520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5"/>
          <p:cNvSpPr/>
          <p:nvPr/>
        </p:nvSpPr>
        <p:spPr>
          <a:xfrm>
            <a:off x="907200" y="393147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6"/>
          <p:cNvSpPr/>
          <p:nvPr/>
        </p:nvSpPr>
        <p:spPr>
          <a:xfrm>
            <a:off x="1197720" y="387720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One to three priority capabilities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7"/>
          <p:cNvSpPr/>
          <p:nvPr/>
        </p:nvSpPr>
        <p:spPr>
          <a:xfrm>
            <a:off x="868680" y="422460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8"/>
          <p:cNvSpPr/>
          <p:nvPr/>
        </p:nvSpPr>
        <p:spPr>
          <a:xfrm>
            <a:off x="907200" y="426051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9"/>
          <p:cNvSpPr/>
          <p:nvPr/>
        </p:nvSpPr>
        <p:spPr>
          <a:xfrm>
            <a:off x="1197720" y="420624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Constraints, systems, success measure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30"/>
          <p:cNvSpPr/>
          <p:nvPr/>
        </p:nvSpPr>
        <p:spPr>
          <a:xfrm>
            <a:off x="868680" y="45536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31"/>
          <p:cNvSpPr/>
          <p:nvPr/>
        </p:nvSpPr>
        <p:spPr>
          <a:xfrm>
            <a:off x="907200" y="458991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2"/>
          <p:cNvSpPr/>
          <p:nvPr/>
        </p:nvSpPr>
        <p:spPr>
          <a:xfrm>
            <a:off x="1197720" y="453528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Example requests + expected replies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33"/>
          <p:cNvSpPr/>
          <p:nvPr/>
        </p:nvSpPr>
        <p:spPr>
          <a:xfrm>
            <a:off x="868680" y="48830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4"/>
          <p:cNvSpPr/>
          <p:nvPr/>
        </p:nvSpPr>
        <p:spPr>
          <a:xfrm>
            <a:off x="907200" y="491895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5"/>
          <p:cNvSpPr/>
          <p:nvPr/>
        </p:nvSpPr>
        <p:spPr>
          <a:xfrm>
            <a:off x="1197720" y="486468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Named systems or synthetic sample records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36"/>
          <p:cNvSpPr/>
          <p:nvPr/>
        </p:nvSpPr>
        <p:spPr>
          <a:xfrm>
            <a:off x="6172200" y="2578680"/>
            <a:ext cx="5394600" cy="265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37"/>
          <p:cNvSpPr/>
          <p:nvPr/>
        </p:nvSpPr>
        <p:spPr>
          <a:xfrm>
            <a:off x="6172200" y="2578680"/>
            <a:ext cx="5394600" cy="4568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8"/>
          <p:cNvSpPr/>
          <p:nvPr/>
        </p:nvSpPr>
        <p:spPr>
          <a:xfrm>
            <a:off x="6400800" y="2679120"/>
            <a:ext cx="493740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spc="60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PREP FIRST  ·  TRIM THE NOISE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9"/>
          <p:cNvSpPr/>
          <p:nvPr/>
        </p:nvSpPr>
        <p:spPr>
          <a:xfrm>
            <a:off x="6446520" y="3273480"/>
            <a:ext cx="228240" cy="2282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0"/>
          <p:cNvSpPr/>
          <p:nvPr/>
        </p:nvSpPr>
        <p:spPr>
          <a:xfrm>
            <a:off x="6464880" y="3313356"/>
            <a:ext cx="19152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1"/>
          <p:cNvSpPr/>
          <p:nvPr/>
        </p:nvSpPr>
        <p:spPr>
          <a:xfrm>
            <a:off x="6784920" y="3255120"/>
            <a:ext cx="459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Remove data you are not allowed to process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42"/>
          <p:cNvSpPr/>
          <p:nvPr/>
        </p:nvSpPr>
        <p:spPr>
          <a:xfrm>
            <a:off x="6446520" y="3749040"/>
            <a:ext cx="228240" cy="2282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43"/>
          <p:cNvSpPr/>
          <p:nvPr/>
        </p:nvSpPr>
        <p:spPr>
          <a:xfrm>
            <a:off x="6464880" y="3788916"/>
            <a:ext cx="19152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44"/>
          <p:cNvSpPr/>
          <p:nvPr/>
        </p:nvSpPr>
        <p:spPr>
          <a:xfrm>
            <a:off x="6784920" y="3730680"/>
            <a:ext cx="459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Give Copilot readable text - not screenshots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45"/>
          <p:cNvSpPr/>
          <p:nvPr/>
        </p:nvSpPr>
        <p:spPr>
          <a:xfrm>
            <a:off x="6446520" y="4224600"/>
            <a:ext cx="228240" cy="2282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46"/>
          <p:cNvSpPr/>
          <p:nvPr/>
        </p:nvSpPr>
        <p:spPr>
          <a:xfrm>
            <a:off x="6464880" y="4264476"/>
            <a:ext cx="19152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47"/>
          <p:cNvSpPr/>
          <p:nvPr/>
        </p:nvSpPr>
        <p:spPr>
          <a:xfrm>
            <a:off x="6784920" y="4206240"/>
            <a:ext cx="459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Summarize giant document dumps to the essentials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48"/>
          <p:cNvSpPr/>
          <p:nvPr/>
        </p:nvSpPr>
        <p:spPr>
          <a:xfrm>
            <a:off x="6446520" y="4700160"/>
            <a:ext cx="228240" cy="2282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49"/>
          <p:cNvSpPr/>
          <p:nvPr/>
        </p:nvSpPr>
        <p:spPr>
          <a:xfrm>
            <a:off x="6464880" y="4739676"/>
            <a:ext cx="19152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0"/>
          <p:cNvSpPr/>
          <p:nvPr/>
        </p:nvSpPr>
        <p:spPr>
          <a:xfrm>
            <a:off x="6784920" y="4681800"/>
            <a:ext cx="459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Separate must-have from future ideas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51"/>
          <p:cNvSpPr/>
          <p:nvPr/>
        </p:nvSpPr>
        <p:spPr>
          <a:xfrm>
            <a:off x="594360" y="5486400"/>
            <a:ext cx="10972440" cy="749520"/>
          </a:xfrm>
          <a:prstGeom prst="roundRect">
            <a:avLst>
              <a:gd name="adj" fmla="val 9756"/>
            </a:avLst>
          </a:prstGeom>
          <a:solidFill>
            <a:srgbClr val="DCEEFF"/>
          </a:solidFill>
          <a:ln w="15240">
            <a:solidFill>
              <a:srgbClr val="005A9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52"/>
          <p:cNvSpPr/>
          <p:nvPr/>
        </p:nvSpPr>
        <p:spPr>
          <a:xfrm>
            <a:off x="841320" y="5687640"/>
            <a:ext cx="347040" cy="347040"/>
          </a:xfrm>
          <a:prstGeom prst="ellipse">
            <a:avLst/>
          </a:prstGeom>
          <a:solidFill>
            <a:srgbClr val="005A9E"/>
          </a:solidFill>
          <a:ln w="12700">
            <a:solidFill>
              <a:srgbClr val="005A9E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53"/>
          <p:cNvSpPr/>
          <p:nvPr/>
        </p:nvSpPr>
        <p:spPr>
          <a:xfrm>
            <a:off x="841320" y="5696640"/>
            <a:ext cx="3470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{ 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4"/>
          <p:cNvSpPr/>
          <p:nvPr/>
        </p:nvSpPr>
        <p:spPr>
          <a:xfrm>
            <a:off x="1371600" y="5577840"/>
            <a:ext cx="99666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TELL COPILOT: "Use this source to build a local Brainstem prototype for [use case]. Ask me to confirm the scope first, then create and test it."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55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07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STEP 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580526" y="1055744"/>
            <a:ext cx="10958914" cy="5015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Tell Copilot to sign you in - nothing else to configure.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3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10"/>
          <p:cNvSpPr/>
          <p:nvPr/>
        </p:nvSpPr>
        <p:spPr>
          <a:xfrm>
            <a:off x="594360" y="1865520"/>
            <a:ext cx="1965600" cy="38034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1"/>
          <p:cNvSpPr/>
          <p:nvPr/>
        </p:nvSpPr>
        <p:spPr>
          <a:xfrm>
            <a:off x="841320" y="2395800"/>
            <a:ext cx="146268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2"/>
          <p:cNvSpPr/>
          <p:nvPr/>
        </p:nvSpPr>
        <p:spPr>
          <a:xfrm>
            <a:off x="841320" y="398664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 spc="111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3"/>
          <p:cNvSpPr/>
          <p:nvPr/>
        </p:nvSpPr>
        <p:spPr>
          <a:xfrm>
            <a:off x="1051560" y="4407120"/>
            <a:ext cx="1051560" cy="360"/>
          </a:xfrm>
          <a:prstGeom prst="line">
            <a:avLst/>
          </a:prstGeom>
          <a:ln w="12700">
            <a:solidFill>
              <a:srgbClr val="BFE6FF">
                <a:alpha val="65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4"/>
          <p:cNvSpPr/>
          <p:nvPr/>
        </p:nvSpPr>
        <p:spPr>
          <a:xfrm>
            <a:off x="822960" y="4572000"/>
            <a:ext cx="14994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150" b="0" u="none" strike="noStrike">
                <a:solidFill>
                  <a:srgbClr val="E6F2FF"/>
                </a:solidFill>
                <a:effectLst/>
                <a:uFillTx/>
                <a:latin typeface="Segoe UI"/>
                <a:ea typeface="Segoe UI"/>
              </a:rPr>
              <a:t>One GitHub Copilot account drives Copilot and Brainstem.</a:t>
            </a:r>
            <a:endParaRPr lang="en-US" sz="1150" b="0" u="none" strike="noStrike">
              <a:solidFill>
                <a:srgbClr val="E6F2FF"/>
              </a:solidFill>
              <a:effectLst/>
              <a:uFillTx/>
              <a:latin typeface="Segoe UI"/>
              <a:cs typeface="Segoe UI"/>
            </a:endParaRPr>
          </a:p>
        </p:txBody>
      </p:sp>
      <p:sp>
        <p:nvSpPr>
          <p:cNvPr id="374" name="Shape 15"/>
          <p:cNvSpPr/>
          <p:nvPr/>
        </p:nvSpPr>
        <p:spPr>
          <a:xfrm>
            <a:off x="2971800" y="1865520"/>
            <a:ext cx="4663080" cy="3803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22"/>
          <p:cNvSpPr/>
          <p:nvPr/>
        </p:nvSpPr>
        <p:spPr>
          <a:xfrm>
            <a:off x="3246120" y="2432160"/>
            <a:ext cx="3382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COPILOT  |  SIGN IN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3"/>
          <p:cNvSpPr/>
          <p:nvPr/>
        </p:nvSpPr>
        <p:spPr>
          <a:xfrm>
            <a:off x="3246120" y="2724840"/>
            <a:ext cx="41144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Tell Copilot: "Sign me in to GitHub Copilot and confirm I am ready to use Brainstem."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4"/>
          <p:cNvSpPr/>
          <p:nvPr/>
        </p:nvSpPr>
        <p:spPr>
          <a:xfrm>
            <a:off x="3977640" y="3346560"/>
            <a:ext cx="2651400" cy="548280"/>
          </a:xfrm>
          <a:prstGeom prst="roundRect">
            <a:avLst>
              <a:gd name="adj" fmla="val 8333"/>
            </a:avLst>
          </a:prstGeom>
          <a:solidFill>
            <a:srgbClr val="1B1A19"/>
          </a:solidFill>
          <a:ln w="12700">
            <a:solidFill>
              <a:srgbClr val="1B1A19">
                <a:alpha val="0"/>
              </a:srgbClr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25"/>
          <p:cNvSpPr/>
          <p:nvPr/>
        </p:nvSpPr>
        <p:spPr>
          <a:xfrm>
            <a:off x="4069080" y="3520440"/>
            <a:ext cx="2468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Tell Copilot to sign me in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6"/>
          <p:cNvSpPr/>
          <p:nvPr/>
        </p:nvSpPr>
        <p:spPr>
          <a:xfrm>
            <a:off x="3429000" y="4206240"/>
            <a:ext cx="3748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Approve the browser sign-in prompt when it appears.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7"/>
          <p:cNvSpPr/>
          <p:nvPr/>
        </p:nvSpPr>
        <p:spPr>
          <a:xfrm>
            <a:off x="3977640" y="4956120"/>
            <a:ext cx="2651400" cy="402120"/>
          </a:xfrm>
          <a:prstGeom prst="roundRect">
            <a:avLst>
              <a:gd name="adj" fmla="val 11364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28"/>
          <p:cNvSpPr/>
          <p:nvPr/>
        </p:nvSpPr>
        <p:spPr>
          <a:xfrm>
            <a:off x="4069080" y="502920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✓  Signed in — starting the Brainstem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29"/>
          <p:cNvSpPr/>
          <p:nvPr/>
        </p:nvSpPr>
        <p:spPr>
          <a:xfrm>
            <a:off x="8028360" y="1865520"/>
            <a:ext cx="3565800" cy="3803400"/>
          </a:xfrm>
          <a:prstGeom prst="roundRect">
            <a:avLst>
              <a:gd name="adj" fmla="val 16667"/>
            </a:avLst>
          </a:prstGeom>
          <a:solidFill>
            <a:srgbClr val="EAF4FD"/>
          </a:solidFill>
          <a:ln w="12700">
            <a:solidFill>
              <a:srgbClr val="BFE6FF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0"/>
          <p:cNvSpPr/>
          <p:nvPr/>
        </p:nvSpPr>
        <p:spPr>
          <a:xfrm>
            <a:off x="8321040" y="2157840"/>
            <a:ext cx="18284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111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PREFLIGHT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31"/>
          <p:cNvSpPr/>
          <p:nvPr/>
        </p:nvSpPr>
        <p:spPr>
          <a:xfrm>
            <a:off x="8321040" y="2432160"/>
            <a:ext cx="3108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Confirm before you 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32"/>
          <p:cNvSpPr/>
          <p:nvPr/>
        </p:nvSpPr>
        <p:spPr>
          <a:xfrm>
            <a:off x="8302680" y="290772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3"/>
          <p:cNvSpPr/>
          <p:nvPr/>
        </p:nvSpPr>
        <p:spPr>
          <a:xfrm>
            <a:off x="8341200" y="2962032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34"/>
          <p:cNvSpPr/>
          <p:nvPr/>
        </p:nvSpPr>
        <p:spPr>
          <a:xfrm>
            <a:off x="8632080" y="288936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Account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GitHub account with Copilot access.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35"/>
          <p:cNvSpPr/>
          <p:nvPr/>
        </p:nvSpPr>
        <p:spPr>
          <a:xfrm>
            <a:off x="8302680" y="354780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36"/>
          <p:cNvSpPr/>
          <p:nvPr/>
        </p:nvSpPr>
        <p:spPr>
          <a:xfrm>
            <a:off x="8341200" y="3602112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37"/>
          <p:cNvSpPr/>
          <p:nvPr/>
        </p:nvSpPr>
        <p:spPr>
          <a:xfrm>
            <a:off x="8632080" y="352944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Access  Copilot sign-in opens successfully.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38"/>
          <p:cNvSpPr/>
          <p:nvPr/>
        </p:nvSpPr>
        <p:spPr>
          <a:xfrm>
            <a:off x="8302680" y="418788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39"/>
          <p:cNvSpPr/>
          <p:nvPr/>
        </p:nvSpPr>
        <p:spPr>
          <a:xfrm>
            <a:off x="8341200" y="4242192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40"/>
          <p:cNvSpPr/>
          <p:nvPr/>
        </p:nvSpPr>
        <p:spPr>
          <a:xfrm>
            <a:off x="8632080" y="416952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Local  Copilot confirms Brainstem will run on your machine.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41"/>
          <p:cNvSpPr/>
          <p:nvPr/>
        </p:nvSpPr>
        <p:spPr>
          <a:xfrm>
            <a:off x="8302680" y="482796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42"/>
          <p:cNvSpPr/>
          <p:nvPr/>
        </p:nvSpPr>
        <p:spPr>
          <a:xfrm>
            <a:off x="8341200" y="4882272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43"/>
          <p:cNvSpPr/>
          <p:nvPr/>
        </p:nvSpPr>
        <p:spPr>
          <a:xfrm>
            <a:off x="8632080" y="480960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Fallback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Facilitator has a prebuilt demo agent.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44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778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45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46"/>
          <p:cNvSpPr/>
          <p:nvPr/>
        </p:nvSpPr>
        <p:spPr>
          <a:xfrm>
            <a:off x="777240" y="6041352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47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48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49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50"/>
          <p:cNvSpPr/>
          <p:nvPr/>
        </p:nvSpPr>
        <p:spPr>
          <a:xfrm>
            <a:off x="2971800" y="6041352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51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52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53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54"/>
          <p:cNvSpPr/>
          <p:nvPr/>
        </p:nvSpPr>
        <p:spPr>
          <a:xfrm>
            <a:off x="5166360" y="6041352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5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56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57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58"/>
          <p:cNvSpPr/>
          <p:nvPr/>
        </p:nvSpPr>
        <p:spPr>
          <a:xfrm>
            <a:off x="7360920" y="6041352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59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60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61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2"/>
          <p:cNvSpPr/>
          <p:nvPr/>
        </p:nvSpPr>
        <p:spPr>
          <a:xfrm>
            <a:off x="9555480" y="6041352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63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6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08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STEP 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Tell Copilot to install and start Brainstem.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0"/>
          <p:cNvSpPr/>
          <p:nvPr/>
        </p:nvSpPr>
        <p:spPr>
          <a:xfrm>
            <a:off x="594360" y="1828800"/>
            <a:ext cx="6537600" cy="3638880"/>
          </a:xfrm>
          <a:prstGeom prst="roundRect">
            <a:avLst>
              <a:gd name="adj" fmla="val 16667"/>
            </a:avLst>
          </a:prstGeom>
          <a:solidFill>
            <a:srgbClr val="1B1A19"/>
          </a:solidFill>
          <a:ln w="12700">
            <a:solidFill>
              <a:srgbClr val="1B1A19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6"/>
          <p:cNvSpPr/>
          <p:nvPr/>
        </p:nvSpPr>
        <p:spPr>
          <a:xfrm>
            <a:off x="822960" y="2747008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0" u="none" strike="noStrike" sz="1800">
                <a:solidFill>
                  <a:srgbClr val="A7C7E7"/>
                </a:solidFill>
                <a:effectLst/>
                <a:uFillTx/>
                <a:latin typeface="Aptos"/>
                <a:ea typeface="Aptos"/>
                <a:cs typeface="Aptos"/>
              </a:rPr>
              <a:t>TELL COPILOT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7"/>
          <p:cNvSpPr/>
          <p:nvPr/>
        </p:nvSpPr>
        <p:spPr>
          <a:xfrm>
            <a:off x="822960" y="3149128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70000" lnSpcReduction="20000"/>
          </a:bodyPr>
          <a:lstStyle/>
          <a:p>
            <a:pPr>
              <a:tabLst>
                <a:tab pos="0" algn="l"/>
              </a:tabLst>
            </a:pPr>
            <a:r>
              <a:rPr lang="en-US" sz="1600" u="sng">
                <a:solidFill>
                  <a:srgbClr val="50E6FF"/>
                </a:solidFill>
                <a:latin typeface="Aptos"/>
                <a:hlinkClick r:id="rId3"/>
                <a:ea typeface="Aptos"/>
                <a:cs typeface="Aptos"/>
              </a:rPr>
              <a:t>Use aka.ms/rappinstall and start Brainstem for me.</a:t>
            </a:r>
            <a:endParaRPr lang="en-US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 18"/>
          <p:cNvSpPr/>
          <p:nvPr/>
        </p:nvSpPr>
        <p:spPr>
          <a:xfrm>
            <a:off x="822960" y="3551608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b="0" u="none" strike="noStrike" sz="1600">
                <a:solidFill>
                  <a:srgbClr val="A7C7E7"/>
                </a:solidFill>
                <a:effectLst/>
                <a:uFillTx/>
                <a:latin typeface="Aptos"/>
                <a:ea typeface="Aptos"/>
                <a:cs typeface="Aptos"/>
              </a:rPr>
              <a:t>COPILOT ALSO</a:t>
            </a:r>
            <a:endParaRPr lang="en-US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9"/>
          <p:cNvSpPr/>
          <p:nvPr/>
        </p:nvSpPr>
        <p:spPr>
          <a:xfrm>
            <a:off x="822960" y="3954088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70000" lnSpcReduction="20000"/>
          </a:bodyPr>
          <a:lstStyle/>
          <a:p>
            <a:pPr>
              <a:tabLst>
                <a:tab pos="0" algn="l"/>
              </a:tabLst>
            </a:pPr>
            <a:r>
              <a:rPr lang="en-US"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 the local page and confirm it is ready.</a:t>
            </a:r>
            <a:endParaRPr lang="en-US" b="0" u="none" strike="noStrike" err="1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23"/>
          <p:cNvSpPr/>
          <p:nvPr/>
        </p:nvSpPr>
        <p:spPr>
          <a:xfrm>
            <a:off x="7543800" y="1828800"/>
            <a:ext cx="4050360" cy="36388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24"/>
          <p:cNvSpPr/>
          <p:nvPr/>
        </p:nvSpPr>
        <p:spPr>
          <a:xfrm>
            <a:off x="7882200" y="214884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spc="99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COPILOT HANDLES THE REST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25"/>
          <p:cNvSpPr/>
          <p:nvPr/>
        </p:nvSpPr>
        <p:spPr>
          <a:xfrm>
            <a:off x="7882200" y="2432160"/>
            <a:ext cx="33829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You stay in plain language while Copilot completes setup.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26"/>
          <p:cNvSpPr/>
          <p:nvPr/>
        </p:nvSpPr>
        <p:spPr>
          <a:xfrm>
            <a:off x="7882200" y="29444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7"/>
          <p:cNvSpPr/>
          <p:nvPr/>
        </p:nvSpPr>
        <p:spPr>
          <a:xfrm>
            <a:off x="7920360" y="2985893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8"/>
          <p:cNvSpPr/>
          <p:nvPr/>
        </p:nvSpPr>
        <p:spPr>
          <a:xfrm>
            <a:off x="8211240" y="2926080"/>
            <a:ext cx="28710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 xml:space="preserve">  Opens the install page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29"/>
          <p:cNvSpPr/>
          <p:nvPr/>
        </p:nvSpPr>
        <p:spPr>
          <a:xfrm>
            <a:off x="7882200" y="34016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30"/>
          <p:cNvSpPr/>
          <p:nvPr/>
        </p:nvSpPr>
        <p:spPr>
          <a:xfrm>
            <a:off x="7920360" y="3443093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1"/>
          <p:cNvSpPr/>
          <p:nvPr/>
        </p:nvSpPr>
        <p:spPr>
          <a:xfrm>
            <a:off x="8211240" y="3383280"/>
            <a:ext cx="28710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 xml:space="preserve">  Chooses the correct one-liner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2"/>
          <p:cNvSpPr/>
          <p:nvPr/>
        </p:nvSpPr>
        <p:spPr>
          <a:xfrm>
            <a:off x="7882200" y="38588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33"/>
          <p:cNvSpPr/>
          <p:nvPr/>
        </p:nvSpPr>
        <p:spPr>
          <a:xfrm>
            <a:off x="7920360" y="3900293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34"/>
          <p:cNvSpPr/>
          <p:nvPr/>
        </p:nvSpPr>
        <p:spPr>
          <a:xfrm>
            <a:off x="8211240" y="3840480"/>
            <a:ext cx="28710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1300">
                <a:solidFill>
                  <a:srgbClr val="3B3A39"/>
                </a:solidFill>
                <a:latin typeface="Segoe UI"/>
                <a:cs typeface="Segoe UI"/>
              </a:rPr>
              <a:t xml:space="preserve">  Runs setup</a:t>
            </a:r>
            <a:endParaRPr lang="en-US" sz="1300" b="0" u="none" strike="noStrike">
              <a:solidFill>
                <a:srgbClr val="3B3A39"/>
              </a:solidFill>
              <a:effectLst/>
              <a:uFillTx/>
              <a:latin typeface="Segoe UI"/>
              <a:cs typeface="Segoe UI"/>
            </a:endParaRPr>
          </a:p>
        </p:txBody>
      </p:sp>
      <p:sp>
        <p:nvSpPr>
          <p:cNvPr id="459" name="Shape 35"/>
          <p:cNvSpPr/>
          <p:nvPr/>
        </p:nvSpPr>
        <p:spPr>
          <a:xfrm>
            <a:off x="7882200" y="43160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6"/>
          <p:cNvSpPr/>
          <p:nvPr/>
        </p:nvSpPr>
        <p:spPr>
          <a:xfrm>
            <a:off x="7920360" y="4357493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37"/>
          <p:cNvSpPr/>
          <p:nvPr/>
        </p:nvSpPr>
        <p:spPr>
          <a:xfrm>
            <a:off x="8211240" y="4297680"/>
            <a:ext cx="28710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1300">
                <a:solidFill>
                  <a:srgbClr val="3B3A39"/>
                </a:solidFill>
                <a:latin typeface="Segoe UI"/>
              </a:rPr>
              <a:t xml:space="preserve">  Opens Brainstem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38"/>
          <p:cNvSpPr/>
          <p:nvPr/>
        </p:nvSpPr>
        <p:spPr>
          <a:xfrm>
            <a:off x="7882200" y="4746511"/>
            <a:ext cx="3401280" cy="511560"/>
          </a:xfrm>
          <a:prstGeom prst="roundRect">
            <a:avLst>
              <a:gd name="adj" fmla="val 10714"/>
            </a:avLst>
          </a:prstGeom>
          <a:solidFill>
            <a:srgbClr val="DCEEFF"/>
          </a:solidFill>
          <a:ln w="17780">
            <a:solidFill>
              <a:srgbClr val="005A9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9"/>
          <p:cNvSpPr/>
          <p:nvPr/>
        </p:nvSpPr>
        <p:spPr>
          <a:xfrm>
            <a:off x="8065080" y="4819591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If anything fails, tell Copilot what you see and ask it to fix setup.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40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41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2"/>
          <p:cNvSpPr/>
          <p:nvPr/>
        </p:nvSpPr>
        <p:spPr>
          <a:xfrm>
            <a:off x="77724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43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44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 w="1778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45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6"/>
          <p:cNvSpPr/>
          <p:nvPr/>
        </p:nvSpPr>
        <p:spPr>
          <a:xfrm>
            <a:off x="297180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47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48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9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50"/>
          <p:cNvSpPr/>
          <p:nvPr/>
        </p:nvSpPr>
        <p:spPr>
          <a:xfrm>
            <a:off x="516636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51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52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53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54"/>
          <p:cNvSpPr/>
          <p:nvPr/>
        </p:nvSpPr>
        <p:spPr>
          <a:xfrm>
            <a:off x="736092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55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56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57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58"/>
          <p:cNvSpPr/>
          <p:nvPr/>
        </p:nvSpPr>
        <p:spPr>
          <a:xfrm>
            <a:off x="955548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59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0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09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STEP 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Tell Copilot what to build - then approve the scope.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8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10"/>
          <p:cNvSpPr/>
          <p:nvPr/>
        </p:nvSpPr>
        <p:spPr>
          <a:xfrm>
            <a:off x="594360" y="1828800"/>
            <a:ext cx="3657240" cy="376704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11"/>
          <p:cNvSpPr/>
          <p:nvPr/>
        </p:nvSpPr>
        <p:spPr>
          <a:xfrm>
            <a:off x="594360" y="1828800"/>
            <a:ext cx="3657240" cy="785880"/>
          </a:xfrm>
          <a:prstGeom prst="roundRect">
            <a:avLst>
              <a:gd name="adj" fmla="val 697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12"/>
          <p:cNvSpPr/>
          <p:nvPr/>
        </p:nvSpPr>
        <p:spPr>
          <a:xfrm>
            <a:off x="594360" y="2286000"/>
            <a:ext cx="3657240" cy="3286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3"/>
          <p:cNvSpPr/>
          <p:nvPr/>
        </p:nvSpPr>
        <p:spPr>
          <a:xfrm>
            <a:off x="914400" y="1956960"/>
            <a:ext cx="182844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STOP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14"/>
          <p:cNvSpPr/>
          <p:nvPr/>
        </p:nvSpPr>
        <p:spPr>
          <a:xfrm>
            <a:off x="2468880" y="208476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spc="99">
                <a:solidFill>
                  <a:srgbClr val="FFE0CC"/>
                </a:solidFill>
                <a:effectLst/>
                <a:uFillTx/>
                <a:latin typeface="Segoe UI Semibold"/>
                <a:ea typeface="Segoe UI Semibold"/>
              </a:rPr>
              <a:t>SCOPE GATE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5"/>
          <p:cNvSpPr/>
          <p:nvPr/>
        </p:nvSpPr>
        <p:spPr>
          <a:xfrm>
            <a:off x="914400" y="28530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Review the summary before Copilot builds.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16"/>
          <p:cNvSpPr/>
          <p:nvPr/>
        </p:nvSpPr>
        <p:spPr>
          <a:xfrm>
            <a:off x="914400" y="342000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17"/>
          <p:cNvSpPr/>
          <p:nvPr/>
        </p:nvSpPr>
        <p:spPr>
          <a:xfrm>
            <a:off x="952920" y="3466674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8"/>
          <p:cNvSpPr/>
          <p:nvPr/>
        </p:nvSpPr>
        <p:spPr>
          <a:xfrm>
            <a:off x="1243440" y="340164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Problem  Does the goal match the source?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19"/>
          <p:cNvSpPr/>
          <p:nvPr/>
        </p:nvSpPr>
        <p:spPr>
          <a:xfrm>
            <a:off x="914400" y="417888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20"/>
          <p:cNvSpPr/>
          <p:nvPr/>
        </p:nvSpPr>
        <p:spPr>
          <a:xfrm>
            <a:off x="952920" y="4225554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21"/>
          <p:cNvSpPr/>
          <p:nvPr/>
        </p:nvSpPr>
        <p:spPr>
          <a:xfrm>
            <a:off x="1243440" y="416052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Users  Are the right people and moments included?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22"/>
          <p:cNvSpPr/>
          <p:nvPr/>
        </p:nvSpPr>
        <p:spPr>
          <a:xfrm>
            <a:off x="914400" y="493776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23"/>
          <p:cNvSpPr/>
          <p:nvPr/>
        </p:nvSpPr>
        <p:spPr>
          <a:xfrm>
            <a:off x="952920" y="4984794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4"/>
          <p:cNvSpPr/>
          <p:nvPr/>
        </p:nvSpPr>
        <p:spPr>
          <a:xfrm>
            <a:off x="1243440" y="491940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Approve  Say "Build it" only when the scope is right.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25"/>
          <p:cNvSpPr/>
          <p:nvPr/>
        </p:nvSpPr>
        <p:spPr>
          <a:xfrm>
            <a:off x="4617720" y="1828800"/>
            <a:ext cx="6976440" cy="3767040"/>
          </a:xfrm>
          <a:prstGeom prst="roundRect">
            <a:avLst>
              <a:gd name="adj" fmla="val 16667"/>
            </a:avLst>
          </a:prstGeom>
          <a:solidFill>
            <a:srgbClr val="EAF4FD"/>
          </a:solidFill>
          <a:ln w="12700">
            <a:solidFill>
              <a:srgbClr val="BFE6FF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2"/>
          <p:cNvSpPr/>
          <p:nvPr/>
        </p:nvSpPr>
        <p:spPr>
          <a:xfrm>
            <a:off x="4965120" y="2340720"/>
            <a:ext cx="6263280" cy="1992960"/>
          </a:xfrm>
          <a:prstGeom prst="roundRect">
            <a:avLst>
              <a:gd name="adj" fmla="val 2294"/>
            </a:avLst>
          </a:prstGeom>
          <a:solidFill>
            <a:srgbClr val="0E1F33"/>
          </a:solidFill>
          <a:ln w="12700">
            <a:solidFill>
              <a:srgbClr val="103A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3"/>
          <p:cNvSpPr/>
          <p:nvPr/>
        </p:nvSpPr>
        <p:spPr>
          <a:xfrm>
            <a:off x="5120640" y="243216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TELL COPILOT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34"/>
          <p:cNvSpPr/>
          <p:nvPr/>
        </p:nvSpPr>
        <p:spPr>
          <a:xfrm>
            <a:off x="5120640" y="284364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Read my sanitized source.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5"/>
          <p:cNvSpPr/>
          <p:nvPr/>
        </p:nvSpPr>
        <p:spPr>
          <a:xfrm>
            <a:off x="5120640" y="304956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Build a local Brainstem prototype for [use case].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36"/>
          <p:cNvSpPr/>
          <p:nvPr/>
        </p:nvSpPr>
        <p:spPr>
          <a:xfrm>
            <a:off x="5120640" y="325512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Summarize the scope and ask me to approve it.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37"/>
          <p:cNvSpPr/>
          <p:nvPr/>
        </p:nvSpPr>
        <p:spPr>
          <a:xfrm>
            <a:off x="5120640" y="346104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After approval, create and start the prototype.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38"/>
          <p:cNvSpPr/>
          <p:nvPr/>
        </p:nvSpPr>
        <p:spPr>
          <a:xfrm>
            <a:off x="5120640" y="387252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Test one happy path and one edge case.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9"/>
          <p:cNvSpPr/>
          <p:nvPr/>
        </p:nvSpPr>
        <p:spPr>
          <a:xfrm>
            <a:off x="5120640" y="407808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Show me the result and what changed.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40"/>
          <p:cNvSpPr/>
          <p:nvPr/>
        </p:nvSpPr>
        <p:spPr>
          <a:xfrm>
            <a:off x="4965120" y="444384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COPILOT WILL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41"/>
          <p:cNvSpPr/>
          <p:nvPr/>
        </p:nvSpPr>
        <p:spPr>
          <a:xfrm>
            <a:off x="496512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42"/>
          <p:cNvSpPr/>
          <p:nvPr/>
        </p:nvSpPr>
        <p:spPr>
          <a:xfrm>
            <a:off x="502920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read the source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43"/>
          <p:cNvSpPr/>
          <p:nvPr/>
        </p:nvSpPr>
        <p:spPr>
          <a:xfrm>
            <a:off x="624528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44"/>
          <p:cNvSpPr/>
          <p:nvPr/>
        </p:nvSpPr>
        <p:spPr>
          <a:xfrm>
            <a:off x="630936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confirm the scope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45"/>
          <p:cNvSpPr/>
          <p:nvPr/>
        </p:nvSpPr>
        <p:spPr>
          <a:xfrm>
            <a:off x="752544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46"/>
          <p:cNvSpPr/>
          <p:nvPr/>
        </p:nvSpPr>
        <p:spPr>
          <a:xfrm>
            <a:off x="758952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build in Brainstem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47"/>
          <p:cNvSpPr/>
          <p:nvPr/>
        </p:nvSpPr>
        <p:spPr>
          <a:xfrm>
            <a:off x="880560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48"/>
          <p:cNvSpPr/>
          <p:nvPr/>
        </p:nvSpPr>
        <p:spPr>
          <a:xfrm>
            <a:off x="886968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start it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9"/>
          <p:cNvSpPr/>
          <p:nvPr/>
        </p:nvSpPr>
        <p:spPr>
          <a:xfrm>
            <a:off x="1008576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50"/>
          <p:cNvSpPr/>
          <p:nvPr/>
        </p:nvSpPr>
        <p:spPr>
          <a:xfrm>
            <a:off x="1014984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test it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51"/>
          <p:cNvSpPr/>
          <p:nvPr/>
        </p:nvSpPr>
        <p:spPr>
          <a:xfrm>
            <a:off x="4965120" y="5083920"/>
            <a:ext cx="3382920" cy="402120"/>
          </a:xfrm>
          <a:prstGeom prst="roundRect">
            <a:avLst>
              <a:gd name="adj" fmla="val 11364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52"/>
          <p:cNvSpPr/>
          <p:nvPr/>
        </p:nvSpPr>
        <p:spPr>
          <a:xfrm>
            <a:off x="5120640" y="5139000"/>
            <a:ext cx="30718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APPROVE SCOPE -&gt; BUILD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53"/>
          <p:cNvSpPr/>
          <p:nvPr/>
        </p:nvSpPr>
        <p:spPr>
          <a:xfrm>
            <a:off x="8531280" y="5083920"/>
            <a:ext cx="2697120" cy="402120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24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54"/>
          <p:cNvSpPr/>
          <p:nvPr/>
        </p:nvSpPr>
        <p:spPr>
          <a:xfrm>
            <a:off x="8668440" y="5139000"/>
            <a:ext cx="242280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NO CODE OR FILE WORK REQUIRED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55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56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57"/>
          <p:cNvSpPr/>
          <p:nvPr/>
        </p:nvSpPr>
        <p:spPr>
          <a:xfrm>
            <a:off x="77724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58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59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0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61"/>
          <p:cNvSpPr/>
          <p:nvPr/>
        </p:nvSpPr>
        <p:spPr>
          <a:xfrm>
            <a:off x="297180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62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63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83B01"/>
          </a:solidFill>
          <a:ln w="1778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64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65"/>
          <p:cNvSpPr/>
          <p:nvPr/>
        </p:nvSpPr>
        <p:spPr>
          <a:xfrm>
            <a:off x="516636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66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67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68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69"/>
          <p:cNvSpPr/>
          <p:nvPr/>
        </p:nvSpPr>
        <p:spPr>
          <a:xfrm>
            <a:off x="736092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70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71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72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73"/>
          <p:cNvSpPr/>
          <p:nvPr/>
        </p:nvSpPr>
        <p:spPr>
          <a:xfrm>
            <a:off x="955548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74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75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10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SOURCE TO PROTOTYPE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Source -&gt; Copilot -&gt; Brainstem -&gt; test.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0"/>
          <p:cNvSpPr/>
          <p:nvPr/>
        </p:nvSpPr>
        <p:spPr>
          <a:xfrm>
            <a:off x="640080" y="2048400"/>
            <a:ext cx="214848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11"/>
          <p:cNvSpPr/>
          <p:nvPr/>
        </p:nvSpPr>
        <p:spPr>
          <a:xfrm>
            <a:off x="822960" y="2286000"/>
            <a:ext cx="566640" cy="5666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2"/>
          <p:cNvSpPr/>
          <p:nvPr/>
        </p:nvSpPr>
        <p:spPr>
          <a:xfrm>
            <a:off x="905400" y="247379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13"/>
          <p:cNvSpPr/>
          <p:nvPr/>
        </p:nvSpPr>
        <p:spPr>
          <a:xfrm>
            <a:off x="822960" y="2944440"/>
            <a:ext cx="1782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SOURCE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4"/>
          <p:cNvSpPr/>
          <p:nvPr/>
        </p:nvSpPr>
        <p:spPr>
          <a:xfrm>
            <a:off x="868680" y="325512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Your discovery document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15"/>
          <p:cNvSpPr/>
          <p:nvPr/>
        </p:nvSpPr>
        <p:spPr>
          <a:xfrm>
            <a:off x="868680" y="3649231"/>
            <a:ext cx="1691280" cy="246600"/>
          </a:xfrm>
          <a:prstGeom prst="roundRect">
            <a:avLst>
              <a:gd name="adj" fmla="val 14815"/>
            </a:avLst>
          </a:prstGeom>
          <a:solidFill>
            <a:srgbClr val="F9E3DB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16"/>
          <p:cNvSpPr/>
          <p:nvPr/>
        </p:nvSpPr>
        <p:spPr>
          <a:xfrm>
            <a:off x="731520" y="3667231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83B01"/>
                </a:solidFill>
                <a:effectLst/>
                <a:uFillTx/>
                <a:latin typeface="Consolas"/>
                <a:ea typeface="Consolas"/>
              </a:rPr>
              <a:t>problem · users · outputs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17"/>
          <p:cNvSpPr/>
          <p:nvPr/>
        </p:nvSpPr>
        <p:spPr>
          <a:xfrm>
            <a:off x="2823864" y="2766599"/>
            <a:ext cx="282960" cy="456840"/>
          </a:xfrm>
          <a:prstGeom prst="chevron">
            <a:avLst>
              <a:gd name="adj" fmla="val 50000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8"/>
          <p:cNvSpPr/>
          <p:nvPr/>
        </p:nvSpPr>
        <p:spPr>
          <a:xfrm>
            <a:off x="3136320" y="2048400"/>
            <a:ext cx="214848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19"/>
          <p:cNvSpPr/>
          <p:nvPr/>
        </p:nvSpPr>
        <p:spPr>
          <a:xfrm>
            <a:off x="3319200" y="2286000"/>
            <a:ext cx="566640" cy="56664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20"/>
          <p:cNvSpPr/>
          <p:nvPr/>
        </p:nvSpPr>
        <p:spPr>
          <a:xfrm>
            <a:off x="3401640" y="247379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21"/>
          <p:cNvSpPr/>
          <p:nvPr/>
        </p:nvSpPr>
        <p:spPr>
          <a:xfrm>
            <a:off x="3319200" y="2944440"/>
            <a:ext cx="1782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TELL COPILOT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22"/>
          <p:cNvSpPr/>
          <p:nvPr/>
        </p:nvSpPr>
        <p:spPr>
          <a:xfrm>
            <a:off x="3364920" y="325512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Describe what to build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Shape 23"/>
          <p:cNvSpPr/>
          <p:nvPr/>
        </p:nvSpPr>
        <p:spPr>
          <a:xfrm>
            <a:off x="3364920" y="3649231"/>
            <a:ext cx="1691280" cy="246600"/>
          </a:xfrm>
          <a:prstGeom prst="roundRect">
            <a:avLst>
              <a:gd name="adj" fmla="val 14815"/>
            </a:avLst>
          </a:prstGeom>
          <a:solidFill>
            <a:srgbClr val="DFF6DD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24"/>
          <p:cNvSpPr/>
          <p:nvPr/>
        </p:nvSpPr>
        <p:spPr>
          <a:xfrm>
            <a:off x="3227760" y="3667231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7C10"/>
                </a:solidFill>
                <a:effectLst/>
                <a:uFillTx/>
                <a:latin typeface="Consolas"/>
                <a:ea typeface="Consolas"/>
              </a:rPr>
              <a:t>plain-language instruction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25"/>
          <p:cNvSpPr/>
          <p:nvPr/>
        </p:nvSpPr>
        <p:spPr>
          <a:xfrm>
            <a:off x="5320464" y="2766599"/>
            <a:ext cx="282960" cy="456840"/>
          </a:xfrm>
          <a:prstGeom prst="chevron">
            <a:avLst>
              <a:gd name="adj" fmla="val 50000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26"/>
          <p:cNvSpPr/>
          <p:nvPr/>
        </p:nvSpPr>
        <p:spPr>
          <a:xfrm>
            <a:off x="5632560" y="2048400"/>
            <a:ext cx="214848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27"/>
          <p:cNvSpPr/>
          <p:nvPr/>
        </p:nvSpPr>
        <p:spPr>
          <a:xfrm>
            <a:off x="5815440" y="2286000"/>
            <a:ext cx="566640" cy="56664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28"/>
          <p:cNvSpPr/>
          <p:nvPr/>
        </p:nvSpPr>
        <p:spPr>
          <a:xfrm>
            <a:off x="5897880" y="247379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29"/>
          <p:cNvSpPr/>
          <p:nvPr/>
        </p:nvSpPr>
        <p:spPr>
          <a:xfrm>
            <a:off x="5815440" y="2944440"/>
            <a:ext cx="17827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BRAINSTEM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30"/>
          <p:cNvSpPr/>
          <p:nvPr/>
        </p:nvSpPr>
        <p:spPr>
          <a:xfrm>
            <a:off x="5861160" y="325512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Copilot creates the local prototype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Shape 31"/>
          <p:cNvSpPr/>
          <p:nvPr/>
        </p:nvSpPr>
        <p:spPr>
          <a:xfrm>
            <a:off x="5861160" y="3649231"/>
            <a:ext cx="1691280" cy="246600"/>
          </a:xfrm>
          <a:prstGeom prst="roundRect">
            <a:avLst>
              <a:gd name="adj" fmla="val 14815"/>
            </a:avLst>
          </a:prstGeom>
          <a:solidFill>
            <a:srgbClr val="DCEEFF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32"/>
          <p:cNvSpPr/>
          <p:nvPr/>
        </p:nvSpPr>
        <p:spPr>
          <a:xfrm>
            <a:off x="5724000" y="3667231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078D4"/>
                </a:solidFill>
                <a:effectLst/>
                <a:uFillTx/>
                <a:latin typeface="Consolas"/>
                <a:ea typeface="Consolas"/>
              </a:rPr>
              <a:t>no coding required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33"/>
          <p:cNvSpPr/>
          <p:nvPr/>
        </p:nvSpPr>
        <p:spPr>
          <a:xfrm>
            <a:off x="7816704" y="2766599"/>
            <a:ext cx="282960" cy="456840"/>
          </a:xfrm>
          <a:prstGeom prst="chevron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34"/>
          <p:cNvSpPr/>
          <p:nvPr/>
        </p:nvSpPr>
        <p:spPr>
          <a:xfrm>
            <a:off x="8129160" y="2048400"/>
            <a:ext cx="340128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35"/>
          <p:cNvSpPr/>
          <p:nvPr/>
        </p:nvSpPr>
        <p:spPr>
          <a:xfrm>
            <a:off x="8312040" y="2286000"/>
            <a:ext cx="566640" cy="566640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36"/>
          <p:cNvSpPr/>
          <p:nvPr/>
        </p:nvSpPr>
        <p:spPr>
          <a:xfrm>
            <a:off x="8394120" y="247379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37"/>
          <p:cNvSpPr/>
          <p:nvPr/>
        </p:nvSpPr>
        <p:spPr>
          <a:xfrm>
            <a:off x="8312040" y="2944440"/>
            <a:ext cx="30355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TRY IT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38"/>
          <p:cNvSpPr/>
          <p:nvPr/>
        </p:nvSpPr>
        <p:spPr>
          <a:xfrm>
            <a:off x="8357760" y="3255120"/>
            <a:ext cx="29440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Brainstem a real request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39"/>
          <p:cNvSpPr/>
          <p:nvPr/>
        </p:nvSpPr>
        <p:spPr>
          <a:xfrm>
            <a:off x="8503920" y="3649231"/>
            <a:ext cx="2651400" cy="246600"/>
          </a:xfrm>
          <a:prstGeom prst="roundRect">
            <a:avLst>
              <a:gd name="adj" fmla="val 14815"/>
            </a:avLst>
          </a:prstGeom>
          <a:solidFill>
            <a:srgbClr val="EDE7F6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40"/>
          <p:cNvSpPr/>
          <p:nvPr/>
        </p:nvSpPr>
        <p:spPr>
          <a:xfrm>
            <a:off x="8220600" y="3667231"/>
            <a:ext cx="32184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661C5"/>
                </a:solidFill>
                <a:effectLst/>
                <a:uFillTx/>
                <a:latin typeface="Consolas"/>
                <a:ea typeface="Consolas"/>
              </a:rPr>
              <a:t>observe the result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Shape 41"/>
          <p:cNvSpPr/>
          <p:nvPr/>
        </p:nvSpPr>
        <p:spPr>
          <a:xfrm>
            <a:off x="6706800" y="3968911"/>
            <a:ext cx="360" cy="365760"/>
          </a:xfrm>
          <a:prstGeom prst="line">
            <a:avLst/>
          </a:prstGeom>
          <a:ln w="31750">
            <a:solidFill>
              <a:srgbClr val="0078D4"/>
            </a:solidFill>
            <a:prstDash val="dash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42"/>
          <p:cNvSpPr/>
          <p:nvPr/>
        </p:nvSpPr>
        <p:spPr>
          <a:xfrm rot="5400000">
            <a:off x="6583680" y="4125711"/>
            <a:ext cx="237600" cy="383760"/>
          </a:xfrm>
          <a:prstGeom prst="chevron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43"/>
          <p:cNvSpPr/>
          <p:nvPr/>
        </p:nvSpPr>
        <p:spPr>
          <a:xfrm>
            <a:off x="6858000" y="4042658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005A9E"/>
                </a:solidFill>
                <a:effectLst/>
                <a:uFillTx/>
                <a:latin typeface="Segoe UI"/>
                <a:ea typeface="Segoe UI"/>
              </a:rPr>
              <a:t>handled by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44"/>
          <p:cNvSpPr/>
          <p:nvPr/>
        </p:nvSpPr>
        <p:spPr>
          <a:xfrm>
            <a:off x="640080" y="4462200"/>
            <a:ext cx="10890000" cy="98712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2700">
            <a:solidFill>
              <a:srgbClr val="103A6B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45"/>
          <p:cNvSpPr/>
          <p:nvPr/>
        </p:nvSpPr>
        <p:spPr>
          <a:xfrm>
            <a:off x="932760" y="4817680"/>
            <a:ext cx="17370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1000" b="1" u="none" strike="noStrike" spc="99" dirty="0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COPILOT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46"/>
          <p:cNvSpPr/>
          <p:nvPr/>
        </p:nvSpPr>
        <p:spPr>
          <a:xfrm>
            <a:off x="2651760" y="4744600"/>
            <a:ext cx="188316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47"/>
          <p:cNvSpPr/>
          <p:nvPr/>
        </p:nvSpPr>
        <p:spPr>
          <a:xfrm>
            <a:off x="2715840" y="4799320"/>
            <a:ext cx="17553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>
                <a:solidFill>
                  <a:srgbClr val="103A6B"/>
                </a:solidFill>
                <a:latin typeface="Segoe UI Semibold"/>
                <a:ea typeface="Segoe UI Semibold"/>
              </a:rPr>
              <a:t>scope summary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Shape 48"/>
          <p:cNvSpPr/>
          <p:nvPr/>
        </p:nvSpPr>
        <p:spPr>
          <a:xfrm>
            <a:off x="4736520" y="4744600"/>
            <a:ext cx="188316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49"/>
          <p:cNvSpPr/>
          <p:nvPr/>
        </p:nvSpPr>
        <p:spPr>
          <a:xfrm>
            <a:off x="4800600" y="4799320"/>
            <a:ext cx="17553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local build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50"/>
          <p:cNvSpPr/>
          <p:nvPr/>
        </p:nvSpPr>
        <p:spPr>
          <a:xfrm>
            <a:off x="6821280" y="4744600"/>
            <a:ext cx="188316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51"/>
          <p:cNvSpPr/>
          <p:nvPr/>
        </p:nvSpPr>
        <p:spPr>
          <a:xfrm>
            <a:off x="6885360" y="4799320"/>
            <a:ext cx="17553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startup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52"/>
          <p:cNvSpPr/>
          <p:nvPr/>
        </p:nvSpPr>
        <p:spPr>
          <a:xfrm>
            <a:off x="8906400" y="4744600"/>
            <a:ext cx="188316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53"/>
          <p:cNvSpPr/>
          <p:nvPr/>
        </p:nvSpPr>
        <p:spPr>
          <a:xfrm>
            <a:off x="8970120" y="4799320"/>
            <a:ext cx="17553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 err="1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first test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54"/>
          <p:cNvSpPr/>
          <p:nvPr/>
        </p:nvSpPr>
        <p:spPr>
          <a:xfrm>
            <a:off x="1965960" y="554112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You supply the source and decisions; Copilot handles the technical steps.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55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56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57"/>
          <p:cNvSpPr/>
          <p:nvPr/>
        </p:nvSpPr>
        <p:spPr>
          <a:xfrm>
            <a:off x="777240" y="6034391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58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59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60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61"/>
          <p:cNvSpPr/>
          <p:nvPr/>
        </p:nvSpPr>
        <p:spPr>
          <a:xfrm>
            <a:off x="2971800" y="6034391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62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63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64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65"/>
          <p:cNvSpPr/>
          <p:nvPr/>
        </p:nvSpPr>
        <p:spPr>
          <a:xfrm>
            <a:off x="5166360" y="6034391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6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67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8661C5"/>
          </a:solidFill>
          <a:ln w="1778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68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69"/>
          <p:cNvSpPr/>
          <p:nvPr/>
        </p:nvSpPr>
        <p:spPr>
          <a:xfrm>
            <a:off x="7360920" y="6034391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70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71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72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73"/>
          <p:cNvSpPr/>
          <p:nvPr/>
        </p:nvSpPr>
        <p:spPr>
          <a:xfrm>
            <a:off x="9555480" y="6034391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74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75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11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YOU SAY IT. COPILOT + BRAINSTEM DO IT.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Your instructions vs. the local proof you see.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594360" y="1828800"/>
            <a:ext cx="5257440" cy="274284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11"/>
          <p:cNvSpPr/>
          <p:nvPr/>
        </p:nvSpPr>
        <p:spPr>
          <a:xfrm>
            <a:off x="896040" y="2103120"/>
            <a:ext cx="1782720" cy="31068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0120" y="2157840"/>
            <a:ext cx="1654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TELL COPILOT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3"/>
          <p:cNvSpPr/>
          <p:nvPr/>
        </p:nvSpPr>
        <p:spPr>
          <a:xfrm>
            <a:off x="896040" y="257868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What you say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14"/>
          <p:cNvSpPr/>
          <p:nvPr/>
        </p:nvSpPr>
        <p:spPr>
          <a:xfrm>
            <a:off x="896040" y="309060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934560" y="312687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1225440" y="3072240"/>
            <a:ext cx="39682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130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Goal  Build a local prototype for [use case].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Shape 17"/>
          <p:cNvSpPr/>
          <p:nvPr/>
        </p:nvSpPr>
        <p:spPr>
          <a:xfrm>
            <a:off x="896040" y="362088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934560" y="365715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1225440" y="3602880"/>
            <a:ext cx="39682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Scope  Use this source and ask before building.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20"/>
          <p:cNvSpPr/>
          <p:nvPr/>
        </p:nvSpPr>
        <p:spPr>
          <a:xfrm>
            <a:off x="896040" y="415152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21"/>
          <p:cNvSpPr/>
          <p:nvPr/>
        </p:nvSpPr>
        <p:spPr>
          <a:xfrm>
            <a:off x="934560" y="418743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225440" y="4133160"/>
            <a:ext cx="39682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Quality  Test a happy path and an edge case.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23"/>
          <p:cNvSpPr/>
          <p:nvPr/>
        </p:nvSpPr>
        <p:spPr>
          <a:xfrm>
            <a:off x="6327720" y="1828800"/>
            <a:ext cx="5266440" cy="2742840"/>
          </a:xfrm>
          <a:prstGeom prst="roundRect">
            <a:avLst>
              <a:gd name="adj" fmla="val 16667"/>
            </a:avLst>
          </a:prstGeom>
          <a:solidFill>
            <a:srgbClr val="EAF4FD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24"/>
          <p:cNvSpPr/>
          <p:nvPr/>
        </p:nvSpPr>
        <p:spPr>
          <a:xfrm>
            <a:off x="6629400" y="2103120"/>
            <a:ext cx="2514240" cy="31068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25"/>
          <p:cNvSpPr/>
          <p:nvPr/>
        </p:nvSpPr>
        <p:spPr>
          <a:xfrm>
            <a:off x="6693480" y="215784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BRAINSTEM PROOF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26"/>
          <p:cNvSpPr/>
          <p:nvPr/>
        </p:nvSpPr>
        <p:spPr>
          <a:xfrm>
            <a:off x="6629400" y="2578680"/>
            <a:ext cx="448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What you verify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Shape 27"/>
          <p:cNvSpPr/>
          <p:nvPr/>
        </p:nvSpPr>
        <p:spPr>
          <a:xfrm>
            <a:off x="6629400" y="309060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28"/>
          <p:cNvSpPr/>
          <p:nvPr/>
        </p:nvSpPr>
        <p:spPr>
          <a:xfrm>
            <a:off x="6667920" y="312687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29"/>
          <p:cNvSpPr/>
          <p:nvPr/>
        </p:nvSpPr>
        <p:spPr>
          <a:xfrm>
            <a:off x="6958440" y="3072240"/>
            <a:ext cx="40140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Ready  The local page opens.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30"/>
          <p:cNvSpPr/>
          <p:nvPr/>
        </p:nvSpPr>
        <p:spPr>
          <a:xfrm>
            <a:off x="6629400" y="362088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31"/>
          <p:cNvSpPr/>
          <p:nvPr/>
        </p:nvSpPr>
        <p:spPr>
          <a:xfrm>
            <a:off x="6667920" y="365715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32"/>
          <p:cNvSpPr/>
          <p:nvPr/>
        </p:nvSpPr>
        <p:spPr>
          <a:xfrm>
            <a:off x="6958440" y="3602880"/>
            <a:ext cx="40140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Useful  It handles the real scenario.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33"/>
          <p:cNvSpPr/>
          <p:nvPr/>
        </p:nvSpPr>
        <p:spPr>
          <a:xfrm>
            <a:off x="6629400" y="415152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34"/>
          <p:cNvSpPr/>
          <p:nvPr/>
        </p:nvSpPr>
        <p:spPr>
          <a:xfrm>
            <a:off x="6667920" y="4187436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35"/>
          <p:cNvSpPr/>
          <p:nvPr/>
        </p:nvSpPr>
        <p:spPr>
          <a:xfrm>
            <a:off x="6958440" y="4133160"/>
            <a:ext cx="40140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Safe  It handles unknowns honestly.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36"/>
          <p:cNvSpPr/>
          <p:nvPr/>
        </p:nvSpPr>
        <p:spPr>
          <a:xfrm>
            <a:off x="594360" y="4718160"/>
            <a:ext cx="10999800" cy="456840"/>
          </a:xfrm>
          <a:prstGeom prst="roundRect">
            <a:avLst>
              <a:gd name="adj" fmla="val 12000"/>
            </a:avLst>
          </a:prstGeom>
          <a:solidFill>
            <a:srgbClr val="EAF4FD"/>
          </a:solidFill>
          <a:ln w="17780">
            <a:solidFill>
              <a:srgbClr val="103A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37"/>
          <p:cNvSpPr/>
          <p:nvPr/>
        </p:nvSpPr>
        <p:spPr>
          <a:xfrm>
            <a:off x="822960" y="4791600"/>
            <a:ext cx="105152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15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PROOF  Tell Brainstem a real request, review the reply, then tell Copilot exactly what to improve.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38"/>
          <p:cNvSpPr/>
          <p:nvPr/>
        </p:nvSpPr>
        <p:spPr>
          <a:xfrm>
            <a:off x="640080" y="5394960"/>
            <a:ext cx="20113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PLAIN-LANGUAGE LOOP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39"/>
          <p:cNvSpPr/>
          <p:nvPr/>
        </p:nvSpPr>
        <p:spPr>
          <a:xfrm>
            <a:off x="2487240" y="5340240"/>
            <a:ext cx="178272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40"/>
          <p:cNvSpPr/>
          <p:nvPr/>
        </p:nvSpPr>
        <p:spPr>
          <a:xfrm>
            <a:off x="2551320" y="5394960"/>
            <a:ext cx="1654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no coding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41"/>
          <p:cNvSpPr/>
          <p:nvPr/>
        </p:nvSpPr>
        <p:spPr>
          <a:xfrm>
            <a:off x="4453200" y="5340240"/>
            <a:ext cx="178272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42"/>
          <p:cNvSpPr/>
          <p:nvPr/>
        </p:nvSpPr>
        <p:spPr>
          <a:xfrm>
            <a:off x="4517280" y="5394960"/>
            <a:ext cx="1654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no file work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43"/>
          <p:cNvSpPr/>
          <p:nvPr/>
        </p:nvSpPr>
        <p:spPr>
          <a:xfrm>
            <a:off x="6419160" y="5340240"/>
            <a:ext cx="1782720" cy="310680"/>
          </a:xfrm>
          <a:prstGeom prst="roundRect">
            <a:avLst>
              <a:gd name="adj" fmla="val 16667"/>
            </a:avLst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44"/>
          <p:cNvSpPr/>
          <p:nvPr/>
        </p:nvSpPr>
        <p:spPr>
          <a:xfrm>
            <a:off x="6483240" y="5394960"/>
            <a:ext cx="16545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repeatable tests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45"/>
          <p:cNvSpPr/>
          <p:nvPr/>
        </p:nvSpPr>
        <p:spPr>
          <a:xfrm>
            <a:off x="8385120" y="5340240"/>
            <a:ext cx="1965600" cy="310680"/>
          </a:xfrm>
          <a:prstGeom prst="roundRect">
            <a:avLst>
              <a:gd name="adj" fmla="val 16667"/>
            </a:avLst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46"/>
          <p:cNvSpPr/>
          <p:nvPr/>
        </p:nvSpPr>
        <p:spPr>
          <a:xfrm>
            <a:off x="8449200" y="5394960"/>
            <a:ext cx="18374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human-approved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Shape 47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Shape 48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49"/>
          <p:cNvSpPr/>
          <p:nvPr/>
        </p:nvSpPr>
        <p:spPr>
          <a:xfrm>
            <a:off x="77724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50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Shape 51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Shape 52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53"/>
          <p:cNvSpPr/>
          <p:nvPr/>
        </p:nvSpPr>
        <p:spPr>
          <a:xfrm>
            <a:off x="297180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54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55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Shape 56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57"/>
          <p:cNvSpPr/>
          <p:nvPr/>
        </p:nvSpPr>
        <p:spPr>
          <a:xfrm>
            <a:off x="516636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58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59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8661C5"/>
          </a:solidFill>
          <a:ln w="1778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60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61"/>
          <p:cNvSpPr/>
          <p:nvPr/>
        </p:nvSpPr>
        <p:spPr>
          <a:xfrm>
            <a:off x="736092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62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63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Shape 64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65"/>
          <p:cNvSpPr/>
          <p:nvPr/>
        </p:nvSpPr>
        <p:spPr>
          <a:xfrm>
            <a:off x="955548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66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67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12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5A9E"/>
          </a:solidFill>
          <a:ln w="12700">
            <a:solidFill>
              <a:srgbClr val="005A9E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STEP 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Tell Copilot to build it. Tell Brainstem to test it.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005A9E"/>
          </a:solidFill>
          <a:ln w="12700">
            <a:solidFill>
              <a:srgbClr val="005A9E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8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10"/>
          <p:cNvSpPr/>
          <p:nvPr/>
        </p:nvSpPr>
        <p:spPr>
          <a:xfrm>
            <a:off x="1134355" y="1920240"/>
            <a:ext cx="3062880" cy="290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11"/>
          <p:cNvSpPr/>
          <p:nvPr/>
        </p:nvSpPr>
        <p:spPr>
          <a:xfrm>
            <a:off x="2377795" y="2194560"/>
            <a:ext cx="566640" cy="56664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2"/>
          <p:cNvSpPr/>
          <p:nvPr/>
        </p:nvSpPr>
        <p:spPr>
          <a:xfrm>
            <a:off x="2460235" y="238235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3"/>
          <p:cNvSpPr/>
          <p:nvPr/>
        </p:nvSpPr>
        <p:spPr>
          <a:xfrm>
            <a:off x="1408675" y="2971800"/>
            <a:ext cx="2514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14"/>
          <p:cNvSpPr/>
          <p:nvPr/>
        </p:nvSpPr>
        <p:spPr>
          <a:xfrm>
            <a:off x="1454395" y="3456360"/>
            <a:ext cx="24228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Copilot: "Build the approved prototype in Brainstem and open it."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15"/>
          <p:cNvSpPr/>
          <p:nvPr/>
        </p:nvSpPr>
        <p:spPr>
          <a:xfrm>
            <a:off x="2172235" y="4224600"/>
            <a:ext cx="987120" cy="365400"/>
          </a:xfrm>
          <a:prstGeom prst="roundRect">
            <a:avLst>
              <a:gd name="adj" fmla="val 12500"/>
            </a:avLst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16"/>
          <p:cNvSpPr/>
          <p:nvPr/>
        </p:nvSpPr>
        <p:spPr>
          <a:xfrm>
            <a:off x="2172235" y="42609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79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COPILOT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Shape 17"/>
          <p:cNvSpPr/>
          <p:nvPr/>
        </p:nvSpPr>
        <p:spPr>
          <a:xfrm>
            <a:off x="4227176" y="3099960"/>
            <a:ext cx="339840" cy="54828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18"/>
          <p:cNvSpPr/>
          <p:nvPr/>
        </p:nvSpPr>
        <p:spPr>
          <a:xfrm>
            <a:off x="4563355" y="1920240"/>
            <a:ext cx="3062880" cy="290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9"/>
          <p:cNvSpPr/>
          <p:nvPr/>
        </p:nvSpPr>
        <p:spPr>
          <a:xfrm>
            <a:off x="5806795" y="2194560"/>
            <a:ext cx="566640" cy="566640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20"/>
          <p:cNvSpPr/>
          <p:nvPr/>
        </p:nvSpPr>
        <p:spPr>
          <a:xfrm>
            <a:off x="5889235" y="238235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21"/>
          <p:cNvSpPr/>
          <p:nvPr/>
        </p:nvSpPr>
        <p:spPr>
          <a:xfrm>
            <a:off x="4837675" y="2971800"/>
            <a:ext cx="2514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TRY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22"/>
          <p:cNvSpPr/>
          <p:nvPr/>
        </p:nvSpPr>
        <p:spPr>
          <a:xfrm>
            <a:off x="4883395" y="3456360"/>
            <a:ext cx="24228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Brainstem: "The lights are out on floor 4 and blocking a meeting."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23"/>
          <p:cNvSpPr/>
          <p:nvPr/>
        </p:nvSpPr>
        <p:spPr>
          <a:xfrm>
            <a:off x="5601235" y="4224600"/>
            <a:ext cx="987120" cy="365400"/>
          </a:xfrm>
          <a:prstGeom prst="roundRect">
            <a:avLst>
              <a:gd name="adj" fmla="val 12500"/>
            </a:avLst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24"/>
          <p:cNvSpPr/>
          <p:nvPr/>
        </p:nvSpPr>
        <p:spPr>
          <a:xfrm>
            <a:off x="5601235" y="42609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79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BRAINSTEM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25"/>
          <p:cNvSpPr/>
          <p:nvPr/>
        </p:nvSpPr>
        <p:spPr>
          <a:xfrm>
            <a:off x="7656176" y="3099960"/>
            <a:ext cx="339840" cy="54828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6"/>
          <p:cNvSpPr/>
          <p:nvPr/>
        </p:nvSpPr>
        <p:spPr>
          <a:xfrm>
            <a:off x="7992355" y="1920240"/>
            <a:ext cx="3062880" cy="290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27"/>
          <p:cNvSpPr/>
          <p:nvPr/>
        </p:nvSpPr>
        <p:spPr>
          <a:xfrm>
            <a:off x="9235795" y="2194560"/>
            <a:ext cx="566640" cy="56664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8"/>
          <p:cNvSpPr/>
          <p:nvPr/>
        </p:nvSpPr>
        <p:spPr>
          <a:xfrm>
            <a:off x="9318235" y="238235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29"/>
          <p:cNvSpPr/>
          <p:nvPr/>
        </p:nvSpPr>
        <p:spPr>
          <a:xfrm>
            <a:off x="8266675" y="2971800"/>
            <a:ext cx="2514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IMPROVE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30"/>
          <p:cNvSpPr/>
          <p:nvPr/>
        </p:nvSpPr>
        <p:spPr>
          <a:xfrm>
            <a:off x="8312395" y="3456360"/>
            <a:ext cx="24228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Copilot: "Improve the prototype from that result and test again."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31"/>
          <p:cNvSpPr/>
          <p:nvPr/>
        </p:nvSpPr>
        <p:spPr>
          <a:xfrm>
            <a:off x="9030235" y="4224600"/>
            <a:ext cx="987120" cy="365400"/>
          </a:xfrm>
          <a:prstGeom prst="roundRect">
            <a:avLst>
              <a:gd name="adj" fmla="val 12500"/>
            </a:avLst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32"/>
          <p:cNvSpPr/>
          <p:nvPr/>
        </p:nvSpPr>
        <p:spPr>
          <a:xfrm>
            <a:off x="9030235" y="42609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spc="79">
                <a:solidFill>
                  <a:srgbClr val="107C10"/>
                </a:solidFill>
                <a:latin typeface="Segoe UI Semibold"/>
              </a:rPr>
              <a:t>COPILOT</a:t>
            </a:r>
            <a:endParaRPr lang="en-US" sz="950" b="1" spc="79">
              <a:solidFill>
                <a:srgbClr val="107C10"/>
              </a:solidFill>
              <a:latin typeface="Segoe UI Semibold"/>
              <a:cs typeface="Segoe UI Semibold"/>
            </a:endParaRPr>
          </a:p>
        </p:txBody>
      </p:sp>
      <p:sp>
        <p:nvSpPr>
          <p:cNvPr id="738" name="Shape 33"/>
          <p:cNvSpPr/>
          <p:nvPr/>
        </p:nvSpPr>
        <p:spPr>
          <a:xfrm>
            <a:off x="640080" y="5074920"/>
            <a:ext cx="10890000" cy="54828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2700">
            <a:solidFill>
              <a:srgbClr val="103A6B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34"/>
          <p:cNvSpPr/>
          <p:nvPr/>
        </p:nvSpPr>
        <p:spPr>
          <a:xfrm>
            <a:off x="914400" y="5230440"/>
            <a:ext cx="1462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 spc="91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PLAIN LANGUAGE ONLY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35"/>
          <p:cNvSpPr/>
          <p:nvPr/>
        </p:nvSpPr>
        <p:spPr>
          <a:xfrm>
            <a:off x="2395800" y="5193720"/>
            <a:ext cx="162360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6"/>
          <p:cNvSpPr/>
          <p:nvPr/>
        </p:nvSpPr>
        <p:spPr>
          <a:xfrm>
            <a:off x="2395800" y="5193720"/>
            <a:ext cx="16236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1 Tell Copilot what to build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Shape 37"/>
          <p:cNvSpPr/>
          <p:nvPr/>
        </p:nvSpPr>
        <p:spPr>
          <a:xfrm>
            <a:off x="4165920" y="5193720"/>
            <a:ext cx="106020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8"/>
          <p:cNvSpPr/>
          <p:nvPr/>
        </p:nvSpPr>
        <p:spPr>
          <a:xfrm>
            <a:off x="4165920" y="5193720"/>
            <a:ext cx="106020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2 Approve the scope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39"/>
          <p:cNvSpPr/>
          <p:nvPr/>
        </p:nvSpPr>
        <p:spPr>
          <a:xfrm>
            <a:off x="5373000" y="5193720"/>
            <a:ext cx="194544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40"/>
          <p:cNvSpPr/>
          <p:nvPr/>
        </p:nvSpPr>
        <p:spPr>
          <a:xfrm>
            <a:off x="5373000" y="5193720"/>
            <a:ext cx="19454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3 Tell Brainstem a real scenario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41"/>
          <p:cNvSpPr/>
          <p:nvPr/>
        </p:nvSpPr>
        <p:spPr>
          <a:xfrm>
            <a:off x="7465320" y="5193720"/>
            <a:ext cx="130176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42"/>
          <p:cNvSpPr/>
          <p:nvPr/>
        </p:nvSpPr>
        <p:spPr>
          <a:xfrm>
            <a:off x="7465320" y="5193720"/>
            <a:ext cx="13017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4 Tell Copilot what to improve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43"/>
          <p:cNvSpPr/>
          <p:nvPr/>
        </p:nvSpPr>
        <p:spPr>
          <a:xfrm>
            <a:off x="8913600" y="5193720"/>
            <a:ext cx="194544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 44"/>
          <p:cNvSpPr/>
          <p:nvPr/>
        </p:nvSpPr>
        <p:spPr>
          <a:xfrm>
            <a:off x="8913600" y="5193720"/>
            <a:ext cx="19454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5 Repeat until useful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Shape 45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6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47"/>
          <p:cNvSpPr/>
          <p:nvPr/>
        </p:nvSpPr>
        <p:spPr>
          <a:xfrm>
            <a:off x="77724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48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Shape 49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50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51"/>
          <p:cNvSpPr/>
          <p:nvPr/>
        </p:nvSpPr>
        <p:spPr>
          <a:xfrm>
            <a:off x="297180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52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53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54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55"/>
          <p:cNvSpPr/>
          <p:nvPr/>
        </p:nvSpPr>
        <p:spPr>
          <a:xfrm>
            <a:off x="516636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56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Shape 57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8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59"/>
          <p:cNvSpPr/>
          <p:nvPr/>
        </p:nvSpPr>
        <p:spPr>
          <a:xfrm>
            <a:off x="736092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60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61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7780">
            <a:solidFill>
              <a:srgbClr val="103A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Shape 62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63"/>
          <p:cNvSpPr/>
          <p:nvPr/>
        </p:nvSpPr>
        <p:spPr>
          <a:xfrm>
            <a:off x="9555480" y="6030594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64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65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13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TEST + REFINE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Test the promise, not just the happy path.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Shape 10"/>
          <p:cNvSpPr/>
          <p:nvPr/>
        </p:nvSpPr>
        <p:spPr>
          <a:xfrm>
            <a:off x="594360" y="1828800"/>
            <a:ext cx="5577480" cy="35474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17"/>
          <p:cNvSpPr/>
          <p:nvPr/>
        </p:nvSpPr>
        <p:spPr>
          <a:xfrm>
            <a:off x="896040" y="234072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 spc="9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TELL BRAINSTEM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18"/>
          <p:cNvSpPr/>
          <p:nvPr/>
        </p:nvSpPr>
        <p:spPr>
          <a:xfrm>
            <a:off x="914400" y="2541960"/>
            <a:ext cx="4205880" cy="548280"/>
          </a:xfrm>
          <a:prstGeom prst="roundRect">
            <a:avLst>
              <a:gd name="adj" fmla="val 8333"/>
            </a:avLst>
          </a:prstGeom>
          <a:solidFill>
            <a:srgbClr val="DCEEFF"/>
          </a:solidFill>
          <a:ln w="12700">
            <a:solidFill>
              <a:srgbClr val="BF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19"/>
          <p:cNvSpPr/>
          <p:nvPr/>
        </p:nvSpPr>
        <p:spPr>
          <a:xfrm>
            <a:off x="1115640" y="2606040"/>
            <a:ext cx="379440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The lights are out on floor 4 near conference room 402. It is blocking a customer meeting.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20"/>
          <p:cNvSpPr/>
          <p:nvPr/>
        </p:nvSpPr>
        <p:spPr>
          <a:xfrm>
            <a:off x="1417320" y="320040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 spc="99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BRAINSTEM RESPONSE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Shape 21"/>
          <p:cNvSpPr/>
          <p:nvPr/>
        </p:nvSpPr>
        <p:spPr>
          <a:xfrm>
            <a:off x="1417320" y="3401640"/>
            <a:ext cx="4407120" cy="89568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22"/>
          <p:cNvSpPr/>
          <p:nvPr/>
        </p:nvSpPr>
        <p:spPr>
          <a:xfrm>
            <a:off x="1645920" y="3493080"/>
            <a:ext cx="393156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 can help create a facilities request. I captured: floor 4, lighting issue, high urgency, near room 402. Please confirm the building and contact preference.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23"/>
          <p:cNvSpPr/>
          <p:nvPr/>
        </p:nvSpPr>
        <p:spPr>
          <a:xfrm>
            <a:off x="914400" y="4590360"/>
            <a:ext cx="137124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24"/>
          <p:cNvSpPr/>
          <p:nvPr/>
        </p:nvSpPr>
        <p:spPr>
          <a:xfrm>
            <a:off x="978480" y="4645080"/>
            <a:ext cx="1243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HAPPY PATH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Shape 25"/>
          <p:cNvSpPr/>
          <p:nvPr/>
        </p:nvSpPr>
        <p:spPr>
          <a:xfrm>
            <a:off x="2487240" y="4590360"/>
            <a:ext cx="1279800" cy="31068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6"/>
          <p:cNvSpPr/>
          <p:nvPr/>
        </p:nvSpPr>
        <p:spPr>
          <a:xfrm>
            <a:off x="2551320" y="4645080"/>
            <a:ext cx="11516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EDGE CASE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7"/>
          <p:cNvSpPr/>
          <p:nvPr/>
        </p:nvSpPr>
        <p:spPr>
          <a:xfrm>
            <a:off x="3968640" y="4590360"/>
            <a:ext cx="1554120" cy="310680"/>
          </a:xfrm>
          <a:prstGeom prst="roundRect">
            <a:avLst>
              <a:gd name="adj" fmla="val 16667"/>
            </a:avLst>
          </a:prstGeom>
          <a:solidFill>
            <a:srgbClr val="FDE7E9"/>
          </a:solidFill>
          <a:ln w="12700">
            <a:solidFill>
              <a:srgbClr val="FDE7E9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8"/>
          <p:cNvSpPr/>
          <p:nvPr/>
        </p:nvSpPr>
        <p:spPr>
          <a:xfrm>
            <a:off x="4032360" y="4645080"/>
            <a:ext cx="14259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A4262C"/>
                </a:solidFill>
                <a:effectLst/>
                <a:uFillTx/>
                <a:latin typeface="Segoe UI Semibold"/>
                <a:ea typeface="Segoe UI Semibold"/>
              </a:rPr>
              <a:t>UNKNOWN VALUE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Shape 29"/>
          <p:cNvSpPr/>
          <p:nvPr/>
        </p:nvSpPr>
        <p:spPr>
          <a:xfrm>
            <a:off x="6565320" y="1828800"/>
            <a:ext cx="5028840" cy="354744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30"/>
          <p:cNvSpPr/>
          <p:nvPr/>
        </p:nvSpPr>
        <p:spPr>
          <a:xfrm>
            <a:off x="6885360" y="212148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spc="99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SCORE THE RESULT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Shape 31"/>
          <p:cNvSpPr/>
          <p:nvPr/>
        </p:nvSpPr>
        <p:spPr>
          <a:xfrm>
            <a:off x="10104120" y="2066400"/>
            <a:ext cx="1234080" cy="566640"/>
          </a:xfrm>
          <a:prstGeom prst="roundRect">
            <a:avLst>
              <a:gd name="adj" fmla="val 11290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32"/>
          <p:cNvSpPr/>
          <p:nvPr/>
        </p:nvSpPr>
        <p:spPr>
          <a:xfrm>
            <a:off x="10104120" y="2103120"/>
            <a:ext cx="123408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r>
              <a:rPr lang="en-US" sz="1300" b="1" u="none" strike="noStrike">
                <a:solidFill>
                  <a:srgbClr val="FFE0CC"/>
                </a:solidFill>
                <a:effectLst/>
                <a:uFillTx/>
                <a:latin typeface="Segoe UI Semibold"/>
                <a:ea typeface="Segoe UI Semibold"/>
              </a:rPr>
              <a:t> /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Shape 33"/>
          <p:cNvSpPr/>
          <p:nvPr/>
        </p:nvSpPr>
        <p:spPr>
          <a:xfrm>
            <a:off x="6885360" y="2816280"/>
            <a:ext cx="237240" cy="23724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 34"/>
          <p:cNvSpPr/>
          <p:nvPr/>
        </p:nvSpPr>
        <p:spPr>
          <a:xfrm>
            <a:off x="6885360" y="2816280"/>
            <a:ext cx="23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35"/>
          <p:cNvSpPr/>
          <p:nvPr/>
        </p:nvSpPr>
        <p:spPr>
          <a:xfrm>
            <a:off x="7242120" y="279792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Understands the request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36"/>
          <p:cNvSpPr/>
          <p:nvPr/>
        </p:nvSpPr>
        <p:spPr>
          <a:xfrm>
            <a:off x="6885360" y="3218760"/>
            <a:ext cx="237240" cy="23724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37"/>
          <p:cNvSpPr/>
          <p:nvPr/>
        </p:nvSpPr>
        <p:spPr>
          <a:xfrm>
            <a:off x="6885360" y="3218760"/>
            <a:ext cx="23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Text 38"/>
          <p:cNvSpPr/>
          <p:nvPr/>
        </p:nvSpPr>
        <p:spPr>
          <a:xfrm>
            <a:off x="7242120" y="320040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Asks only necessary questions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Shape 39"/>
          <p:cNvSpPr/>
          <p:nvPr/>
        </p:nvSpPr>
        <p:spPr>
          <a:xfrm>
            <a:off x="6885360" y="3620880"/>
            <a:ext cx="237240" cy="23724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40"/>
          <p:cNvSpPr/>
          <p:nvPr/>
        </p:nvSpPr>
        <p:spPr>
          <a:xfrm>
            <a:off x="6885360" y="3620880"/>
            <a:ext cx="23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41"/>
          <p:cNvSpPr/>
          <p:nvPr/>
        </p:nvSpPr>
        <p:spPr>
          <a:xfrm>
            <a:off x="7242120" y="360288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Uses approved evidence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Shape 42"/>
          <p:cNvSpPr/>
          <p:nvPr/>
        </p:nvSpPr>
        <p:spPr>
          <a:xfrm>
            <a:off x="6885360" y="4023360"/>
            <a:ext cx="237240" cy="23724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A4262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43"/>
          <p:cNvSpPr/>
          <p:nvPr/>
        </p:nvSpPr>
        <p:spPr>
          <a:xfrm>
            <a:off x="7242120" y="400500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A4262C"/>
                </a:solidFill>
                <a:effectLst/>
                <a:uFillTx/>
                <a:latin typeface="Segoe UI"/>
                <a:ea typeface="Segoe UI"/>
              </a:rPr>
              <a:t>Handles unknowns honestly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44"/>
          <p:cNvSpPr/>
          <p:nvPr/>
        </p:nvSpPr>
        <p:spPr>
          <a:xfrm>
            <a:off x="6885360" y="4425840"/>
            <a:ext cx="237240" cy="23724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45"/>
          <p:cNvSpPr/>
          <p:nvPr/>
        </p:nvSpPr>
        <p:spPr>
          <a:xfrm>
            <a:off x="6885360" y="4425840"/>
            <a:ext cx="237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 46"/>
          <p:cNvSpPr/>
          <p:nvPr/>
        </p:nvSpPr>
        <p:spPr>
          <a:xfrm>
            <a:off x="7242120" y="440748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Produces the promised artifact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Shape 47"/>
          <p:cNvSpPr/>
          <p:nvPr/>
        </p:nvSpPr>
        <p:spPr>
          <a:xfrm>
            <a:off x="594360" y="5541120"/>
            <a:ext cx="10999800" cy="603000"/>
          </a:xfrm>
          <a:prstGeom prst="roundRect">
            <a:avLst>
              <a:gd name="adj" fmla="val 10606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48"/>
          <p:cNvSpPr/>
          <p:nvPr/>
        </p:nvSpPr>
        <p:spPr>
          <a:xfrm>
            <a:off x="868680" y="5541120"/>
            <a:ext cx="137124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 spc="60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IMPROVE LOOP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49"/>
          <p:cNvSpPr/>
          <p:nvPr/>
        </p:nvSpPr>
        <p:spPr>
          <a:xfrm>
            <a:off x="2331720" y="5660280"/>
            <a:ext cx="1572480" cy="365400"/>
          </a:xfrm>
          <a:prstGeom prst="roundRect">
            <a:avLst>
              <a:gd name="adj" fmla="val 15000"/>
            </a:avLst>
          </a:prstGeom>
          <a:solidFill>
            <a:srgbClr val="16406E"/>
          </a:solidFill>
          <a:ln w="1270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50"/>
          <p:cNvSpPr/>
          <p:nvPr/>
        </p:nvSpPr>
        <p:spPr>
          <a:xfrm>
            <a:off x="2331720" y="5660280"/>
            <a:ext cx="15724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TELL COPILOT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Shape 51"/>
          <p:cNvSpPr/>
          <p:nvPr/>
        </p:nvSpPr>
        <p:spPr>
          <a:xfrm>
            <a:off x="3994710" y="5696640"/>
            <a:ext cx="181080" cy="2923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52"/>
          <p:cNvSpPr/>
          <p:nvPr/>
        </p:nvSpPr>
        <p:spPr>
          <a:xfrm>
            <a:off x="4288680" y="5660280"/>
            <a:ext cx="646920" cy="365400"/>
          </a:xfrm>
          <a:prstGeom prst="roundRect">
            <a:avLst>
              <a:gd name="adj" fmla="val 15000"/>
            </a:avLst>
          </a:prstGeom>
          <a:solidFill>
            <a:srgbClr val="16406E"/>
          </a:solidFill>
          <a:ln w="1270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53"/>
          <p:cNvSpPr/>
          <p:nvPr/>
        </p:nvSpPr>
        <p:spPr>
          <a:xfrm>
            <a:off x="4288680" y="5660280"/>
            <a:ext cx="6469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TRY AGAIN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Shape 54"/>
          <p:cNvSpPr/>
          <p:nvPr/>
        </p:nvSpPr>
        <p:spPr>
          <a:xfrm>
            <a:off x="5026470" y="5696640"/>
            <a:ext cx="181080" cy="2923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Shape 55"/>
          <p:cNvSpPr/>
          <p:nvPr/>
        </p:nvSpPr>
        <p:spPr>
          <a:xfrm>
            <a:off x="5320080" y="5660280"/>
            <a:ext cx="815400" cy="365400"/>
          </a:xfrm>
          <a:prstGeom prst="roundRect">
            <a:avLst>
              <a:gd name="adj" fmla="val 15000"/>
            </a:avLst>
          </a:prstGeom>
          <a:solidFill>
            <a:srgbClr val="16406E"/>
          </a:solidFill>
          <a:ln w="12700">
            <a:solidFill>
              <a:srgbClr val="50E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Text 56"/>
          <p:cNvSpPr/>
          <p:nvPr/>
        </p:nvSpPr>
        <p:spPr>
          <a:xfrm>
            <a:off x="5320080" y="5660280"/>
            <a:ext cx="8154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CONFIRM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Shape 57"/>
          <p:cNvSpPr/>
          <p:nvPr/>
        </p:nvSpPr>
        <p:spPr>
          <a:xfrm rot="10800000">
            <a:off x="6245640" y="5706360"/>
            <a:ext cx="273960" cy="27396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 58"/>
          <p:cNvSpPr/>
          <p:nvPr/>
        </p:nvSpPr>
        <p:spPr>
          <a:xfrm>
            <a:off x="6592680" y="566028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50E6FF"/>
                </a:solidFill>
                <a:effectLst/>
                <a:uFillTx/>
                <a:latin typeface="Segoe UI"/>
                <a:ea typeface="Segoe UI"/>
              </a:rPr>
              <a:t>repeat until useful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59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14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A4262C"/>
          </a:solidFill>
          <a:ln w="12700">
            <a:solidFill>
              <a:srgbClr val="A4262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A4262C"/>
                </a:solidFill>
                <a:effectLst/>
                <a:uFillTx/>
                <a:latin typeface="Segoe UI Semibold"/>
                <a:ea typeface="Segoe UI Semibold"/>
              </a:rPr>
              <a:t>RESPONSIBLE PROTOTYPING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Permission. Proof. Production.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Shape 8"/>
          <p:cNvSpPr/>
          <p:nvPr/>
        </p:nvSpPr>
        <p:spPr>
          <a:xfrm>
            <a:off x="1000790" y="1874520"/>
            <a:ext cx="3062880" cy="3245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9"/>
          <p:cNvSpPr/>
          <p:nvPr/>
        </p:nvSpPr>
        <p:spPr>
          <a:xfrm>
            <a:off x="1000790" y="1815905"/>
            <a:ext cx="3062880" cy="954295"/>
          </a:xfrm>
          <a:prstGeom prst="roundRect">
            <a:avLst>
              <a:gd name="adj" fmla="val 6122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Shape 10"/>
          <p:cNvSpPr/>
          <p:nvPr/>
        </p:nvSpPr>
        <p:spPr>
          <a:xfrm>
            <a:off x="1000790" y="2331720"/>
            <a:ext cx="3062880" cy="4384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11"/>
          <p:cNvSpPr/>
          <p:nvPr/>
        </p:nvSpPr>
        <p:spPr>
          <a:xfrm>
            <a:off x="1202030" y="1956960"/>
            <a:ext cx="8683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01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12"/>
          <p:cNvSpPr/>
          <p:nvPr/>
        </p:nvSpPr>
        <p:spPr>
          <a:xfrm>
            <a:off x="2052350" y="20847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PERMISSION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 13"/>
          <p:cNvSpPr/>
          <p:nvPr/>
        </p:nvSpPr>
        <p:spPr>
          <a:xfrm>
            <a:off x="2052350" y="2395800"/>
            <a:ext cx="18741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 spc="79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BEFORE YOU AUTHOR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Shape 14"/>
          <p:cNvSpPr/>
          <p:nvPr/>
        </p:nvSpPr>
        <p:spPr>
          <a:xfrm>
            <a:off x="1275110" y="3054240"/>
            <a:ext cx="145800" cy="1458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15"/>
          <p:cNvSpPr/>
          <p:nvPr/>
        </p:nvSpPr>
        <p:spPr>
          <a:xfrm>
            <a:off x="1531070" y="296280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Use only content you may process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Shape 16"/>
          <p:cNvSpPr/>
          <p:nvPr/>
        </p:nvSpPr>
        <p:spPr>
          <a:xfrm>
            <a:off x="1275110" y="3602880"/>
            <a:ext cx="145800" cy="1458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 17"/>
          <p:cNvSpPr/>
          <p:nvPr/>
        </p:nvSpPr>
        <p:spPr>
          <a:xfrm>
            <a:off x="1531070" y="351144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Remove sensitive or PII data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Shape 18"/>
          <p:cNvSpPr/>
          <p:nvPr/>
        </p:nvSpPr>
        <p:spPr>
          <a:xfrm>
            <a:off x="1275110" y="4151520"/>
            <a:ext cx="145800" cy="1458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19"/>
          <p:cNvSpPr/>
          <p:nvPr/>
        </p:nvSpPr>
        <p:spPr>
          <a:xfrm>
            <a:off x="1531070" y="4060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Keep sample records synthetic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Shape 20"/>
          <p:cNvSpPr/>
          <p:nvPr/>
        </p:nvSpPr>
        <p:spPr>
          <a:xfrm>
            <a:off x="4103438" y="3237120"/>
            <a:ext cx="317160" cy="51156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21"/>
          <p:cNvSpPr/>
          <p:nvPr/>
        </p:nvSpPr>
        <p:spPr>
          <a:xfrm>
            <a:off x="4429790" y="1874520"/>
            <a:ext cx="3062880" cy="3245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Shape 22"/>
          <p:cNvSpPr/>
          <p:nvPr/>
        </p:nvSpPr>
        <p:spPr>
          <a:xfrm>
            <a:off x="4429790" y="1815905"/>
            <a:ext cx="3062880" cy="954295"/>
          </a:xfrm>
          <a:prstGeom prst="roundRect">
            <a:avLst>
              <a:gd name="adj" fmla="val 6122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4" name="Shape 23"/>
          <p:cNvSpPr/>
          <p:nvPr/>
        </p:nvSpPr>
        <p:spPr>
          <a:xfrm>
            <a:off x="4429790" y="2331720"/>
            <a:ext cx="3062880" cy="4384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4"/>
          <p:cNvSpPr/>
          <p:nvPr/>
        </p:nvSpPr>
        <p:spPr>
          <a:xfrm>
            <a:off x="4631030" y="1956960"/>
            <a:ext cx="8683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02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Text 25"/>
          <p:cNvSpPr/>
          <p:nvPr/>
        </p:nvSpPr>
        <p:spPr>
          <a:xfrm>
            <a:off x="5481350" y="20847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PROOF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26"/>
          <p:cNvSpPr/>
          <p:nvPr/>
        </p:nvSpPr>
        <p:spPr>
          <a:xfrm>
            <a:off x="5481350" y="2395800"/>
            <a:ext cx="18741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 spc="79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BEFORE YOU TRUST 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Shape 27"/>
          <p:cNvSpPr/>
          <p:nvPr/>
        </p:nvSpPr>
        <p:spPr>
          <a:xfrm>
            <a:off x="4704110" y="3054240"/>
            <a:ext cx="145800" cy="1458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8"/>
          <p:cNvSpPr/>
          <p:nvPr/>
        </p:nvSpPr>
        <p:spPr>
          <a:xfrm>
            <a:off x="4960070" y="296280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Check the scope matches the source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Shape 29"/>
          <p:cNvSpPr/>
          <p:nvPr/>
        </p:nvSpPr>
        <p:spPr>
          <a:xfrm>
            <a:off x="4704110" y="3602880"/>
            <a:ext cx="145800" cy="1458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30"/>
          <p:cNvSpPr/>
          <p:nvPr/>
        </p:nvSpPr>
        <p:spPr>
          <a:xfrm>
            <a:off x="4960070" y="351144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Test happy path, edge, and unknown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31"/>
          <p:cNvSpPr/>
          <p:nvPr/>
        </p:nvSpPr>
        <p:spPr>
          <a:xfrm>
            <a:off x="4704110" y="4151520"/>
            <a:ext cx="145800" cy="1458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32"/>
          <p:cNvSpPr/>
          <p:nvPr/>
        </p:nvSpPr>
        <p:spPr>
          <a:xfrm>
            <a:off x="4960070" y="4060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Confirm answers with a reviewer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Shape 33"/>
          <p:cNvSpPr/>
          <p:nvPr/>
        </p:nvSpPr>
        <p:spPr>
          <a:xfrm>
            <a:off x="7532438" y="3237120"/>
            <a:ext cx="317160" cy="51156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34"/>
          <p:cNvSpPr/>
          <p:nvPr/>
        </p:nvSpPr>
        <p:spPr>
          <a:xfrm>
            <a:off x="7858790" y="1874520"/>
            <a:ext cx="3062880" cy="3245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35"/>
          <p:cNvSpPr/>
          <p:nvPr/>
        </p:nvSpPr>
        <p:spPr>
          <a:xfrm>
            <a:off x="7858790" y="1815905"/>
            <a:ext cx="3062880" cy="954295"/>
          </a:xfrm>
          <a:prstGeom prst="roundRect">
            <a:avLst>
              <a:gd name="adj" fmla="val 6122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Shape 36"/>
          <p:cNvSpPr/>
          <p:nvPr/>
        </p:nvSpPr>
        <p:spPr>
          <a:xfrm>
            <a:off x="7858790" y="2331720"/>
            <a:ext cx="3062880" cy="4384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 37"/>
          <p:cNvSpPr/>
          <p:nvPr/>
        </p:nvSpPr>
        <p:spPr>
          <a:xfrm>
            <a:off x="8060030" y="1956960"/>
            <a:ext cx="8683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03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38"/>
          <p:cNvSpPr/>
          <p:nvPr/>
        </p:nvSpPr>
        <p:spPr>
          <a:xfrm>
            <a:off x="8910350" y="20847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PRODUCTION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39"/>
          <p:cNvSpPr/>
          <p:nvPr/>
        </p:nvSpPr>
        <p:spPr>
          <a:xfrm>
            <a:off x="8910350" y="2395800"/>
            <a:ext cx="18741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 spc="79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BEFORE IT SHIPS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Shape 40"/>
          <p:cNvSpPr/>
          <p:nvPr/>
        </p:nvSpPr>
        <p:spPr>
          <a:xfrm>
            <a:off x="8133110" y="3054240"/>
            <a:ext cx="145800" cy="14580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41"/>
          <p:cNvSpPr/>
          <p:nvPr/>
        </p:nvSpPr>
        <p:spPr>
          <a:xfrm>
            <a:off x="8389070" y="296280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 local prototype is not production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42"/>
          <p:cNvSpPr/>
          <p:nvPr/>
        </p:nvSpPr>
        <p:spPr>
          <a:xfrm>
            <a:off x="8133110" y="3602880"/>
            <a:ext cx="145800" cy="14580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 43"/>
          <p:cNvSpPr/>
          <p:nvPr/>
        </p:nvSpPr>
        <p:spPr>
          <a:xfrm>
            <a:off x="8389070" y="351144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Add auth, data, and review to promote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Shape 44"/>
          <p:cNvSpPr/>
          <p:nvPr/>
        </p:nvSpPr>
        <p:spPr>
          <a:xfrm>
            <a:off x="8133110" y="4151520"/>
            <a:ext cx="145800" cy="14580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45"/>
          <p:cNvSpPr/>
          <p:nvPr/>
        </p:nvSpPr>
        <p:spPr>
          <a:xfrm>
            <a:off x="8389070" y="4060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Promote deliberately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46"/>
          <p:cNvSpPr/>
          <p:nvPr/>
        </p:nvSpPr>
        <p:spPr>
          <a:xfrm>
            <a:off x="640080" y="5468040"/>
            <a:ext cx="10835280" cy="566640"/>
          </a:xfrm>
          <a:prstGeom prst="roundRect">
            <a:avLst>
              <a:gd name="adj" fmla="val 11290"/>
            </a:avLst>
          </a:prstGeom>
          <a:solidFill>
            <a:srgbClr val="FDE7E9"/>
          </a:solidFill>
          <a:ln w="20320">
            <a:solidFill>
              <a:srgbClr val="A4262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Shape 47"/>
          <p:cNvSpPr/>
          <p:nvPr/>
        </p:nvSpPr>
        <p:spPr>
          <a:xfrm>
            <a:off x="914400" y="5596200"/>
            <a:ext cx="310680" cy="310680"/>
          </a:xfrm>
          <a:prstGeom prst="ellipse">
            <a:avLst/>
          </a:prstGeom>
          <a:solidFill>
            <a:srgbClr val="A4262C"/>
          </a:solidFill>
          <a:ln w="12700">
            <a:solidFill>
              <a:srgbClr val="A4262C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48"/>
          <p:cNvSpPr/>
          <p:nvPr/>
        </p:nvSpPr>
        <p:spPr>
          <a:xfrm>
            <a:off x="914400" y="5605200"/>
            <a:ext cx="3106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49"/>
          <p:cNvSpPr/>
          <p:nvPr/>
        </p:nvSpPr>
        <p:spPr>
          <a:xfrm>
            <a:off x="1371600" y="5468040"/>
            <a:ext cx="987516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4262C"/>
                </a:solidFill>
                <a:effectLst/>
                <a:uFillTx/>
                <a:latin typeface="Segoe UI Semibold"/>
                <a:ea typeface="Segoe UI Semibold"/>
              </a:rPr>
              <a:t>AI-generated content may be wrong. A local prototype is not production — human review is a required RAPP step.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50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15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TEACH-BACK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If you can explain it, you can run it.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2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Shape 10"/>
          <p:cNvSpPr/>
          <p:nvPr/>
        </p:nvSpPr>
        <p:spPr>
          <a:xfrm>
            <a:off x="711591" y="1965960"/>
            <a:ext cx="2395440" cy="248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11"/>
          <p:cNvSpPr/>
          <p:nvPr/>
        </p:nvSpPr>
        <p:spPr>
          <a:xfrm>
            <a:off x="1525551" y="2212920"/>
            <a:ext cx="767880" cy="76788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Text 12"/>
          <p:cNvSpPr/>
          <p:nvPr/>
        </p:nvSpPr>
        <p:spPr>
          <a:xfrm>
            <a:off x="1525551" y="2432160"/>
            <a:ext cx="7678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30s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Text 13"/>
          <p:cNvSpPr/>
          <p:nvPr/>
        </p:nvSpPr>
        <p:spPr>
          <a:xfrm>
            <a:off x="894471" y="3163680"/>
            <a:ext cx="2029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NAME THE 5 STEPS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 14"/>
          <p:cNvSpPr/>
          <p:nvPr/>
        </p:nvSpPr>
        <p:spPr>
          <a:xfrm>
            <a:off x="940191" y="3493080"/>
            <a:ext cx="1938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Sign in · Start · Build · Test · Share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Shape 15"/>
          <p:cNvSpPr/>
          <p:nvPr/>
        </p:nvSpPr>
        <p:spPr>
          <a:xfrm>
            <a:off x="1525551" y="4114800"/>
            <a:ext cx="767880" cy="237240"/>
          </a:xfrm>
          <a:prstGeom prst="roundRect">
            <a:avLst>
              <a:gd name="adj" fmla="val 15385"/>
            </a:avLst>
          </a:prstGeom>
          <a:solidFill>
            <a:srgbClr val="DCEEFF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Text 16"/>
          <p:cNvSpPr/>
          <p:nvPr/>
        </p:nvSpPr>
        <p:spPr>
          <a:xfrm>
            <a:off x="1525551" y="4123800"/>
            <a:ext cx="767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30 sec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Shape 17"/>
          <p:cNvSpPr/>
          <p:nvPr/>
        </p:nvSpPr>
        <p:spPr>
          <a:xfrm>
            <a:off x="3153111" y="2982558"/>
            <a:ext cx="282960" cy="45684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Shape 18"/>
          <p:cNvSpPr/>
          <p:nvPr/>
        </p:nvSpPr>
        <p:spPr>
          <a:xfrm>
            <a:off x="3491511" y="1965960"/>
            <a:ext cx="2395440" cy="248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Shape 19"/>
          <p:cNvSpPr/>
          <p:nvPr/>
        </p:nvSpPr>
        <p:spPr>
          <a:xfrm>
            <a:off x="4305111" y="2212920"/>
            <a:ext cx="767880" cy="76788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20"/>
          <p:cNvSpPr/>
          <p:nvPr/>
        </p:nvSpPr>
        <p:spPr>
          <a:xfrm>
            <a:off x="4305111" y="2432160"/>
            <a:ext cx="7678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30s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21"/>
          <p:cNvSpPr/>
          <p:nvPr/>
        </p:nvSpPr>
        <p:spPr>
          <a:xfrm>
            <a:off x="3674391" y="3163680"/>
            <a:ext cx="2029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SHOW ONE ARTIFACT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2"/>
          <p:cNvSpPr/>
          <p:nvPr/>
        </p:nvSpPr>
        <p:spPr>
          <a:xfrm>
            <a:off x="3720111" y="3493080"/>
            <a:ext cx="1938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Your Brainstem result, or Copilot's test summary.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Shape 23"/>
          <p:cNvSpPr/>
          <p:nvPr/>
        </p:nvSpPr>
        <p:spPr>
          <a:xfrm>
            <a:off x="4305111" y="4114800"/>
            <a:ext cx="767880" cy="237240"/>
          </a:xfrm>
          <a:prstGeom prst="roundRect">
            <a:avLst>
              <a:gd name="adj" fmla="val 15385"/>
            </a:avLst>
          </a:prstGeom>
          <a:solidFill>
            <a:srgbClr val="F9E3DB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 24"/>
          <p:cNvSpPr/>
          <p:nvPr/>
        </p:nvSpPr>
        <p:spPr>
          <a:xfrm>
            <a:off x="4305111" y="4123800"/>
            <a:ext cx="767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30 sec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Shape 25"/>
          <p:cNvSpPr/>
          <p:nvPr/>
        </p:nvSpPr>
        <p:spPr>
          <a:xfrm>
            <a:off x="5932671" y="2982558"/>
            <a:ext cx="282960" cy="45684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Shape 26"/>
          <p:cNvSpPr/>
          <p:nvPr/>
        </p:nvSpPr>
        <p:spPr>
          <a:xfrm>
            <a:off x="6271071" y="1965960"/>
            <a:ext cx="2395440" cy="248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Shape 27"/>
          <p:cNvSpPr/>
          <p:nvPr/>
        </p:nvSpPr>
        <p:spPr>
          <a:xfrm>
            <a:off x="7085031" y="2212920"/>
            <a:ext cx="767880" cy="76788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28"/>
          <p:cNvSpPr/>
          <p:nvPr/>
        </p:nvSpPr>
        <p:spPr>
          <a:xfrm>
            <a:off x="7085031" y="2432160"/>
            <a:ext cx="76788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30s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29"/>
          <p:cNvSpPr/>
          <p:nvPr/>
        </p:nvSpPr>
        <p:spPr>
          <a:xfrm>
            <a:off x="6453951" y="3163680"/>
            <a:ext cx="2029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NAME NEXT CHANGE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30"/>
          <p:cNvSpPr/>
          <p:nvPr/>
        </p:nvSpPr>
        <p:spPr>
          <a:xfrm>
            <a:off x="6499671" y="3493080"/>
            <a:ext cx="1938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What would you improve before a customer pilot?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Shape 31"/>
          <p:cNvSpPr/>
          <p:nvPr/>
        </p:nvSpPr>
        <p:spPr>
          <a:xfrm>
            <a:off x="7085031" y="4114800"/>
            <a:ext cx="767880" cy="237240"/>
          </a:xfrm>
          <a:prstGeom prst="roundRect">
            <a:avLst>
              <a:gd name="adj" fmla="val 15385"/>
            </a:avLst>
          </a:prstGeom>
          <a:solidFill>
            <a:srgbClr val="DFF6DD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32"/>
          <p:cNvSpPr/>
          <p:nvPr/>
        </p:nvSpPr>
        <p:spPr>
          <a:xfrm>
            <a:off x="7085031" y="4123800"/>
            <a:ext cx="767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30 sec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Shape 33"/>
          <p:cNvSpPr/>
          <p:nvPr/>
        </p:nvSpPr>
        <p:spPr>
          <a:xfrm>
            <a:off x="8712591" y="2982558"/>
            <a:ext cx="282960" cy="45684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Shape 34"/>
          <p:cNvSpPr/>
          <p:nvPr/>
        </p:nvSpPr>
        <p:spPr>
          <a:xfrm>
            <a:off x="9050991" y="1965960"/>
            <a:ext cx="2395440" cy="248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Shape 35"/>
          <p:cNvSpPr/>
          <p:nvPr/>
        </p:nvSpPr>
        <p:spPr>
          <a:xfrm>
            <a:off x="9864591" y="2212920"/>
            <a:ext cx="767880" cy="767880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Shape 36"/>
          <p:cNvSpPr/>
          <p:nvPr/>
        </p:nvSpPr>
        <p:spPr>
          <a:xfrm rot="10800000">
            <a:off x="10029831" y="2432880"/>
            <a:ext cx="182520" cy="164160"/>
          </a:xfrm>
          <a:prstGeom prst="chevron">
            <a:avLst>
              <a:gd name="adj" fmla="val 50000"/>
            </a:avLst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Shape 37"/>
          <p:cNvSpPr/>
          <p:nvPr/>
        </p:nvSpPr>
        <p:spPr>
          <a:xfrm>
            <a:off x="10285431" y="2651760"/>
            <a:ext cx="182520" cy="164160"/>
          </a:xfrm>
          <a:prstGeom prst="chevron">
            <a:avLst>
              <a:gd name="adj" fmla="val 50000"/>
            </a:avLst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38"/>
          <p:cNvSpPr/>
          <p:nvPr/>
        </p:nvSpPr>
        <p:spPr>
          <a:xfrm>
            <a:off x="9233871" y="3163680"/>
            <a:ext cx="2029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SWITCH ROLES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39"/>
          <p:cNvSpPr/>
          <p:nvPr/>
        </p:nvSpPr>
        <p:spPr>
          <a:xfrm>
            <a:off x="9279591" y="3493080"/>
            <a:ext cx="193824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Trade driver and explainer, then repeat.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Shape 40"/>
          <p:cNvSpPr/>
          <p:nvPr/>
        </p:nvSpPr>
        <p:spPr>
          <a:xfrm>
            <a:off x="9864591" y="4114800"/>
            <a:ext cx="767880" cy="237240"/>
          </a:xfrm>
          <a:prstGeom prst="roundRect">
            <a:avLst>
              <a:gd name="adj" fmla="val 15385"/>
            </a:avLst>
          </a:prstGeom>
          <a:solidFill>
            <a:srgbClr val="EDE7F6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41"/>
          <p:cNvSpPr/>
          <p:nvPr/>
        </p:nvSpPr>
        <p:spPr>
          <a:xfrm>
            <a:off x="9864591" y="4123800"/>
            <a:ext cx="7678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30 sec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Shape 42"/>
          <p:cNvSpPr/>
          <p:nvPr/>
        </p:nvSpPr>
        <p:spPr>
          <a:xfrm>
            <a:off x="594360" y="4791600"/>
            <a:ext cx="10999800" cy="78588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2700">
            <a:solidFill>
              <a:srgbClr val="103A6B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43"/>
          <p:cNvSpPr/>
          <p:nvPr/>
        </p:nvSpPr>
        <p:spPr>
          <a:xfrm>
            <a:off x="914400" y="4791600"/>
            <a:ext cx="10378080" cy="78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2 MIN TOTAL = 4 x 30 sec - DONE = Brainstem open + prototype built + tested + owned next step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 4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16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7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8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731520" y="1170360"/>
            <a:ext cx="310680" cy="7272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6"/>
          <p:cNvSpPr/>
          <p:nvPr/>
        </p:nvSpPr>
        <p:spPr>
          <a:xfrm>
            <a:off x="1134000" y="106056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159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CLOSE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713160" y="1371600"/>
            <a:ext cx="6674760" cy="1371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Source in.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Running local agent out.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731520" y="2797920"/>
            <a:ext cx="6583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FE6FF"/>
                </a:solidFill>
                <a:effectLst/>
                <a:uFillTx/>
                <a:latin typeface="Segoe UI Semibold"/>
                <a:ea typeface="Segoe UI Semibold"/>
              </a:rPr>
              <a:t>Quick to learn. Quick to teach. Quick to start. Quick to share.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Shape 9"/>
          <p:cNvSpPr/>
          <p:nvPr/>
        </p:nvSpPr>
        <p:spPr>
          <a:xfrm>
            <a:off x="727012" y="3145680"/>
            <a:ext cx="6639409" cy="548280"/>
          </a:xfrm>
          <a:prstGeom prst="roundRect">
            <a:avLst>
              <a:gd name="adj" fmla="val 11667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722503" y="3150188"/>
            <a:ext cx="4339883" cy="5437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2A4A"/>
                </a:solidFill>
                <a:effectLst/>
                <a:uFillTx/>
                <a:latin typeface="Segoe UI Semibold"/>
                <a:ea typeface="Segoe UI Semibold"/>
              </a:rPr>
              <a:t>START YOUR RAPP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4198935" y="3294472"/>
            <a:ext cx="3166133" cy="39948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u="sng">
                <a:solidFill>
                  <a:srgbClr val="005A9E"/>
                </a:solidFill>
                <a:latin typeface="Aptos"/>
                <a:hlinkClick r:id="rId6"/>
                <a:ea typeface="Aptos"/>
                <a:cs typeface="Aptos"/>
              </a:rPr>
              <a:t>aka.ms/rappinstall</a:t>
            </a:r>
            <a:endParaRPr lang="en-US" sz="950">
              <a:latin typeface="Arial"/>
              <a:cs typeface="Arial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731520" y="3785760"/>
            <a:ext cx="6656400" cy="1060200"/>
          </a:xfrm>
          <a:prstGeom prst="roundRect">
            <a:avLst>
              <a:gd name="adj" fmla="val 6897"/>
            </a:avLst>
          </a:prstGeom>
          <a:solidFill>
            <a:srgbClr val="0B2A4A">
              <a:alpha val="82000"/>
            </a:srgbClr>
          </a:solidFill>
          <a:ln w="16510">
            <a:solidFill>
              <a:srgbClr val="F5B84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13"/>
          <p:cNvSpPr/>
          <p:nvPr/>
        </p:nvSpPr>
        <p:spPr>
          <a:xfrm>
            <a:off x="932760" y="3877200"/>
            <a:ext cx="6309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79">
                <a:solidFill>
                  <a:srgbClr val="F5B841"/>
                </a:solidFill>
                <a:effectLst/>
                <a:uFillTx/>
                <a:latin typeface="Segoe UI Semibold"/>
                <a:ea typeface="Segoe UI Semibold"/>
              </a:rPr>
              <a:t>OPTIONAL EXTENSION  ·  FACILITATOR-LED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932760" y="4139514"/>
            <a:ext cx="634572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EEFF"/>
                </a:solidFill>
                <a:effectLst/>
                <a:uFillTx/>
                <a:latin typeface="Segoe UI"/>
                <a:ea typeface="Segoe UI"/>
              </a:rPr>
              <a:t>The facilitator tells Copilot to package the workshop prototype. With connected Copilot Studio rights, Copilot can deploy it; without rights, it creates a local M365-style demo and an exportable ZIP for later import.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932760" y="4608720"/>
            <a:ext cx="634572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0" i="1" u="none" strike="noStrike">
                <a:solidFill>
                  <a:srgbClr val="F5B841"/>
                </a:solidFill>
                <a:effectLst/>
                <a:uFillTx/>
                <a:latin typeface="Segoe UI Semibold"/>
                <a:ea typeface="Segoe UI Semibold"/>
              </a:rPr>
              <a:t>Participants do not need Copilot Studio access. Direct deployment requires separate license, environment, and maker/deployment rights.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16"/>
          <p:cNvSpPr/>
          <p:nvPr/>
        </p:nvSpPr>
        <p:spPr>
          <a:xfrm>
            <a:off x="731520" y="4992480"/>
            <a:ext cx="36572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8FB8DF"/>
                </a:solidFill>
                <a:effectLst/>
                <a:uFillTx/>
                <a:latin typeface="Segoe UI Semibold"/>
                <a:ea typeface="Segoe UI Semibold"/>
              </a:rPr>
              <a:t>THE 5 STEPS YOU JUST RAN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Shape 17"/>
          <p:cNvSpPr/>
          <p:nvPr/>
        </p:nvSpPr>
        <p:spPr>
          <a:xfrm>
            <a:off x="73152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795600" y="5309874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Shape 19"/>
          <p:cNvSpPr/>
          <p:nvPr/>
        </p:nvSpPr>
        <p:spPr>
          <a:xfrm>
            <a:off x="1801440" y="5301762"/>
            <a:ext cx="127800" cy="1825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Shape 20"/>
          <p:cNvSpPr/>
          <p:nvPr/>
        </p:nvSpPr>
        <p:spPr>
          <a:xfrm>
            <a:off x="197496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2039040" y="5309874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Shape 22"/>
          <p:cNvSpPr/>
          <p:nvPr/>
        </p:nvSpPr>
        <p:spPr>
          <a:xfrm>
            <a:off x="3044880" y="5301762"/>
            <a:ext cx="127800" cy="1825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21876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24"/>
          <p:cNvSpPr/>
          <p:nvPr/>
        </p:nvSpPr>
        <p:spPr>
          <a:xfrm>
            <a:off x="3282840" y="5309874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4288680" y="5301762"/>
            <a:ext cx="127800" cy="1825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Shape 26"/>
          <p:cNvSpPr/>
          <p:nvPr/>
        </p:nvSpPr>
        <p:spPr>
          <a:xfrm>
            <a:off x="446220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4526280" y="5309874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5532120" y="5301762"/>
            <a:ext cx="127800" cy="1825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Shape 29"/>
          <p:cNvSpPr/>
          <p:nvPr/>
        </p:nvSpPr>
        <p:spPr>
          <a:xfrm>
            <a:off x="570600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5769720" y="5309874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7479720" y="1280160"/>
            <a:ext cx="3748680" cy="4343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FE6FF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32"/>
          <p:cNvSpPr/>
          <p:nvPr/>
        </p:nvSpPr>
        <p:spPr>
          <a:xfrm>
            <a:off x="7479720" y="1162930"/>
            <a:ext cx="3748680" cy="683870"/>
          </a:xfrm>
          <a:prstGeom prst="roundRect">
            <a:avLst>
              <a:gd name="adj" fmla="val 967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Shape 33"/>
          <p:cNvSpPr/>
          <p:nvPr/>
        </p:nvSpPr>
        <p:spPr>
          <a:xfrm>
            <a:off x="7479720" y="1554480"/>
            <a:ext cx="3748680" cy="292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34"/>
          <p:cNvSpPr/>
          <p:nvPr/>
        </p:nvSpPr>
        <p:spPr>
          <a:xfrm>
            <a:off x="7772400" y="128016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spc="111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TAKE IT WITH YOU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35"/>
          <p:cNvSpPr/>
          <p:nvPr/>
        </p:nvSpPr>
        <p:spPr>
          <a:xfrm>
            <a:off x="7772400" y="2157840"/>
            <a:ext cx="91080" cy="31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7973640" y="213984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Workshop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37"/>
          <p:cNvSpPr/>
          <p:nvPr/>
        </p:nvSpPr>
        <p:spPr>
          <a:xfrm>
            <a:off x="7973640" y="245052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Facilitator-provided session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Shape 38"/>
          <p:cNvSpPr/>
          <p:nvPr/>
        </p:nvSpPr>
        <p:spPr>
          <a:xfrm>
            <a:off x="7772400" y="2999160"/>
            <a:ext cx="91080" cy="31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7973640" y="298080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Install local RAPP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40"/>
          <p:cNvSpPr/>
          <p:nvPr/>
        </p:nvSpPr>
        <p:spPr>
          <a:xfrm>
            <a:off x="7973640" y="329184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u="sng">
                <a:solidFill>
                  <a:srgbClr val="005A9E"/>
                </a:solidFill>
                <a:latin typeface="Aptos"/>
                <a:ea typeface="Aptos"/>
                <a:hlinkClick r:id="rId7"/>
                <a:cs typeface="Aptos"/>
              </a:rPr>
              <a:t>Tell Copilot: open aka.ms/rappinstall</a:t>
            </a:r>
            <a:endParaRPr lang="en-US" sz="1000" b="0" u="none" strike="noStrike" err="1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41"/>
          <p:cNvSpPr/>
          <p:nvPr/>
        </p:nvSpPr>
        <p:spPr>
          <a:xfrm>
            <a:off x="7772400" y="3840480"/>
            <a:ext cx="91080" cy="31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7973640" y="382212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Workshop resources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43"/>
          <p:cNvSpPr/>
          <p:nvPr/>
        </p:nvSpPr>
        <p:spPr>
          <a:xfrm>
            <a:off x="7973640" y="413316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sng" strike="noStrike">
                <a:solidFill>
                  <a:srgbClr val="005A9E"/>
                </a:solidFill>
                <a:effectLst/>
                <a:uFillTx/>
                <a:latin typeface="Aptos"/>
                <a:ea typeface="Aptos"/>
                <a:hlinkClick r:id="rId8"/>
                <a:cs typeface="Aptos"/>
              </a:rPr>
              <a:t>Open workshop GitHub page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44"/>
          <p:cNvSpPr/>
          <p:nvPr/>
        </p:nvSpPr>
        <p:spPr>
          <a:xfrm>
            <a:off x="7772400" y="4681800"/>
            <a:ext cx="91080" cy="31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45"/>
          <p:cNvSpPr/>
          <p:nvPr/>
        </p:nvSpPr>
        <p:spPr>
          <a:xfrm>
            <a:off x="7973640" y="466344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 46"/>
          <p:cNvSpPr/>
          <p:nvPr/>
        </p:nvSpPr>
        <p:spPr>
          <a:xfrm>
            <a:off x="7973640" y="497448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Tell Copilot to package 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47"/>
          <p:cNvSpPr/>
          <p:nvPr/>
        </p:nvSpPr>
        <p:spPr>
          <a:xfrm>
            <a:off x="731520" y="6254640"/>
            <a:ext cx="29257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BFE6FF"/>
                </a:solidFill>
                <a:effectLst/>
                <a:uFillTx/>
                <a:latin typeface="Segoe UI"/>
                <a:ea typeface="Segoe UI"/>
              </a:rPr>
              <a:t>Microsoft  |  MCAPS AIBAST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BFE6FF"/>
                </a:solidFill>
                <a:effectLst/>
                <a:uFillTx/>
                <a:latin typeface="Segoe UI"/>
                <a:ea typeface="Segoe UI"/>
              </a:rPr>
              <a:t>FY27 RAPP Workshop  |  17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FACILITATOR APPENDIX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Workshop bill of materials.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8"/>
          <p:cNvSpPr/>
          <p:nvPr/>
        </p:nvSpPr>
        <p:spPr>
          <a:xfrm>
            <a:off x="594360" y="1783080"/>
            <a:ext cx="350172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Shape 9"/>
          <p:cNvSpPr/>
          <p:nvPr/>
        </p:nvSpPr>
        <p:spPr>
          <a:xfrm>
            <a:off x="850320" y="2030040"/>
            <a:ext cx="141696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10"/>
          <p:cNvSpPr/>
          <p:nvPr/>
        </p:nvSpPr>
        <p:spPr>
          <a:xfrm>
            <a:off x="914400" y="2084760"/>
            <a:ext cx="12888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PARTICIPANT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11"/>
          <p:cNvSpPr/>
          <p:nvPr/>
        </p:nvSpPr>
        <p:spPr>
          <a:xfrm>
            <a:off x="2441520" y="2030040"/>
            <a:ext cx="144432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12"/>
          <p:cNvSpPr/>
          <p:nvPr/>
        </p:nvSpPr>
        <p:spPr>
          <a:xfrm>
            <a:off x="2505600" y="2084760"/>
            <a:ext cx="13165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CONFIRM ACCESS EARLY</a:t>
            </a:r>
            <a:endParaRPr lang="en-US" sz="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Shape 13"/>
          <p:cNvSpPr/>
          <p:nvPr/>
        </p:nvSpPr>
        <p:spPr>
          <a:xfrm>
            <a:off x="850320" y="26791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14"/>
          <p:cNvSpPr/>
          <p:nvPr/>
        </p:nvSpPr>
        <p:spPr>
          <a:xfrm>
            <a:off x="1188720" y="26517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GitHub account with Copilot access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Shape 15"/>
          <p:cNvSpPr/>
          <p:nvPr/>
        </p:nvSpPr>
        <p:spPr>
          <a:xfrm>
            <a:off x="850320" y="31363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Text 16"/>
          <p:cNvSpPr/>
          <p:nvPr/>
        </p:nvSpPr>
        <p:spPr>
          <a:xfrm>
            <a:off x="1188720" y="31089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Modern browser + Copilot chat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Shape 17"/>
          <p:cNvSpPr/>
          <p:nvPr/>
        </p:nvSpPr>
        <p:spPr>
          <a:xfrm>
            <a:off x="850320" y="35935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18"/>
          <p:cNvSpPr/>
          <p:nvPr/>
        </p:nvSpPr>
        <p:spPr>
          <a:xfrm>
            <a:off x="1188720" y="35661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One sanitized source document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Shape 19"/>
          <p:cNvSpPr/>
          <p:nvPr/>
        </p:nvSpPr>
        <p:spPr>
          <a:xfrm>
            <a:off x="850320" y="40507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20"/>
          <p:cNvSpPr/>
          <p:nvPr/>
        </p:nvSpPr>
        <p:spPr>
          <a:xfrm>
            <a:off x="1188720" y="40233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One real scenario to test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21"/>
          <p:cNvSpPr/>
          <p:nvPr/>
        </p:nvSpPr>
        <p:spPr>
          <a:xfrm>
            <a:off x="850320" y="45079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22"/>
          <p:cNvSpPr/>
          <p:nvPr/>
        </p:nvSpPr>
        <p:spPr>
          <a:xfrm>
            <a:off x="1188720" y="44805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Target success measure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Shape 23"/>
          <p:cNvSpPr/>
          <p:nvPr/>
        </p:nvSpPr>
        <p:spPr>
          <a:xfrm>
            <a:off x="4343400" y="1783080"/>
            <a:ext cx="350172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4"/>
          <p:cNvSpPr/>
          <p:nvPr/>
        </p:nvSpPr>
        <p:spPr>
          <a:xfrm>
            <a:off x="4599360" y="2030040"/>
            <a:ext cx="1416960" cy="310680"/>
          </a:xfrm>
          <a:prstGeom prst="roundRect">
            <a:avLst>
              <a:gd name="adj" fmla="val 16667"/>
            </a:avLst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25"/>
          <p:cNvSpPr/>
          <p:nvPr/>
        </p:nvSpPr>
        <p:spPr>
          <a:xfrm>
            <a:off x="4663440" y="2084760"/>
            <a:ext cx="12888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FACILITATOR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26"/>
          <p:cNvSpPr/>
          <p:nvPr/>
        </p:nvSpPr>
        <p:spPr>
          <a:xfrm>
            <a:off x="4599360" y="26791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7"/>
          <p:cNvSpPr/>
          <p:nvPr/>
        </p:nvSpPr>
        <p:spPr>
          <a:xfrm>
            <a:off x="4937760" y="26517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Tested Tell-Copilot setup flow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28"/>
          <p:cNvSpPr/>
          <p:nvPr/>
        </p:nvSpPr>
        <p:spPr>
          <a:xfrm>
            <a:off x="4599360" y="31363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29"/>
          <p:cNvSpPr/>
          <p:nvPr/>
        </p:nvSpPr>
        <p:spPr>
          <a:xfrm>
            <a:off x="4937760" y="31089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Scenario source + expected result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Shape 30"/>
          <p:cNvSpPr/>
          <p:nvPr/>
        </p:nvSpPr>
        <p:spPr>
          <a:xfrm>
            <a:off x="4599360" y="35935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31"/>
          <p:cNvSpPr/>
          <p:nvPr/>
        </p:nvSpPr>
        <p:spPr>
          <a:xfrm>
            <a:off x="4937760" y="35661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Prebuilt fallback prototype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Shape 32"/>
          <p:cNvSpPr/>
          <p:nvPr/>
        </p:nvSpPr>
        <p:spPr>
          <a:xfrm>
            <a:off x="4599360" y="40507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Text 33"/>
          <p:cNvSpPr/>
          <p:nvPr/>
        </p:nvSpPr>
        <p:spPr>
          <a:xfrm>
            <a:off x="4937760" y="40233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Deck + facilitator guide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Shape 34"/>
          <p:cNvSpPr/>
          <p:nvPr/>
        </p:nvSpPr>
        <p:spPr>
          <a:xfrm>
            <a:off x="4599360" y="45079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35"/>
          <p:cNvSpPr/>
          <p:nvPr/>
        </p:nvSpPr>
        <p:spPr>
          <a:xfrm>
            <a:off x="4937760" y="44805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Timer, survey, evidence checklist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36"/>
          <p:cNvSpPr/>
          <p:nvPr/>
        </p:nvSpPr>
        <p:spPr>
          <a:xfrm>
            <a:off x="8092440" y="1783080"/>
            <a:ext cx="350172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37"/>
          <p:cNvSpPr/>
          <p:nvPr/>
        </p:nvSpPr>
        <p:spPr>
          <a:xfrm>
            <a:off x="8348400" y="2030040"/>
            <a:ext cx="141696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38"/>
          <p:cNvSpPr/>
          <p:nvPr/>
        </p:nvSpPr>
        <p:spPr>
          <a:xfrm>
            <a:off x="8412480" y="2084760"/>
            <a:ext cx="12888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ENVIRONMENT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Shape 39"/>
          <p:cNvSpPr/>
          <p:nvPr/>
        </p:nvSpPr>
        <p:spPr>
          <a:xfrm>
            <a:off x="8348400" y="26791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40"/>
          <p:cNvSpPr/>
          <p:nvPr/>
        </p:nvSpPr>
        <p:spPr>
          <a:xfrm>
            <a:off x="8686800" y="26517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Local machine with install rights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41"/>
          <p:cNvSpPr/>
          <p:nvPr/>
        </p:nvSpPr>
        <p:spPr>
          <a:xfrm>
            <a:off x="8348400" y="31363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42"/>
          <p:cNvSpPr/>
          <p:nvPr/>
        </p:nvSpPr>
        <p:spPr>
          <a:xfrm>
            <a:off x="8686800" y="31089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Access to aka.ms/rappinstall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43"/>
          <p:cNvSpPr/>
          <p:nvPr/>
        </p:nvSpPr>
        <p:spPr>
          <a:xfrm>
            <a:off x="8348400" y="35935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44"/>
          <p:cNvSpPr/>
          <p:nvPr/>
        </p:nvSpPr>
        <p:spPr>
          <a:xfrm>
            <a:off x="8686800" y="35661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Brainstem local page can open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45"/>
          <p:cNvSpPr/>
          <p:nvPr/>
        </p:nvSpPr>
        <p:spPr>
          <a:xfrm>
            <a:off x="8348400" y="40507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46"/>
          <p:cNvSpPr/>
          <p:nvPr/>
        </p:nvSpPr>
        <p:spPr>
          <a:xfrm>
            <a:off x="8686800" y="40233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No API keys required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47"/>
          <p:cNvSpPr/>
          <p:nvPr/>
        </p:nvSpPr>
        <p:spPr>
          <a:xfrm>
            <a:off x="8348400" y="45079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48"/>
          <p:cNvSpPr/>
          <p:nvPr/>
        </p:nvSpPr>
        <p:spPr>
          <a:xfrm>
            <a:off x="8686800" y="44805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Outbound access for GitHub sign-in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49"/>
          <p:cNvSpPr/>
          <p:nvPr/>
        </p:nvSpPr>
        <p:spPr>
          <a:xfrm>
            <a:off x="594360" y="5139000"/>
            <a:ext cx="10999800" cy="566640"/>
          </a:xfrm>
          <a:prstGeom prst="roundRect">
            <a:avLst>
              <a:gd name="adj" fmla="val 11290"/>
            </a:avLst>
          </a:prstGeom>
          <a:solidFill>
            <a:srgbClr val="FFF4CE"/>
          </a:solidFill>
          <a:ln w="1778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50"/>
          <p:cNvSpPr/>
          <p:nvPr/>
        </p:nvSpPr>
        <p:spPr>
          <a:xfrm>
            <a:off x="786240" y="5248800"/>
            <a:ext cx="2331360" cy="347040"/>
          </a:xfrm>
          <a:prstGeom prst="roundRect">
            <a:avLst>
              <a:gd name="adj" fmla="val 13158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51"/>
          <p:cNvSpPr/>
          <p:nvPr/>
        </p:nvSpPr>
        <p:spPr>
          <a:xfrm>
            <a:off x="786240" y="5248800"/>
            <a:ext cx="233136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OPTIONAL · COPILOT STUDIO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52"/>
          <p:cNvSpPr/>
          <p:nvPr/>
        </p:nvSpPr>
        <p:spPr>
          <a:xfrm>
            <a:off x="3291840" y="5139000"/>
            <a:ext cx="8137800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Only for the optional deploy path: Copilot Studio license + Dataverse environment, maker / System Customizer rights, and deployment rights. Not needed to build or run the local prototype.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53"/>
          <p:cNvSpPr/>
          <p:nvPr/>
        </p:nvSpPr>
        <p:spPr>
          <a:xfrm>
            <a:off x="594360" y="5797440"/>
            <a:ext cx="10999800" cy="511560"/>
          </a:xfrm>
          <a:prstGeom prst="roundRect">
            <a:avLst>
              <a:gd name="adj" fmla="val 12500"/>
            </a:avLst>
          </a:prstGeom>
          <a:solidFill>
            <a:srgbClr val="EAF4FD"/>
          </a:solidFill>
          <a:ln w="17780">
            <a:solidFill>
              <a:srgbClr val="103A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4"/>
          <p:cNvSpPr/>
          <p:nvPr/>
        </p:nvSpPr>
        <p:spPr>
          <a:xfrm>
            <a:off x="786240" y="5897880"/>
            <a:ext cx="1325520" cy="310680"/>
          </a:xfrm>
          <a:prstGeom prst="roundRect">
            <a:avLst>
              <a:gd name="adj" fmla="val 14706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55"/>
          <p:cNvSpPr/>
          <p:nvPr/>
        </p:nvSpPr>
        <p:spPr>
          <a:xfrm>
            <a:off x="786240" y="5897880"/>
            <a:ext cx="13255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FALLBACK RULE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56"/>
          <p:cNvSpPr/>
          <p:nvPr/>
        </p:nvSpPr>
        <p:spPr>
          <a:xfrm>
            <a:off x="2286000" y="5797440"/>
            <a:ext cx="905220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If setup blocks a participant for more than 3 minutes, pair them with a working driver or use the bundled demo so they can continue in Brainstem.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57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Appendix  |  18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FACILITATOR APPENDIX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7"/>
          <p:cNvSpPr/>
          <p:nvPr/>
        </p:nvSpPr>
        <p:spPr>
          <a:xfrm>
            <a:off x="567000" y="946701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Five-minute pre-session survey.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8"/>
          <p:cNvSpPr/>
          <p:nvPr/>
        </p:nvSpPr>
        <p:spPr>
          <a:xfrm>
            <a:off x="9555480" y="731520"/>
            <a:ext cx="191988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9"/>
          <p:cNvSpPr/>
          <p:nvPr/>
        </p:nvSpPr>
        <p:spPr>
          <a:xfrm>
            <a:off x="9619560" y="786240"/>
            <a:ext cx="17917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CUSTOMER INPUT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Shape 10"/>
          <p:cNvSpPr/>
          <p:nvPr/>
        </p:nvSpPr>
        <p:spPr>
          <a:xfrm>
            <a:off x="640080" y="1559421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11"/>
          <p:cNvSpPr/>
          <p:nvPr/>
        </p:nvSpPr>
        <p:spPr>
          <a:xfrm>
            <a:off x="804600" y="1733301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12"/>
          <p:cNvSpPr/>
          <p:nvPr/>
        </p:nvSpPr>
        <p:spPr>
          <a:xfrm>
            <a:off x="804600" y="1733301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13"/>
          <p:cNvSpPr/>
          <p:nvPr/>
        </p:nvSpPr>
        <p:spPr>
          <a:xfrm>
            <a:off x="1389960" y="1687581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business problem should the agent solve?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Shape 14"/>
          <p:cNvSpPr/>
          <p:nvPr/>
        </p:nvSpPr>
        <p:spPr>
          <a:xfrm>
            <a:off x="4572000" y="1806381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5"/>
          <p:cNvSpPr/>
          <p:nvPr/>
        </p:nvSpPr>
        <p:spPr>
          <a:xfrm>
            <a:off x="4636080" y="1861101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PARAGRAPH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6"/>
          <p:cNvSpPr/>
          <p:nvPr/>
        </p:nvSpPr>
        <p:spPr>
          <a:xfrm>
            <a:off x="640080" y="2546901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Shape 17"/>
          <p:cNvSpPr/>
          <p:nvPr/>
        </p:nvSpPr>
        <p:spPr>
          <a:xfrm>
            <a:off x="804600" y="2720781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18"/>
          <p:cNvSpPr/>
          <p:nvPr/>
        </p:nvSpPr>
        <p:spPr>
          <a:xfrm>
            <a:off x="804600" y="2720781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9"/>
          <p:cNvSpPr/>
          <p:nvPr/>
        </p:nvSpPr>
        <p:spPr>
          <a:xfrm>
            <a:off x="1389960" y="2675061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Who uses the process today?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20"/>
          <p:cNvSpPr/>
          <p:nvPr/>
        </p:nvSpPr>
        <p:spPr>
          <a:xfrm>
            <a:off x="4572000" y="2793861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21"/>
          <p:cNvSpPr/>
          <p:nvPr/>
        </p:nvSpPr>
        <p:spPr>
          <a:xfrm>
            <a:off x="4636080" y="2848581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PERSONAS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Shape 22"/>
          <p:cNvSpPr/>
          <p:nvPr/>
        </p:nvSpPr>
        <p:spPr>
          <a:xfrm>
            <a:off x="640080" y="3534381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Shape 23"/>
          <p:cNvSpPr/>
          <p:nvPr/>
        </p:nvSpPr>
        <p:spPr>
          <a:xfrm>
            <a:off x="804600" y="3708261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24"/>
          <p:cNvSpPr/>
          <p:nvPr/>
        </p:nvSpPr>
        <p:spPr>
          <a:xfrm>
            <a:off x="804600" y="3708261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25"/>
          <p:cNvSpPr/>
          <p:nvPr/>
        </p:nvSpPr>
        <p:spPr>
          <a:xfrm>
            <a:off x="1389960" y="3662541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happens from trigger to outcome?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Shape 26"/>
          <p:cNvSpPr/>
          <p:nvPr/>
        </p:nvSpPr>
        <p:spPr>
          <a:xfrm>
            <a:off x="4572000" y="3781341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7"/>
          <p:cNvSpPr/>
          <p:nvPr/>
        </p:nvSpPr>
        <p:spPr>
          <a:xfrm>
            <a:off x="4636080" y="3836421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3–7 STEPS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Shape 28"/>
          <p:cNvSpPr/>
          <p:nvPr/>
        </p:nvSpPr>
        <p:spPr>
          <a:xfrm>
            <a:off x="640080" y="4522221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Shape 29"/>
          <p:cNvSpPr/>
          <p:nvPr/>
        </p:nvSpPr>
        <p:spPr>
          <a:xfrm>
            <a:off x="804600" y="4695741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30"/>
          <p:cNvSpPr/>
          <p:nvPr/>
        </p:nvSpPr>
        <p:spPr>
          <a:xfrm>
            <a:off x="804600" y="4695741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31"/>
          <p:cNvSpPr/>
          <p:nvPr/>
        </p:nvSpPr>
        <p:spPr>
          <a:xfrm>
            <a:off x="1389960" y="4650021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are the top one to three capabilities?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Shape 32"/>
          <p:cNvSpPr/>
          <p:nvPr/>
        </p:nvSpPr>
        <p:spPr>
          <a:xfrm>
            <a:off x="4572000" y="4768821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33"/>
          <p:cNvSpPr/>
          <p:nvPr/>
        </p:nvSpPr>
        <p:spPr>
          <a:xfrm>
            <a:off x="4636080" y="4823901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RANKED LIST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9" name="Shape 34"/>
          <p:cNvSpPr/>
          <p:nvPr/>
        </p:nvSpPr>
        <p:spPr>
          <a:xfrm>
            <a:off x="6263640" y="1559421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Shape 35"/>
          <p:cNvSpPr/>
          <p:nvPr/>
        </p:nvSpPr>
        <p:spPr>
          <a:xfrm>
            <a:off x="6428160" y="1733301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36"/>
          <p:cNvSpPr/>
          <p:nvPr/>
        </p:nvSpPr>
        <p:spPr>
          <a:xfrm>
            <a:off x="6428160" y="1733301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37"/>
          <p:cNvSpPr/>
          <p:nvPr/>
        </p:nvSpPr>
        <p:spPr>
          <a:xfrm>
            <a:off x="7013520" y="1687581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Which systems or knowledge sources are involved?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Shape 38"/>
          <p:cNvSpPr/>
          <p:nvPr/>
        </p:nvSpPr>
        <p:spPr>
          <a:xfrm>
            <a:off x="10195560" y="1806381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39"/>
          <p:cNvSpPr/>
          <p:nvPr/>
        </p:nvSpPr>
        <p:spPr>
          <a:xfrm>
            <a:off x="10259640" y="1861101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NAMES ONLY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5" name="Shape 40"/>
          <p:cNvSpPr/>
          <p:nvPr/>
        </p:nvSpPr>
        <p:spPr>
          <a:xfrm>
            <a:off x="6263640" y="2546901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41"/>
          <p:cNvSpPr/>
          <p:nvPr/>
        </p:nvSpPr>
        <p:spPr>
          <a:xfrm>
            <a:off x="6428160" y="2720781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42"/>
          <p:cNvSpPr/>
          <p:nvPr/>
        </p:nvSpPr>
        <p:spPr>
          <a:xfrm>
            <a:off x="6428160" y="2720781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43"/>
          <p:cNvSpPr/>
          <p:nvPr/>
        </p:nvSpPr>
        <p:spPr>
          <a:xfrm>
            <a:off x="7013520" y="2675061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sample file can you safely provide?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Shape 44"/>
          <p:cNvSpPr/>
          <p:nvPr/>
        </p:nvSpPr>
        <p:spPr>
          <a:xfrm>
            <a:off x="10195560" y="2793861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45"/>
          <p:cNvSpPr/>
          <p:nvPr/>
        </p:nvSpPr>
        <p:spPr>
          <a:xfrm>
            <a:off x="10259640" y="2848581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TYPE + CLASS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Shape 46"/>
          <p:cNvSpPr/>
          <p:nvPr/>
        </p:nvSpPr>
        <p:spPr>
          <a:xfrm>
            <a:off x="6263640" y="3534381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Shape 47"/>
          <p:cNvSpPr/>
          <p:nvPr/>
        </p:nvSpPr>
        <p:spPr>
          <a:xfrm>
            <a:off x="6428160" y="3708261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48"/>
          <p:cNvSpPr/>
          <p:nvPr/>
        </p:nvSpPr>
        <p:spPr>
          <a:xfrm>
            <a:off x="6428160" y="3708261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49"/>
          <p:cNvSpPr/>
          <p:nvPr/>
        </p:nvSpPr>
        <p:spPr>
          <a:xfrm>
            <a:off x="7013520" y="3662541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How will we know the prototype worked?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Shape 50"/>
          <p:cNvSpPr/>
          <p:nvPr/>
        </p:nvSpPr>
        <p:spPr>
          <a:xfrm>
            <a:off x="10195560" y="3781341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51"/>
          <p:cNvSpPr/>
          <p:nvPr/>
        </p:nvSpPr>
        <p:spPr>
          <a:xfrm>
            <a:off x="10259640" y="3836421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1 SIGNAL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Shape 52"/>
          <p:cNvSpPr/>
          <p:nvPr/>
        </p:nvSpPr>
        <p:spPr>
          <a:xfrm>
            <a:off x="6263640" y="4522221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53"/>
          <p:cNvSpPr/>
          <p:nvPr/>
        </p:nvSpPr>
        <p:spPr>
          <a:xfrm>
            <a:off x="6428160" y="4695741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54"/>
          <p:cNvSpPr/>
          <p:nvPr/>
        </p:nvSpPr>
        <p:spPr>
          <a:xfrm>
            <a:off x="6428160" y="4695741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55"/>
          <p:cNvSpPr/>
          <p:nvPr/>
        </p:nvSpPr>
        <p:spPr>
          <a:xfrm>
            <a:off x="7013520" y="4650021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Do attendees have a GitHub account with Copilot access?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56"/>
          <p:cNvSpPr/>
          <p:nvPr/>
        </p:nvSpPr>
        <p:spPr>
          <a:xfrm>
            <a:off x="10195560" y="4768821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57"/>
          <p:cNvSpPr/>
          <p:nvPr/>
        </p:nvSpPr>
        <p:spPr>
          <a:xfrm>
            <a:off x="10259640" y="4823901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YES/NO/UNSURE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58"/>
          <p:cNvSpPr/>
          <p:nvPr/>
        </p:nvSpPr>
        <p:spPr>
          <a:xfrm>
            <a:off x="1005840" y="5517117"/>
            <a:ext cx="10195200" cy="420120"/>
          </a:xfrm>
          <a:prstGeom prst="roundRect">
            <a:avLst>
              <a:gd name="adj" fmla="val 15217"/>
            </a:avLst>
          </a:prstGeom>
          <a:solidFill>
            <a:srgbClr val="FFF4CE"/>
          </a:solidFill>
          <a:ln w="1651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4" name="Shape 59"/>
          <p:cNvSpPr/>
          <p:nvPr/>
        </p:nvSpPr>
        <p:spPr>
          <a:xfrm>
            <a:off x="1207080" y="5599197"/>
            <a:ext cx="1371240" cy="255600"/>
          </a:xfrm>
          <a:prstGeom prst="roundRect">
            <a:avLst>
              <a:gd name="adj" fmla="val 1785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60"/>
          <p:cNvSpPr/>
          <p:nvPr/>
        </p:nvSpPr>
        <p:spPr>
          <a:xfrm>
            <a:off x="1207080" y="5599197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OPTIONAL · CS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61"/>
          <p:cNvSpPr/>
          <p:nvPr/>
        </p:nvSpPr>
        <p:spPr>
          <a:xfrm>
            <a:off x="2743200" y="5517117"/>
            <a:ext cx="8320680" cy="42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Only if exploring the optional deploy path: do attendees have a connected Copilot Studio environment with maker + deployment rights?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62"/>
          <p:cNvSpPr/>
          <p:nvPr/>
        </p:nvSpPr>
        <p:spPr>
          <a:xfrm>
            <a:off x="1005840" y="5992677"/>
            <a:ext cx="10195200" cy="402120"/>
          </a:xfrm>
          <a:prstGeom prst="roundRect">
            <a:avLst>
              <a:gd name="adj" fmla="val 15909"/>
            </a:avLst>
          </a:prstGeom>
          <a:solidFill>
            <a:srgbClr val="FFF4CE"/>
          </a:solidFill>
          <a:ln w="17780">
            <a:solidFill>
              <a:srgbClr val="FFB9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Shape 63"/>
          <p:cNvSpPr/>
          <p:nvPr/>
        </p:nvSpPr>
        <p:spPr>
          <a:xfrm>
            <a:off x="1207080" y="6065757"/>
            <a:ext cx="749520" cy="255600"/>
          </a:xfrm>
          <a:prstGeom prst="roundRect">
            <a:avLst>
              <a:gd name="adj" fmla="val 1785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9" name="Text 64"/>
          <p:cNvSpPr/>
          <p:nvPr/>
        </p:nvSpPr>
        <p:spPr>
          <a:xfrm>
            <a:off x="1207080" y="6065757"/>
            <a:ext cx="7495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DATA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65"/>
          <p:cNvSpPr/>
          <p:nvPr/>
        </p:nvSpPr>
        <p:spPr>
          <a:xfrm>
            <a:off x="2121480" y="5992677"/>
            <a:ext cx="88693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Do not request customer secrets or production data. Ask only for enough signal to shape the workshop scenario.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66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Appendix  |  19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6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7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FACILITATOR APPENDIX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Proposed pilot handoffs: avoid duplicate discovery.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8"/>
          <p:cNvSpPr/>
          <p:nvPr/>
        </p:nvSpPr>
        <p:spPr>
          <a:xfrm>
            <a:off x="868680" y="16826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7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STAGE / OWNER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9"/>
          <p:cNvSpPr/>
          <p:nvPr/>
        </p:nvSpPr>
        <p:spPr>
          <a:xfrm>
            <a:off x="3246120" y="16826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7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KEY ACTIVITIES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0"/>
          <p:cNvSpPr/>
          <p:nvPr/>
        </p:nvSpPr>
        <p:spPr>
          <a:xfrm>
            <a:off x="8915400" y="1682640"/>
            <a:ext cx="2377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7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HANDS OFF →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1"/>
          <p:cNvSpPr/>
          <p:nvPr/>
        </p:nvSpPr>
        <p:spPr>
          <a:xfrm>
            <a:off x="640080" y="1847160"/>
            <a:ext cx="10899360" cy="85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Shape 12"/>
          <p:cNvSpPr/>
          <p:nvPr/>
        </p:nvSpPr>
        <p:spPr>
          <a:xfrm>
            <a:off x="868680" y="1993320"/>
            <a:ext cx="2148480" cy="31068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13"/>
          <p:cNvSpPr/>
          <p:nvPr/>
        </p:nvSpPr>
        <p:spPr>
          <a:xfrm>
            <a:off x="932760" y="2069916"/>
            <a:ext cx="20203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AIDEATE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14"/>
          <p:cNvSpPr/>
          <p:nvPr/>
        </p:nvSpPr>
        <p:spPr>
          <a:xfrm>
            <a:off x="868680" y="235908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Use-case discovery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15"/>
          <p:cNvSpPr/>
          <p:nvPr/>
        </p:nvSpPr>
        <p:spPr>
          <a:xfrm>
            <a:off x="3200400" y="2103120"/>
            <a:ext cx="55774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Problem framing  ·  user + process  ·  prioritization  ·  success metric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Shape 16"/>
          <p:cNvSpPr/>
          <p:nvPr/>
        </p:nvSpPr>
        <p:spPr>
          <a:xfrm>
            <a:off x="8888040" y="2094120"/>
            <a:ext cx="2422800" cy="365400"/>
          </a:xfrm>
          <a:prstGeom prst="roundRect">
            <a:avLst>
              <a:gd name="adj" fmla="val 12500"/>
            </a:avLst>
          </a:prstGeom>
          <a:solidFill>
            <a:srgbClr val="F9E3DB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17"/>
          <p:cNvSpPr/>
          <p:nvPr/>
        </p:nvSpPr>
        <p:spPr>
          <a:xfrm>
            <a:off x="8888040" y="209412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Confirmed scenario brief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Shape 18"/>
          <p:cNvSpPr/>
          <p:nvPr/>
        </p:nvSpPr>
        <p:spPr>
          <a:xfrm rot="5400000">
            <a:off x="10011388" y="2703040"/>
            <a:ext cx="128340" cy="163408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Shape 19"/>
          <p:cNvSpPr/>
          <p:nvPr/>
        </p:nvSpPr>
        <p:spPr>
          <a:xfrm>
            <a:off x="640080" y="2889360"/>
            <a:ext cx="10899360" cy="85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Shape 20"/>
          <p:cNvSpPr/>
          <p:nvPr/>
        </p:nvSpPr>
        <p:spPr>
          <a:xfrm>
            <a:off x="868680" y="3035880"/>
            <a:ext cx="214848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1"/>
          <p:cNvSpPr/>
          <p:nvPr/>
        </p:nvSpPr>
        <p:spPr>
          <a:xfrm>
            <a:off x="932760" y="3112116"/>
            <a:ext cx="20203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RAPP WORKSHOP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22"/>
          <p:cNvSpPr/>
          <p:nvPr/>
        </p:nvSpPr>
        <p:spPr>
          <a:xfrm>
            <a:off x="868680" y="340164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Local prototype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23"/>
          <p:cNvSpPr/>
          <p:nvPr/>
        </p:nvSpPr>
        <p:spPr>
          <a:xfrm>
            <a:off x="3200400" y="3145680"/>
            <a:ext cx="55774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Source in · scope confirmed · tell Copilot to build · tell Brainstem to test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4"/>
          <p:cNvSpPr/>
          <p:nvPr/>
        </p:nvSpPr>
        <p:spPr>
          <a:xfrm>
            <a:off x="8888040" y="3136320"/>
            <a:ext cx="2422800" cy="365400"/>
          </a:xfrm>
          <a:prstGeom prst="roundRect">
            <a:avLst>
              <a:gd name="adj" fmla="val 12500"/>
            </a:avLst>
          </a:prstGeom>
          <a:solidFill>
            <a:srgbClr val="DCEEFF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25"/>
          <p:cNvSpPr/>
          <p:nvPr/>
        </p:nvSpPr>
        <p:spPr>
          <a:xfrm>
            <a:off x="8888040" y="313632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Working local prototype + test evidence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Shape 26"/>
          <p:cNvSpPr/>
          <p:nvPr/>
        </p:nvSpPr>
        <p:spPr>
          <a:xfrm rot="5400000">
            <a:off x="10011388" y="3745240"/>
            <a:ext cx="128340" cy="163408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9" name="Shape 27"/>
          <p:cNvSpPr/>
          <p:nvPr/>
        </p:nvSpPr>
        <p:spPr>
          <a:xfrm>
            <a:off x="640080" y="3931920"/>
            <a:ext cx="10899360" cy="85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3740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Shape 28"/>
          <p:cNvSpPr/>
          <p:nvPr/>
        </p:nvSpPr>
        <p:spPr>
          <a:xfrm>
            <a:off x="868680" y="4078080"/>
            <a:ext cx="214848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29"/>
          <p:cNvSpPr/>
          <p:nvPr/>
        </p:nvSpPr>
        <p:spPr>
          <a:xfrm>
            <a:off x="932760" y="4154676"/>
            <a:ext cx="20203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PARTNER / DELIVERY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30"/>
          <p:cNvSpPr/>
          <p:nvPr/>
        </p:nvSpPr>
        <p:spPr>
          <a:xfrm>
            <a:off x="868680" y="444384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Scale + implement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31"/>
          <p:cNvSpPr/>
          <p:nvPr/>
        </p:nvSpPr>
        <p:spPr>
          <a:xfrm>
            <a:off x="3200400" y="4187880"/>
            <a:ext cx="55774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Integration design  ·  operating model  ·  optional cloud / Copilot Studio  ·  production backlog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4" name="Shape 32"/>
          <p:cNvSpPr/>
          <p:nvPr/>
        </p:nvSpPr>
        <p:spPr>
          <a:xfrm>
            <a:off x="8888040" y="4178880"/>
            <a:ext cx="2422800" cy="365400"/>
          </a:xfrm>
          <a:prstGeom prst="roundRect">
            <a:avLst>
              <a:gd name="adj" fmla="val 12500"/>
            </a:avLst>
          </a:prstGeom>
          <a:solidFill>
            <a:srgbClr val="FFF4CE"/>
          </a:solidFill>
          <a:ln w="12700">
            <a:solidFill>
              <a:srgbClr val="B374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33"/>
          <p:cNvSpPr/>
          <p:nvPr/>
        </p:nvSpPr>
        <p:spPr>
          <a:xfrm>
            <a:off x="8888040" y="417888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Scale + implementation plan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Shape 34"/>
          <p:cNvSpPr/>
          <p:nvPr/>
        </p:nvSpPr>
        <p:spPr>
          <a:xfrm>
            <a:off x="640080" y="4974480"/>
            <a:ext cx="10899360" cy="731160"/>
          </a:xfrm>
          <a:prstGeom prst="roundRect">
            <a:avLst>
              <a:gd name="adj" fmla="val 8750"/>
            </a:avLst>
          </a:prstGeom>
          <a:solidFill>
            <a:srgbClr val="DFF6DD"/>
          </a:solidFill>
          <a:ln w="2032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35"/>
          <p:cNvSpPr/>
          <p:nvPr/>
        </p:nvSpPr>
        <p:spPr>
          <a:xfrm>
            <a:off x="868680" y="5139000"/>
            <a:ext cx="2468520" cy="402120"/>
          </a:xfrm>
          <a:prstGeom prst="roundRect">
            <a:avLst>
              <a:gd name="adj" fmla="val 11364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36"/>
          <p:cNvSpPr/>
          <p:nvPr/>
        </p:nvSpPr>
        <p:spPr>
          <a:xfrm>
            <a:off x="868680" y="5139000"/>
            <a:ext cx="2468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CUSTOMER OWNERS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throughout all stages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37"/>
          <p:cNvSpPr/>
          <p:nvPr/>
        </p:nvSpPr>
        <p:spPr>
          <a:xfrm>
            <a:off x="3520440" y="4974480"/>
            <a:ext cx="786348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Provide source  ·  confirm scope  ·  validate behavior  ·  own go-live decisions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38"/>
          <p:cNvSpPr/>
          <p:nvPr/>
        </p:nvSpPr>
        <p:spPr>
          <a:xfrm>
            <a:off x="658440" y="608076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 WITH PILOT LEADS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39"/>
          <p:cNvSpPr/>
          <p:nvPr/>
        </p:nvSpPr>
        <p:spPr>
          <a:xfrm>
            <a:off x="2651760" y="6053400"/>
            <a:ext cx="57603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This deck | pre-survey | scenario brief | local prototype + test evidence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2" name="Text 40"/>
          <p:cNvSpPr/>
          <p:nvPr/>
        </p:nvSpPr>
        <p:spPr>
          <a:xfrm>
            <a:off x="8595360" y="6053400"/>
            <a:ext cx="28800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Confirm boundaries before each customer cohort.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41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Appendix  |  20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FACILITATOR APPENDIX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Fast recovery without losing the room.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8"/>
          <p:cNvSpPr/>
          <p:nvPr/>
        </p:nvSpPr>
        <p:spPr>
          <a:xfrm>
            <a:off x="640080" y="1737360"/>
            <a:ext cx="273960" cy="72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9"/>
          <p:cNvSpPr/>
          <p:nvPr/>
        </p:nvSpPr>
        <p:spPr>
          <a:xfrm>
            <a:off x="987480" y="164592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BUILD &amp; TEST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4" name="Shape 10"/>
          <p:cNvSpPr/>
          <p:nvPr/>
        </p:nvSpPr>
        <p:spPr>
          <a:xfrm>
            <a:off x="640080" y="3675960"/>
            <a:ext cx="273960" cy="72720"/>
          </a:xfrm>
          <a:prstGeom prst="rect">
            <a:avLst/>
          </a:prstGeom>
          <a:solidFill>
            <a:srgbClr val="B37400"/>
          </a:solidFill>
          <a:ln w="12700">
            <a:solidFill>
              <a:srgbClr val="B374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11"/>
          <p:cNvSpPr/>
          <p:nvPr/>
        </p:nvSpPr>
        <p:spPr>
          <a:xfrm>
            <a:off x="987480" y="358452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SIGN-IN &amp; START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Shape 12"/>
          <p:cNvSpPr/>
          <p:nvPr/>
        </p:nvSpPr>
        <p:spPr>
          <a:xfrm>
            <a:off x="640080" y="184716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13"/>
          <p:cNvSpPr/>
          <p:nvPr/>
        </p:nvSpPr>
        <p:spPr>
          <a:xfrm>
            <a:off x="1227030" y="204840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14"/>
          <p:cNvSpPr/>
          <p:nvPr/>
        </p:nvSpPr>
        <p:spPr>
          <a:xfrm>
            <a:off x="1291110" y="2124636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WRONG SCOPE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15"/>
          <p:cNvSpPr/>
          <p:nvPr/>
        </p:nvSpPr>
        <p:spPr>
          <a:xfrm>
            <a:off x="896040" y="25236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078D4"/>
                </a:solidFill>
                <a:effectLst/>
                <a:uFillTx/>
                <a:latin typeface="Segoe UI"/>
                <a:ea typeface="Segoe UI"/>
              </a:rPr>
              <a:t>Tell Copilot: "Revise the scope to [change], then rebuild and retest."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0" name="Shape 16"/>
          <p:cNvSpPr/>
          <p:nvPr/>
        </p:nvSpPr>
        <p:spPr>
          <a:xfrm>
            <a:off x="4069080" y="184716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Shape 17"/>
          <p:cNvSpPr/>
          <p:nvPr/>
        </p:nvSpPr>
        <p:spPr>
          <a:xfrm>
            <a:off x="4656030" y="204840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18"/>
          <p:cNvSpPr/>
          <p:nvPr/>
        </p:nvSpPr>
        <p:spPr>
          <a:xfrm>
            <a:off x="4720110" y="2124636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PROTOTYPE NOT APPEARING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19"/>
          <p:cNvSpPr/>
          <p:nvPr/>
        </p:nvSpPr>
        <p:spPr>
          <a:xfrm>
            <a:off x="4325040" y="25236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078D4"/>
                </a:solidFill>
                <a:effectLst/>
                <a:uFillTx/>
                <a:latin typeface="Segoe UI"/>
                <a:ea typeface="Segoe UI"/>
              </a:rPr>
              <a:t>Tell Copilot: "Brainstem does not show my prototype. Diagnose and fix it."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Shape 20"/>
          <p:cNvSpPr/>
          <p:nvPr/>
        </p:nvSpPr>
        <p:spPr>
          <a:xfrm>
            <a:off x="7498080" y="184716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21"/>
          <p:cNvSpPr/>
          <p:nvPr/>
        </p:nvSpPr>
        <p:spPr>
          <a:xfrm>
            <a:off x="8085030" y="204840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22"/>
          <p:cNvSpPr/>
          <p:nvPr/>
        </p:nvSpPr>
        <p:spPr>
          <a:xfrm>
            <a:off x="8149110" y="2124636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BEHAVIOR OFF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7" name="Text 23"/>
          <p:cNvSpPr/>
          <p:nvPr/>
        </p:nvSpPr>
        <p:spPr>
          <a:xfrm>
            <a:off x="7754040" y="25236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078D4"/>
                </a:solidFill>
                <a:effectLst/>
                <a:uFillTx/>
                <a:latin typeface="Segoe UI"/>
                <a:ea typeface="Segoe UI"/>
              </a:rPr>
              <a:t>Tell Copilot: "Use this failed result to improve the prototype and test again."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Shape 24"/>
          <p:cNvSpPr/>
          <p:nvPr/>
        </p:nvSpPr>
        <p:spPr>
          <a:xfrm>
            <a:off x="640080" y="389520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3740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Shape 25"/>
          <p:cNvSpPr/>
          <p:nvPr/>
        </p:nvSpPr>
        <p:spPr>
          <a:xfrm>
            <a:off x="1227030" y="409644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26"/>
          <p:cNvSpPr/>
          <p:nvPr/>
        </p:nvSpPr>
        <p:spPr>
          <a:xfrm>
            <a:off x="1291110" y="4173036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NOT AUTHENTICATED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27"/>
          <p:cNvSpPr/>
          <p:nvPr/>
        </p:nvSpPr>
        <p:spPr>
          <a:xfrm>
            <a:off x="896040" y="45720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B37400"/>
                </a:solidFill>
                <a:effectLst/>
                <a:uFillTx/>
                <a:latin typeface="Segoe UI"/>
                <a:ea typeface="Segoe UI"/>
              </a:rPr>
              <a:t>Tell Copilot: "Sign me in to GitHub Copilot and confirm access."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28"/>
          <p:cNvSpPr/>
          <p:nvPr/>
        </p:nvSpPr>
        <p:spPr>
          <a:xfrm>
            <a:off x="4069080" y="389520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3740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3" name="Shape 29"/>
          <p:cNvSpPr/>
          <p:nvPr/>
        </p:nvSpPr>
        <p:spPr>
          <a:xfrm>
            <a:off x="4656030" y="409644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30"/>
          <p:cNvSpPr/>
          <p:nvPr/>
        </p:nvSpPr>
        <p:spPr>
          <a:xfrm>
            <a:off x="4720110" y="4173036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SETUP STOPPED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31"/>
          <p:cNvSpPr/>
          <p:nvPr/>
        </p:nvSpPr>
        <p:spPr>
          <a:xfrm>
            <a:off x="4325040" y="45720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B37400"/>
                </a:solidFill>
                <a:effectLst/>
                <a:uFillTx/>
                <a:latin typeface="Segoe UI"/>
                <a:ea typeface="Segoe UI"/>
              </a:rPr>
              <a:t>Tell Copilot: "Resume Brainstem setup from the error on screen."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Shape 32"/>
          <p:cNvSpPr/>
          <p:nvPr/>
        </p:nvSpPr>
        <p:spPr>
          <a:xfrm>
            <a:off x="7498080" y="389520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3740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33"/>
          <p:cNvSpPr/>
          <p:nvPr/>
        </p:nvSpPr>
        <p:spPr>
          <a:xfrm>
            <a:off x="8085030" y="409644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34"/>
          <p:cNvSpPr/>
          <p:nvPr/>
        </p:nvSpPr>
        <p:spPr>
          <a:xfrm>
            <a:off x="8149110" y="4173036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LOCAL PAGE WILL NOT OPEN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35"/>
          <p:cNvSpPr/>
          <p:nvPr/>
        </p:nvSpPr>
        <p:spPr>
          <a:xfrm>
            <a:off x="7754040" y="45720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B37400"/>
                </a:solidFill>
                <a:effectLst/>
                <a:uFillTx/>
                <a:latin typeface="Segoe UI"/>
                <a:ea typeface="Segoe UI"/>
              </a:rPr>
              <a:t>Tell Copilot: "Start Brainstem, open the local page, and fix any conflict."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Shape 36"/>
          <p:cNvSpPr/>
          <p:nvPr/>
        </p:nvSpPr>
        <p:spPr>
          <a:xfrm>
            <a:off x="640080" y="5541120"/>
            <a:ext cx="10899360" cy="658080"/>
          </a:xfrm>
          <a:prstGeom prst="roundRect">
            <a:avLst>
              <a:gd name="adj" fmla="val 11111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Shape 37"/>
          <p:cNvSpPr/>
          <p:nvPr/>
        </p:nvSpPr>
        <p:spPr>
          <a:xfrm>
            <a:off x="859680" y="5687640"/>
            <a:ext cx="1737000" cy="365400"/>
          </a:xfrm>
          <a:prstGeom prst="roundRect">
            <a:avLst>
              <a:gd name="adj" fmla="val 125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38"/>
          <p:cNvSpPr/>
          <p:nvPr/>
        </p:nvSpPr>
        <p:spPr>
          <a:xfrm>
            <a:off x="859680" y="568764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2A4A"/>
                </a:solidFill>
                <a:effectLst/>
                <a:uFillTx/>
                <a:latin typeface="Segoe UI Semibold"/>
                <a:ea typeface="Segoe UI Semibold"/>
              </a:rPr>
              <a:t>3-MINUTE RULE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39"/>
          <p:cNvSpPr/>
          <p:nvPr/>
        </p:nvSpPr>
        <p:spPr>
          <a:xfrm>
            <a:off x="2788920" y="554112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Preserve momentum first. Pair the participant or use the bundled demo; after the session, paste the exact message into Copilot and ask it to diagnose.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40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Appendix  |  21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5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6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8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9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 spc="20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1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" rIns="90000" bIns="-396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159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PARTICIPANT TAKEAWAY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7"/>
          <p:cNvSpPr/>
          <p:nvPr/>
        </p:nvSpPr>
        <p:spPr>
          <a:xfrm>
            <a:off x="567000" y="1033200"/>
            <a:ext cx="1097244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RAPP quick reference.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4" name="Shape 8"/>
          <p:cNvSpPr/>
          <p:nvPr/>
        </p:nvSpPr>
        <p:spPr>
          <a:xfrm>
            <a:off x="640080" y="185616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Shape 9"/>
          <p:cNvSpPr/>
          <p:nvPr/>
        </p:nvSpPr>
        <p:spPr>
          <a:xfrm>
            <a:off x="822960" y="1901880"/>
            <a:ext cx="566640" cy="56664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10"/>
          <p:cNvSpPr/>
          <p:nvPr/>
        </p:nvSpPr>
        <p:spPr>
          <a:xfrm>
            <a:off x="916158" y="208967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11"/>
          <p:cNvSpPr/>
          <p:nvPr/>
        </p:nvSpPr>
        <p:spPr>
          <a:xfrm>
            <a:off x="1572840" y="203904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12"/>
          <p:cNvSpPr/>
          <p:nvPr/>
        </p:nvSpPr>
        <p:spPr>
          <a:xfrm>
            <a:off x="2788920" y="203904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 to sign you in.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Shape 13"/>
          <p:cNvSpPr/>
          <p:nvPr/>
        </p:nvSpPr>
        <p:spPr>
          <a:xfrm>
            <a:off x="5806440" y="2030040"/>
            <a:ext cx="187416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0" name="Text 14"/>
          <p:cNvSpPr/>
          <p:nvPr/>
        </p:nvSpPr>
        <p:spPr>
          <a:xfrm>
            <a:off x="5870520" y="2084760"/>
            <a:ext cx="17460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SIGNED IN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1" name="Shape 15"/>
          <p:cNvSpPr/>
          <p:nvPr/>
        </p:nvSpPr>
        <p:spPr>
          <a:xfrm>
            <a:off x="640080" y="263340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16"/>
          <p:cNvSpPr/>
          <p:nvPr/>
        </p:nvSpPr>
        <p:spPr>
          <a:xfrm>
            <a:off x="822960" y="2679120"/>
            <a:ext cx="566640" cy="56664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17"/>
          <p:cNvSpPr/>
          <p:nvPr/>
        </p:nvSpPr>
        <p:spPr>
          <a:xfrm>
            <a:off x="916158" y="286691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18"/>
          <p:cNvSpPr/>
          <p:nvPr/>
        </p:nvSpPr>
        <p:spPr>
          <a:xfrm>
            <a:off x="1572840" y="281628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19"/>
          <p:cNvSpPr/>
          <p:nvPr/>
        </p:nvSpPr>
        <p:spPr>
          <a:xfrm>
            <a:off x="2788920" y="281628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 to use aka.ms/rappinstall and open Brainstem.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6" name="Shape 20"/>
          <p:cNvSpPr/>
          <p:nvPr/>
        </p:nvSpPr>
        <p:spPr>
          <a:xfrm>
            <a:off x="5806440" y="2807280"/>
            <a:ext cx="187416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21"/>
          <p:cNvSpPr/>
          <p:nvPr/>
        </p:nvSpPr>
        <p:spPr>
          <a:xfrm>
            <a:off x="5870520" y="2862000"/>
            <a:ext cx="17460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BRAINSTEM OPEN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22"/>
          <p:cNvSpPr/>
          <p:nvPr/>
        </p:nvSpPr>
        <p:spPr>
          <a:xfrm>
            <a:off x="640080" y="341064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Shape 23"/>
          <p:cNvSpPr/>
          <p:nvPr/>
        </p:nvSpPr>
        <p:spPr>
          <a:xfrm>
            <a:off x="822960" y="3456360"/>
            <a:ext cx="566640" cy="5666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0" name="Text 24"/>
          <p:cNvSpPr/>
          <p:nvPr/>
        </p:nvSpPr>
        <p:spPr>
          <a:xfrm>
            <a:off x="916158" y="364415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1" name="Text 25"/>
          <p:cNvSpPr/>
          <p:nvPr/>
        </p:nvSpPr>
        <p:spPr>
          <a:xfrm>
            <a:off x="1572840" y="359352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BUILD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26"/>
          <p:cNvSpPr/>
          <p:nvPr/>
        </p:nvSpPr>
        <p:spPr>
          <a:xfrm>
            <a:off x="2788920" y="35935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 to build from your source.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Shape 27"/>
          <p:cNvSpPr/>
          <p:nvPr/>
        </p:nvSpPr>
        <p:spPr>
          <a:xfrm>
            <a:off x="5806440" y="3584520"/>
            <a:ext cx="1874160" cy="31068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28"/>
          <p:cNvSpPr/>
          <p:nvPr/>
        </p:nvSpPr>
        <p:spPr>
          <a:xfrm>
            <a:off x="5870520" y="3639240"/>
            <a:ext cx="17460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PROTOTYPE READY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5" name="Shape 29"/>
          <p:cNvSpPr/>
          <p:nvPr/>
        </p:nvSpPr>
        <p:spPr>
          <a:xfrm>
            <a:off x="640080" y="418788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30"/>
          <p:cNvSpPr/>
          <p:nvPr/>
        </p:nvSpPr>
        <p:spPr>
          <a:xfrm>
            <a:off x="822960" y="4233600"/>
            <a:ext cx="566640" cy="566640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31"/>
          <p:cNvSpPr/>
          <p:nvPr/>
        </p:nvSpPr>
        <p:spPr>
          <a:xfrm>
            <a:off x="916158" y="442139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32"/>
          <p:cNvSpPr/>
          <p:nvPr/>
        </p:nvSpPr>
        <p:spPr>
          <a:xfrm>
            <a:off x="1572840" y="437076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TEST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33"/>
          <p:cNvSpPr/>
          <p:nvPr/>
        </p:nvSpPr>
        <p:spPr>
          <a:xfrm>
            <a:off x="2788920" y="437076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Brainstem a real request; tell Copilot to improve.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34"/>
          <p:cNvSpPr/>
          <p:nvPr/>
        </p:nvSpPr>
        <p:spPr>
          <a:xfrm>
            <a:off x="5806440" y="4361760"/>
            <a:ext cx="1874160" cy="310680"/>
          </a:xfrm>
          <a:prstGeom prst="roundRect">
            <a:avLst>
              <a:gd name="adj" fmla="val 16667"/>
            </a:avLst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1" name="Text 35"/>
          <p:cNvSpPr/>
          <p:nvPr/>
        </p:nvSpPr>
        <p:spPr>
          <a:xfrm>
            <a:off x="5870520" y="4416480"/>
            <a:ext cx="174600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TESTED LOCALLY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36"/>
          <p:cNvSpPr/>
          <p:nvPr/>
        </p:nvSpPr>
        <p:spPr>
          <a:xfrm>
            <a:off x="640080" y="496512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3A6B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3" name="Shape 37"/>
          <p:cNvSpPr/>
          <p:nvPr/>
        </p:nvSpPr>
        <p:spPr>
          <a:xfrm>
            <a:off x="822960" y="5010840"/>
            <a:ext cx="566640" cy="5666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38"/>
          <p:cNvSpPr/>
          <p:nvPr/>
        </p:nvSpPr>
        <p:spPr>
          <a:xfrm>
            <a:off x="916158" y="5198634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Text 39"/>
          <p:cNvSpPr/>
          <p:nvPr/>
        </p:nvSpPr>
        <p:spPr>
          <a:xfrm>
            <a:off x="1572840" y="514800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40"/>
          <p:cNvSpPr/>
          <p:nvPr/>
        </p:nvSpPr>
        <p:spPr>
          <a:xfrm>
            <a:off x="2788920" y="514800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Tell Copilot to package it for a teammate.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Shape 41"/>
          <p:cNvSpPr/>
          <p:nvPr/>
        </p:nvSpPr>
        <p:spPr>
          <a:xfrm>
            <a:off x="5806440" y="5102280"/>
            <a:ext cx="1874160" cy="310680"/>
          </a:xfrm>
          <a:prstGeom prst="roundRect">
            <a:avLst>
              <a:gd name="adj" fmla="val 14706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42"/>
          <p:cNvSpPr/>
          <p:nvPr/>
        </p:nvSpPr>
        <p:spPr>
          <a:xfrm>
            <a:off x="5806440" y="5102280"/>
            <a:ext cx="18741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READY TO SHARE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9" name="Shape 43"/>
          <p:cNvSpPr/>
          <p:nvPr/>
        </p:nvSpPr>
        <p:spPr>
          <a:xfrm>
            <a:off x="8275320" y="1856160"/>
            <a:ext cx="3273120" cy="372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blurRad="63360" dist="50402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Shape 44"/>
          <p:cNvSpPr/>
          <p:nvPr/>
        </p:nvSpPr>
        <p:spPr>
          <a:xfrm>
            <a:off x="8275320" y="1856160"/>
            <a:ext cx="3273120" cy="511560"/>
          </a:xfrm>
          <a:prstGeom prst="roundRect">
            <a:avLst>
              <a:gd name="adj" fmla="val 10714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Shape 45"/>
          <p:cNvSpPr/>
          <p:nvPr/>
        </p:nvSpPr>
        <p:spPr>
          <a:xfrm>
            <a:off x="8275320" y="2112120"/>
            <a:ext cx="3273120" cy="2556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46"/>
          <p:cNvSpPr/>
          <p:nvPr/>
        </p:nvSpPr>
        <p:spPr>
          <a:xfrm>
            <a:off x="8595360" y="1856160"/>
            <a:ext cx="274284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99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QUALITY CHECK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3" name="Shape 47"/>
          <p:cNvSpPr/>
          <p:nvPr/>
        </p:nvSpPr>
        <p:spPr>
          <a:xfrm>
            <a:off x="8595360" y="257868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48"/>
          <p:cNvSpPr/>
          <p:nvPr/>
        </p:nvSpPr>
        <p:spPr>
          <a:xfrm>
            <a:off x="8915400" y="255132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GitHub Copilot signed in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Shape 49"/>
          <p:cNvSpPr/>
          <p:nvPr/>
        </p:nvSpPr>
        <p:spPr>
          <a:xfrm>
            <a:off x="8595360" y="294444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50"/>
          <p:cNvSpPr/>
          <p:nvPr/>
        </p:nvSpPr>
        <p:spPr>
          <a:xfrm>
            <a:off x="8915400" y="291708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Brainstem local page open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Shape 51"/>
          <p:cNvSpPr/>
          <p:nvPr/>
        </p:nvSpPr>
        <p:spPr>
          <a:xfrm>
            <a:off x="8595360" y="331020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52"/>
          <p:cNvSpPr/>
          <p:nvPr/>
        </p:nvSpPr>
        <p:spPr>
          <a:xfrm>
            <a:off x="8915400" y="328284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Scope approved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9" name="Shape 53"/>
          <p:cNvSpPr/>
          <p:nvPr/>
        </p:nvSpPr>
        <p:spPr>
          <a:xfrm>
            <a:off x="8595360" y="367596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0" name="Text 54"/>
          <p:cNvSpPr/>
          <p:nvPr/>
        </p:nvSpPr>
        <p:spPr>
          <a:xfrm>
            <a:off x="8915400" y="364860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Happy path tested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55"/>
          <p:cNvSpPr/>
          <p:nvPr/>
        </p:nvSpPr>
        <p:spPr>
          <a:xfrm>
            <a:off x="8595360" y="40417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2" name="Text 56"/>
          <p:cNvSpPr/>
          <p:nvPr/>
        </p:nvSpPr>
        <p:spPr>
          <a:xfrm>
            <a:off x="8915400" y="401436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Edge case tested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3" name="Shape 57"/>
          <p:cNvSpPr/>
          <p:nvPr/>
        </p:nvSpPr>
        <p:spPr>
          <a:xfrm>
            <a:off x="8595360" y="440748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58"/>
          <p:cNvSpPr/>
          <p:nvPr/>
        </p:nvSpPr>
        <p:spPr>
          <a:xfrm>
            <a:off x="8915400" y="438012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Next improvement recorded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 59"/>
          <p:cNvSpPr/>
          <p:nvPr/>
        </p:nvSpPr>
        <p:spPr>
          <a:xfrm>
            <a:off x="8595360" y="4809600"/>
            <a:ext cx="2377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spc="99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INSTALL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6" name="Shape 60"/>
          <p:cNvSpPr/>
          <p:nvPr/>
        </p:nvSpPr>
        <p:spPr>
          <a:xfrm>
            <a:off x="8595360" y="4992480"/>
            <a:ext cx="2724480" cy="529920"/>
          </a:xfrm>
          <a:solidFill>
            <a:srgbClr val="E6F3FB"/>
          </a:solidFill>
          <a:prstGeom prst="roundRect">
            <a:avLst>
              <a:gd name="adj" fmla="val 8621"/>
            </a:avLst>
          </a:prstGeom>
          <a:ln w="12700">
            <a:round/>
            <a:solidFill>
              <a:srgbClr val="0078D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Text 61"/>
          <p:cNvSpPr/>
          <p:nvPr/>
        </p:nvSpPr>
        <p:spPr>
          <a:xfrm>
            <a:off x="8723520" y="5010840"/>
            <a:ext cx="2486880" cy="49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1600" u="sng">
                <a:solidFill>
                  <a:srgbClr val="005A9E"/>
                </a:solidFill>
                <a:latin typeface="Aptos"/>
                <a:ea typeface="Aptos"/>
                <a:hlinkClick r:id="rId4"/>
                <a:cs typeface="Aptos"/>
              </a:rPr>
              <a:t>a</a:t>
            </a:r>
            <a:r>
              <a:rPr lang="en-US" sz="1600" b="0" u="sng" strike="noStrike">
                <a:solidFill>
                  <a:srgbClr val="005A9E"/>
                </a:solidFill>
                <a:effectLst/>
                <a:uFillTx/>
                <a:latin typeface="Aptos"/>
                <a:ea typeface="Aptos"/>
                <a:cs typeface="Aptos"/>
              </a:rPr>
              <a:t>ka.ms/rappinstall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 62"/>
          <p:cNvSpPr/>
          <p:nvPr/>
        </p:nvSpPr>
        <p:spPr>
          <a:xfrm>
            <a:off x="1554480" y="5870520"/>
            <a:ext cx="60346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Source in. Working local prototype out.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63"/>
          <p:cNvSpPr/>
          <p:nvPr/>
        </p:nvSpPr>
        <p:spPr>
          <a:xfrm>
            <a:off x="822960" y="6199560"/>
            <a:ext cx="704052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Facilitator-led only: Copilot Studio can deploy with separate rights; otherwise Copilot creates a local M365-style demo and exportable ZIP.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0" name="Text 6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22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22</Slides>
  <Notes>22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RAPP Workshop Deck</dc:title>
  <dc:subject>One-hour Documents to Copilot Studio workshop</dc:subject>
  <dc:creator>Microsoft MCAPS AIBAST</dc:creator>
  <dc:description/>
  <cp:revision>17</cp:revision>
  <dcterms:created xsi:type="dcterms:W3CDTF">2026-07-13T17:42:21Z</dcterms:created>
  <dcterms:modified xsi:type="dcterms:W3CDTF">2026-07-13T18:53:44Z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On-screen Show (16:9)</vt:lpwstr>
  </property>
  <property fmtid="{D5CDD505-2E9C-101B-9397-08002B2CF9AE}" pid="4" name="Slides">
    <vt:r8>22</vt:r8>
  </property>
</Properties>
</file>