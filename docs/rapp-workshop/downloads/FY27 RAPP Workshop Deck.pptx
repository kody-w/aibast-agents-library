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media/image2.svg" ContentType="image/svg"/>
  <Override PartName="/ppt/media/image4.svg" ContentType="image/svg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CCA2AEB-0849-4D2C-896C-DE9A699AF44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6C2A1B-F5BD-481C-8508-25C35C1EAC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5E5E37-A262-49D9-A5F1-226CBD043D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41EDC9-3460-4C77-969D-048BD8452B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11ADB9-7FCE-4486-B304-3BEAA659D4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BAA197-BA01-4D3D-9DEE-848C4712D2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9EF9CD-DC88-4528-81E9-B32E8D5487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9D12F2-4E71-4B80-B9EF-87D2F3DAF0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9C13F2-1027-4E8A-B404-F961EAE8B5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F7F70E-60E4-43F4-96E9-7BE74C6032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BEAD4-C917-4613-AD3F-AFC0582802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17706F-9D31-4B06-96F3-A9CB752B17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1AC46B-A63A-4AEB-9381-2B01008D8D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442D74-91A1-4A79-BBFB-A7180F0346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7A58B2-066E-4749-BC69-C785770652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8CD19-54AB-4596-9712-0B9FEDA793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296177-8639-4898-88DA-40077679F4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08885F-E7DE-4886-9086-7DDE3E5B4E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40357B-D98B-4766-BB89-40F8B6F3CE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0330B0-12E3-4BBE-BF31-8073B3D47B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C321DF-2B2C-4E5C-98AF-9529F46311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90EE9A-ADD6-4E8C-8FB3-2D3FF2BD78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15AA8B-C40C-4714-8EDB-D30F5A9899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egoe U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Segoe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hyperlink" Target="https://microsoft.github.io/aibast-agents-library" TargetMode="External"/><Relationship Id="rId4" Type="http://schemas.openxmlformats.org/officeDocument/2006/relationships/hyperlink" Target="https://microsoft.github.io/aibast-agents-library" TargetMode="External"/><Relationship Id="rId5" Type="http://schemas.openxmlformats.org/officeDocument/2006/relationships/hyperlink" Target="https://github.com/microsoft/aibast-agents-library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11201400" y="420480"/>
            <a:ext cx="95760" cy="9576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11314800" y="420480"/>
            <a:ext cx="95760" cy="9576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2"/>
          <p:cNvSpPr/>
          <p:nvPr/>
        </p:nvSpPr>
        <p:spPr>
          <a:xfrm>
            <a:off x="11201400" y="533880"/>
            <a:ext cx="95760" cy="9576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3"/>
          <p:cNvSpPr/>
          <p:nvPr/>
        </p:nvSpPr>
        <p:spPr>
          <a:xfrm>
            <a:off x="11314800" y="533880"/>
            <a:ext cx="95760" cy="9576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713160" y="53028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pc="111" strike="noStrike">
                <a:solidFill>
                  <a:srgbClr val="BFE6FF"/>
                </a:solidFill>
                <a:effectLst/>
                <a:uFillTx/>
                <a:latin typeface="Segoe UI Semibold"/>
                <a:ea typeface="Segoe UI Semibold"/>
              </a:rPr>
              <a:t>MICROSOFT  |  MCAPS AIBAST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713160" y="1371600"/>
            <a:ext cx="65833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FY27 RAPP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Workshop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749880" y="3127320"/>
            <a:ext cx="566640" cy="4536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731520" y="3310200"/>
            <a:ext cx="6583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A working local agent in 60 minutes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731520" y="3913560"/>
            <a:ext cx="6400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DCEEFF"/>
                </a:solidFill>
                <a:effectLst/>
                <a:uFillTx/>
                <a:latin typeface="Segoe UI"/>
                <a:ea typeface="Segoe UI"/>
              </a:rPr>
              <a:t>A facilitator-ready, hands-on path from one source document to one local agent running on your own machine in the RAPP Brainstem.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731520" y="4827960"/>
            <a:ext cx="2048040" cy="456840"/>
          </a:xfrm>
          <a:prstGeom prst="roundRect">
            <a:avLst>
              <a:gd name="adj" fmla="val 12000"/>
            </a:avLst>
          </a:prstGeom>
          <a:solidFill>
            <a:srgbClr val="0B2A4A">
              <a:alpha val="76000"/>
            </a:srgbClr>
          </a:solidFill>
          <a:ln w="12700">
            <a:solidFill>
              <a:srgbClr val="BFE6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822960" y="4937760"/>
            <a:ext cx="1865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60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QUICK TO LEARN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1"/>
          <p:cNvSpPr/>
          <p:nvPr/>
        </p:nvSpPr>
        <p:spPr>
          <a:xfrm>
            <a:off x="2944440" y="4827960"/>
            <a:ext cx="2048040" cy="456840"/>
          </a:xfrm>
          <a:prstGeom prst="roundRect">
            <a:avLst>
              <a:gd name="adj" fmla="val 12000"/>
            </a:avLst>
          </a:prstGeom>
          <a:solidFill>
            <a:srgbClr val="0B2A4A">
              <a:alpha val="76000"/>
            </a:srgbClr>
          </a:solidFill>
          <a:ln w="12700">
            <a:solidFill>
              <a:srgbClr val="BFE6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3035880" y="4937760"/>
            <a:ext cx="1865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60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QUICK TO TEACH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3"/>
          <p:cNvSpPr/>
          <p:nvPr/>
        </p:nvSpPr>
        <p:spPr>
          <a:xfrm>
            <a:off x="5157360" y="4827960"/>
            <a:ext cx="2048040" cy="456840"/>
          </a:xfrm>
          <a:prstGeom prst="roundRect">
            <a:avLst>
              <a:gd name="adj" fmla="val 12000"/>
            </a:avLst>
          </a:prstGeom>
          <a:solidFill>
            <a:srgbClr val="0B2A4A">
              <a:alpha val="76000"/>
            </a:srgbClr>
          </a:solidFill>
          <a:ln w="12700">
            <a:solidFill>
              <a:srgbClr val="BFE6FF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5248800" y="4937760"/>
            <a:ext cx="1865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60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QUICK TO SHARE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7772400" y="1234440"/>
            <a:ext cx="3730320" cy="4553280"/>
          </a:xfrm>
          <a:prstGeom prst="roundRect">
            <a:avLst>
              <a:gd name="adj" fmla="val 2451"/>
            </a:avLst>
          </a:prstGeom>
          <a:solidFill>
            <a:srgbClr val="0B2A4A">
              <a:alpha val="88000"/>
            </a:srgbClr>
          </a:solidFill>
          <a:ln w="16510">
            <a:solidFill>
              <a:srgbClr val="BFE6FF">
                <a:alpha val="5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7955280" y="1591200"/>
            <a:ext cx="3364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60</a:t>
            </a:r>
            <a:endParaRPr lang="en-US" sz="7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7"/>
          <p:cNvSpPr/>
          <p:nvPr/>
        </p:nvSpPr>
        <p:spPr>
          <a:xfrm>
            <a:off x="8028360" y="2999160"/>
            <a:ext cx="3218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1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MINUTES TO A WORKING LOCAL AGENT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8"/>
          <p:cNvSpPr/>
          <p:nvPr/>
        </p:nvSpPr>
        <p:spPr>
          <a:xfrm>
            <a:off x="8321040" y="3712320"/>
            <a:ext cx="2633400" cy="360"/>
          </a:xfrm>
          <a:prstGeom prst="line">
            <a:avLst/>
          </a:prstGeom>
          <a:ln w="12700">
            <a:solidFill>
              <a:srgbClr val="BFE6FF">
                <a:alpha val="5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8202240" y="4260960"/>
            <a:ext cx="347040" cy="3470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0"/>
          <p:cNvSpPr/>
          <p:nvPr/>
        </p:nvSpPr>
        <p:spPr>
          <a:xfrm>
            <a:off x="7872840" y="4700160"/>
            <a:ext cx="1005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SOURCE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1"/>
          <p:cNvSpPr/>
          <p:nvPr/>
        </p:nvSpPr>
        <p:spPr>
          <a:xfrm>
            <a:off x="8613720" y="4306680"/>
            <a:ext cx="566640" cy="255600"/>
          </a:xfrm>
          <a:prstGeom prst="chevron">
            <a:avLst>
              <a:gd name="adj" fmla="val 50000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9464040" y="4260960"/>
            <a:ext cx="347040" cy="347040"/>
          </a:xfrm>
          <a:prstGeom prst="ellipse">
            <a:avLst/>
          </a:prstGeom>
          <a:solidFill>
            <a:srgbClr val="50E6FF"/>
          </a:solidFill>
          <a:ln w="1270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3"/>
          <p:cNvSpPr/>
          <p:nvPr/>
        </p:nvSpPr>
        <p:spPr>
          <a:xfrm>
            <a:off x="9135000" y="4700160"/>
            <a:ext cx="1005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AGENT.PY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4"/>
          <p:cNvSpPr/>
          <p:nvPr/>
        </p:nvSpPr>
        <p:spPr>
          <a:xfrm>
            <a:off x="9875520" y="4306680"/>
            <a:ext cx="566640" cy="255600"/>
          </a:xfrm>
          <a:prstGeom prst="chevron">
            <a:avLst>
              <a:gd name="adj" fmla="val 50000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5"/>
          <p:cNvSpPr/>
          <p:nvPr/>
        </p:nvSpPr>
        <p:spPr>
          <a:xfrm>
            <a:off x="10725840" y="4260960"/>
            <a:ext cx="347040" cy="3470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6"/>
          <p:cNvSpPr/>
          <p:nvPr/>
        </p:nvSpPr>
        <p:spPr>
          <a:xfrm>
            <a:off x="10396800" y="4700160"/>
            <a:ext cx="10054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LOCAL RUN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7"/>
          <p:cNvSpPr/>
          <p:nvPr/>
        </p:nvSpPr>
        <p:spPr>
          <a:xfrm>
            <a:off x="731520" y="6236280"/>
            <a:ext cx="4205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FE6FF"/>
                </a:solidFill>
                <a:effectLst/>
                <a:uFillTx/>
                <a:latin typeface="Segoe UI"/>
                <a:ea typeface="Segoe UI"/>
              </a:rPr>
              <a:t>Facilitator + participant deck  |  FY27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THE WORKSHOP PROMISE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567000" y="1033200"/>
            <a:ext cx="7589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By minute 60, </a:t>
            </a:r>
            <a:r>
              <a:rPr lang="en-US" sz="26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one source</a:t>
            </a:r>
            <a:r>
              <a:rPr lang="en-US" sz="26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 becomes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one working local agent.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658440" y="2432160"/>
            <a:ext cx="3657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1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FOUR WORKSHOP OUTCOMES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658440" y="279792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696600" y="281268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987480" y="2779920"/>
            <a:ext cx="6071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Install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the RAPP Brainstem locally and sign in with GitHub.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658440" y="343800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696600" y="345276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987480" y="3420000"/>
            <a:ext cx="6071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Author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one *_agent.py file from your source document.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658440" y="407808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696600" y="409284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987480" y="4060080"/>
            <a:ext cx="6071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Run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it locally at localhost:7071 and test the behavior.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8"/>
          <p:cNvSpPr/>
          <p:nvPr/>
        </p:nvSpPr>
        <p:spPr>
          <a:xfrm>
            <a:off x="658440" y="471816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9"/>
          <p:cNvSpPr/>
          <p:nvPr/>
        </p:nvSpPr>
        <p:spPr>
          <a:xfrm>
            <a:off x="696600" y="473292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0"/>
          <p:cNvSpPr/>
          <p:nvPr/>
        </p:nvSpPr>
        <p:spPr>
          <a:xfrm>
            <a:off x="987480" y="4700160"/>
            <a:ext cx="6071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Share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the one-file agent with a teammate to reuse.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1"/>
          <p:cNvSpPr/>
          <p:nvPr/>
        </p:nvSpPr>
        <p:spPr>
          <a:xfrm>
            <a:off x="7635240" y="1152000"/>
            <a:ext cx="3821760" cy="448020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2"/>
          <p:cNvSpPr/>
          <p:nvPr/>
        </p:nvSpPr>
        <p:spPr>
          <a:xfrm>
            <a:off x="7973640" y="146304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79" strike="noStrike">
                <a:solidFill>
                  <a:srgbClr val="CFE8FF"/>
                </a:solidFill>
                <a:effectLst/>
                <a:uFillTx/>
                <a:latin typeface="Segoe UI Semibold"/>
                <a:ea typeface="Segoe UI Semibold"/>
              </a:rPr>
              <a:t>WHAT YOU WALK OUT WITH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3"/>
          <p:cNvSpPr/>
          <p:nvPr/>
        </p:nvSpPr>
        <p:spPr>
          <a:xfrm>
            <a:off x="7882200" y="1993320"/>
            <a:ext cx="914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×1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4"/>
          <p:cNvSpPr/>
          <p:nvPr/>
        </p:nvSpPr>
        <p:spPr>
          <a:xfrm>
            <a:off x="8796600" y="206640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SOURCE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5"/>
          <p:cNvSpPr/>
          <p:nvPr/>
        </p:nvSpPr>
        <p:spPr>
          <a:xfrm>
            <a:off x="8796600" y="235908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8FF"/>
                </a:solidFill>
                <a:effectLst/>
                <a:uFillTx/>
                <a:latin typeface="Segoe UI"/>
                <a:ea typeface="Segoe UI"/>
              </a:rPr>
              <a:t>one discovery document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6"/>
          <p:cNvSpPr/>
          <p:nvPr/>
        </p:nvSpPr>
        <p:spPr>
          <a:xfrm>
            <a:off x="8192880" y="2743200"/>
            <a:ext cx="310680" cy="365400"/>
          </a:xfrm>
          <a:prstGeom prst="chevron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7"/>
          <p:cNvSpPr/>
          <p:nvPr/>
        </p:nvSpPr>
        <p:spPr>
          <a:xfrm>
            <a:off x="7882200" y="3200400"/>
            <a:ext cx="914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×1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8"/>
          <p:cNvSpPr/>
          <p:nvPr/>
        </p:nvSpPr>
        <p:spPr>
          <a:xfrm>
            <a:off x="8796600" y="327348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AGENT FILE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9"/>
          <p:cNvSpPr/>
          <p:nvPr/>
        </p:nvSpPr>
        <p:spPr>
          <a:xfrm>
            <a:off x="8796600" y="356616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8FF"/>
                </a:solidFill>
                <a:effectLst/>
                <a:uFillTx/>
                <a:latin typeface="Segoe UI"/>
                <a:ea typeface="Segoe UI"/>
              </a:rPr>
              <a:t>one portable *_agent.py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0"/>
          <p:cNvSpPr/>
          <p:nvPr/>
        </p:nvSpPr>
        <p:spPr>
          <a:xfrm>
            <a:off x="8192880" y="3950280"/>
            <a:ext cx="310680" cy="365400"/>
          </a:xfrm>
          <a:prstGeom prst="chevron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1"/>
          <p:cNvSpPr/>
          <p:nvPr/>
        </p:nvSpPr>
        <p:spPr>
          <a:xfrm>
            <a:off x="7882200" y="4407480"/>
            <a:ext cx="914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×1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2"/>
          <p:cNvSpPr/>
          <p:nvPr/>
        </p:nvSpPr>
        <p:spPr>
          <a:xfrm>
            <a:off x="8796600" y="448056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LOCAL PROTOTYPE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3"/>
          <p:cNvSpPr/>
          <p:nvPr/>
        </p:nvSpPr>
        <p:spPr>
          <a:xfrm>
            <a:off x="8796600" y="477324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CFE8FF"/>
                </a:solidFill>
                <a:effectLst/>
                <a:uFillTx/>
                <a:latin typeface="Segoe UI"/>
                <a:ea typeface="Segoe UI"/>
              </a:rPr>
              <a:t>running at localhost:7071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4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02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RUN OF SHOW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One hour, weighted toward hands-on work.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658440" y="2286000"/>
            <a:ext cx="1813320" cy="914040"/>
          </a:xfrm>
          <a:prstGeom prst="roundRect">
            <a:avLst>
              <a:gd name="adj" fmla="val 16667"/>
            </a:avLst>
          </a:prstGeom>
          <a:solidFill>
            <a:srgbClr val="103A6B"/>
          </a:solidFill>
          <a:ln w="1397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704160" y="2459880"/>
            <a:ext cx="1721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00-10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0"/>
          <p:cNvSpPr/>
          <p:nvPr/>
        </p:nvSpPr>
        <p:spPr>
          <a:xfrm>
            <a:off x="704160" y="2724840"/>
            <a:ext cx="1721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ALIGN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1"/>
          <p:cNvSpPr/>
          <p:nvPr/>
        </p:nvSpPr>
        <p:spPr>
          <a:xfrm>
            <a:off x="2471760" y="2286000"/>
            <a:ext cx="906480" cy="914040"/>
          </a:xfrm>
          <a:prstGeom prst="rect">
            <a:avLst/>
          </a:prstGeom>
          <a:solidFill>
            <a:srgbClr val="D83B01"/>
          </a:solidFill>
          <a:ln w="1397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2"/>
          <p:cNvSpPr/>
          <p:nvPr/>
        </p:nvSpPr>
        <p:spPr>
          <a:xfrm>
            <a:off x="2517480" y="2459880"/>
            <a:ext cx="8150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10-15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2517480" y="2724840"/>
            <a:ext cx="81504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SCENARIO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3378600" y="2286000"/>
            <a:ext cx="1813320" cy="914040"/>
          </a:xfrm>
          <a:prstGeom prst="rect">
            <a:avLst/>
          </a:prstGeom>
          <a:solidFill>
            <a:srgbClr val="0078D4"/>
          </a:solidFill>
          <a:ln w="1397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3424320" y="2459880"/>
            <a:ext cx="1721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15-25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3424320" y="2724840"/>
            <a:ext cx="1721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INSTALL + START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7"/>
          <p:cNvSpPr/>
          <p:nvPr/>
        </p:nvSpPr>
        <p:spPr>
          <a:xfrm>
            <a:off x="5192280" y="2286000"/>
            <a:ext cx="1813320" cy="914040"/>
          </a:xfrm>
          <a:prstGeom prst="rect">
            <a:avLst/>
          </a:prstGeom>
          <a:solidFill>
            <a:srgbClr val="107C10"/>
          </a:solidFill>
          <a:ln w="1397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5238000" y="2459880"/>
            <a:ext cx="1721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25-35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5238000" y="2724840"/>
            <a:ext cx="1721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AUTHOR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0"/>
          <p:cNvSpPr/>
          <p:nvPr/>
        </p:nvSpPr>
        <p:spPr>
          <a:xfrm>
            <a:off x="7005960" y="2286000"/>
            <a:ext cx="1813320" cy="914040"/>
          </a:xfrm>
          <a:prstGeom prst="rect">
            <a:avLst/>
          </a:prstGeom>
          <a:solidFill>
            <a:srgbClr val="8661C5"/>
          </a:solidFill>
          <a:ln w="1397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7051680" y="2459880"/>
            <a:ext cx="1721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35-45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2"/>
          <p:cNvSpPr/>
          <p:nvPr/>
        </p:nvSpPr>
        <p:spPr>
          <a:xfrm>
            <a:off x="7051680" y="2724840"/>
            <a:ext cx="172188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HOT-LOAD + RUN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3"/>
          <p:cNvSpPr/>
          <p:nvPr/>
        </p:nvSpPr>
        <p:spPr>
          <a:xfrm>
            <a:off x="8819280" y="2286000"/>
            <a:ext cx="1450440" cy="914040"/>
          </a:xfrm>
          <a:prstGeom prst="rect">
            <a:avLst/>
          </a:prstGeom>
          <a:solidFill>
            <a:srgbClr val="005A9E"/>
          </a:solidFill>
          <a:ln w="1397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4"/>
          <p:cNvSpPr/>
          <p:nvPr/>
        </p:nvSpPr>
        <p:spPr>
          <a:xfrm>
            <a:off x="8865000" y="2459880"/>
            <a:ext cx="135900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45-53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8865000" y="2724840"/>
            <a:ext cx="135900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TEST + REFINE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6"/>
          <p:cNvSpPr/>
          <p:nvPr/>
        </p:nvSpPr>
        <p:spPr>
          <a:xfrm>
            <a:off x="10270080" y="2286000"/>
            <a:ext cx="725040" cy="914040"/>
          </a:xfrm>
          <a:prstGeom prst="rect">
            <a:avLst/>
          </a:prstGeom>
          <a:solidFill>
            <a:srgbClr val="D83B01"/>
          </a:solidFill>
          <a:ln w="1397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7"/>
          <p:cNvSpPr/>
          <p:nvPr/>
        </p:nvSpPr>
        <p:spPr>
          <a:xfrm>
            <a:off x="10315800" y="2459880"/>
            <a:ext cx="63360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53-57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8"/>
          <p:cNvSpPr/>
          <p:nvPr/>
        </p:nvSpPr>
        <p:spPr>
          <a:xfrm>
            <a:off x="10315800" y="2724840"/>
            <a:ext cx="63360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9"/>
          <p:cNvSpPr/>
          <p:nvPr/>
        </p:nvSpPr>
        <p:spPr>
          <a:xfrm>
            <a:off x="10995840" y="2286000"/>
            <a:ext cx="543600" cy="914040"/>
          </a:xfrm>
          <a:prstGeom prst="roundRect">
            <a:avLst>
              <a:gd name="adj" fmla="val 16667"/>
            </a:avLst>
          </a:prstGeom>
          <a:solidFill>
            <a:srgbClr val="0B560B"/>
          </a:solidFill>
          <a:ln w="1397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0"/>
          <p:cNvSpPr/>
          <p:nvPr/>
        </p:nvSpPr>
        <p:spPr>
          <a:xfrm>
            <a:off x="11041560" y="2459880"/>
            <a:ext cx="452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57-60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1"/>
          <p:cNvSpPr/>
          <p:nvPr/>
        </p:nvSpPr>
        <p:spPr>
          <a:xfrm>
            <a:off x="11041560" y="2724840"/>
            <a:ext cx="45216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DCEEFF"/>
                </a:solidFill>
                <a:effectLst/>
                <a:uFillTx/>
                <a:latin typeface="Segoe UI Semibold"/>
                <a:ea typeface="Segoe UI Semibold"/>
              </a:rPr>
              <a:t>OPTIONAL + CLOSE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2"/>
          <p:cNvSpPr/>
          <p:nvPr/>
        </p:nvSpPr>
        <p:spPr>
          <a:xfrm>
            <a:off x="658440" y="345636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3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KEY CHECKPOINTS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3"/>
          <p:cNvSpPr/>
          <p:nvPr/>
        </p:nvSpPr>
        <p:spPr>
          <a:xfrm>
            <a:off x="5123520" y="3127320"/>
            <a:ext cx="136800" cy="136800"/>
          </a:xfrm>
          <a:prstGeom prst="ellipse">
            <a:avLst/>
          </a:prstGeom>
          <a:solidFill>
            <a:srgbClr val="0078D4"/>
          </a:solidFill>
          <a:ln w="177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4"/>
          <p:cNvSpPr/>
          <p:nvPr/>
        </p:nvSpPr>
        <p:spPr>
          <a:xfrm>
            <a:off x="5191920" y="3264120"/>
            <a:ext cx="360" cy="713520"/>
          </a:xfrm>
          <a:prstGeom prst="line">
            <a:avLst/>
          </a:prstGeom>
          <a:ln w="17780">
            <a:solidFill>
              <a:srgbClr val="0078D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5"/>
          <p:cNvSpPr/>
          <p:nvPr/>
        </p:nvSpPr>
        <p:spPr>
          <a:xfrm>
            <a:off x="4483440" y="3977640"/>
            <a:ext cx="1416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36"/>
          <p:cNvSpPr/>
          <p:nvPr/>
        </p:nvSpPr>
        <p:spPr>
          <a:xfrm>
            <a:off x="4483440" y="3977640"/>
            <a:ext cx="1416960" cy="82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7"/>
          <p:cNvSpPr/>
          <p:nvPr/>
        </p:nvSpPr>
        <p:spPr>
          <a:xfrm>
            <a:off x="4574880" y="4178880"/>
            <a:ext cx="1234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MIN </a:t>
            </a:r>
            <a:r>
              <a:rPr lang="en-US" sz="26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25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8"/>
          <p:cNvSpPr/>
          <p:nvPr/>
        </p:nvSpPr>
        <p:spPr>
          <a:xfrm>
            <a:off x="4574880" y="469080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Brainstem live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9"/>
          <p:cNvSpPr/>
          <p:nvPr/>
        </p:nvSpPr>
        <p:spPr>
          <a:xfrm>
            <a:off x="4574880" y="494676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Local server up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0"/>
          <p:cNvSpPr/>
          <p:nvPr/>
        </p:nvSpPr>
        <p:spPr>
          <a:xfrm>
            <a:off x="6937200" y="3127320"/>
            <a:ext cx="136800" cy="136800"/>
          </a:xfrm>
          <a:prstGeom prst="ellipse">
            <a:avLst/>
          </a:prstGeom>
          <a:solidFill>
            <a:srgbClr val="107C10"/>
          </a:solidFill>
          <a:ln w="177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1"/>
          <p:cNvSpPr/>
          <p:nvPr/>
        </p:nvSpPr>
        <p:spPr>
          <a:xfrm>
            <a:off x="7005600" y="3264120"/>
            <a:ext cx="360" cy="713520"/>
          </a:xfrm>
          <a:prstGeom prst="line">
            <a:avLst/>
          </a:prstGeom>
          <a:ln w="17780">
            <a:solidFill>
              <a:srgbClr val="107C1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2"/>
          <p:cNvSpPr/>
          <p:nvPr/>
        </p:nvSpPr>
        <p:spPr>
          <a:xfrm>
            <a:off x="6297120" y="3977640"/>
            <a:ext cx="1416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3"/>
          <p:cNvSpPr/>
          <p:nvPr/>
        </p:nvSpPr>
        <p:spPr>
          <a:xfrm>
            <a:off x="6297120" y="3977640"/>
            <a:ext cx="1416960" cy="820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4"/>
          <p:cNvSpPr/>
          <p:nvPr/>
        </p:nvSpPr>
        <p:spPr>
          <a:xfrm>
            <a:off x="6388560" y="4178880"/>
            <a:ext cx="1234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MIN </a:t>
            </a:r>
            <a:r>
              <a:rPr lang="en-US" sz="260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35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5"/>
          <p:cNvSpPr/>
          <p:nvPr/>
        </p:nvSpPr>
        <p:spPr>
          <a:xfrm>
            <a:off x="6388560" y="469080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Agent authored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6"/>
          <p:cNvSpPr/>
          <p:nvPr/>
        </p:nvSpPr>
        <p:spPr>
          <a:xfrm>
            <a:off x="6388560" y="494676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*_agent.py written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7"/>
          <p:cNvSpPr/>
          <p:nvPr/>
        </p:nvSpPr>
        <p:spPr>
          <a:xfrm>
            <a:off x="8750880" y="3127320"/>
            <a:ext cx="136800" cy="136800"/>
          </a:xfrm>
          <a:prstGeom prst="ellipse">
            <a:avLst/>
          </a:prstGeom>
          <a:solidFill>
            <a:srgbClr val="8661C5"/>
          </a:solidFill>
          <a:ln w="177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48"/>
          <p:cNvSpPr/>
          <p:nvPr/>
        </p:nvSpPr>
        <p:spPr>
          <a:xfrm>
            <a:off x="8819280" y="3264120"/>
            <a:ext cx="360" cy="713520"/>
          </a:xfrm>
          <a:prstGeom prst="line">
            <a:avLst/>
          </a:prstGeom>
          <a:ln w="17780">
            <a:solidFill>
              <a:srgbClr val="8661C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9"/>
          <p:cNvSpPr/>
          <p:nvPr/>
        </p:nvSpPr>
        <p:spPr>
          <a:xfrm>
            <a:off x="8110800" y="3977640"/>
            <a:ext cx="1416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0"/>
          <p:cNvSpPr/>
          <p:nvPr/>
        </p:nvSpPr>
        <p:spPr>
          <a:xfrm>
            <a:off x="8110800" y="3977640"/>
            <a:ext cx="1416960" cy="8208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1"/>
          <p:cNvSpPr/>
          <p:nvPr/>
        </p:nvSpPr>
        <p:spPr>
          <a:xfrm>
            <a:off x="8202240" y="4178880"/>
            <a:ext cx="1234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MIN </a:t>
            </a:r>
            <a:r>
              <a:rPr lang="en-US" sz="260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45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2"/>
          <p:cNvSpPr/>
          <p:nvPr/>
        </p:nvSpPr>
        <p:spPr>
          <a:xfrm>
            <a:off x="8202240" y="469080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Runs locally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3"/>
          <p:cNvSpPr/>
          <p:nvPr/>
        </p:nvSpPr>
        <p:spPr>
          <a:xfrm>
            <a:off x="8202240" y="494676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Discovered + runs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54"/>
          <p:cNvSpPr/>
          <p:nvPr/>
        </p:nvSpPr>
        <p:spPr>
          <a:xfrm>
            <a:off x="10201680" y="3127320"/>
            <a:ext cx="136800" cy="136800"/>
          </a:xfrm>
          <a:prstGeom prst="ellipse">
            <a:avLst/>
          </a:prstGeom>
          <a:solidFill>
            <a:srgbClr val="D83B01"/>
          </a:solidFill>
          <a:ln w="177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5"/>
          <p:cNvSpPr/>
          <p:nvPr/>
        </p:nvSpPr>
        <p:spPr>
          <a:xfrm>
            <a:off x="10270080" y="3264120"/>
            <a:ext cx="360" cy="713520"/>
          </a:xfrm>
          <a:prstGeom prst="line">
            <a:avLst/>
          </a:prstGeom>
          <a:ln w="17780">
            <a:solidFill>
              <a:srgbClr val="D83B0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56"/>
          <p:cNvSpPr/>
          <p:nvPr/>
        </p:nvSpPr>
        <p:spPr>
          <a:xfrm>
            <a:off x="9561600" y="3977640"/>
            <a:ext cx="1416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7"/>
          <p:cNvSpPr/>
          <p:nvPr/>
        </p:nvSpPr>
        <p:spPr>
          <a:xfrm>
            <a:off x="9561600" y="3977640"/>
            <a:ext cx="1416960" cy="8208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8"/>
          <p:cNvSpPr/>
          <p:nvPr/>
        </p:nvSpPr>
        <p:spPr>
          <a:xfrm>
            <a:off x="9653040" y="4178880"/>
            <a:ext cx="1234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MIN </a:t>
            </a:r>
            <a:r>
              <a:rPr lang="en-US" sz="260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53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9"/>
          <p:cNvSpPr/>
          <p:nvPr/>
        </p:nvSpPr>
        <p:spPr>
          <a:xfrm>
            <a:off x="9653040" y="469080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Agent tested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0"/>
          <p:cNvSpPr/>
          <p:nvPr/>
        </p:nvSpPr>
        <p:spPr>
          <a:xfrm>
            <a:off x="9653040" y="494676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Evidence captured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61"/>
          <p:cNvSpPr/>
          <p:nvPr/>
        </p:nvSpPr>
        <p:spPr>
          <a:xfrm>
            <a:off x="658440" y="5742360"/>
            <a:ext cx="6309000" cy="456840"/>
          </a:xfrm>
          <a:prstGeom prst="roundRect">
            <a:avLst>
              <a:gd name="adj" fmla="val 12000"/>
            </a:avLst>
          </a:prstGeom>
          <a:solidFill>
            <a:srgbClr val="DCEEFF"/>
          </a:solidFill>
          <a:ln w="12700">
            <a:solidFill>
              <a:srgbClr val="005A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2"/>
          <p:cNvSpPr/>
          <p:nvPr/>
        </p:nvSpPr>
        <p:spPr>
          <a:xfrm>
            <a:off x="868680" y="5852160"/>
            <a:ext cx="5943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HANDS-ON FROM MINUTE 15:  </a:t>
            </a:r>
            <a:r>
              <a:rPr lang="en-US" sz="1150" b="0" u="none" strike="noStrike">
                <a:solidFill>
                  <a:srgbClr val="3B3A39"/>
                </a:solidFill>
                <a:effectLst/>
                <a:uFillTx/>
                <a:latin typeface="Segoe UI Semibold"/>
                <a:ea typeface="Segoe UI Semibold"/>
              </a:rPr>
              <a:t>install → author → run → share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63"/>
          <p:cNvSpPr/>
          <p:nvPr/>
        </p:nvSpPr>
        <p:spPr>
          <a:xfrm>
            <a:off x="7223760" y="5852160"/>
            <a:ext cx="4205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15 min align + scenario, then 45 min building locally.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4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03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THE MENTAL MODEL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567000" y="1033200"/>
            <a:ext cx="89607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RAPP is the </a:t>
            </a:r>
            <a:r>
              <a:rPr lang="en-US" sz="26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on-ramp</a:t>
            </a:r>
            <a:r>
              <a:rPr lang="en-US" sz="26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, not another destination.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594360" y="1938600"/>
            <a:ext cx="5028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It turns customer evidence into one portable, local agent file, then — only if you need it — extends into the Microsoft stack.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9"/>
          <p:cNvSpPr/>
          <p:nvPr/>
        </p:nvSpPr>
        <p:spPr>
          <a:xfrm>
            <a:off x="594360" y="2761560"/>
            <a:ext cx="4617360" cy="1572480"/>
          </a:xfrm>
          <a:prstGeom prst="roundRect">
            <a:avLst>
              <a:gd name="adj" fmla="val 16667"/>
            </a:avLst>
          </a:prstGeom>
          <a:solidFill>
            <a:srgbClr val="EAF4FD"/>
          </a:solidFill>
          <a:ln w="12700">
            <a:solidFill>
              <a:srgbClr val="BFE6FF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868680" y="3044880"/>
            <a:ext cx="566640" cy="5666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951120" y="320040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1600200" y="30358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Customer evidence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1600200" y="3401640"/>
            <a:ext cx="3337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Transcript, requirements, notes, tables, or existing agent source.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5139000" y="2962800"/>
            <a:ext cx="959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pc="40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TRANSLATES INTO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5212080" y="3547800"/>
            <a:ext cx="566640" cy="360"/>
          </a:xfrm>
          <a:prstGeom prst="line">
            <a:avLst/>
          </a:prstGeom>
          <a:ln w="3048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6"/>
          <p:cNvSpPr/>
          <p:nvPr/>
        </p:nvSpPr>
        <p:spPr>
          <a:xfrm>
            <a:off x="5742360" y="3355920"/>
            <a:ext cx="237600" cy="383760"/>
          </a:xfrm>
          <a:prstGeom prst="chevron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6080760" y="1572840"/>
            <a:ext cx="5486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OUT   </a:t>
            </a:r>
            <a:r>
              <a:rPr lang="en-US" sz="1100" b="0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three tiers — start local, extend only if needed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594360" y="4590360"/>
            <a:ext cx="46173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For this workshop, RAPP = the local five-step Brainstem workflow: Sign in → Start → Author → Run → Share.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9"/>
          <p:cNvSpPr/>
          <p:nvPr/>
        </p:nvSpPr>
        <p:spPr>
          <a:xfrm>
            <a:off x="6080760" y="2212920"/>
            <a:ext cx="1737000" cy="2614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0"/>
          <p:cNvSpPr/>
          <p:nvPr/>
        </p:nvSpPr>
        <p:spPr>
          <a:xfrm>
            <a:off x="6300360" y="2084760"/>
            <a:ext cx="1298160" cy="27396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1"/>
          <p:cNvSpPr/>
          <p:nvPr/>
        </p:nvSpPr>
        <p:spPr>
          <a:xfrm>
            <a:off x="6300360" y="2121480"/>
            <a:ext cx="1298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pc="31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THIS WORKSHOP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2"/>
          <p:cNvSpPr/>
          <p:nvPr/>
        </p:nvSpPr>
        <p:spPr>
          <a:xfrm>
            <a:off x="6190560" y="2414160"/>
            <a:ext cx="1517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79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TIER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3"/>
          <p:cNvSpPr/>
          <p:nvPr/>
        </p:nvSpPr>
        <p:spPr>
          <a:xfrm>
            <a:off x="6647760" y="2706480"/>
            <a:ext cx="603000" cy="6030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4"/>
          <p:cNvSpPr/>
          <p:nvPr/>
        </p:nvSpPr>
        <p:spPr>
          <a:xfrm>
            <a:off x="6647760" y="2724840"/>
            <a:ext cx="603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{ }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5"/>
          <p:cNvSpPr/>
          <p:nvPr/>
        </p:nvSpPr>
        <p:spPr>
          <a:xfrm>
            <a:off x="6172200" y="354780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RAPP Brainstem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6"/>
          <p:cNvSpPr/>
          <p:nvPr/>
        </p:nvSpPr>
        <p:spPr>
          <a:xfrm>
            <a:off x="6190560" y="4023360"/>
            <a:ext cx="1517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Local agents on your own machine.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7"/>
          <p:cNvSpPr/>
          <p:nvPr/>
        </p:nvSpPr>
        <p:spPr>
          <a:xfrm>
            <a:off x="7822800" y="3401640"/>
            <a:ext cx="100080" cy="237240"/>
          </a:xfrm>
          <a:prstGeom prst="chevron">
            <a:avLst>
              <a:gd name="adj" fmla="val 50000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8"/>
          <p:cNvSpPr/>
          <p:nvPr/>
        </p:nvSpPr>
        <p:spPr>
          <a:xfrm>
            <a:off x="7927920" y="2212920"/>
            <a:ext cx="1737000" cy="261468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9"/>
          <p:cNvSpPr/>
          <p:nvPr/>
        </p:nvSpPr>
        <p:spPr>
          <a:xfrm>
            <a:off x="8147160" y="2084760"/>
            <a:ext cx="1298160" cy="273960"/>
          </a:xfrm>
          <a:prstGeom prst="roundRect">
            <a:avLst>
              <a:gd name="adj" fmla="val 16667"/>
            </a:avLst>
          </a:prstGeom>
          <a:solidFill>
            <a:srgbClr val="605E5C"/>
          </a:solidFill>
          <a:ln w="12700">
            <a:solidFill>
              <a:srgbClr val="605E5C">
                <a:alpha val="0"/>
              </a:srgbClr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0"/>
          <p:cNvSpPr/>
          <p:nvPr/>
        </p:nvSpPr>
        <p:spPr>
          <a:xfrm>
            <a:off x="8147160" y="2121480"/>
            <a:ext cx="1298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pc="31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OPTIONAL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1"/>
          <p:cNvSpPr/>
          <p:nvPr/>
        </p:nvSpPr>
        <p:spPr>
          <a:xfrm>
            <a:off x="8037720" y="2414160"/>
            <a:ext cx="1517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7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TIER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Image 0" descr="Azure AI Foundry"/>
          <p:cNvPicPr/>
          <p:nvPr/>
        </p:nvPicPr>
        <p:blipFill>
          <a:blip r:embed="rId1">
            <a:alphaModFix amt="76000"/>
          </a:blip>
          <a:stretch/>
        </p:blipFill>
        <p:spPr>
          <a:xfrm>
            <a:off x="8458200" y="2706480"/>
            <a:ext cx="67644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 32"/>
          <p:cNvSpPr/>
          <p:nvPr/>
        </p:nvSpPr>
        <p:spPr>
          <a:xfrm>
            <a:off x="8019360" y="354780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Azure AI Foundry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3"/>
          <p:cNvSpPr/>
          <p:nvPr/>
        </p:nvSpPr>
        <p:spPr>
          <a:xfrm>
            <a:off x="8037720" y="4023360"/>
            <a:ext cx="1517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Optional cloud scale-out.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4"/>
          <p:cNvSpPr/>
          <p:nvPr/>
        </p:nvSpPr>
        <p:spPr>
          <a:xfrm>
            <a:off x="9669960" y="3401640"/>
            <a:ext cx="100080" cy="237240"/>
          </a:xfrm>
          <a:prstGeom prst="chevron">
            <a:avLst>
              <a:gd name="adj" fmla="val 50000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35"/>
          <p:cNvSpPr/>
          <p:nvPr/>
        </p:nvSpPr>
        <p:spPr>
          <a:xfrm>
            <a:off x="9775080" y="2212920"/>
            <a:ext cx="1737000" cy="261468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6"/>
          <p:cNvSpPr/>
          <p:nvPr/>
        </p:nvSpPr>
        <p:spPr>
          <a:xfrm>
            <a:off x="9994320" y="2084760"/>
            <a:ext cx="1298160" cy="273960"/>
          </a:xfrm>
          <a:prstGeom prst="roundRect">
            <a:avLst>
              <a:gd name="adj" fmla="val 16667"/>
            </a:avLst>
          </a:prstGeom>
          <a:solidFill>
            <a:srgbClr val="605E5C"/>
          </a:solidFill>
          <a:ln w="12700">
            <a:solidFill>
              <a:srgbClr val="605E5C">
                <a:alpha val="0"/>
              </a:srgbClr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7"/>
          <p:cNvSpPr/>
          <p:nvPr/>
        </p:nvSpPr>
        <p:spPr>
          <a:xfrm>
            <a:off x="9994320" y="2121480"/>
            <a:ext cx="12981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1" u="none" spc="31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OPTIONAL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8"/>
          <p:cNvSpPr/>
          <p:nvPr/>
        </p:nvSpPr>
        <p:spPr>
          <a:xfrm>
            <a:off x="9884520" y="2414160"/>
            <a:ext cx="1517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7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TIER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1" descr="Copilot Studio"/>
          <p:cNvPicPr/>
          <p:nvPr/>
        </p:nvPicPr>
        <p:blipFill>
          <a:blip r:embed="rId2">
            <a:alphaModFix amt="76000"/>
          </a:blip>
          <a:stretch/>
        </p:blipFill>
        <p:spPr>
          <a:xfrm>
            <a:off x="10305360" y="2706480"/>
            <a:ext cx="676440" cy="67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 39"/>
          <p:cNvSpPr/>
          <p:nvPr/>
        </p:nvSpPr>
        <p:spPr>
          <a:xfrm>
            <a:off x="9866520" y="3547800"/>
            <a:ext cx="1554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Copilot Studio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0"/>
          <p:cNvSpPr/>
          <p:nvPr/>
        </p:nvSpPr>
        <p:spPr>
          <a:xfrm>
            <a:off x="9884520" y="4023360"/>
            <a:ext cx="15174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Optional M365 packaging.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1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04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THE RAPP PROCESS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Five local steps. Three explicit human decisions.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8"/>
          <p:cNvSpPr/>
          <p:nvPr/>
        </p:nvSpPr>
        <p:spPr>
          <a:xfrm>
            <a:off x="658440" y="1938600"/>
            <a:ext cx="1965600" cy="239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658440" y="1938600"/>
            <a:ext cx="1965600" cy="910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0"/>
          <p:cNvSpPr/>
          <p:nvPr/>
        </p:nvSpPr>
        <p:spPr>
          <a:xfrm>
            <a:off x="1293840" y="2212920"/>
            <a:ext cx="694440" cy="694440"/>
          </a:xfrm>
          <a:prstGeom prst="ellipse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1293840" y="2331720"/>
            <a:ext cx="69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804600" y="3127320"/>
            <a:ext cx="167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pc="79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SIGN IN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822960" y="3529440"/>
            <a:ext cx="1636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Authenticate with your GitHub Copilot account.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4"/>
          <p:cNvSpPr/>
          <p:nvPr/>
        </p:nvSpPr>
        <p:spPr>
          <a:xfrm>
            <a:off x="2747880" y="2724840"/>
            <a:ext cx="249120" cy="40212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5"/>
          <p:cNvSpPr/>
          <p:nvPr/>
        </p:nvSpPr>
        <p:spPr>
          <a:xfrm>
            <a:off x="2926080" y="1938600"/>
            <a:ext cx="1965600" cy="239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6"/>
          <p:cNvSpPr/>
          <p:nvPr/>
        </p:nvSpPr>
        <p:spPr>
          <a:xfrm>
            <a:off x="2926080" y="1938600"/>
            <a:ext cx="1965600" cy="910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7"/>
          <p:cNvSpPr/>
          <p:nvPr/>
        </p:nvSpPr>
        <p:spPr>
          <a:xfrm>
            <a:off x="3561480" y="2212920"/>
            <a:ext cx="694440" cy="694440"/>
          </a:xfrm>
          <a:prstGeom prst="ellipse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8"/>
          <p:cNvSpPr/>
          <p:nvPr/>
        </p:nvSpPr>
        <p:spPr>
          <a:xfrm>
            <a:off x="3561480" y="2331720"/>
            <a:ext cx="69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9"/>
          <p:cNvSpPr/>
          <p:nvPr/>
        </p:nvSpPr>
        <p:spPr>
          <a:xfrm>
            <a:off x="3072240" y="3127320"/>
            <a:ext cx="167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pc="79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START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0"/>
          <p:cNvSpPr/>
          <p:nvPr/>
        </p:nvSpPr>
        <p:spPr>
          <a:xfrm>
            <a:off x="3090600" y="3529440"/>
            <a:ext cx="1636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Install and launch the Brainstem locally.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1"/>
          <p:cNvSpPr/>
          <p:nvPr/>
        </p:nvSpPr>
        <p:spPr>
          <a:xfrm>
            <a:off x="5015520" y="2724840"/>
            <a:ext cx="249120" cy="40212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2"/>
          <p:cNvSpPr/>
          <p:nvPr/>
        </p:nvSpPr>
        <p:spPr>
          <a:xfrm>
            <a:off x="5193720" y="1938600"/>
            <a:ext cx="1965600" cy="239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3"/>
          <p:cNvSpPr/>
          <p:nvPr/>
        </p:nvSpPr>
        <p:spPr>
          <a:xfrm>
            <a:off x="5193720" y="1938600"/>
            <a:ext cx="1965600" cy="9108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4"/>
          <p:cNvSpPr/>
          <p:nvPr/>
        </p:nvSpPr>
        <p:spPr>
          <a:xfrm>
            <a:off x="5829480" y="2212920"/>
            <a:ext cx="694440" cy="694440"/>
          </a:xfrm>
          <a:prstGeom prst="ellipse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5"/>
          <p:cNvSpPr/>
          <p:nvPr/>
        </p:nvSpPr>
        <p:spPr>
          <a:xfrm>
            <a:off x="5829480" y="2331720"/>
            <a:ext cx="69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6"/>
          <p:cNvSpPr/>
          <p:nvPr/>
        </p:nvSpPr>
        <p:spPr>
          <a:xfrm>
            <a:off x="5340240" y="3127320"/>
            <a:ext cx="167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pc="79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AUTHOR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7"/>
          <p:cNvSpPr/>
          <p:nvPr/>
        </p:nvSpPr>
        <p:spPr>
          <a:xfrm>
            <a:off x="5358240" y="3529440"/>
            <a:ext cx="1636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Write one *_agent.py from your source.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8"/>
          <p:cNvSpPr/>
          <p:nvPr/>
        </p:nvSpPr>
        <p:spPr>
          <a:xfrm>
            <a:off x="7283160" y="2724840"/>
            <a:ext cx="249120" cy="40212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9"/>
          <p:cNvSpPr/>
          <p:nvPr/>
        </p:nvSpPr>
        <p:spPr>
          <a:xfrm>
            <a:off x="6176520" y="4334040"/>
            <a:ext cx="360" cy="329400"/>
          </a:xfrm>
          <a:prstGeom prst="line">
            <a:avLst/>
          </a:prstGeom>
          <a:ln w="19050">
            <a:solidFill>
              <a:srgbClr val="972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0"/>
          <p:cNvSpPr/>
          <p:nvPr/>
        </p:nvSpPr>
        <p:spPr>
          <a:xfrm>
            <a:off x="6067080" y="4224600"/>
            <a:ext cx="219240" cy="219240"/>
          </a:xfrm>
          <a:prstGeom prst="diamond">
            <a:avLst/>
          </a:prstGeom>
          <a:solidFill>
            <a:srgbClr val="FFB900"/>
          </a:solidFill>
          <a:ln w="12700">
            <a:solidFill>
              <a:srgbClr val="972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1"/>
          <p:cNvSpPr/>
          <p:nvPr/>
        </p:nvSpPr>
        <p:spPr>
          <a:xfrm>
            <a:off x="5280840" y="4663440"/>
            <a:ext cx="1791720" cy="456840"/>
          </a:xfrm>
          <a:prstGeom prst="roundRect">
            <a:avLst>
              <a:gd name="adj" fmla="val 12000"/>
            </a:avLst>
          </a:prstGeom>
          <a:solidFill>
            <a:srgbClr val="FFF4CE"/>
          </a:solidFill>
          <a:ln w="15240">
            <a:solidFill>
              <a:srgbClr val="FFB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2"/>
          <p:cNvSpPr/>
          <p:nvPr/>
        </p:nvSpPr>
        <p:spPr>
          <a:xfrm>
            <a:off x="5326560" y="4773240"/>
            <a:ext cx="1700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72900"/>
                </a:solidFill>
                <a:effectLst/>
                <a:uFillTx/>
                <a:latin typeface="Segoe UI Semibold"/>
                <a:ea typeface="Segoe UI Semibold"/>
              </a:rPr>
              <a:t>CONFIRM SCOPE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3"/>
          <p:cNvSpPr/>
          <p:nvPr/>
        </p:nvSpPr>
        <p:spPr>
          <a:xfrm>
            <a:off x="7461360" y="1938600"/>
            <a:ext cx="1965600" cy="239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4"/>
          <p:cNvSpPr/>
          <p:nvPr/>
        </p:nvSpPr>
        <p:spPr>
          <a:xfrm>
            <a:off x="7461360" y="1938600"/>
            <a:ext cx="1965600" cy="9108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5"/>
          <p:cNvSpPr/>
          <p:nvPr/>
        </p:nvSpPr>
        <p:spPr>
          <a:xfrm>
            <a:off x="8097120" y="2212920"/>
            <a:ext cx="694440" cy="694440"/>
          </a:xfrm>
          <a:prstGeom prst="ellipse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6"/>
          <p:cNvSpPr/>
          <p:nvPr/>
        </p:nvSpPr>
        <p:spPr>
          <a:xfrm>
            <a:off x="8097120" y="2331720"/>
            <a:ext cx="69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7"/>
          <p:cNvSpPr/>
          <p:nvPr/>
        </p:nvSpPr>
        <p:spPr>
          <a:xfrm>
            <a:off x="7607880" y="3127320"/>
            <a:ext cx="167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pc="79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RUN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8"/>
          <p:cNvSpPr/>
          <p:nvPr/>
        </p:nvSpPr>
        <p:spPr>
          <a:xfrm>
            <a:off x="7626240" y="3529440"/>
            <a:ext cx="1636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Discover and run it at localhost:7071.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39"/>
          <p:cNvSpPr/>
          <p:nvPr/>
        </p:nvSpPr>
        <p:spPr>
          <a:xfrm>
            <a:off x="9550800" y="2724840"/>
            <a:ext cx="249120" cy="40212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0"/>
          <p:cNvSpPr/>
          <p:nvPr/>
        </p:nvSpPr>
        <p:spPr>
          <a:xfrm>
            <a:off x="8444160" y="4334040"/>
            <a:ext cx="360" cy="329400"/>
          </a:xfrm>
          <a:prstGeom prst="line">
            <a:avLst/>
          </a:prstGeom>
          <a:ln w="19050">
            <a:solidFill>
              <a:srgbClr val="972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41"/>
          <p:cNvSpPr/>
          <p:nvPr/>
        </p:nvSpPr>
        <p:spPr>
          <a:xfrm>
            <a:off x="8334720" y="4224600"/>
            <a:ext cx="219240" cy="219240"/>
          </a:xfrm>
          <a:prstGeom prst="diamond">
            <a:avLst/>
          </a:prstGeom>
          <a:solidFill>
            <a:srgbClr val="FFB900"/>
          </a:solidFill>
          <a:ln w="12700">
            <a:solidFill>
              <a:srgbClr val="972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2"/>
          <p:cNvSpPr/>
          <p:nvPr/>
        </p:nvSpPr>
        <p:spPr>
          <a:xfrm>
            <a:off x="7548480" y="4663440"/>
            <a:ext cx="1791720" cy="456840"/>
          </a:xfrm>
          <a:prstGeom prst="roundRect">
            <a:avLst>
              <a:gd name="adj" fmla="val 12000"/>
            </a:avLst>
          </a:prstGeom>
          <a:solidFill>
            <a:srgbClr val="FFF4CE"/>
          </a:solidFill>
          <a:ln w="15240">
            <a:solidFill>
              <a:srgbClr val="FFB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3"/>
          <p:cNvSpPr/>
          <p:nvPr/>
        </p:nvSpPr>
        <p:spPr>
          <a:xfrm>
            <a:off x="7594200" y="4773240"/>
            <a:ext cx="1700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72900"/>
                </a:solidFill>
                <a:effectLst/>
                <a:uFillTx/>
                <a:latin typeface="Segoe UI Semibold"/>
                <a:ea typeface="Segoe UI Semibold"/>
              </a:rPr>
              <a:t>VERIFY BEHAVIOR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4"/>
          <p:cNvSpPr/>
          <p:nvPr/>
        </p:nvSpPr>
        <p:spPr>
          <a:xfrm>
            <a:off x="9729360" y="1938600"/>
            <a:ext cx="1965600" cy="2395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45"/>
          <p:cNvSpPr/>
          <p:nvPr/>
        </p:nvSpPr>
        <p:spPr>
          <a:xfrm>
            <a:off x="9729360" y="1938600"/>
            <a:ext cx="1965600" cy="91080"/>
          </a:xfrm>
          <a:prstGeom prst="rect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46"/>
          <p:cNvSpPr/>
          <p:nvPr/>
        </p:nvSpPr>
        <p:spPr>
          <a:xfrm>
            <a:off x="10364760" y="2212920"/>
            <a:ext cx="694440" cy="694440"/>
          </a:xfrm>
          <a:prstGeom prst="ellipse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7"/>
          <p:cNvSpPr/>
          <p:nvPr/>
        </p:nvSpPr>
        <p:spPr>
          <a:xfrm>
            <a:off x="10364760" y="2331720"/>
            <a:ext cx="69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48"/>
          <p:cNvSpPr/>
          <p:nvPr/>
        </p:nvSpPr>
        <p:spPr>
          <a:xfrm>
            <a:off x="9875520" y="3127320"/>
            <a:ext cx="167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pc="79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9"/>
          <p:cNvSpPr/>
          <p:nvPr/>
        </p:nvSpPr>
        <p:spPr>
          <a:xfrm>
            <a:off x="9893880" y="3529440"/>
            <a:ext cx="1636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Hand the one-file agent to a teammate.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50"/>
          <p:cNvSpPr/>
          <p:nvPr/>
        </p:nvSpPr>
        <p:spPr>
          <a:xfrm>
            <a:off x="10712160" y="4334040"/>
            <a:ext cx="360" cy="329400"/>
          </a:xfrm>
          <a:prstGeom prst="line">
            <a:avLst/>
          </a:prstGeom>
          <a:ln w="19050">
            <a:solidFill>
              <a:srgbClr val="972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51"/>
          <p:cNvSpPr/>
          <p:nvPr/>
        </p:nvSpPr>
        <p:spPr>
          <a:xfrm>
            <a:off x="10602360" y="4224600"/>
            <a:ext cx="219240" cy="219240"/>
          </a:xfrm>
          <a:prstGeom prst="diamond">
            <a:avLst/>
          </a:prstGeom>
          <a:solidFill>
            <a:srgbClr val="FFB900"/>
          </a:solidFill>
          <a:ln w="12700">
            <a:solidFill>
              <a:srgbClr val="972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52"/>
          <p:cNvSpPr/>
          <p:nvPr/>
        </p:nvSpPr>
        <p:spPr>
          <a:xfrm>
            <a:off x="9816120" y="4663440"/>
            <a:ext cx="1791720" cy="456840"/>
          </a:xfrm>
          <a:prstGeom prst="roundRect">
            <a:avLst>
              <a:gd name="adj" fmla="val 12000"/>
            </a:avLst>
          </a:prstGeom>
          <a:solidFill>
            <a:srgbClr val="FFF4CE"/>
          </a:solidFill>
          <a:ln w="15240">
            <a:solidFill>
              <a:srgbClr val="FFB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53"/>
          <p:cNvSpPr/>
          <p:nvPr/>
        </p:nvSpPr>
        <p:spPr>
          <a:xfrm>
            <a:off x="9861840" y="4773240"/>
            <a:ext cx="1700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72900"/>
                </a:solidFill>
                <a:effectLst/>
                <a:uFillTx/>
                <a:latin typeface="Segoe UI Semibold"/>
                <a:ea typeface="Segoe UI Semibold"/>
              </a:rPr>
              <a:t>SHARE READY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54"/>
          <p:cNvSpPr/>
          <p:nvPr/>
        </p:nvSpPr>
        <p:spPr>
          <a:xfrm>
            <a:off x="3675960" y="4791600"/>
            <a:ext cx="182520" cy="182520"/>
          </a:xfrm>
          <a:prstGeom prst="diamond">
            <a:avLst/>
          </a:prstGeom>
          <a:solidFill>
            <a:srgbClr val="FFB900"/>
          </a:solidFill>
          <a:ln w="12700">
            <a:solidFill>
              <a:srgbClr val="972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5"/>
          <p:cNvSpPr/>
          <p:nvPr/>
        </p:nvSpPr>
        <p:spPr>
          <a:xfrm>
            <a:off x="3931920" y="4773240"/>
            <a:ext cx="12798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= human decision gate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6"/>
          <p:cNvSpPr/>
          <p:nvPr/>
        </p:nvSpPr>
        <p:spPr>
          <a:xfrm>
            <a:off x="2880360" y="5504760"/>
            <a:ext cx="6400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Everything runs locally on your machine — nothing ships without your say-so.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7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05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WORKSHOP SCENARIO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Our build: </a:t>
            </a:r>
            <a:r>
              <a:rPr lang="en-US" sz="280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Facilities Service Request Assistant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8"/>
          <p:cNvSpPr/>
          <p:nvPr/>
        </p:nvSpPr>
        <p:spPr>
          <a:xfrm>
            <a:off x="10515600" y="71316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9"/>
          <p:cNvSpPr/>
          <p:nvPr/>
        </p:nvSpPr>
        <p:spPr>
          <a:xfrm>
            <a:off x="10588680" y="804600"/>
            <a:ext cx="950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5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0"/>
          <p:cNvSpPr/>
          <p:nvPr/>
        </p:nvSpPr>
        <p:spPr>
          <a:xfrm>
            <a:off x="594360" y="1874520"/>
            <a:ext cx="5074560" cy="367560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1"/>
          <p:cNvSpPr/>
          <p:nvPr/>
        </p:nvSpPr>
        <p:spPr>
          <a:xfrm>
            <a:off x="896040" y="2121480"/>
            <a:ext cx="2468520" cy="310680"/>
          </a:xfrm>
          <a:prstGeom prst="roundRect">
            <a:avLst>
              <a:gd name="adj" fmla="val 16667"/>
            </a:avLst>
          </a:prstGeom>
          <a:solidFill>
            <a:srgbClr val="F9E3DB"/>
          </a:solidFill>
          <a:ln w="12700">
            <a:solidFill>
              <a:srgbClr val="F9E3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2"/>
          <p:cNvSpPr/>
          <p:nvPr/>
        </p:nvSpPr>
        <p:spPr>
          <a:xfrm>
            <a:off x="960120" y="2176200"/>
            <a:ext cx="2340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972900"/>
                </a:solidFill>
                <a:effectLst/>
                <a:uFillTx/>
                <a:latin typeface="Segoe UI Semibold"/>
                <a:ea typeface="Segoe UI Semibold"/>
              </a:rPr>
              <a:t>MEETING TRANSCRIPT EXCERPT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13"/>
          <p:cNvSpPr/>
          <p:nvPr/>
        </p:nvSpPr>
        <p:spPr>
          <a:xfrm>
            <a:off x="914400" y="2578680"/>
            <a:ext cx="4434480" cy="14810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4"/>
          <p:cNvSpPr/>
          <p:nvPr/>
        </p:nvSpPr>
        <p:spPr>
          <a:xfrm>
            <a:off x="914400" y="2578680"/>
            <a:ext cx="63720" cy="148104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5"/>
          <p:cNvSpPr/>
          <p:nvPr/>
        </p:nvSpPr>
        <p:spPr>
          <a:xfrm>
            <a:off x="1115640" y="2724840"/>
            <a:ext cx="411444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“Employees report building issues through email and chat. The assistant should </a:t>
            </a:r>
            <a:r>
              <a:rPr lang="en-US" sz="1250" b="1" u="none" strike="noStrike">
                <a:solidFill>
                  <a:srgbClr val="0078D4"/>
                </a:solidFill>
                <a:effectLst/>
                <a:uFillTx/>
                <a:latin typeface="Segoe UI"/>
                <a:ea typeface="Segoe UI"/>
              </a:rPr>
              <a:t>(1) collect location, issue type, and urgency</a:t>
            </a:r>
            <a:r>
              <a:rPr lang="en-US" sz="12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; </a:t>
            </a:r>
            <a:r>
              <a:rPr lang="en-US" sz="1250" b="1" u="none" strike="noStrike">
                <a:solidFill>
                  <a:srgbClr val="972900"/>
                </a:solidFill>
                <a:effectLst/>
                <a:uFillTx/>
                <a:latin typeface="Segoe UI"/>
                <a:ea typeface="Segoe UI"/>
              </a:rPr>
              <a:t>(2) summarize the request</a:t>
            </a:r>
            <a:r>
              <a:rPr lang="en-US" sz="12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; </a:t>
            </a:r>
            <a:r>
              <a:rPr lang="en-US" sz="1250" b="1" u="none" strike="noStrike">
                <a:solidFill>
                  <a:srgbClr val="0B560B"/>
                </a:solidFill>
                <a:effectLst/>
                <a:uFillTx/>
                <a:latin typeface="Segoe UI"/>
                <a:ea typeface="Segoe UI"/>
              </a:rPr>
              <a:t>(3) answer from the maintenance FAQ</a:t>
            </a:r>
            <a:r>
              <a:rPr lang="en-US" sz="12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; and </a:t>
            </a:r>
            <a:r>
              <a:rPr lang="en-US" sz="1250" b="1" u="none" strike="noStrike">
                <a:solidFill>
                  <a:srgbClr val="8661C5"/>
                </a:solidFill>
                <a:effectLst/>
                <a:uFillTx/>
                <a:latin typeface="Segoe UI"/>
                <a:ea typeface="Segoe UI"/>
              </a:rPr>
              <a:t>(4) create a synthetic service-request receipt</a:t>
            </a:r>
            <a:r>
              <a:rPr lang="en-US" sz="12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.”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6"/>
          <p:cNvSpPr/>
          <p:nvPr/>
        </p:nvSpPr>
        <p:spPr>
          <a:xfrm>
            <a:off x="914400" y="4133160"/>
            <a:ext cx="4434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i="1" u="none" strike="noStrike">
                <a:solidFill>
                  <a:srgbClr val="972900"/>
                </a:solidFill>
                <a:effectLst/>
                <a:uFillTx/>
                <a:latin typeface="Segoe UI Semibold"/>
                <a:ea typeface="Segoe UI Semibold"/>
              </a:rPr>
              <a:t>— Facilities lead, customer discovery call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7"/>
          <p:cNvSpPr/>
          <p:nvPr/>
        </p:nvSpPr>
        <p:spPr>
          <a:xfrm>
            <a:off x="914400" y="4572000"/>
            <a:ext cx="4434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60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ENOUGH SIGNAL TO BEGIN — IT NAMES: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8"/>
          <p:cNvSpPr/>
          <p:nvPr/>
        </p:nvSpPr>
        <p:spPr>
          <a:xfrm>
            <a:off x="914400" y="4864680"/>
            <a:ext cx="822600" cy="310680"/>
          </a:xfrm>
          <a:prstGeom prst="roundRect">
            <a:avLst>
              <a:gd name="adj" fmla="val 14706"/>
            </a:avLst>
          </a:prstGeom>
          <a:solidFill>
            <a:srgbClr val="DCEEFF"/>
          </a:solidFill>
          <a:ln w="10160">
            <a:solidFill>
              <a:srgbClr val="BF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9"/>
          <p:cNvSpPr/>
          <p:nvPr/>
        </p:nvSpPr>
        <p:spPr>
          <a:xfrm>
            <a:off x="914400" y="493776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USER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20"/>
          <p:cNvSpPr/>
          <p:nvPr/>
        </p:nvSpPr>
        <p:spPr>
          <a:xfrm>
            <a:off x="1810440" y="4864680"/>
            <a:ext cx="822600" cy="310680"/>
          </a:xfrm>
          <a:prstGeom prst="roundRect">
            <a:avLst>
              <a:gd name="adj" fmla="val 14706"/>
            </a:avLst>
          </a:prstGeom>
          <a:solidFill>
            <a:srgbClr val="DCEEFF"/>
          </a:solidFill>
          <a:ln w="10160">
            <a:solidFill>
              <a:srgbClr val="BF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1"/>
          <p:cNvSpPr/>
          <p:nvPr/>
        </p:nvSpPr>
        <p:spPr>
          <a:xfrm>
            <a:off x="1810440" y="493776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PROBLEM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22"/>
          <p:cNvSpPr/>
          <p:nvPr/>
        </p:nvSpPr>
        <p:spPr>
          <a:xfrm>
            <a:off x="2706480" y="4864680"/>
            <a:ext cx="822600" cy="310680"/>
          </a:xfrm>
          <a:prstGeom prst="roundRect">
            <a:avLst>
              <a:gd name="adj" fmla="val 14706"/>
            </a:avLst>
          </a:prstGeom>
          <a:solidFill>
            <a:srgbClr val="DCEEFF"/>
          </a:solidFill>
          <a:ln w="10160">
            <a:solidFill>
              <a:srgbClr val="BF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3"/>
          <p:cNvSpPr/>
          <p:nvPr/>
        </p:nvSpPr>
        <p:spPr>
          <a:xfrm>
            <a:off x="2706480" y="493776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WORKFLOW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4"/>
          <p:cNvSpPr/>
          <p:nvPr/>
        </p:nvSpPr>
        <p:spPr>
          <a:xfrm>
            <a:off x="3602880" y="4864680"/>
            <a:ext cx="822600" cy="310680"/>
          </a:xfrm>
          <a:prstGeom prst="roundRect">
            <a:avLst>
              <a:gd name="adj" fmla="val 14706"/>
            </a:avLst>
          </a:prstGeom>
          <a:solidFill>
            <a:srgbClr val="DCEEFF"/>
          </a:solidFill>
          <a:ln w="10160">
            <a:solidFill>
              <a:srgbClr val="BF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5"/>
          <p:cNvSpPr/>
          <p:nvPr/>
        </p:nvSpPr>
        <p:spPr>
          <a:xfrm>
            <a:off x="3602880" y="493776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OUTPUTS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6"/>
          <p:cNvSpPr/>
          <p:nvPr/>
        </p:nvSpPr>
        <p:spPr>
          <a:xfrm>
            <a:off x="4498920" y="4864680"/>
            <a:ext cx="822600" cy="310680"/>
          </a:xfrm>
          <a:prstGeom prst="roundRect">
            <a:avLst>
              <a:gd name="adj" fmla="val 14706"/>
            </a:avLst>
          </a:prstGeom>
          <a:solidFill>
            <a:srgbClr val="DCEEFF"/>
          </a:solidFill>
          <a:ln w="10160">
            <a:solidFill>
              <a:srgbClr val="BF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7"/>
          <p:cNvSpPr/>
          <p:nvPr/>
        </p:nvSpPr>
        <p:spPr>
          <a:xfrm>
            <a:off x="4498920" y="4937760"/>
            <a:ext cx="822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GUARDRAIL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8"/>
          <p:cNvSpPr/>
          <p:nvPr/>
        </p:nvSpPr>
        <p:spPr>
          <a:xfrm>
            <a:off x="6080760" y="1627560"/>
            <a:ext cx="4937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EACH CLAUSE → ONE LOCAL *_agent.py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9"/>
          <p:cNvSpPr/>
          <p:nvPr/>
        </p:nvSpPr>
        <p:spPr>
          <a:xfrm>
            <a:off x="6080760" y="1974960"/>
            <a:ext cx="233136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30"/>
          <p:cNvSpPr/>
          <p:nvPr/>
        </p:nvSpPr>
        <p:spPr>
          <a:xfrm>
            <a:off x="6080760" y="1974960"/>
            <a:ext cx="72720" cy="11152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1"/>
          <p:cNvSpPr/>
          <p:nvPr/>
        </p:nvSpPr>
        <p:spPr>
          <a:xfrm>
            <a:off x="6282000" y="2176200"/>
            <a:ext cx="383760" cy="383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32"/>
          <p:cNvSpPr/>
          <p:nvPr/>
        </p:nvSpPr>
        <p:spPr>
          <a:xfrm>
            <a:off x="6282000" y="2194560"/>
            <a:ext cx="383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33"/>
          <p:cNvSpPr/>
          <p:nvPr/>
        </p:nvSpPr>
        <p:spPr>
          <a:xfrm>
            <a:off x="6793920" y="2194560"/>
            <a:ext cx="1508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Intake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4"/>
          <p:cNvSpPr/>
          <p:nvPr/>
        </p:nvSpPr>
        <p:spPr>
          <a:xfrm>
            <a:off x="6793920" y="25513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intake_agent.py — collect location, type, urgency.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5"/>
          <p:cNvSpPr/>
          <p:nvPr/>
        </p:nvSpPr>
        <p:spPr>
          <a:xfrm>
            <a:off x="8686800" y="1974960"/>
            <a:ext cx="233136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6"/>
          <p:cNvSpPr/>
          <p:nvPr/>
        </p:nvSpPr>
        <p:spPr>
          <a:xfrm>
            <a:off x="8686800" y="1974960"/>
            <a:ext cx="72720" cy="111528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37"/>
          <p:cNvSpPr/>
          <p:nvPr/>
        </p:nvSpPr>
        <p:spPr>
          <a:xfrm>
            <a:off x="8888040" y="2176200"/>
            <a:ext cx="383760" cy="383760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8"/>
          <p:cNvSpPr/>
          <p:nvPr/>
        </p:nvSpPr>
        <p:spPr>
          <a:xfrm>
            <a:off x="8888040" y="2194560"/>
            <a:ext cx="383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9"/>
          <p:cNvSpPr/>
          <p:nvPr/>
        </p:nvSpPr>
        <p:spPr>
          <a:xfrm>
            <a:off x="9399960" y="2194560"/>
            <a:ext cx="1508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Triage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40"/>
          <p:cNvSpPr/>
          <p:nvPr/>
        </p:nvSpPr>
        <p:spPr>
          <a:xfrm>
            <a:off x="9399960" y="255132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triage_agent.py — classify and summarize.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41"/>
          <p:cNvSpPr/>
          <p:nvPr/>
        </p:nvSpPr>
        <p:spPr>
          <a:xfrm>
            <a:off x="6080760" y="3300840"/>
            <a:ext cx="233136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07C1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42"/>
          <p:cNvSpPr/>
          <p:nvPr/>
        </p:nvSpPr>
        <p:spPr>
          <a:xfrm>
            <a:off x="6080760" y="3300840"/>
            <a:ext cx="72720" cy="11152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43"/>
          <p:cNvSpPr/>
          <p:nvPr/>
        </p:nvSpPr>
        <p:spPr>
          <a:xfrm>
            <a:off x="6282000" y="3502080"/>
            <a:ext cx="383760" cy="38376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4"/>
          <p:cNvSpPr/>
          <p:nvPr/>
        </p:nvSpPr>
        <p:spPr>
          <a:xfrm>
            <a:off x="6282000" y="3520440"/>
            <a:ext cx="383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5"/>
          <p:cNvSpPr/>
          <p:nvPr/>
        </p:nvSpPr>
        <p:spPr>
          <a:xfrm>
            <a:off x="6793920" y="3520440"/>
            <a:ext cx="1508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Answer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6"/>
          <p:cNvSpPr/>
          <p:nvPr/>
        </p:nvSpPr>
        <p:spPr>
          <a:xfrm>
            <a:off x="6793920" y="387720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guidance_agent.py — answer from the FAQ.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47"/>
          <p:cNvSpPr/>
          <p:nvPr/>
        </p:nvSpPr>
        <p:spPr>
          <a:xfrm>
            <a:off x="8686800" y="3300840"/>
            <a:ext cx="2331360" cy="1115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661C5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48"/>
          <p:cNvSpPr/>
          <p:nvPr/>
        </p:nvSpPr>
        <p:spPr>
          <a:xfrm>
            <a:off x="8686800" y="3300840"/>
            <a:ext cx="72720" cy="111528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49"/>
          <p:cNvSpPr/>
          <p:nvPr/>
        </p:nvSpPr>
        <p:spPr>
          <a:xfrm>
            <a:off x="8888040" y="3502080"/>
            <a:ext cx="383760" cy="383760"/>
          </a:xfrm>
          <a:prstGeom prst="ellipse">
            <a:avLst/>
          </a:prstGeom>
          <a:solidFill>
            <a:srgbClr val="8661C5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0"/>
          <p:cNvSpPr/>
          <p:nvPr/>
        </p:nvSpPr>
        <p:spPr>
          <a:xfrm>
            <a:off x="8888040" y="3520440"/>
            <a:ext cx="383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51"/>
          <p:cNvSpPr/>
          <p:nvPr/>
        </p:nvSpPr>
        <p:spPr>
          <a:xfrm>
            <a:off x="9399960" y="3520440"/>
            <a:ext cx="1508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Create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2"/>
          <p:cNvSpPr/>
          <p:nvPr/>
        </p:nvSpPr>
        <p:spPr>
          <a:xfrm>
            <a:off x="9399960" y="387720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service_request_agent.py — draft a synthetic receipt.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53"/>
          <p:cNvSpPr/>
          <p:nvPr/>
        </p:nvSpPr>
        <p:spPr>
          <a:xfrm>
            <a:off x="6080760" y="4800600"/>
            <a:ext cx="4937400" cy="749520"/>
          </a:xfrm>
          <a:prstGeom prst="roundRect">
            <a:avLst>
              <a:gd name="adj" fmla="val 16667"/>
            </a:avLst>
          </a:prstGeom>
          <a:solidFill>
            <a:srgbClr val="103A6B"/>
          </a:solidFill>
          <a:ln w="12700">
            <a:solidFill>
              <a:srgbClr val="103A6B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54"/>
          <p:cNvSpPr/>
          <p:nvPr/>
        </p:nvSpPr>
        <p:spPr>
          <a:xfrm>
            <a:off x="6309360" y="507492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79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SUCCESS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5"/>
          <p:cNvSpPr/>
          <p:nvPr/>
        </p:nvSpPr>
        <p:spPr>
          <a:xfrm>
            <a:off x="7315200" y="505656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✓ </a:t>
            </a: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Runs locally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56"/>
          <p:cNvSpPr/>
          <p:nvPr/>
        </p:nvSpPr>
        <p:spPr>
          <a:xfrm>
            <a:off x="8521920" y="5010840"/>
            <a:ext cx="360" cy="329040"/>
          </a:xfrm>
          <a:prstGeom prst="line">
            <a:avLst/>
          </a:prstGeom>
          <a:ln w="10160">
            <a:solidFill>
              <a:srgbClr val="BFE6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57"/>
          <p:cNvSpPr/>
          <p:nvPr/>
        </p:nvSpPr>
        <p:spPr>
          <a:xfrm>
            <a:off x="8577000" y="505656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✓ </a:t>
            </a: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Critical flagged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58"/>
          <p:cNvSpPr/>
          <p:nvPr/>
        </p:nvSpPr>
        <p:spPr>
          <a:xfrm>
            <a:off x="9784080" y="5010840"/>
            <a:ext cx="360" cy="329040"/>
          </a:xfrm>
          <a:prstGeom prst="line">
            <a:avLst/>
          </a:prstGeom>
          <a:ln w="10160">
            <a:solidFill>
              <a:srgbClr val="BFE6FF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9"/>
          <p:cNvSpPr/>
          <p:nvPr/>
        </p:nvSpPr>
        <p:spPr>
          <a:xfrm>
            <a:off x="9838800" y="5056560"/>
            <a:ext cx="123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✓ </a:t>
            </a:r>
            <a:r>
              <a:rPr lang="en-US" sz="103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No cloud calls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60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06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WHAT GOES INTO THE AGENT?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More detail helps. More noise does not.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8"/>
          <p:cNvSpPr/>
          <p:nvPr/>
        </p:nvSpPr>
        <p:spPr>
          <a:xfrm>
            <a:off x="594360" y="1783080"/>
            <a:ext cx="3200040" cy="566640"/>
          </a:xfrm>
          <a:prstGeom prst="roundRect">
            <a:avLst>
              <a:gd name="adj" fmla="val 9677"/>
            </a:avLst>
          </a:prstGeom>
          <a:solidFill>
            <a:srgbClr val="F3F2F1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9"/>
          <p:cNvSpPr/>
          <p:nvPr/>
        </p:nvSpPr>
        <p:spPr>
          <a:xfrm>
            <a:off x="731520" y="188352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Source doc + supporting evidence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0"/>
          <p:cNvSpPr/>
          <p:nvPr/>
        </p:nvSpPr>
        <p:spPr>
          <a:xfrm>
            <a:off x="3913560" y="1847160"/>
            <a:ext cx="776880" cy="438480"/>
          </a:xfrm>
          <a:prstGeom prst="chevron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1"/>
          <p:cNvSpPr/>
          <p:nvPr/>
        </p:nvSpPr>
        <p:spPr>
          <a:xfrm>
            <a:off x="3913560" y="1965960"/>
            <a:ext cx="658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FILTER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2"/>
          <p:cNvSpPr/>
          <p:nvPr/>
        </p:nvSpPr>
        <p:spPr>
          <a:xfrm>
            <a:off x="4827960" y="1783080"/>
            <a:ext cx="2468520" cy="566640"/>
          </a:xfrm>
          <a:prstGeom prst="roundRect">
            <a:avLst>
              <a:gd name="adj" fmla="val 9677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3"/>
          <p:cNvSpPr/>
          <p:nvPr/>
        </p:nvSpPr>
        <p:spPr>
          <a:xfrm>
            <a:off x="4827960" y="18835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ONE CLEAR SIGNAL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4"/>
          <p:cNvSpPr/>
          <p:nvPr/>
        </p:nvSpPr>
        <p:spPr>
          <a:xfrm>
            <a:off x="7498080" y="18835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Right amount of context, no clutter.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5"/>
          <p:cNvSpPr/>
          <p:nvPr/>
        </p:nvSpPr>
        <p:spPr>
          <a:xfrm>
            <a:off x="594360" y="2578680"/>
            <a:ext cx="5394600" cy="2651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07C1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6"/>
          <p:cNvSpPr/>
          <p:nvPr/>
        </p:nvSpPr>
        <p:spPr>
          <a:xfrm>
            <a:off x="594360" y="2578680"/>
            <a:ext cx="5394600" cy="45684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7"/>
          <p:cNvSpPr/>
          <p:nvPr/>
        </p:nvSpPr>
        <p:spPr>
          <a:xfrm>
            <a:off x="822960" y="267912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60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BRING THIS  ·  STRONG SIGNAL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8"/>
          <p:cNvSpPr/>
          <p:nvPr/>
        </p:nvSpPr>
        <p:spPr>
          <a:xfrm>
            <a:off x="868680" y="323712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9"/>
          <p:cNvSpPr/>
          <p:nvPr/>
        </p:nvSpPr>
        <p:spPr>
          <a:xfrm>
            <a:off x="907200" y="325152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0"/>
          <p:cNvSpPr/>
          <p:nvPr/>
        </p:nvSpPr>
        <p:spPr>
          <a:xfrm>
            <a:off x="1197720" y="3218760"/>
            <a:ext cx="460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Business problem + desired outcome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1"/>
          <p:cNvSpPr/>
          <p:nvPr/>
        </p:nvSpPr>
        <p:spPr>
          <a:xfrm>
            <a:off x="868680" y="356616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2"/>
          <p:cNvSpPr/>
          <p:nvPr/>
        </p:nvSpPr>
        <p:spPr>
          <a:xfrm>
            <a:off x="907200" y="358092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3"/>
          <p:cNvSpPr/>
          <p:nvPr/>
        </p:nvSpPr>
        <p:spPr>
          <a:xfrm>
            <a:off x="1197720" y="3547800"/>
            <a:ext cx="460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Primary users and current workflow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24"/>
          <p:cNvSpPr/>
          <p:nvPr/>
        </p:nvSpPr>
        <p:spPr>
          <a:xfrm>
            <a:off x="868680" y="389520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5"/>
          <p:cNvSpPr/>
          <p:nvPr/>
        </p:nvSpPr>
        <p:spPr>
          <a:xfrm>
            <a:off x="907200" y="390996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6"/>
          <p:cNvSpPr/>
          <p:nvPr/>
        </p:nvSpPr>
        <p:spPr>
          <a:xfrm>
            <a:off x="1197720" y="3877200"/>
            <a:ext cx="460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One to three priority capabilities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7"/>
          <p:cNvSpPr/>
          <p:nvPr/>
        </p:nvSpPr>
        <p:spPr>
          <a:xfrm>
            <a:off x="868680" y="422460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8"/>
          <p:cNvSpPr/>
          <p:nvPr/>
        </p:nvSpPr>
        <p:spPr>
          <a:xfrm>
            <a:off x="907200" y="423900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9"/>
          <p:cNvSpPr/>
          <p:nvPr/>
        </p:nvSpPr>
        <p:spPr>
          <a:xfrm>
            <a:off x="1197720" y="4206240"/>
            <a:ext cx="460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Constraints, systems, success measure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30"/>
          <p:cNvSpPr/>
          <p:nvPr/>
        </p:nvSpPr>
        <p:spPr>
          <a:xfrm>
            <a:off x="868680" y="455364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31"/>
          <p:cNvSpPr/>
          <p:nvPr/>
        </p:nvSpPr>
        <p:spPr>
          <a:xfrm>
            <a:off x="907200" y="456840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2"/>
          <p:cNvSpPr/>
          <p:nvPr/>
        </p:nvSpPr>
        <p:spPr>
          <a:xfrm>
            <a:off x="1197720" y="4535280"/>
            <a:ext cx="460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Example requests + expected replies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33"/>
          <p:cNvSpPr/>
          <p:nvPr/>
        </p:nvSpPr>
        <p:spPr>
          <a:xfrm>
            <a:off x="868680" y="488304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4"/>
          <p:cNvSpPr/>
          <p:nvPr/>
        </p:nvSpPr>
        <p:spPr>
          <a:xfrm>
            <a:off x="907200" y="489744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35"/>
          <p:cNvSpPr/>
          <p:nvPr/>
        </p:nvSpPr>
        <p:spPr>
          <a:xfrm>
            <a:off x="1197720" y="4864680"/>
            <a:ext cx="4608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Named systems or synthetic sample records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36"/>
          <p:cNvSpPr/>
          <p:nvPr/>
        </p:nvSpPr>
        <p:spPr>
          <a:xfrm>
            <a:off x="6172200" y="2578680"/>
            <a:ext cx="5394600" cy="2651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37"/>
          <p:cNvSpPr/>
          <p:nvPr/>
        </p:nvSpPr>
        <p:spPr>
          <a:xfrm>
            <a:off x="6172200" y="2578680"/>
            <a:ext cx="5394600" cy="45684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8"/>
          <p:cNvSpPr/>
          <p:nvPr/>
        </p:nvSpPr>
        <p:spPr>
          <a:xfrm>
            <a:off x="6400800" y="2679120"/>
            <a:ext cx="4937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60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PREP FIRST  ·  TRIM THE NOISE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9"/>
          <p:cNvSpPr/>
          <p:nvPr/>
        </p:nvSpPr>
        <p:spPr>
          <a:xfrm>
            <a:off x="6446520" y="3273480"/>
            <a:ext cx="228240" cy="228240"/>
          </a:xfrm>
          <a:prstGeom prst="ellipse">
            <a:avLst/>
          </a:prstGeom>
          <a:solidFill>
            <a:srgbClr val="F9E3DB"/>
          </a:solidFill>
          <a:ln w="1524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0"/>
          <p:cNvSpPr/>
          <p:nvPr/>
        </p:nvSpPr>
        <p:spPr>
          <a:xfrm>
            <a:off x="6464880" y="3291840"/>
            <a:ext cx="1915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!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1"/>
          <p:cNvSpPr/>
          <p:nvPr/>
        </p:nvSpPr>
        <p:spPr>
          <a:xfrm>
            <a:off x="6784920" y="3255120"/>
            <a:ext cx="459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Remove data you are not allowed to process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42"/>
          <p:cNvSpPr/>
          <p:nvPr/>
        </p:nvSpPr>
        <p:spPr>
          <a:xfrm>
            <a:off x="6446520" y="3749040"/>
            <a:ext cx="228240" cy="228240"/>
          </a:xfrm>
          <a:prstGeom prst="ellipse">
            <a:avLst/>
          </a:prstGeom>
          <a:solidFill>
            <a:srgbClr val="F9E3DB"/>
          </a:solidFill>
          <a:ln w="1524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43"/>
          <p:cNvSpPr/>
          <p:nvPr/>
        </p:nvSpPr>
        <p:spPr>
          <a:xfrm>
            <a:off x="6464880" y="3767400"/>
            <a:ext cx="1915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!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4"/>
          <p:cNvSpPr/>
          <p:nvPr/>
        </p:nvSpPr>
        <p:spPr>
          <a:xfrm>
            <a:off x="6784920" y="3730680"/>
            <a:ext cx="459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Paste readable text — not screenshots — into your editor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45"/>
          <p:cNvSpPr/>
          <p:nvPr/>
        </p:nvSpPr>
        <p:spPr>
          <a:xfrm>
            <a:off x="6446520" y="4224600"/>
            <a:ext cx="228240" cy="228240"/>
          </a:xfrm>
          <a:prstGeom prst="ellipse">
            <a:avLst/>
          </a:prstGeom>
          <a:solidFill>
            <a:srgbClr val="F9E3DB"/>
          </a:solidFill>
          <a:ln w="1524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6"/>
          <p:cNvSpPr/>
          <p:nvPr/>
        </p:nvSpPr>
        <p:spPr>
          <a:xfrm>
            <a:off x="6464880" y="4242960"/>
            <a:ext cx="1915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!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47"/>
          <p:cNvSpPr/>
          <p:nvPr/>
        </p:nvSpPr>
        <p:spPr>
          <a:xfrm>
            <a:off x="6784920" y="4206240"/>
            <a:ext cx="459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Summarize giant document dumps to the essentials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48"/>
          <p:cNvSpPr/>
          <p:nvPr/>
        </p:nvSpPr>
        <p:spPr>
          <a:xfrm>
            <a:off x="6446520" y="4700160"/>
            <a:ext cx="228240" cy="228240"/>
          </a:xfrm>
          <a:prstGeom prst="ellipse">
            <a:avLst/>
          </a:prstGeom>
          <a:solidFill>
            <a:srgbClr val="F9E3DB"/>
          </a:solidFill>
          <a:ln w="1524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49"/>
          <p:cNvSpPr/>
          <p:nvPr/>
        </p:nvSpPr>
        <p:spPr>
          <a:xfrm>
            <a:off x="6464880" y="4718160"/>
            <a:ext cx="1915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!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0"/>
          <p:cNvSpPr/>
          <p:nvPr/>
        </p:nvSpPr>
        <p:spPr>
          <a:xfrm>
            <a:off x="6784920" y="4681800"/>
            <a:ext cx="459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Separate must-have from future ideas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51"/>
          <p:cNvSpPr/>
          <p:nvPr/>
        </p:nvSpPr>
        <p:spPr>
          <a:xfrm>
            <a:off x="594360" y="5486400"/>
            <a:ext cx="10972440" cy="749520"/>
          </a:xfrm>
          <a:prstGeom prst="roundRect">
            <a:avLst>
              <a:gd name="adj" fmla="val 9756"/>
            </a:avLst>
          </a:prstGeom>
          <a:solidFill>
            <a:srgbClr val="DCEEFF"/>
          </a:solidFill>
          <a:ln w="15240">
            <a:solidFill>
              <a:srgbClr val="005A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52"/>
          <p:cNvSpPr/>
          <p:nvPr/>
        </p:nvSpPr>
        <p:spPr>
          <a:xfrm>
            <a:off x="841320" y="5687640"/>
            <a:ext cx="347040" cy="347040"/>
          </a:xfrm>
          <a:prstGeom prst="ellipse">
            <a:avLst/>
          </a:prstGeom>
          <a:solidFill>
            <a:srgbClr val="005A9E"/>
          </a:solidFill>
          <a:ln w="12700">
            <a:solidFill>
              <a:srgbClr val="005A9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53"/>
          <p:cNvSpPr/>
          <p:nvPr/>
        </p:nvSpPr>
        <p:spPr>
          <a:xfrm>
            <a:off x="841320" y="5696640"/>
            <a:ext cx="3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{ 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54"/>
          <p:cNvSpPr/>
          <p:nvPr/>
        </p:nvSpPr>
        <p:spPr>
          <a:xfrm>
            <a:off x="1371600" y="5577840"/>
            <a:ext cx="9966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AUTHOR WITH GITHUB COPILOT:  </a:t>
            </a:r>
            <a:r>
              <a:rPr lang="en-US" sz="1250" b="0" u="none" strike="noStrike">
                <a:solidFill>
                  <a:srgbClr val="3B3A39"/>
                </a:solidFill>
                <a:effectLst/>
                <a:uFillTx/>
                <a:latin typeface="Segoe UI Semibold"/>
                <a:ea typeface="Segoe UI Semibold"/>
              </a:rPr>
              <a:t>paste your source into your editor, then ask Copilot to draft the *_agent.py — name the capability, the parameters, and what perform() returns.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55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07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STEP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Sign in with GitHub — no API keys to manage.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8"/>
          <p:cNvSpPr/>
          <p:nvPr/>
        </p:nvSpPr>
        <p:spPr>
          <a:xfrm>
            <a:off x="10515600" y="71316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9"/>
          <p:cNvSpPr/>
          <p:nvPr/>
        </p:nvSpPr>
        <p:spPr>
          <a:xfrm>
            <a:off x="10588680" y="804600"/>
            <a:ext cx="950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3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0"/>
          <p:cNvSpPr/>
          <p:nvPr/>
        </p:nvSpPr>
        <p:spPr>
          <a:xfrm>
            <a:off x="594360" y="1865520"/>
            <a:ext cx="1965600" cy="380340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1"/>
          <p:cNvSpPr/>
          <p:nvPr/>
        </p:nvSpPr>
        <p:spPr>
          <a:xfrm>
            <a:off x="841320" y="2395800"/>
            <a:ext cx="14626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1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2"/>
          <p:cNvSpPr/>
          <p:nvPr/>
        </p:nvSpPr>
        <p:spPr>
          <a:xfrm>
            <a:off x="841320" y="398664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111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SIGN 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3"/>
          <p:cNvSpPr/>
          <p:nvPr/>
        </p:nvSpPr>
        <p:spPr>
          <a:xfrm>
            <a:off x="1051560" y="4407120"/>
            <a:ext cx="1051560" cy="360"/>
          </a:xfrm>
          <a:prstGeom prst="line">
            <a:avLst/>
          </a:prstGeom>
          <a:ln w="12700">
            <a:solidFill>
              <a:srgbClr val="BFE6FF">
                <a:alpha val="6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4"/>
          <p:cNvSpPr/>
          <p:nvPr/>
        </p:nvSpPr>
        <p:spPr>
          <a:xfrm>
            <a:off x="822960" y="4572000"/>
            <a:ext cx="1499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F2FF"/>
                </a:solidFill>
                <a:effectLst/>
                <a:uFillTx/>
                <a:latin typeface="Segoe UI"/>
                <a:ea typeface="Segoe UI"/>
              </a:rPr>
              <a:t>One GitHub Copilot account. No API keys to manage.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5"/>
          <p:cNvSpPr/>
          <p:nvPr/>
        </p:nvSpPr>
        <p:spPr>
          <a:xfrm>
            <a:off x="2971800" y="1865520"/>
            <a:ext cx="4663080" cy="380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6"/>
          <p:cNvSpPr/>
          <p:nvPr/>
        </p:nvSpPr>
        <p:spPr>
          <a:xfrm>
            <a:off x="2971800" y="1865520"/>
            <a:ext cx="4663080" cy="383760"/>
          </a:xfrm>
          <a:prstGeom prst="rect">
            <a:avLst/>
          </a:prstGeom>
          <a:solidFill>
            <a:srgbClr val="F3F2F1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7"/>
          <p:cNvSpPr/>
          <p:nvPr/>
        </p:nvSpPr>
        <p:spPr>
          <a:xfrm>
            <a:off x="3117960" y="1993320"/>
            <a:ext cx="118440" cy="118440"/>
          </a:xfrm>
          <a:prstGeom prst="ellipse">
            <a:avLst/>
          </a:prstGeom>
          <a:solidFill>
            <a:srgbClr val="E85C4A"/>
          </a:solidFill>
          <a:ln w="12700">
            <a:solidFill>
              <a:srgbClr val="E85C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8"/>
          <p:cNvSpPr/>
          <p:nvPr/>
        </p:nvSpPr>
        <p:spPr>
          <a:xfrm>
            <a:off x="3319200" y="1993320"/>
            <a:ext cx="118440" cy="11844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9"/>
          <p:cNvSpPr/>
          <p:nvPr/>
        </p:nvSpPr>
        <p:spPr>
          <a:xfrm>
            <a:off x="3520440" y="1993320"/>
            <a:ext cx="118440" cy="118440"/>
          </a:xfrm>
          <a:prstGeom prst="ellipse">
            <a:avLst/>
          </a:prstGeom>
          <a:solidFill>
            <a:srgbClr val="5FB65F"/>
          </a:solidFill>
          <a:ln w="12700">
            <a:solidFill>
              <a:srgbClr val="5FB65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0"/>
          <p:cNvSpPr/>
          <p:nvPr/>
        </p:nvSpPr>
        <p:spPr>
          <a:xfrm>
            <a:off x="3813120" y="1938600"/>
            <a:ext cx="3638880" cy="23724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1"/>
          <p:cNvSpPr/>
          <p:nvPr/>
        </p:nvSpPr>
        <p:spPr>
          <a:xfrm>
            <a:off x="3931920" y="1974960"/>
            <a:ext cx="3474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github.com / login / device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2"/>
          <p:cNvSpPr/>
          <p:nvPr/>
        </p:nvSpPr>
        <p:spPr>
          <a:xfrm>
            <a:off x="3246120" y="2432160"/>
            <a:ext cx="3382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RAPP Brainstem  |  Sign 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3"/>
          <p:cNvSpPr/>
          <p:nvPr/>
        </p:nvSpPr>
        <p:spPr>
          <a:xfrm>
            <a:off x="3246120" y="2724840"/>
            <a:ext cx="4114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Authenticate with your GitHub Copilot account.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4"/>
          <p:cNvSpPr/>
          <p:nvPr/>
        </p:nvSpPr>
        <p:spPr>
          <a:xfrm>
            <a:off x="3977640" y="3346560"/>
            <a:ext cx="2651400" cy="548280"/>
          </a:xfrm>
          <a:prstGeom prst="roundRect">
            <a:avLst>
              <a:gd name="adj" fmla="val 8333"/>
            </a:avLst>
          </a:prstGeom>
          <a:solidFill>
            <a:srgbClr val="1B1A19"/>
          </a:solidFill>
          <a:ln w="12700">
            <a:solidFill>
              <a:srgbClr val="1B1A19">
                <a:alpha val="0"/>
              </a:srgbClr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5"/>
          <p:cNvSpPr/>
          <p:nvPr/>
        </p:nvSpPr>
        <p:spPr>
          <a:xfrm>
            <a:off x="4069080" y="3520440"/>
            <a:ext cx="2468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Sign in with GitHub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6"/>
          <p:cNvSpPr/>
          <p:nvPr/>
        </p:nvSpPr>
        <p:spPr>
          <a:xfrm>
            <a:off x="3429000" y="4206240"/>
            <a:ext cx="3748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Run  gh auth login  in your terminal, or enter a web device code at github.com/login/device. No API keys required.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7"/>
          <p:cNvSpPr/>
          <p:nvPr/>
        </p:nvSpPr>
        <p:spPr>
          <a:xfrm>
            <a:off x="3977640" y="4956120"/>
            <a:ext cx="2651400" cy="402120"/>
          </a:xfrm>
          <a:prstGeom prst="roundRect">
            <a:avLst>
              <a:gd name="adj" fmla="val 11364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8"/>
          <p:cNvSpPr/>
          <p:nvPr/>
        </p:nvSpPr>
        <p:spPr>
          <a:xfrm>
            <a:off x="4069080" y="502920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✓  Signed in — starting the Brainstem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9"/>
          <p:cNvSpPr/>
          <p:nvPr/>
        </p:nvSpPr>
        <p:spPr>
          <a:xfrm>
            <a:off x="8028360" y="1865520"/>
            <a:ext cx="3565800" cy="3803400"/>
          </a:xfrm>
          <a:prstGeom prst="roundRect">
            <a:avLst>
              <a:gd name="adj" fmla="val 16667"/>
            </a:avLst>
          </a:prstGeom>
          <a:solidFill>
            <a:srgbClr val="EAF4FD"/>
          </a:solidFill>
          <a:ln w="12700">
            <a:solidFill>
              <a:srgbClr val="BFE6FF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0"/>
          <p:cNvSpPr/>
          <p:nvPr/>
        </p:nvSpPr>
        <p:spPr>
          <a:xfrm>
            <a:off x="8321040" y="2157840"/>
            <a:ext cx="18284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11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PREFLIGHT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1"/>
          <p:cNvSpPr/>
          <p:nvPr/>
        </p:nvSpPr>
        <p:spPr>
          <a:xfrm>
            <a:off x="8321040" y="2432160"/>
            <a:ext cx="3108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Confirm before you build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32"/>
          <p:cNvSpPr/>
          <p:nvPr/>
        </p:nvSpPr>
        <p:spPr>
          <a:xfrm>
            <a:off x="8302680" y="290772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3"/>
          <p:cNvSpPr/>
          <p:nvPr/>
        </p:nvSpPr>
        <p:spPr>
          <a:xfrm>
            <a:off x="8341200" y="292248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4"/>
          <p:cNvSpPr/>
          <p:nvPr/>
        </p:nvSpPr>
        <p:spPr>
          <a:xfrm>
            <a:off x="8632080" y="2889360"/>
            <a:ext cx="268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Account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GitHub account with Copilot access.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5"/>
          <p:cNvSpPr/>
          <p:nvPr/>
        </p:nvSpPr>
        <p:spPr>
          <a:xfrm>
            <a:off x="8302680" y="354780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6"/>
          <p:cNvSpPr/>
          <p:nvPr/>
        </p:nvSpPr>
        <p:spPr>
          <a:xfrm>
            <a:off x="8341200" y="356256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37"/>
          <p:cNvSpPr/>
          <p:nvPr/>
        </p:nvSpPr>
        <p:spPr>
          <a:xfrm>
            <a:off x="8632080" y="3529440"/>
            <a:ext cx="268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Auth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gh CLI installed, or web device code.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38"/>
          <p:cNvSpPr/>
          <p:nvPr/>
        </p:nvSpPr>
        <p:spPr>
          <a:xfrm>
            <a:off x="8302680" y="418788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39"/>
          <p:cNvSpPr/>
          <p:nvPr/>
        </p:nvSpPr>
        <p:spPr>
          <a:xfrm>
            <a:off x="8341200" y="420264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40"/>
          <p:cNvSpPr/>
          <p:nvPr/>
        </p:nvSpPr>
        <p:spPr>
          <a:xfrm>
            <a:off x="8632080" y="4169520"/>
            <a:ext cx="268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Local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Runs on your machine at localhost:7071.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41"/>
          <p:cNvSpPr/>
          <p:nvPr/>
        </p:nvSpPr>
        <p:spPr>
          <a:xfrm>
            <a:off x="8302680" y="482796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42"/>
          <p:cNvSpPr/>
          <p:nvPr/>
        </p:nvSpPr>
        <p:spPr>
          <a:xfrm>
            <a:off x="8341200" y="484272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43"/>
          <p:cNvSpPr/>
          <p:nvPr/>
        </p:nvSpPr>
        <p:spPr>
          <a:xfrm>
            <a:off x="8632080" y="4809600"/>
            <a:ext cx="268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Fallback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Facilitator has a prebuilt demo agent.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44"/>
          <p:cNvSpPr/>
          <p:nvPr/>
        </p:nvSpPr>
        <p:spPr>
          <a:xfrm>
            <a:off x="65844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 w="1778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45"/>
          <p:cNvSpPr/>
          <p:nvPr/>
        </p:nvSpPr>
        <p:spPr>
          <a:xfrm>
            <a:off x="749880" y="5957280"/>
            <a:ext cx="255600" cy="255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46"/>
          <p:cNvSpPr/>
          <p:nvPr/>
        </p:nvSpPr>
        <p:spPr>
          <a:xfrm>
            <a:off x="77724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47"/>
          <p:cNvSpPr/>
          <p:nvPr/>
        </p:nvSpPr>
        <p:spPr>
          <a:xfrm>
            <a:off x="106992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Sign 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48"/>
          <p:cNvSpPr/>
          <p:nvPr/>
        </p:nvSpPr>
        <p:spPr>
          <a:xfrm>
            <a:off x="285300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49"/>
          <p:cNvSpPr/>
          <p:nvPr/>
        </p:nvSpPr>
        <p:spPr>
          <a:xfrm>
            <a:off x="294444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50"/>
          <p:cNvSpPr/>
          <p:nvPr/>
        </p:nvSpPr>
        <p:spPr>
          <a:xfrm>
            <a:off x="297180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51"/>
          <p:cNvSpPr/>
          <p:nvPr/>
        </p:nvSpPr>
        <p:spPr>
          <a:xfrm>
            <a:off x="326448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Start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52"/>
          <p:cNvSpPr/>
          <p:nvPr/>
        </p:nvSpPr>
        <p:spPr>
          <a:xfrm>
            <a:off x="504756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53"/>
          <p:cNvSpPr/>
          <p:nvPr/>
        </p:nvSpPr>
        <p:spPr>
          <a:xfrm>
            <a:off x="513900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54"/>
          <p:cNvSpPr/>
          <p:nvPr/>
        </p:nvSpPr>
        <p:spPr>
          <a:xfrm>
            <a:off x="516636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55"/>
          <p:cNvSpPr/>
          <p:nvPr/>
        </p:nvSpPr>
        <p:spPr>
          <a:xfrm>
            <a:off x="545904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Author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56"/>
          <p:cNvSpPr/>
          <p:nvPr/>
        </p:nvSpPr>
        <p:spPr>
          <a:xfrm>
            <a:off x="724212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57"/>
          <p:cNvSpPr/>
          <p:nvPr/>
        </p:nvSpPr>
        <p:spPr>
          <a:xfrm>
            <a:off x="733356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58"/>
          <p:cNvSpPr/>
          <p:nvPr/>
        </p:nvSpPr>
        <p:spPr>
          <a:xfrm>
            <a:off x="736092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9"/>
          <p:cNvSpPr/>
          <p:nvPr/>
        </p:nvSpPr>
        <p:spPr>
          <a:xfrm>
            <a:off x="765360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Run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60"/>
          <p:cNvSpPr/>
          <p:nvPr/>
        </p:nvSpPr>
        <p:spPr>
          <a:xfrm>
            <a:off x="943668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61"/>
          <p:cNvSpPr/>
          <p:nvPr/>
        </p:nvSpPr>
        <p:spPr>
          <a:xfrm>
            <a:off x="952812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62"/>
          <p:cNvSpPr/>
          <p:nvPr/>
        </p:nvSpPr>
        <p:spPr>
          <a:xfrm>
            <a:off x="955548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63"/>
          <p:cNvSpPr/>
          <p:nvPr/>
        </p:nvSpPr>
        <p:spPr>
          <a:xfrm>
            <a:off x="984816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64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08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STEP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Install the Brainstem, then start it locally.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8"/>
          <p:cNvSpPr/>
          <p:nvPr/>
        </p:nvSpPr>
        <p:spPr>
          <a:xfrm>
            <a:off x="10515600" y="71316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9"/>
          <p:cNvSpPr/>
          <p:nvPr/>
        </p:nvSpPr>
        <p:spPr>
          <a:xfrm>
            <a:off x="10588680" y="804600"/>
            <a:ext cx="950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5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0"/>
          <p:cNvSpPr/>
          <p:nvPr/>
        </p:nvSpPr>
        <p:spPr>
          <a:xfrm>
            <a:off x="594360" y="1828800"/>
            <a:ext cx="6537600" cy="3638880"/>
          </a:xfrm>
          <a:prstGeom prst="roundRect">
            <a:avLst>
              <a:gd name="adj" fmla="val 16667"/>
            </a:avLst>
          </a:prstGeom>
          <a:solidFill>
            <a:srgbClr val="1B1A19"/>
          </a:solidFill>
          <a:ln w="12700">
            <a:solidFill>
              <a:srgbClr val="1B1A19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1"/>
          <p:cNvSpPr/>
          <p:nvPr/>
        </p:nvSpPr>
        <p:spPr>
          <a:xfrm>
            <a:off x="594360" y="1828800"/>
            <a:ext cx="6537600" cy="38376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2"/>
          <p:cNvSpPr/>
          <p:nvPr/>
        </p:nvSpPr>
        <p:spPr>
          <a:xfrm>
            <a:off x="777240" y="1956960"/>
            <a:ext cx="118440" cy="118440"/>
          </a:xfrm>
          <a:prstGeom prst="ellipse">
            <a:avLst/>
          </a:prstGeom>
          <a:solidFill>
            <a:srgbClr val="E85C4A"/>
          </a:solidFill>
          <a:ln w="12700">
            <a:solidFill>
              <a:srgbClr val="E85C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3"/>
          <p:cNvSpPr/>
          <p:nvPr/>
        </p:nvSpPr>
        <p:spPr>
          <a:xfrm>
            <a:off x="978480" y="1956960"/>
            <a:ext cx="118440" cy="11844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4"/>
          <p:cNvSpPr/>
          <p:nvPr/>
        </p:nvSpPr>
        <p:spPr>
          <a:xfrm>
            <a:off x="1179720" y="1956960"/>
            <a:ext cx="118440" cy="118440"/>
          </a:xfrm>
          <a:prstGeom prst="ellipse">
            <a:avLst/>
          </a:prstGeom>
          <a:solidFill>
            <a:srgbClr val="5FB65F"/>
          </a:solidFill>
          <a:ln w="12700">
            <a:solidFill>
              <a:srgbClr val="5FB65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5"/>
          <p:cNvSpPr/>
          <p:nvPr/>
        </p:nvSpPr>
        <p:spPr>
          <a:xfrm>
            <a:off x="1572840" y="18745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FE6FF"/>
                </a:solidFill>
                <a:effectLst/>
                <a:uFillTx/>
                <a:latin typeface="Consolas"/>
                <a:ea typeface="Consolas"/>
              </a:rPr>
              <a:t>Terminal — install &amp; start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6"/>
          <p:cNvSpPr/>
          <p:nvPr/>
        </p:nvSpPr>
        <p:spPr>
          <a:xfrm>
            <a:off x="822960" y="2395800"/>
            <a:ext cx="617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7F9CB8"/>
                </a:solidFill>
                <a:effectLst/>
                <a:uFillTx/>
                <a:latin typeface="Consolas"/>
                <a:ea typeface="Consolas"/>
              </a:rPr>
              <a:t># macOS / Linux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7"/>
          <p:cNvSpPr/>
          <p:nvPr/>
        </p:nvSpPr>
        <p:spPr>
          <a:xfrm>
            <a:off x="822960" y="2797920"/>
            <a:ext cx="617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$ curl -fsSL https://microsoft.github.io/aibast-agents-library/install.sh | bash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8"/>
          <p:cNvSpPr/>
          <p:nvPr/>
        </p:nvSpPr>
        <p:spPr>
          <a:xfrm>
            <a:off x="822960" y="3200400"/>
            <a:ext cx="617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7F9CB8"/>
                </a:solidFill>
                <a:effectLst/>
                <a:uFillTx/>
                <a:latin typeface="Consolas"/>
                <a:ea typeface="Consolas"/>
              </a:rPr>
              <a:t># Windows (PowerShell)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9"/>
          <p:cNvSpPr/>
          <p:nvPr/>
        </p:nvSpPr>
        <p:spPr>
          <a:xfrm>
            <a:off x="822960" y="3602880"/>
            <a:ext cx="617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&gt; irm https://raw.githubusercontent.com/microsoft/aibast-agents-library/main/install.ps1 | iex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20"/>
          <p:cNvSpPr/>
          <p:nvPr/>
        </p:nvSpPr>
        <p:spPr>
          <a:xfrm>
            <a:off x="822960" y="4005000"/>
            <a:ext cx="617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7F9CB8"/>
                </a:solidFill>
                <a:effectLst/>
                <a:uFillTx/>
                <a:latin typeface="Consolas"/>
                <a:ea typeface="Consolas"/>
              </a:rPr>
              <a:t># then start it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1"/>
          <p:cNvSpPr/>
          <p:nvPr/>
        </p:nvSpPr>
        <p:spPr>
          <a:xfrm>
            <a:off x="822960" y="4407480"/>
            <a:ext cx="617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$ brainstem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2"/>
          <p:cNvSpPr/>
          <p:nvPr/>
        </p:nvSpPr>
        <p:spPr>
          <a:xfrm>
            <a:off x="822960" y="4809600"/>
            <a:ext cx="61718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FE39A"/>
                </a:solidFill>
                <a:effectLst/>
                <a:uFillTx/>
                <a:latin typeface="Consolas"/>
                <a:ea typeface="Consolas"/>
              </a:rPr>
              <a:t>➔ Brainstem running → http://localhost:7071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23"/>
          <p:cNvSpPr/>
          <p:nvPr/>
        </p:nvSpPr>
        <p:spPr>
          <a:xfrm>
            <a:off x="7543800" y="1828800"/>
            <a:ext cx="4050360" cy="36388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24"/>
          <p:cNvSpPr/>
          <p:nvPr/>
        </p:nvSpPr>
        <p:spPr>
          <a:xfrm>
            <a:off x="7882200" y="2148840"/>
            <a:ext cx="3108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99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INSTALLER HANDLES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5"/>
          <p:cNvSpPr/>
          <p:nvPr/>
        </p:nvSpPr>
        <p:spPr>
          <a:xfrm>
            <a:off x="7882200" y="2432160"/>
            <a:ext cx="3382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i="1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One command sets up prerequisites where supported.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6"/>
          <p:cNvSpPr/>
          <p:nvPr/>
        </p:nvSpPr>
        <p:spPr>
          <a:xfrm>
            <a:off x="7882200" y="294444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7"/>
          <p:cNvSpPr/>
          <p:nvPr/>
        </p:nvSpPr>
        <p:spPr>
          <a:xfrm>
            <a:off x="7920360" y="295884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8"/>
          <p:cNvSpPr/>
          <p:nvPr/>
        </p:nvSpPr>
        <p:spPr>
          <a:xfrm>
            <a:off x="8211240" y="2926080"/>
            <a:ext cx="287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Python 3.11 runtime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9"/>
          <p:cNvSpPr/>
          <p:nvPr/>
        </p:nvSpPr>
        <p:spPr>
          <a:xfrm>
            <a:off x="7882200" y="340164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30"/>
          <p:cNvSpPr/>
          <p:nvPr/>
        </p:nvSpPr>
        <p:spPr>
          <a:xfrm>
            <a:off x="7920360" y="341604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1"/>
          <p:cNvSpPr/>
          <p:nvPr/>
        </p:nvSpPr>
        <p:spPr>
          <a:xfrm>
            <a:off x="8211240" y="3383280"/>
            <a:ext cx="287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Git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2"/>
          <p:cNvSpPr/>
          <p:nvPr/>
        </p:nvSpPr>
        <p:spPr>
          <a:xfrm>
            <a:off x="7882200" y="385884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3"/>
          <p:cNvSpPr/>
          <p:nvPr/>
        </p:nvSpPr>
        <p:spPr>
          <a:xfrm>
            <a:off x="7920360" y="387324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4"/>
          <p:cNvSpPr/>
          <p:nvPr/>
        </p:nvSpPr>
        <p:spPr>
          <a:xfrm>
            <a:off x="8211240" y="3840480"/>
            <a:ext cx="287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Project dependencies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35"/>
          <p:cNvSpPr/>
          <p:nvPr/>
        </p:nvSpPr>
        <p:spPr>
          <a:xfrm>
            <a:off x="7882200" y="431604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36"/>
          <p:cNvSpPr/>
          <p:nvPr/>
        </p:nvSpPr>
        <p:spPr>
          <a:xfrm>
            <a:off x="7920360" y="433044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37"/>
          <p:cNvSpPr/>
          <p:nvPr/>
        </p:nvSpPr>
        <p:spPr>
          <a:xfrm>
            <a:off x="8211240" y="4297680"/>
            <a:ext cx="2871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brainstem CLI on your PATH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38"/>
          <p:cNvSpPr/>
          <p:nvPr/>
        </p:nvSpPr>
        <p:spPr>
          <a:xfrm>
            <a:off x="7882200" y="4791600"/>
            <a:ext cx="3401280" cy="511560"/>
          </a:xfrm>
          <a:prstGeom prst="roundRect">
            <a:avLst>
              <a:gd name="adj" fmla="val 10714"/>
            </a:avLst>
          </a:prstGeom>
          <a:solidFill>
            <a:srgbClr val="DCEEFF"/>
          </a:solidFill>
          <a:ln w="17780">
            <a:solidFill>
              <a:srgbClr val="005A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39"/>
          <p:cNvSpPr/>
          <p:nvPr/>
        </p:nvSpPr>
        <p:spPr>
          <a:xfrm>
            <a:off x="8065080" y="486468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Re-run the one-liner </a:t>
            </a: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 Semibold"/>
                <a:ea typeface="Segoe UI Semibold"/>
              </a:rPr>
              <a:t>any time to auto-upgrade.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40"/>
          <p:cNvSpPr/>
          <p:nvPr/>
        </p:nvSpPr>
        <p:spPr>
          <a:xfrm>
            <a:off x="65844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41"/>
          <p:cNvSpPr/>
          <p:nvPr/>
        </p:nvSpPr>
        <p:spPr>
          <a:xfrm>
            <a:off x="74988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2"/>
          <p:cNvSpPr/>
          <p:nvPr/>
        </p:nvSpPr>
        <p:spPr>
          <a:xfrm>
            <a:off x="77724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3"/>
          <p:cNvSpPr/>
          <p:nvPr/>
        </p:nvSpPr>
        <p:spPr>
          <a:xfrm>
            <a:off x="106992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Sign 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44"/>
          <p:cNvSpPr/>
          <p:nvPr/>
        </p:nvSpPr>
        <p:spPr>
          <a:xfrm>
            <a:off x="285300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107C10"/>
          </a:solidFill>
          <a:ln w="1778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45"/>
          <p:cNvSpPr/>
          <p:nvPr/>
        </p:nvSpPr>
        <p:spPr>
          <a:xfrm>
            <a:off x="2944440" y="5957280"/>
            <a:ext cx="255600" cy="255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6"/>
          <p:cNvSpPr/>
          <p:nvPr/>
        </p:nvSpPr>
        <p:spPr>
          <a:xfrm>
            <a:off x="297180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7"/>
          <p:cNvSpPr/>
          <p:nvPr/>
        </p:nvSpPr>
        <p:spPr>
          <a:xfrm>
            <a:off x="326448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Start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8"/>
          <p:cNvSpPr/>
          <p:nvPr/>
        </p:nvSpPr>
        <p:spPr>
          <a:xfrm>
            <a:off x="504756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49"/>
          <p:cNvSpPr/>
          <p:nvPr/>
        </p:nvSpPr>
        <p:spPr>
          <a:xfrm>
            <a:off x="513900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50"/>
          <p:cNvSpPr/>
          <p:nvPr/>
        </p:nvSpPr>
        <p:spPr>
          <a:xfrm>
            <a:off x="516636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51"/>
          <p:cNvSpPr/>
          <p:nvPr/>
        </p:nvSpPr>
        <p:spPr>
          <a:xfrm>
            <a:off x="545904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Author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52"/>
          <p:cNvSpPr/>
          <p:nvPr/>
        </p:nvSpPr>
        <p:spPr>
          <a:xfrm>
            <a:off x="724212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53"/>
          <p:cNvSpPr/>
          <p:nvPr/>
        </p:nvSpPr>
        <p:spPr>
          <a:xfrm>
            <a:off x="733356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54"/>
          <p:cNvSpPr/>
          <p:nvPr/>
        </p:nvSpPr>
        <p:spPr>
          <a:xfrm>
            <a:off x="736092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5"/>
          <p:cNvSpPr/>
          <p:nvPr/>
        </p:nvSpPr>
        <p:spPr>
          <a:xfrm>
            <a:off x="765360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Run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56"/>
          <p:cNvSpPr/>
          <p:nvPr/>
        </p:nvSpPr>
        <p:spPr>
          <a:xfrm>
            <a:off x="943668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57"/>
          <p:cNvSpPr/>
          <p:nvPr/>
        </p:nvSpPr>
        <p:spPr>
          <a:xfrm>
            <a:off x="952812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58"/>
          <p:cNvSpPr/>
          <p:nvPr/>
        </p:nvSpPr>
        <p:spPr>
          <a:xfrm>
            <a:off x="955548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59"/>
          <p:cNvSpPr/>
          <p:nvPr/>
        </p:nvSpPr>
        <p:spPr>
          <a:xfrm>
            <a:off x="984816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60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09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STEP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The author gate: one file, one clear contract.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8"/>
          <p:cNvSpPr/>
          <p:nvPr/>
        </p:nvSpPr>
        <p:spPr>
          <a:xfrm>
            <a:off x="10515600" y="71316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9"/>
          <p:cNvSpPr/>
          <p:nvPr/>
        </p:nvSpPr>
        <p:spPr>
          <a:xfrm>
            <a:off x="10588680" y="804600"/>
            <a:ext cx="950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8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0"/>
          <p:cNvSpPr/>
          <p:nvPr/>
        </p:nvSpPr>
        <p:spPr>
          <a:xfrm>
            <a:off x="594360" y="1828800"/>
            <a:ext cx="3657240" cy="3767040"/>
          </a:xfrm>
          <a:prstGeom prst="roundRect">
            <a:avLst>
              <a:gd name="adj" fmla="val 16667"/>
            </a:avLst>
          </a:prstGeom>
          <a:solidFill>
            <a:srgbClr val="F9E3DB"/>
          </a:solidFill>
          <a:ln w="12700">
            <a:solidFill>
              <a:srgbClr val="D83B01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1"/>
          <p:cNvSpPr/>
          <p:nvPr/>
        </p:nvSpPr>
        <p:spPr>
          <a:xfrm>
            <a:off x="594360" y="1828800"/>
            <a:ext cx="3657240" cy="785880"/>
          </a:xfrm>
          <a:prstGeom prst="roundRect">
            <a:avLst>
              <a:gd name="adj" fmla="val 6977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2"/>
          <p:cNvSpPr/>
          <p:nvPr/>
        </p:nvSpPr>
        <p:spPr>
          <a:xfrm>
            <a:off x="594360" y="2286000"/>
            <a:ext cx="3657240" cy="32868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3"/>
          <p:cNvSpPr/>
          <p:nvPr/>
        </p:nvSpPr>
        <p:spPr>
          <a:xfrm>
            <a:off x="914400" y="1956960"/>
            <a:ext cx="18284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STOP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4"/>
          <p:cNvSpPr/>
          <p:nvPr/>
        </p:nvSpPr>
        <p:spPr>
          <a:xfrm>
            <a:off x="2468880" y="208476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FFE0CC"/>
                </a:solidFill>
                <a:effectLst/>
                <a:uFillTx/>
                <a:latin typeface="Segoe UI Semibold"/>
                <a:ea typeface="Segoe UI Semibold"/>
              </a:rPr>
              <a:t>AUTHOR GATE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5"/>
          <p:cNvSpPr/>
          <p:nvPr/>
        </p:nvSpPr>
        <p:spPr>
          <a:xfrm>
            <a:off x="914400" y="285300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Confirm the scope before you write.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6"/>
          <p:cNvSpPr/>
          <p:nvPr/>
        </p:nvSpPr>
        <p:spPr>
          <a:xfrm>
            <a:off x="914400" y="342000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7"/>
          <p:cNvSpPr/>
          <p:nvPr/>
        </p:nvSpPr>
        <p:spPr>
          <a:xfrm>
            <a:off x="952920" y="343440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8"/>
          <p:cNvSpPr/>
          <p:nvPr/>
        </p:nvSpPr>
        <p:spPr>
          <a:xfrm>
            <a:off x="1243440" y="3401640"/>
            <a:ext cx="268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Read aloud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Does the scope match the real problem?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19"/>
          <p:cNvSpPr/>
          <p:nvPr/>
        </p:nvSpPr>
        <p:spPr>
          <a:xfrm>
            <a:off x="914400" y="417888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20"/>
          <p:cNvSpPr/>
          <p:nvPr/>
        </p:nvSpPr>
        <p:spPr>
          <a:xfrm>
            <a:off x="952920" y="419328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1"/>
          <p:cNvSpPr/>
          <p:nvPr/>
        </p:nvSpPr>
        <p:spPr>
          <a:xfrm>
            <a:off x="1243440" y="4160520"/>
            <a:ext cx="268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Name it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One *_agent.py in top-level agents/.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2"/>
          <p:cNvSpPr/>
          <p:nvPr/>
        </p:nvSpPr>
        <p:spPr>
          <a:xfrm>
            <a:off x="914400" y="493776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3"/>
          <p:cNvSpPr/>
          <p:nvPr/>
        </p:nvSpPr>
        <p:spPr>
          <a:xfrm>
            <a:off x="952920" y="495252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4"/>
          <p:cNvSpPr/>
          <p:nvPr/>
        </p:nvSpPr>
        <p:spPr>
          <a:xfrm>
            <a:off x="1243440" y="4919400"/>
            <a:ext cx="2688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Confirm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Only approved scope becomes code.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25"/>
          <p:cNvSpPr/>
          <p:nvPr/>
        </p:nvSpPr>
        <p:spPr>
          <a:xfrm>
            <a:off x="4617720" y="1828800"/>
            <a:ext cx="6976440" cy="3767040"/>
          </a:xfrm>
          <a:prstGeom prst="roundRect">
            <a:avLst>
              <a:gd name="adj" fmla="val 16667"/>
            </a:avLst>
          </a:prstGeom>
          <a:solidFill>
            <a:srgbClr val="EAF4FD"/>
          </a:solidFill>
          <a:ln w="12700">
            <a:solidFill>
              <a:srgbClr val="BFE6FF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6"/>
          <p:cNvSpPr/>
          <p:nvPr/>
        </p:nvSpPr>
        <p:spPr>
          <a:xfrm>
            <a:off x="4617720" y="1828800"/>
            <a:ext cx="697644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7"/>
          <p:cNvSpPr/>
          <p:nvPr/>
        </p:nvSpPr>
        <p:spPr>
          <a:xfrm>
            <a:off x="4763880" y="1956960"/>
            <a:ext cx="118440" cy="118440"/>
          </a:xfrm>
          <a:prstGeom prst="ellipse">
            <a:avLst/>
          </a:prstGeom>
          <a:solidFill>
            <a:srgbClr val="E85C4A"/>
          </a:solidFill>
          <a:ln w="12700">
            <a:solidFill>
              <a:srgbClr val="E85C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28"/>
          <p:cNvSpPr/>
          <p:nvPr/>
        </p:nvSpPr>
        <p:spPr>
          <a:xfrm>
            <a:off x="4965120" y="1956960"/>
            <a:ext cx="118440" cy="11844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29"/>
          <p:cNvSpPr/>
          <p:nvPr/>
        </p:nvSpPr>
        <p:spPr>
          <a:xfrm>
            <a:off x="5166360" y="1956960"/>
            <a:ext cx="118440" cy="118440"/>
          </a:xfrm>
          <a:prstGeom prst="ellipse">
            <a:avLst/>
          </a:prstGeom>
          <a:solidFill>
            <a:srgbClr val="5FB65F"/>
          </a:solidFill>
          <a:ln w="12700">
            <a:solidFill>
              <a:srgbClr val="5FB65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30"/>
          <p:cNvSpPr/>
          <p:nvPr/>
        </p:nvSpPr>
        <p:spPr>
          <a:xfrm>
            <a:off x="5459040" y="1901880"/>
            <a:ext cx="5952240" cy="23724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31"/>
          <p:cNvSpPr/>
          <p:nvPr/>
        </p:nvSpPr>
        <p:spPr>
          <a:xfrm>
            <a:off x="5577840" y="1938600"/>
            <a:ext cx="5787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agents / service_request_agent.py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32"/>
          <p:cNvSpPr/>
          <p:nvPr/>
        </p:nvSpPr>
        <p:spPr>
          <a:xfrm>
            <a:off x="4965120" y="2340720"/>
            <a:ext cx="6263280" cy="1992960"/>
          </a:xfrm>
          <a:prstGeom prst="roundRect">
            <a:avLst>
              <a:gd name="adj" fmla="val 2294"/>
            </a:avLst>
          </a:prstGeom>
          <a:solidFill>
            <a:srgbClr val="0E1F33"/>
          </a:solidFill>
          <a:ln w="12700">
            <a:solidFill>
              <a:srgbClr val="10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33"/>
          <p:cNvSpPr/>
          <p:nvPr/>
        </p:nvSpPr>
        <p:spPr>
          <a:xfrm>
            <a:off x="5120640" y="2432160"/>
            <a:ext cx="5988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C792EA"/>
                </a:solidFill>
                <a:effectLst/>
                <a:uFillTx/>
                <a:latin typeface="Consolas"/>
                <a:ea typeface="Consolas"/>
              </a:rPr>
              <a:t>from</a:t>
            </a:r>
            <a:r>
              <a:rPr lang="en-US" sz="939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 brainstem </a:t>
            </a:r>
            <a:r>
              <a:rPr lang="en-US" sz="939" b="0" u="none" strike="noStrike">
                <a:solidFill>
                  <a:srgbClr val="C792EA"/>
                </a:solidFill>
                <a:effectLst/>
                <a:uFillTx/>
                <a:latin typeface="Consolas"/>
                <a:ea typeface="Consolas"/>
              </a:rPr>
              <a:t>import</a:t>
            </a:r>
            <a:r>
              <a:rPr lang="en-US" sz="939" b="0" u="none" strike="noStrike">
                <a:solidFill>
                  <a:srgbClr val="8BE9FD"/>
                </a:solidFill>
                <a:effectLst/>
                <a:uFillTx/>
                <a:latin typeface="Consolas"/>
                <a:ea typeface="Consolas"/>
              </a:rPr>
              <a:t> BasicAgent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34"/>
          <p:cNvSpPr/>
          <p:nvPr/>
        </p:nvSpPr>
        <p:spPr>
          <a:xfrm>
            <a:off x="5120640" y="2843640"/>
            <a:ext cx="5988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C792EA"/>
                </a:solidFill>
                <a:effectLst/>
                <a:uFillTx/>
                <a:latin typeface="Consolas"/>
                <a:ea typeface="Consolas"/>
              </a:rPr>
              <a:t>class</a:t>
            </a:r>
            <a:r>
              <a:rPr lang="en-US" sz="939" b="0" u="none" strike="noStrike">
                <a:solidFill>
                  <a:srgbClr val="8BE9FD"/>
                </a:solidFill>
                <a:effectLst/>
                <a:uFillTx/>
                <a:latin typeface="Consolas"/>
                <a:ea typeface="Consolas"/>
              </a:rPr>
              <a:t> ServiceRequestAgent</a:t>
            </a:r>
            <a:r>
              <a:rPr lang="en-US" sz="939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(BasicAgent):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35"/>
          <p:cNvSpPr/>
          <p:nvPr/>
        </p:nvSpPr>
        <p:spPr>
          <a:xfrm>
            <a:off x="5120640" y="3049560"/>
            <a:ext cx="5988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C792EA"/>
                </a:solidFill>
                <a:effectLst/>
                <a:uFillTx/>
                <a:latin typeface="Consolas"/>
                <a:ea typeface="Consolas"/>
              </a:rPr>
              <a:t>    def</a:t>
            </a:r>
            <a:r>
              <a:rPr lang="en-US" sz="939" b="0" u="none" strike="noStrike">
                <a:solidFill>
                  <a:srgbClr val="50FA7B"/>
                </a:solidFill>
                <a:effectLst/>
                <a:uFillTx/>
                <a:latin typeface="Consolas"/>
                <a:ea typeface="Consolas"/>
              </a:rPr>
              <a:t> __init__</a:t>
            </a:r>
            <a:r>
              <a:rPr lang="en-US" sz="939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(self):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36"/>
          <p:cNvSpPr/>
          <p:nvPr/>
        </p:nvSpPr>
        <p:spPr>
          <a:xfrm>
            <a:off x="5120640" y="3255120"/>
            <a:ext cx="5988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        self.name = 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onsolas"/>
                <a:ea typeface="Consolas"/>
              </a:rPr>
              <a:t>"service_request"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37"/>
          <p:cNvSpPr/>
          <p:nvPr/>
        </p:nvSpPr>
        <p:spPr>
          <a:xfrm>
            <a:off x="5120640" y="3461040"/>
            <a:ext cx="5988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        self.metadata = {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onsolas"/>
                <a:ea typeface="Consolas"/>
              </a:rPr>
              <a:t>"description"</a:t>
            </a:r>
            <a:r>
              <a:rPr lang="en-US" sz="939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: ..., 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onsolas"/>
                <a:ea typeface="Consolas"/>
              </a:rPr>
              <a:t>"parameters"</a:t>
            </a:r>
            <a:r>
              <a:rPr lang="en-US" sz="939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: {location, issue, urgency}}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38"/>
          <p:cNvSpPr/>
          <p:nvPr/>
        </p:nvSpPr>
        <p:spPr>
          <a:xfrm>
            <a:off x="5120640" y="3872520"/>
            <a:ext cx="5988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C792EA"/>
                </a:solidFill>
                <a:effectLst/>
                <a:uFillTx/>
                <a:latin typeface="Consolas"/>
                <a:ea typeface="Consolas"/>
              </a:rPr>
              <a:t>    def</a:t>
            </a:r>
            <a:r>
              <a:rPr lang="en-US" sz="939" b="0" u="none" strike="noStrike">
                <a:solidFill>
                  <a:srgbClr val="50FA7B"/>
                </a:solidFill>
                <a:effectLst/>
                <a:uFillTx/>
                <a:latin typeface="Consolas"/>
                <a:ea typeface="Consolas"/>
              </a:rPr>
              <a:t> perform</a:t>
            </a:r>
            <a:r>
              <a:rPr lang="en-US" sz="939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(self, **kwargs) -&gt; </a:t>
            </a:r>
            <a:r>
              <a:rPr lang="en-US" sz="939" b="0" u="none" strike="noStrike">
                <a:solidFill>
                  <a:srgbClr val="8BE9FD"/>
                </a:solidFill>
                <a:effectLst/>
                <a:uFillTx/>
                <a:latin typeface="Consolas"/>
                <a:ea typeface="Consolas"/>
              </a:rPr>
              <a:t>str</a:t>
            </a:r>
            <a:r>
              <a:rPr lang="en-US" sz="939" b="0" u="none" strike="noStrike">
                <a:solidFill>
                  <a:srgbClr val="DCEEFF"/>
                </a:solidFill>
                <a:effectLst/>
                <a:uFillTx/>
                <a:latin typeface="Consolas"/>
                <a:ea typeface="Consolas"/>
              </a:rPr>
              <a:t>: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39"/>
          <p:cNvSpPr/>
          <p:nvPr/>
        </p:nvSpPr>
        <p:spPr>
          <a:xfrm>
            <a:off x="5120640" y="4078080"/>
            <a:ext cx="5988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C792EA"/>
                </a:solidFill>
                <a:effectLst/>
                <a:uFillTx/>
                <a:latin typeface="Consolas"/>
                <a:ea typeface="Consolas"/>
              </a:rPr>
              <a:t>        return</a:t>
            </a:r>
            <a:r>
              <a:rPr lang="en-US" sz="939" b="0" u="none" strike="noStrike">
                <a:solidFill>
                  <a:srgbClr val="F1FA8C"/>
                </a:solidFill>
                <a:effectLst/>
                <a:uFillTx/>
                <a:latin typeface="Consolas"/>
                <a:ea typeface="Consolas"/>
              </a:rPr>
              <a:t> f"SR-{id} logged (synthetic)"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40"/>
          <p:cNvSpPr/>
          <p:nvPr/>
        </p:nvSpPr>
        <p:spPr>
          <a:xfrm>
            <a:off x="4965120" y="4443840"/>
            <a:ext cx="2742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AGENT CONTRACT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41"/>
          <p:cNvSpPr/>
          <p:nvPr/>
        </p:nvSpPr>
        <p:spPr>
          <a:xfrm>
            <a:off x="4965120" y="471816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42"/>
          <p:cNvSpPr/>
          <p:nvPr/>
        </p:nvSpPr>
        <p:spPr>
          <a:xfrm>
            <a:off x="5029200" y="477324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*_agent.py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43"/>
          <p:cNvSpPr/>
          <p:nvPr/>
        </p:nvSpPr>
        <p:spPr>
          <a:xfrm>
            <a:off x="6245280" y="471816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44"/>
          <p:cNvSpPr/>
          <p:nvPr/>
        </p:nvSpPr>
        <p:spPr>
          <a:xfrm>
            <a:off x="6309360" y="477324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extends BasicAgent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45"/>
          <p:cNvSpPr/>
          <p:nvPr/>
        </p:nvSpPr>
        <p:spPr>
          <a:xfrm>
            <a:off x="7525440" y="471816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46"/>
          <p:cNvSpPr/>
          <p:nvPr/>
        </p:nvSpPr>
        <p:spPr>
          <a:xfrm>
            <a:off x="7589520" y="477324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name + metadata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47"/>
          <p:cNvSpPr/>
          <p:nvPr/>
        </p:nvSpPr>
        <p:spPr>
          <a:xfrm>
            <a:off x="8805600" y="471816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48"/>
          <p:cNvSpPr/>
          <p:nvPr/>
        </p:nvSpPr>
        <p:spPr>
          <a:xfrm>
            <a:off x="8869680" y="477324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parameters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49"/>
          <p:cNvSpPr/>
          <p:nvPr/>
        </p:nvSpPr>
        <p:spPr>
          <a:xfrm>
            <a:off x="10085760" y="471816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50"/>
          <p:cNvSpPr/>
          <p:nvPr/>
        </p:nvSpPr>
        <p:spPr>
          <a:xfrm>
            <a:off x="10149840" y="477324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perform() → str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51"/>
          <p:cNvSpPr/>
          <p:nvPr/>
        </p:nvSpPr>
        <p:spPr>
          <a:xfrm>
            <a:off x="4965120" y="5083920"/>
            <a:ext cx="3382920" cy="402120"/>
          </a:xfrm>
          <a:prstGeom prst="roundRect">
            <a:avLst>
              <a:gd name="adj" fmla="val 11364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52"/>
          <p:cNvSpPr/>
          <p:nvPr/>
        </p:nvSpPr>
        <p:spPr>
          <a:xfrm>
            <a:off x="5120640" y="5139000"/>
            <a:ext cx="3071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  CONFIRM SCOPE → AUTHOR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53"/>
          <p:cNvSpPr/>
          <p:nvPr/>
        </p:nvSpPr>
        <p:spPr>
          <a:xfrm>
            <a:off x="8531280" y="5083920"/>
            <a:ext cx="2697120" cy="40212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24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54"/>
          <p:cNvSpPr/>
          <p:nvPr/>
        </p:nvSpPr>
        <p:spPr>
          <a:xfrm>
            <a:off x="8668440" y="513900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SAVE INTO  agents/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55"/>
          <p:cNvSpPr/>
          <p:nvPr/>
        </p:nvSpPr>
        <p:spPr>
          <a:xfrm>
            <a:off x="65844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56"/>
          <p:cNvSpPr/>
          <p:nvPr/>
        </p:nvSpPr>
        <p:spPr>
          <a:xfrm>
            <a:off x="74988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57"/>
          <p:cNvSpPr/>
          <p:nvPr/>
        </p:nvSpPr>
        <p:spPr>
          <a:xfrm>
            <a:off x="77724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58"/>
          <p:cNvSpPr/>
          <p:nvPr/>
        </p:nvSpPr>
        <p:spPr>
          <a:xfrm>
            <a:off x="106992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Sign 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59"/>
          <p:cNvSpPr/>
          <p:nvPr/>
        </p:nvSpPr>
        <p:spPr>
          <a:xfrm>
            <a:off x="285300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60"/>
          <p:cNvSpPr/>
          <p:nvPr/>
        </p:nvSpPr>
        <p:spPr>
          <a:xfrm>
            <a:off x="294444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61"/>
          <p:cNvSpPr/>
          <p:nvPr/>
        </p:nvSpPr>
        <p:spPr>
          <a:xfrm>
            <a:off x="297180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62"/>
          <p:cNvSpPr/>
          <p:nvPr/>
        </p:nvSpPr>
        <p:spPr>
          <a:xfrm>
            <a:off x="326448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Start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63"/>
          <p:cNvSpPr/>
          <p:nvPr/>
        </p:nvSpPr>
        <p:spPr>
          <a:xfrm>
            <a:off x="504756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83B01"/>
          </a:solidFill>
          <a:ln w="1778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64"/>
          <p:cNvSpPr/>
          <p:nvPr/>
        </p:nvSpPr>
        <p:spPr>
          <a:xfrm>
            <a:off x="5139000" y="5957280"/>
            <a:ext cx="255600" cy="255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65"/>
          <p:cNvSpPr/>
          <p:nvPr/>
        </p:nvSpPr>
        <p:spPr>
          <a:xfrm>
            <a:off x="516636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66"/>
          <p:cNvSpPr/>
          <p:nvPr/>
        </p:nvSpPr>
        <p:spPr>
          <a:xfrm>
            <a:off x="545904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Author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67"/>
          <p:cNvSpPr/>
          <p:nvPr/>
        </p:nvSpPr>
        <p:spPr>
          <a:xfrm>
            <a:off x="724212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68"/>
          <p:cNvSpPr/>
          <p:nvPr/>
        </p:nvSpPr>
        <p:spPr>
          <a:xfrm>
            <a:off x="733356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69"/>
          <p:cNvSpPr/>
          <p:nvPr/>
        </p:nvSpPr>
        <p:spPr>
          <a:xfrm>
            <a:off x="736092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70"/>
          <p:cNvSpPr/>
          <p:nvPr/>
        </p:nvSpPr>
        <p:spPr>
          <a:xfrm>
            <a:off x="765360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Run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71"/>
          <p:cNvSpPr/>
          <p:nvPr/>
        </p:nvSpPr>
        <p:spPr>
          <a:xfrm>
            <a:off x="943668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72"/>
          <p:cNvSpPr/>
          <p:nvPr/>
        </p:nvSpPr>
        <p:spPr>
          <a:xfrm>
            <a:off x="952812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73"/>
          <p:cNvSpPr/>
          <p:nvPr/>
        </p:nvSpPr>
        <p:spPr>
          <a:xfrm>
            <a:off x="955548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74"/>
          <p:cNvSpPr/>
          <p:nvPr/>
        </p:nvSpPr>
        <p:spPr>
          <a:xfrm>
            <a:off x="984816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75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10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SOURCE TO DISCOVERY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Source → contract → one *_agent.py → auto-discovery.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8"/>
          <p:cNvSpPr/>
          <p:nvPr/>
        </p:nvSpPr>
        <p:spPr>
          <a:xfrm>
            <a:off x="10515600" y="71316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8661C5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9"/>
          <p:cNvSpPr/>
          <p:nvPr/>
        </p:nvSpPr>
        <p:spPr>
          <a:xfrm>
            <a:off x="10588680" y="804600"/>
            <a:ext cx="950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5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0"/>
          <p:cNvSpPr/>
          <p:nvPr/>
        </p:nvSpPr>
        <p:spPr>
          <a:xfrm>
            <a:off x="640080" y="2048400"/>
            <a:ext cx="21484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11"/>
          <p:cNvSpPr/>
          <p:nvPr/>
        </p:nvSpPr>
        <p:spPr>
          <a:xfrm>
            <a:off x="822960" y="2286000"/>
            <a:ext cx="566640" cy="566640"/>
          </a:xfrm>
          <a:prstGeom prst="ellipse">
            <a:avLst/>
          </a:prstGeom>
          <a:solidFill>
            <a:srgbClr val="F9E3DB"/>
          </a:solidFill>
          <a:ln w="1524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2"/>
          <p:cNvSpPr/>
          <p:nvPr/>
        </p:nvSpPr>
        <p:spPr>
          <a:xfrm>
            <a:off x="905400" y="244152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3"/>
          <p:cNvSpPr/>
          <p:nvPr/>
        </p:nvSpPr>
        <p:spPr>
          <a:xfrm>
            <a:off x="822960" y="2944440"/>
            <a:ext cx="1782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SOURCE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4"/>
          <p:cNvSpPr/>
          <p:nvPr/>
        </p:nvSpPr>
        <p:spPr>
          <a:xfrm>
            <a:off x="868680" y="32551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Your discovery document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15"/>
          <p:cNvSpPr/>
          <p:nvPr/>
        </p:nvSpPr>
        <p:spPr>
          <a:xfrm>
            <a:off x="868680" y="3694320"/>
            <a:ext cx="1691280" cy="246600"/>
          </a:xfrm>
          <a:prstGeom prst="roundRect">
            <a:avLst>
              <a:gd name="adj" fmla="val 14815"/>
            </a:avLst>
          </a:prstGeom>
          <a:solidFill>
            <a:srgbClr val="F9E3DB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6"/>
          <p:cNvSpPr/>
          <p:nvPr/>
        </p:nvSpPr>
        <p:spPr>
          <a:xfrm>
            <a:off x="731520" y="371232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83B01"/>
                </a:solidFill>
                <a:effectLst/>
                <a:uFillTx/>
                <a:latin typeface="Consolas"/>
                <a:ea typeface="Consolas"/>
              </a:rPr>
              <a:t>problem · users · outputs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17"/>
          <p:cNvSpPr/>
          <p:nvPr/>
        </p:nvSpPr>
        <p:spPr>
          <a:xfrm>
            <a:off x="2843640" y="2660760"/>
            <a:ext cx="282960" cy="456840"/>
          </a:xfrm>
          <a:prstGeom prst="chevron">
            <a:avLst>
              <a:gd name="adj" fmla="val 50000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8"/>
          <p:cNvSpPr/>
          <p:nvPr/>
        </p:nvSpPr>
        <p:spPr>
          <a:xfrm>
            <a:off x="3136320" y="2048400"/>
            <a:ext cx="21484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07C1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9"/>
          <p:cNvSpPr/>
          <p:nvPr/>
        </p:nvSpPr>
        <p:spPr>
          <a:xfrm>
            <a:off x="3319200" y="2286000"/>
            <a:ext cx="566640" cy="566640"/>
          </a:xfrm>
          <a:prstGeom prst="ellipse">
            <a:avLst/>
          </a:prstGeom>
          <a:solidFill>
            <a:srgbClr val="DFF6DD"/>
          </a:solidFill>
          <a:ln w="1524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20"/>
          <p:cNvSpPr/>
          <p:nvPr/>
        </p:nvSpPr>
        <p:spPr>
          <a:xfrm>
            <a:off x="3401640" y="244152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21"/>
          <p:cNvSpPr/>
          <p:nvPr/>
        </p:nvSpPr>
        <p:spPr>
          <a:xfrm>
            <a:off x="3319200" y="2944440"/>
            <a:ext cx="1782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CONTRACT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22"/>
          <p:cNvSpPr/>
          <p:nvPr/>
        </p:nvSpPr>
        <p:spPr>
          <a:xfrm>
            <a:off x="3364920" y="32551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The agent contract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23"/>
          <p:cNvSpPr/>
          <p:nvPr/>
        </p:nvSpPr>
        <p:spPr>
          <a:xfrm>
            <a:off x="3364920" y="3694320"/>
            <a:ext cx="1691280" cy="246600"/>
          </a:xfrm>
          <a:prstGeom prst="roundRect">
            <a:avLst>
              <a:gd name="adj" fmla="val 14815"/>
            </a:avLst>
          </a:prstGeom>
          <a:solidFill>
            <a:srgbClr val="DFF6DD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24"/>
          <p:cNvSpPr/>
          <p:nvPr/>
        </p:nvSpPr>
        <p:spPr>
          <a:xfrm>
            <a:off x="3227760" y="371232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7C10"/>
                </a:solidFill>
                <a:effectLst/>
                <a:uFillTx/>
                <a:latin typeface="Consolas"/>
                <a:ea typeface="Consolas"/>
              </a:rPr>
              <a:t>name · metadata · perform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25"/>
          <p:cNvSpPr/>
          <p:nvPr/>
        </p:nvSpPr>
        <p:spPr>
          <a:xfrm>
            <a:off x="5340240" y="2660760"/>
            <a:ext cx="282960" cy="456840"/>
          </a:xfrm>
          <a:prstGeom prst="chevron">
            <a:avLst>
              <a:gd name="adj" fmla="val 50000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26"/>
          <p:cNvSpPr/>
          <p:nvPr/>
        </p:nvSpPr>
        <p:spPr>
          <a:xfrm>
            <a:off x="5632560" y="2048400"/>
            <a:ext cx="21484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27"/>
          <p:cNvSpPr/>
          <p:nvPr/>
        </p:nvSpPr>
        <p:spPr>
          <a:xfrm>
            <a:off x="5815440" y="2286000"/>
            <a:ext cx="566640" cy="566640"/>
          </a:xfrm>
          <a:prstGeom prst="ellipse">
            <a:avLst/>
          </a:prstGeom>
          <a:solidFill>
            <a:srgbClr val="DCEEFF"/>
          </a:solidFill>
          <a:ln w="1524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28"/>
          <p:cNvSpPr/>
          <p:nvPr/>
        </p:nvSpPr>
        <p:spPr>
          <a:xfrm>
            <a:off x="5897880" y="244152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29"/>
          <p:cNvSpPr/>
          <p:nvPr/>
        </p:nvSpPr>
        <p:spPr>
          <a:xfrm>
            <a:off x="5815440" y="2944440"/>
            <a:ext cx="1782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ONE *_agent.py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30"/>
          <p:cNvSpPr/>
          <p:nvPr/>
        </p:nvSpPr>
        <p:spPr>
          <a:xfrm>
            <a:off x="5861160" y="325512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One file per capability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31"/>
          <p:cNvSpPr/>
          <p:nvPr/>
        </p:nvSpPr>
        <p:spPr>
          <a:xfrm>
            <a:off x="5861160" y="3694320"/>
            <a:ext cx="1691280" cy="246600"/>
          </a:xfrm>
          <a:prstGeom prst="roundRect">
            <a:avLst>
              <a:gd name="adj" fmla="val 14815"/>
            </a:avLst>
          </a:prstGeom>
          <a:solidFill>
            <a:srgbClr val="DCEEFF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32"/>
          <p:cNvSpPr/>
          <p:nvPr/>
        </p:nvSpPr>
        <p:spPr>
          <a:xfrm>
            <a:off x="5724000" y="3712320"/>
            <a:ext cx="19656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78D4"/>
                </a:solidFill>
                <a:effectLst/>
                <a:uFillTx/>
                <a:latin typeface="Consolas"/>
                <a:ea typeface="Consolas"/>
              </a:rPr>
              <a:t>reviewable Python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33"/>
          <p:cNvSpPr/>
          <p:nvPr/>
        </p:nvSpPr>
        <p:spPr>
          <a:xfrm>
            <a:off x="7836480" y="2660760"/>
            <a:ext cx="282960" cy="456840"/>
          </a:xfrm>
          <a:prstGeom prst="chevron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34"/>
          <p:cNvSpPr/>
          <p:nvPr/>
        </p:nvSpPr>
        <p:spPr>
          <a:xfrm>
            <a:off x="8129160" y="2048400"/>
            <a:ext cx="3401280" cy="196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661C5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35"/>
          <p:cNvSpPr/>
          <p:nvPr/>
        </p:nvSpPr>
        <p:spPr>
          <a:xfrm>
            <a:off x="8312040" y="2286000"/>
            <a:ext cx="566640" cy="566640"/>
          </a:xfrm>
          <a:prstGeom prst="ellipse">
            <a:avLst/>
          </a:prstGeom>
          <a:solidFill>
            <a:srgbClr val="EDE7F6"/>
          </a:solidFill>
          <a:ln w="1524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36"/>
          <p:cNvSpPr/>
          <p:nvPr/>
        </p:nvSpPr>
        <p:spPr>
          <a:xfrm>
            <a:off x="8394120" y="244152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37"/>
          <p:cNvSpPr/>
          <p:nvPr/>
        </p:nvSpPr>
        <p:spPr>
          <a:xfrm>
            <a:off x="8312040" y="2944440"/>
            <a:ext cx="303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AUTO-DISCOVERY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38"/>
          <p:cNvSpPr/>
          <p:nvPr/>
        </p:nvSpPr>
        <p:spPr>
          <a:xfrm>
            <a:off x="8357760" y="3255120"/>
            <a:ext cx="2944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Brainstem finds it fresh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39"/>
          <p:cNvSpPr/>
          <p:nvPr/>
        </p:nvSpPr>
        <p:spPr>
          <a:xfrm>
            <a:off x="8503920" y="3694320"/>
            <a:ext cx="2651400" cy="246600"/>
          </a:xfrm>
          <a:prstGeom prst="roundRect">
            <a:avLst>
              <a:gd name="adj" fmla="val 14815"/>
            </a:avLst>
          </a:prstGeom>
          <a:solidFill>
            <a:srgbClr val="EDE7F6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40"/>
          <p:cNvSpPr/>
          <p:nvPr/>
        </p:nvSpPr>
        <p:spPr>
          <a:xfrm>
            <a:off x="8220600" y="3712320"/>
            <a:ext cx="3218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661C5"/>
                </a:solidFill>
                <a:effectLst/>
                <a:uFillTx/>
                <a:latin typeface="Consolas"/>
                <a:ea typeface="Consolas"/>
              </a:rPr>
              <a:t>every /chat request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41"/>
          <p:cNvSpPr/>
          <p:nvPr/>
        </p:nvSpPr>
        <p:spPr>
          <a:xfrm>
            <a:off x="6706800" y="4014000"/>
            <a:ext cx="360" cy="365760"/>
          </a:xfrm>
          <a:prstGeom prst="line">
            <a:avLst/>
          </a:prstGeom>
          <a:ln w="31750">
            <a:solidFill>
              <a:srgbClr val="0078D4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42"/>
          <p:cNvSpPr/>
          <p:nvPr/>
        </p:nvSpPr>
        <p:spPr>
          <a:xfrm>
            <a:off x="6583680" y="4251960"/>
            <a:ext cx="237600" cy="383760"/>
          </a:xfrm>
          <a:prstGeom prst="chevron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43"/>
          <p:cNvSpPr/>
          <p:nvPr/>
        </p:nvSpPr>
        <p:spPr>
          <a:xfrm>
            <a:off x="6858000" y="41148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005A9E"/>
                </a:solidFill>
                <a:effectLst/>
                <a:uFillTx/>
                <a:latin typeface="Segoe UI"/>
                <a:ea typeface="Segoe UI"/>
              </a:rPr>
              <a:t>saved into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44"/>
          <p:cNvSpPr/>
          <p:nvPr/>
        </p:nvSpPr>
        <p:spPr>
          <a:xfrm>
            <a:off x="640080" y="4462200"/>
            <a:ext cx="10890000" cy="987120"/>
          </a:xfrm>
          <a:prstGeom prst="roundRect">
            <a:avLst>
              <a:gd name="adj" fmla="val 16667"/>
            </a:avLst>
          </a:prstGeom>
          <a:solidFill>
            <a:srgbClr val="103A6B"/>
          </a:solidFill>
          <a:ln w="12700">
            <a:solidFill>
              <a:srgbClr val="103A6B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45"/>
          <p:cNvSpPr/>
          <p:nvPr/>
        </p:nvSpPr>
        <p:spPr>
          <a:xfrm>
            <a:off x="932760" y="4736520"/>
            <a:ext cx="1737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pc="99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YOUR agents/ FOLDER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46"/>
          <p:cNvSpPr/>
          <p:nvPr/>
        </p:nvSpPr>
        <p:spPr>
          <a:xfrm>
            <a:off x="2651760" y="4663440"/>
            <a:ext cx="188316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47"/>
          <p:cNvSpPr/>
          <p:nvPr/>
        </p:nvSpPr>
        <p:spPr>
          <a:xfrm>
            <a:off x="2715840" y="4718160"/>
            <a:ext cx="1755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intake_agent.py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48"/>
          <p:cNvSpPr/>
          <p:nvPr/>
        </p:nvSpPr>
        <p:spPr>
          <a:xfrm>
            <a:off x="4736520" y="4663440"/>
            <a:ext cx="188316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49"/>
          <p:cNvSpPr/>
          <p:nvPr/>
        </p:nvSpPr>
        <p:spPr>
          <a:xfrm>
            <a:off x="4800600" y="4718160"/>
            <a:ext cx="1755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triage_agent.py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50"/>
          <p:cNvSpPr/>
          <p:nvPr/>
        </p:nvSpPr>
        <p:spPr>
          <a:xfrm>
            <a:off x="6821280" y="4663440"/>
            <a:ext cx="188316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51"/>
          <p:cNvSpPr/>
          <p:nvPr/>
        </p:nvSpPr>
        <p:spPr>
          <a:xfrm>
            <a:off x="6885360" y="4718160"/>
            <a:ext cx="1755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guidance_agent.py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52"/>
          <p:cNvSpPr/>
          <p:nvPr/>
        </p:nvSpPr>
        <p:spPr>
          <a:xfrm>
            <a:off x="8906400" y="4663440"/>
            <a:ext cx="188316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53"/>
          <p:cNvSpPr/>
          <p:nvPr/>
        </p:nvSpPr>
        <p:spPr>
          <a:xfrm>
            <a:off x="8970120" y="4718160"/>
            <a:ext cx="1755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service_request_agent.py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54"/>
          <p:cNvSpPr/>
          <p:nvPr/>
        </p:nvSpPr>
        <p:spPr>
          <a:xfrm>
            <a:off x="1965960" y="55411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One file, fresh-discovered every request — reviewed, shared, and re-run without a restart.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55"/>
          <p:cNvSpPr/>
          <p:nvPr/>
        </p:nvSpPr>
        <p:spPr>
          <a:xfrm>
            <a:off x="65844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56"/>
          <p:cNvSpPr/>
          <p:nvPr/>
        </p:nvSpPr>
        <p:spPr>
          <a:xfrm>
            <a:off x="74988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57"/>
          <p:cNvSpPr/>
          <p:nvPr/>
        </p:nvSpPr>
        <p:spPr>
          <a:xfrm>
            <a:off x="77724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58"/>
          <p:cNvSpPr/>
          <p:nvPr/>
        </p:nvSpPr>
        <p:spPr>
          <a:xfrm>
            <a:off x="106992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Sign 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59"/>
          <p:cNvSpPr/>
          <p:nvPr/>
        </p:nvSpPr>
        <p:spPr>
          <a:xfrm>
            <a:off x="285300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60"/>
          <p:cNvSpPr/>
          <p:nvPr/>
        </p:nvSpPr>
        <p:spPr>
          <a:xfrm>
            <a:off x="294444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61"/>
          <p:cNvSpPr/>
          <p:nvPr/>
        </p:nvSpPr>
        <p:spPr>
          <a:xfrm>
            <a:off x="297180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62"/>
          <p:cNvSpPr/>
          <p:nvPr/>
        </p:nvSpPr>
        <p:spPr>
          <a:xfrm>
            <a:off x="326448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Start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63"/>
          <p:cNvSpPr/>
          <p:nvPr/>
        </p:nvSpPr>
        <p:spPr>
          <a:xfrm>
            <a:off x="504756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64"/>
          <p:cNvSpPr/>
          <p:nvPr/>
        </p:nvSpPr>
        <p:spPr>
          <a:xfrm>
            <a:off x="513900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65"/>
          <p:cNvSpPr/>
          <p:nvPr/>
        </p:nvSpPr>
        <p:spPr>
          <a:xfrm>
            <a:off x="516636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66"/>
          <p:cNvSpPr/>
          <p:nvPr/>
        </p:nvSpPr>
        <p:spPr>
          <a:xfrm>
            <a:off x="545904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Author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67"/>
          <p:cNvSpPr/>
          <p:nvPr/>
        </p:nvSpPr>
        <p:spPr>
          <a:xfrm>
            <a:off x="724212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8661C5"/>
          </a:solidFill>
          <a:ln w="1778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68"/>
          <p:cNvSpPr/>
          <p:nvPr/>
        </p:nvSpPr>
        <p:spPr>
          <a:xfrm>
            <a:off x="7333560" y="5957280"/>
            <a:ext cx="255600" cy="255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69"/>
          <p:cNvSpPr/>
          <p:nvPr/>
        </p:nvSpPr>
        <p:spPr>
          <a:xfrm>
            <a:off x="736092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70"/>
          <p:cNvSpPr/>
          <p:nvPr/>
        </p:nvSpPr>
        <p:spPr>
          <a:xfrm>
            <a:off x="765360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Run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71"/>
          <p:cNvSpPr/>
          <p:nvPr/>
        </p:nvSpPr>
        <p:spPr>
          <a:xfrm>
            <a:off x="943668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72"/>
          <p:cNvSpPr/>
          <p:nvPr/>
        </p:nvSpPr>
        <p:spPr>
          <a:xfrm>
            <a:off x="952812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73"/>
          <p:cNvSpPr/>
          <p:nvPr/>
        </p:nvSpPr>
        <p:spPr>
          <a:xfrm>
            <a:off x="955548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74"/>
          <p:cNvSpPr/>
          <p:nvPr/>
        </p:nvSpPr>
        <p:spPr>
          <a:xfrm>
            <a:off x="984816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75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11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8661C5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CONTRACT VS RUNTIME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What you write vs. what the Brainstem proves.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8"/>
          <p:cNvSpPr/>
          <p:nvPr/>
        </p:nvSpPr>
        <p:spPr>
          <a:xfrm>
            <a:off x="10515600" y="71316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8661C5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9"/>
          <p:cNvSpPr/>
          <p:nvPr/>
        </p:nvSpPr>
        <p:spPr>
          <a:xfrm>
            <a:off x="10588680" y="804600"/>
            <a:ext cx="950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5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10"/>
          <p:cNvSpPr/>
          <p:nvPr/>
        </p:nvSpPr>
        <p:spPr>
          <a:xfrm>
            <a:off x="594360" y="1828800"/>
            <a:ext cx="5257440" cy="274284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11"/>
          <p:cNvSpPr/>
          <p:nvPr/>
        </p:nvSpPr>
        <p:spPr>
          <a:xfrm>
            <a:off x="896040" y="2103120"/>
            <a:ext cx="1782720" cy="310680"/>
          </a:xfrm>
          <a:prstGeom prst="roundRect">
            <a:avLst>
              <a:gd name="adj" fmla="val 16667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12"/>
          <p:cNvSpPr/>
          <p:nvPr/>
        </p:nvSpPr>
        <p:spPr>
          <a:xfrm>
            <a:off x="960120" y="2157840"/>
            <a:ext cx="1654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AGENT CONTRACT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13"/>
          <p:cNvSpPr/>
          <p:nvPr/>
        </p:nvSpPr>
        <p:spPr>
          <a:xfrm>
            <a:off x="896040" y="257868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What you write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4"/>
          <p:cNvSpPr/>
          <p:nvPr/>
        </p:nvSpPr>
        <p:spPr>
          <a:xfrm>
            <a:off x="896040" y="309060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5"/>
          <p:cNvSpPr/>
          <p:nvPr/>
        </p:nvSpPr>
        <p:spPr>
          <a:xfrm>
            <a:off x="934560" y="310536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6"/>
          <p:cNvSpPr/>
          <p:nvPr/>
        </p:nvSpPr>
        <p:spPr>
          <a:xfrm>
            <a:off x="1225440" y="3072240"/>
            <a:ext cx="3968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Filename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*_agent.py in top-level agents/.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17"/>
          <p:cNvSpPr/>
          <p:nvPr/>
        </p:nvSpPr>
        <p:spPr>
          <a:xfrm>
            <a:off x="896040" y="362088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18"/>
          <p:cNvSpPr/>
          <p:nvPr/>
        </p:nvSpPr>
        <p:spPr>
          <a:xfrm>
            <a:off x="934560" y="363564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19"/>
          <p:cNvSpPr/>
          <p:nvPr/>
        </p:nvSpPr>
        <p:spPr>
          <a:xfrm>
            <a:off x="1225440" y="3602880"/>
            <a:ext cx="3968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Class + identity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Extends BasicAgent; name + metadata.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20"/>
          <p:cNvSpPr/>
          <p:nvPr/>
        </p:nvSpPr>
        <p:spPr>
          <a:xfrm>
            <a:off x="896040" y="4151520"/>
            <a:ext cx="228240" cy="228240"/>
          </a:xfrm>
          <a:prstGeom prst="ellipse">
            <a:avLst/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21"/>
          <p:cNvSpPr/>
          <p:nvPr/>
        </p:nvSpPr>
        <p:spPr>
          <a:xfrm>
            <a:off x="934560" y="416592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22"/>
          <p:cNvSpPr/>
          <p:nvPr/>
        </p:nvSpPr>
        <p:spPr>
          <a:xfrm>
            <a:off x="1225440" y="4133160"/>
            <a:ext cx="3968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Behavior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perform(**kwargs) returns a string.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23"/>
          <p:cNvSpPr/>
          <p:nvPr/>
        </p:nvSpPr>
        <p:spPr>
          <a:xfrm>
            <a:off x="6327720" y="1828800"/>
            <a:ext cx="5266440" cy="2742840"/>
          </a:xfrm>
          <a:prstGeom prst="roundRect">
            <a:avLst>
              <a:gd name="adj" fmla="val 16667"/>
            </a:avLst>
          </a:prstGeom>
          <a:solidFill>
            <a:srgbClr val="EAF4FD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24"/>
          <p:cNvSpPr/>
          <p:nvPr/>
        </p:nvSpPr>
        <p:spPr>
          <a:xfrm>
            <a:off x="6629400" y="2103120"/>
            <a:ext cx="2514240" cy="310680"/>
          </a:xfrm>
          <a:prstGeom prst="roundRect">
            <a:avLst>
              <a:gd name="adj" fmla="val 1666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25"/>
          <p:cNvSpPr/>
          <p:nvPr/>
        </p:nvSpPr>
        <p:spPr>
          <a:xfrm>
            <a:off x="6693480" y="2157840"/>
            <a:ext cx="2386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BRAINSTEM RUNTIME PROOF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26"/>
          <p:cNvSpPr/>
          <p:nvPr/>
        </p:nvSpPr>
        <p:spPr>
          <a:xfrm>
            <a:off x="6629400" y="257868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What the runtime does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27"/>
          <p:cNvSpPr/>
          <p:nvPr/>
        </p:nvSpPr>
        <p:spPr>
          <a:xfrm>
            <a:off x="6629400" y="309060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28"/>
          <p:cNvSpPr/>
          <p:nvPr/>
        </p:nvSpPr>
        <p:spPr>
          <a:xfrm>
            <a:off x="6667920" y="310536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29"/>
          <p:cNvSpPr/>
          <p:nvPr/>
        </p:nvSpPr>
        <p:spPr>
          <a:xfrm>
            <a:off x="6958440" y="3072240"/>
            <a:ext cx="401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Fresh discovery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Re-scanned every /chat request.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30"/>
          <p:cNvSpPr/>
          <p:nvPr/>
        </p:nvSpPr>
        <p:spPr>
          <a:xfrm>
            <a:off x="6629400" y="362088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31"/>
          <p:cNvSpPr/>
          <p:nvPr/>
        </p:nvSpPr>
        <p:spPr>
          <a:xfrm>
            <a:off x="6667920" y="363564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32"/>
          <p:cNvSpPr/>
          <p:nvPr/>
        </p:nvSpPr>
        <p:spPr>
          <a:xfrm>
            <a:off x="6958440" y="3602880"/>
            <a:ext cx="401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Registered as a tool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From your metadata schema.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33"/>
          <p:cNvSpPr/>
          <p:nvPr/>
        </p:nvSpPr>
        <p:spPr>
          <a:xfrm>
            <a:off x="6629400" y="4151520"/>
            <a:ext cx="228240" cy="228240"/>
          </a:xfrm>
          <a:prstGeom prst="ellipse">
            <a:avLst/>
          </a:prstGeom>
          <a:solidFill>
            <a:srgbClr val="DCEEFF"/>
          </a:solidFill>
          <a:ln w="1270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34"/>
          <p:cNvSpPr/>
          <p:nvPr/>
        </p:nvSpPr>
        <p:spPr>
          <a:xfrm>
            <a:off x="6667920" y="4165920"/>
            <a:ext cx="1551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35"/>
          <p:cNvSpPr/>
          <p:nvPr/>
        </p:nvSpPr>
        <p:spPr>
          <a:xfrm>
            <a:off x="6958440" y="4133160"/>
            <a:ext cx="401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B1A19"/>
                </a:solidFill>
                <a:effectLst/>
                <a:uFillTx/>
                <a:latin typeface="Segoe UI"/>
                <a:ea typeface="Segoe UI"/>
              </a:rPr>
              <a:t>Chosen by intent</a:t>
            </a:r>
            <a:r>
              <a:rPr lang="en-US" sz="13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  The model calls it by description.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36"/>
          <p:cNvSpPr/>
          <p:nvPr/>
        </p:nvSpPr>
        <p:spPr>
          <a:xfrm>
            <a:off x="594360" y="4718160"/>
            <a:ext cx="10999800" cy="456840"/>
          </a:xfrm>
          <a:prstGeom prst="roundRect">
            <a:avLst>
              <a:gd name="adj" fmla="val 12000"/>
            </a:avLst>
          </a:prstGeom>
          <a:solidFill>
            <a:srgbClr val="EAF4FD"/>
          </a:solidFill>
          <a:ln w="17780">
            <a:solidFill>
              <a:srgbClr val="10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37"/>
          <p:cNvSpPr/>
          <p:nvPr/>
        </p:nvSpPr>
        <p:spPr>
          <a:xfrm>
            <a:off x="822960" y="4791600"/>
            <a:ext cx="10515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PROOF   </a:t>
            </a:r>
            <a:r>
              <a:rPr lang="en-US" sz="1150" b="0" u="none" strike="noStrike">
                <a:solidFill>
                  <a:srgbClr val="3B3A39"/>
                </a:solidFill>
                <a:effectLst/>
                <a:uFillTx/>
                <a:latin typeface="Segoe UI Semibold"/>
                <a:ea typeface="Segoe UI Semibold"/>
              </a:rPr>
              <a:t>Ask at localhost:7071 and the reply comes back; /health lists your agent; edits reload on the next request.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38"/>
          <p:cNvSpPr/>
          <p:nvPr/>
        </p:nvSpPr>
        <p:spPr>
          <a:xfrm>
            <a:off x="640080" y="5394960"/>
            <a:ext cx="20113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VERIFY LOCALLY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39"/>
          <p:cNvSpPr/>
          <p:nvPr/>
        </p:nvSpPr>
        <p:spPr>
          <a:xfrm>
            <a:off x="2487240" y="5340240"/>
            <a:ext cx="178272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40"/>
          <p:cNvSpPr/>
          <p:nvPr/>
        </p:nvSpPr>
        <p:spPr>
          <a:xfrm>
            <a:off x="2551320" y="5394960"/>
            <a:ext cx="1654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no restart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41"/>
          <p:cNvSpPr/>
          <p:nvPr/>
        </p:nvSpPr>
        <p:spPr>
          <a:xfrm>
            <a:off x="4453200" y="5340240"/>
            <a:ext cx="1782720" cy="3106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DFF6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42"/>
          <p:cNvSpPr/>
          <p:nvPr/>
        </p:nvSpPr>
        <p:spPr>
          <a:xfrm>
            <a:off x="4517280" y="5394960"/>
            <a:ext cx="1654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no registration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43"/>
          <p:cNvSpPr/>
          <p:nvPr/>
        </p:nvSpPr>
        <p:spPr>
          <a:xfrm>
            <a:off x="6419160" y="5340240"/>
            <a:ext cx="1782720" cy="310680"/>
          </a:xfrm>
          <a:prstGeom prst="roundRect">
            <a:avLst>
              <a:gd name="adj" fmla="val 16667"/>
            </a:avLst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44"/>
          <p:cNvSpPr/>
          <p:nvPr/>
        </p:nvSpPr>
        <p:spPr>
          <a:xfrm>
            <a:off x="6483240" y="5394960"/>
            <a:ext cx="16545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edit + retest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45"/>
          <p:cNvSpPr/>
          <p:nvPr/>
        </p:nvSpPr>
        <p:spPr>
          <a:xfrm>
            <a:off x="8385120" y="5340240"/>
            <a:ext cx="1965600" cy="310680"/>
          </a:xfrm>
          <a:prstGeom prst="roundRect">
            <a:avLst>
              <a:gd name="adj" fmla="val 16667"/>
            </a:avLst>
          </a:prstGeom>
          <a:solidFill>
            <a:srgbClr val="F3F2F1"/>
          </a:solidFill>
          <a:ln w="12700">
            <a:solidFill>
              <a:srgbClr val="F3F2F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46"/>
          <p:cNvSpPr/>
          <p:nvPr/>
        </p:nvSpPr>
        <p:spPr>
          <a:xfrm>
            <a:off x="8449200" y="5394960"/>
            <a:ext cx="1837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/health lists agents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47"/>
          <p:cNvSpPr/>
          <p:nvPr/>
        </p:nvSpPr>
        <p:spPr>
          <a:xfrm>
            <a:off x="65844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48"/>
          <p:cNvSpPr/>
          <p:nvPr/>
        </p:nvSpPr>
        <p:spPr>
          <a:xfrm>
            <a:off x="74988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49"/>
          <p:cNvSpPr/>
          <p:nvPr/>
        </p:nvSpPr>
        <p:spPr>
          <a:xfrm>
            <a:off x="77724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50"/>
          <p:cNvSpPr/>
          <p:nvPr/>
        </p:nvSpPr>
        <p:spPr>
          <a:xfrm>
            <a:off x="106992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Sign 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51"/>
          <p:cNvSpPr/>
          <p:nvPr/>
        </p:nvSpPr>
        <p:spPr>
          <a:xfrm>
            <a:off x="285300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52"/>
          <p:cNvSpPr/>
          <p:nvPr/>
        </p:nvSpPr>
        <p:spPr>
          <a:xfrm>
            <a:off x="294444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53"/>
          <p:cNvSpPr/>
          <p:nvPr/>
        </p:nvSpPr>
        <p:spPr>
          <a:xfrm>
            <a:off x="297180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54"/>
          <p:cNvSpPr/>
          <p:nvPr/>
        </p:nvSpPr>
        <p:spPr>
          <a:xfrm>
            <a:off x="326448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Start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55"/>
          <p:cNvSpPr/>
          <p:nvPr/>
        </p:nvSpPr>
        <p:spPr>
          <a:xfrm>
            <a:off x="504756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56"/>
          <p:cNvSpPr/>
          <p:nvPr/>
        </p:nvSpPr>
        <p:spPr>
          <a:xfrm>
            <a:off x="513900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57"/>
          <p:cNvSpPr/>
          <p:nvPr/>
        </p:nvSpPr>
        <p:spPr>
          <a:xfrm>
            <a:off x="516636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58"/>
          <p:cNvSpPr/>
          <p:nvPr/>
        </p:nvSpPr>
        <p:spPr>
          <a:xfrm>
            <a:off x="545904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Author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59"/>
          <p:cNvSpPr/>
          <p:nvPr/>
        </p:nvSpPr>
        <p:spPr>
          <a:xfrm>
            <a:off x="724212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8661C5"/>
          </a:solidFill>
          <a:ln w="1778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60"/>
          <p:cNvSpPr/>
          <p:nvPr/>
        </p:nvSpPr>
        <p:spPr>
          <a:xfrm>
            <a:off x="7333560" y="5957280"/>
            <a:ext cx="255600" cy="255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61"/>
          <p:cNvSpPr/>
          <p:nvPr/>
        </p:nvSpPr>
        <p:spPr>
          <a:xfrm>
            <a:off x="736092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62"/>
          <p:cNvSpPr/>
          <p:nvPr/>
        </p:nvSpPr>
        <p:spPr>
          <a:xfrm>
            <a:off x="765360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Run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63"/>
          <p:cNvSpPr/>
          <p:nvPr/>
        </p:nvSpPr>
        <p:spPr>
          <a:xfrm>
            <a:off x="943668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64"/>
          <p:cNvSpPr/>
          <p:nvPr/>
        </p:nvSpPr>
        <p:spPr>
          <a:xfrm>
            <a:off x="9528120" y="5957280"/>
            <a:ext cx="255600" cy="255600"/>
          </a:xfrm>
          <a:prstGeom prst="ellipse">
            <a:avLst/>
          </a:prstGeom>
          <a:solidFill>
            <a:srgbClr val="F3F2F1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65"/>
          <p:cNvSpPr/>
          <p:nvPr/>
        </p:nvSpPr>
        <p:spPr>
          <a:xfrm>
            <a:off x="955548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66"/>
          <p:cNvSpPr/>
          <p:nvPr/>
        </p:nvSpPr>
        <p:spPr>
          <a:xfrm>
            <a:off x="984816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67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12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005A9E"/>
          </a:solidFill>
          <a:ln w="12700">
            <a:solidFill>
              <a:srgbClr val="005A9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STEP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Place it, discover it, run it locally.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8"/>
          <p:cNvSpPr/>
          <p:nvPr/>
        </p:nvSpPr>
        <p:spPr>
          <a:xfrm>
            <a:off x="10515600" y="71316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005A9E"/>
          </a:solidFill>
          <a:ln w="12700">
            <a:solidFill>
              <a:srgbClr val="005A9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9"/>
          <p:cNvSpPr/>
          <p:nvPr/>
        </p:nvSpPr>
        <p:spPr>
          <a:xfrm>
            <a:off x="10588680" y="804600"/>
            <a:ext cx="950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8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10"/>
          <p:cNvSpPr/>
          <p:nvPr/>
        </p:nvSpPr>
        <p:spPr>
          <a:xfrm>
            <a:off x="640080" y="1920240"/>
            <a:ext cx="3062880" cy="290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11"/>
          <p:cNvSpPr/>
          <p:nvPr/>
        </p:nvSpPr>
        <p:spPr>
          <a:xfrm>
            <a:off x="1883520" y="2194560"/>
            <a:ext cx="566640" cy="566640"/>
          </a:xfrm>
          <a:prstGeom prst="ellipse">
            <a:avLst/>
          </a:prstGeom>
          <a:solidFill>
            <a:srgbClr val="DCEEFF"/>
          </a:solidFill>
          <a:ln w="1524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12"/>
          <p:cNvSpPr/>
          <p:nvPr/>
        </p:nvSpPr>
        <p:spPr>
          <a:xfrm>
            <a:off x="1965960" y="235008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13"/>
          <p:cNvSpPr/>
          <p:nvPr/>
        </p:nvSpPr>
        <p:spPr>
          <a:xfrm>
            <a:off x="914400" y="297180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PLACE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14"/>
          <p:cNvSpPr/>
          <p:nvPr/>
        </p:nvSpPr>
        <p:spPr>
          <a:xfrm>
            <a:off x="960120" y="3456360"/>
            <a:ext cx="2422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Save your *_agent.py into the top-level agents/ folder — subfolders are ignored.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15"/>
          <p:cNvSpPr/>
          <p:nvPr/>
        </p:nvSpPr>
        <p:spPr>
          <a:xfrm>
            <a:off x="1677960" y="4224600"/>
            <a:ext cx="987120" cy="365400"/>
          </a:xfrm>
          <a:prstGeom prst="roundRect">
            <a:avLst>
              <a:gd name="adj" fmla="val 12500"/>
            </a:avLst>
          </a:prstGeom>
          <a:solidFill>
            <a:srgbClr val="DCEEFF"/>
          </a:solidFill>
          <a:ln w="1524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16"/>
          <p:cNvSpPr/>
          <p:nvPr/>
        </p:nvSpPr>
        <p:spPr>
          <a:xfrm>
            <a:off x="1677960" y="4260960"/>
            <a:ext cx="98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79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agents/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17"/>
          <p:cNvSpPr/>
          <p:nvPr/>
        </p:nvSpPr>
        <p:spPr>
          <a:xfrm>
            <a:off x="3840480" y="3099960"/>
            <a:ext cx="339840" cy="54828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18"/>
          <p:cNvSpPr/>
          <p:nvPr/>
        </p:nvSpPr>
        <p:spPr>
          <a:xfrm>
            <a:off x="4069080" y="1920240"/>
            <a:ext cx="3062880" cy="290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661C5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19"/>
          <p:cNvSpPr/>
          <p:nvPr/>
        </p:nvSpPr>
        <p:spPr>
          <a:xfrm>
            <a:off x="5312520" y="2194560"/>
            <a:ext cx="566640" cy="566640"/>
          </a:xfrm>
          <a:prstGeom prst="ellipse">
            <a:avLst/>
          </a:prstGeom>
          <a:solidFill>
            <a:srgbClr val="EDE7F6"/>
          </a:solidFill>
          <a:ln w="1524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20"/>
          <p:cNvSpPr/>
          <p:nvPr/>
        </p:nvSpPr>
        <p:spPr>
          <a:xfrm>
            <a:off x="5394960" y="235008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21"/>
          <p:cNvSpPr/>
          <p:nvPr/>
        </p:nvSpPr>
        <p:spPr>
          <a:xfrm>
            <a:off x="4343400" y="297180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DISCOVER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22"/>
          <p:cNvSpPr/>
          <p:nvPr/>
        </p:nvSpPr>
        <p:spPr>
          <a:xfrm>
            <a:off x="4389120" y="3456360"/>
            <a:ext cx="2422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The Brainstem finds it fresh on the next request. No restart, no registration.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23"/>
          <p:cNvSpPr/>
          <p:nvPr/>
        </p:nvSpPr>
        <p:spPr>
          <a:xfrm>
            <a:off x="5106960" y="4224600"/>
            <a:ext cx="987120" cy="365400"/>
          </a:xfrm>
          <a:prstGeom prst="roundRect">
            <a:avLst>
              <a:gd name="adj" fmla="val 12500"/>
            </a:avLst>
          </a:prstGeom>
          <a:solidFill>
            <a:srgbClr val="EDE7F6"/>
          </a:solidFill>
          <a:ln w="1524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24"/>
          <p:cNvSpPr/>
          <p:nvPr/>
        </p:nvSpPr>
        <p:spPr>
          <a:xfrm>
            <a:off x="5106960" y="4260960"/>
            <a:ext cx="98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79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/chat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25"/>
          <p:cNvSpPr/>
          <p:nvPr/>
        </p:nvSpPr>
        <p:spPr>
          <a:xfrm>
            <a:off x="7269480" y="3099960"/>
            <a:ext cx="339840" cy="54828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26"/>
          <p:cNvSpPr/>
          <p:nvPr/>
        </p:nvSpPr>
        <p:spPr>
          <a:xfrm>
            <a:off x="7498080" y="1920240"/>
            <a:ext cx="3062880" cy="290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07C1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27"/>
          <p:cNvSpPr/>
          <p:nvPr/>
        </p:nvSpPr>
        <p:spPr>
          <a:xfrm>
            <a:off x="8741520" y="2194560"/>
            <a:ext cx="566640" cy="566640"/>
          </a:xfrm>
          <a:prstGeom prst="ellipse">
            <a:avLst/>
          </a:prstGeom>
          <a:solidFill>
            <a:srgbClr val="DFF6DD"/>
          </a:solidFill>
          <a:ln w="1524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28"/>
          <p:cNvSpPr/>
          <p:nvPr/>
        </p:nvSpPr>
        <p:spPr>
          <a:xfrm>
            <a:off x="8823960" y="235008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29"/>
          <p:cNvSpPr/>
          <p:nvPr/>
        </p:nvSpPr>
        <p:spPr>
          <a:xfrm>
            <a:off x="7772400" y="297180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RUN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30"/>
          <p:cNvSpPr/>
          <p:nvPr/>
        </p:nvSpPr>
        <p:spPr>
          <a:xfrm>
            <a:off x="7818120" y="3456360"/>
            <a:ext cx="2422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Open localhost:7071 and ask a question that triggers your agent.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31"/>
          <p:cNvSpPr/>
          <p:nvPr/>
        </p:nvSpPr>
        <p:spPr>
          <a:xfrm>
            <a:off x="8535960" y="4224600"/>
            <a:ext cx="987120" cy="365400"/>
          </a:xfrm>
          <a:prstGeom prst="roundRect">
            <a:avLst>
              <a:gd name="adj" fmla="val 12500"/>
            </a:avLst>
          </a:prstGeom>
          <a:solidFill>
            <a:srgbClr val="DFF6DD"/>
          </a:solidFill>
          <a:ln w="1524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32"/>
          <p:cNvSpPr/>
          <p:nvPr/>
        </p:nvSpPr>
        <p:spPr>
          <a:xfrm>
            <a:off x="8535960" y="4260960"/>
            <a:ext cx="987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79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7071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33"/>
          <p:cNvSpPr/>
          <p:nvPr/>
        </p:nvSpPr>
        <p:spPr>
          <a:xfrm>
            <a:off x="640080" y="5074920"/>
            <a:ext cx="10890000" cy="548280"/>
          </a:xfrm>
          <a:prstGeom prst="roundRect">
            <a:avLst>
              <a:gd name="adj" fmla="val 16667"/>
            </a:avLst>
          </a:prstGeom>
          <a:solidFill>
            <a:srgbClr val="103A6B"/>
          </a:solidFill>
          <a:ln w="12700">
            <a:solidFill>
              <a:srgbClr val="103A6B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34"/>
          <p:cNvSpPr/>
          <p:nvPr/>
        </p:nvSpPr>
        <p:spPr>
          <a:xfrm>
            <a:off x="914400" y="52304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pc="91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LOCAL BY DEFAULT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35"/>
          <p:cNvSpPr/>
          <p:nvPr/>
        </p:nvSpPr>
        <p:spPr>
          <a:xfrm>
            <a:off x="2395800" y="5193720"/>
            <a:ext cx="1623600" cy="310680"/>
          </a:xfrm>
          <a:prstGeom prst="roundRect">
            <a:avLst>
              <a:gd name="adj" fmla="val 14706"/>
            </a:avLst>
          </a:prstGeom>
          <a:solidFill>
            <a:srgbClr val="16406E"/>
          </a:solidFill>
          <a:ln w="1143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36"/>
          <p:cNvSpPr/>
          <p:nvPr/>
        </p:nvSpPr>
        <p:spPr>
          <a:xfrm>
            <a:off x="2395800" y="5193720"/>
            <a:ext cx="1623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1 </a:t>
            </a:r>
            <a:r>
              <a:rPr lang="en-US" sz="96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Save into agents/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37"/>
          <p:cNvSpPr/>
          <p:nvPr/>
        </p:nvSpPr>
        <p:spPr>
          <a:xfrm>
            <a:off x="4165920" y="5193720"/>
            <a:ext cx="1060200" cy="310680"/>
          </a:xfrm>
          <a:prstGeom prst="roundRect">
            <a:avLst>
              <a:gd name="adj" fmla="val 14706"/>
            </a:avLst>
          </a:prstGeom>
          <a:solidFill>
            <a:srgbClr val="16406E"/>
          </a:solidFill>
          <a:ln w="1143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38"/>
          <p:cNvSpPr/>
          <p:nvPr/>
        </p:nvSpPr>
        <p:spPr>
          <a:xfrm>
            <a:off x="4165920" y="5193720"/>
            <a:ext cx="1060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2 </a:t>
            </a:r>
            <a:r>
              <a:rPr lang="en-US" sz="96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No restart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39"/>
          <p:cNvSpPr/>
          <p:nvPr/>
        </p:nvSpPr>
        <p:spPr>
          <a:xfrm>
            <a:off x="5373000" y="5193720"/>
            <a:ext cx="1945440" cy="310680"/>
          </a:xfrm>
          <a:prstGeom prst="roundRect">
            <a:avLst>
              <a:gd name="adj" fmla="val 14706"/>
            </a:avLst>
          </a:prstGeom>
          <a:solidFill>
            <a:srgbClr val="16406E"/>
          </a:solidFill>
          <a:ln w="1143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40"/>
          <p:cNvSpPr/>
          <p:nvPr/>
        </p:nvSpPr>
        <p:spPr>
          <a:xfrm>
            <a:off x="5373000" y="5193720"/>
            <a:ext cx="1945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3 </a:t>
            </a:r>
            <a:r>
              <a:rPr lang="en-US" sz="96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Ask at localhost:7071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41"/>
          <p:cNvSpPr/>
          <p:nvPr/>
        </p:nvSpPr>
        <p:spPr>
          <a:xfrm>
            <a:off x="7465320" y="5193720"/>
            <a:ext cx="1301760" cy="310680"/>
          </a:xfrm>
          <a:prstGeom prst="roundRect">
            <a:avLst>
              <a:gd name="adj" fmla="val 14706"/>
            </a:avLst>
          </a:prstGeom>
          <a:solidFill>
            <a:srgbClr val="16406E"/>
          </a:solidFill>
          <a:ln w="1143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42"/>
          <p:cNvSpPr/>
          <p:nvPr/>
        </p:nvSpPr>
        <p:spPr>
          <a:xfrm>
            <a:off x="7465320" y="5193720"/>
            <a:ext cx="1301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4 </a:t>
            </a:r>
            <a:r>
              <a:rPr lang="en-US" sz="96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Edit + retest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43"/>
          <p:cNvSpPr/>
          <p:nvPr/>
        </p:nvSpPr>
        <p:spPr>
          <a:xfrm>
            <a:off x="8913600" y="5193720"/>
            <a:ext cx="1945440" cy="310680"/>
          </a:xfrm>
          <a:prstGeom prst="roundRect">
            <a:avLst>
              <a:gd name="adj" fmla="val 14706"/>
            </a:avLst>
          </a:prstGeom>
          <a:solidFill>
            <a:srgbClr val="16406E"/>
          </a:solidFill>
          <a:ln w="1143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44"/>
          <p:cNvSpPr/>
          <p:nvPr/>
        </p:nvSpPr>
        <p:spPr>
          <a:xfrm>
            <a:off x="8913600" y="5193720"/>
            <a:ext cx="1945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5 </a:t>
            </a:r>
            <a:r>
              <a:rPr lang="en-US" sz="96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Stays on your machine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45"/>
          <p:cNvSpPr/>
          <p:nvPr/>
        </p:nvSpPr>
        <p:spPr>
          <a:xfrm>
            <a:off x="65844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46"/>
          <p:cNvSpPr/>
          <p:nvPr/>
        </p:nvSpPr>
        <p:spPr>
          <a:xfrm>
            <a:off x="74988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47"/>
          <p:cNvSpPr/>
          <p:nvPr/>
        </p:nvSpPr>
        <p:spPr>
          <a:xfrm>
            <a:off x="77724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48"/>
          <p:cNvSpPr/>
          <p:nvPr/>
        </p:nvSpPr>
        <p:spPr>
          <a:xfrm>
            <a:off x="106992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Sign 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49"/>
          <p:cNvSpPr/>
          <p:nvPr/>
        </p:nvSpPr>
        <p:spPr>
          <a:xfrm>
            <a:off x="285300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50"/>
          <p:cNvSpPr/>
          <p:nvPr/>
        </p:nvSpPr>
        <p:spPr>
          <a:xfrm>
            <a:off x="294444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51"/>
          <p:cNvSpPr/>
          <p:nvPr/>
        </p:nvSpPr>
        <p:spPr>
          <a:xfrm>
            <a:off x="297180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52"/>
          <p:cNvSpPr/>
          <p:nvPr/>
        </p:nvSpPr>
        <p:spPr>
          <a:xfrm>
            <a:off x="326448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Start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53"/>
          <p:cNvSpPr/>
          <p:nvPr/>
        </p:nvSpPr>
        <p:spPr>
          <a:xfrm>
            <a:off x="504756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54"/>
          <p:cNvSpPr/>
          <p:nvPr/>
        </p:nvSpPr>
        <p:spPr>
          <a:xfrm>
            <a:off x="513900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55"/>
          <p:cNvSpPr/>
          <p:nvPr/>
        </p:nvSpPr>
        <p:spPr>
          <a:xfrm>
            <a:off x="516636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56"/>
          <p:cNvSpPr/>
          <p:nvPr/>
        </p:nvSpPr>
        <p:spPr>
          <a:xfrm>
            <a:off x="545904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Author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57"/>
          <p:cNvSpPr/>
          <p:nvPr/>
        </p:nvSpPr>
        <p:spPr>
          <a:xfrm>
            <a:off x="724212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58"/>
          <p:cNvSpPr/>
          <p:nvPr/>
        </p:nvSpPr>
        <p:spPr>
          <a:xfrm>
            <a:off x="7333560" y="5957280"/>
            <a:ext cx="255600" cy="255600"/>
          </a:xfrm>
          <a:prstGeom prst="ellipse">
            <a:avLst/>
          </a:prstGeom>
          <a:solidFill>
            <a:srgbClr val="107C10"/>
          </a:solidFill>
          <a:ln w="1016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59"/>
          <p:cNvSpPr/>
          <p:nvPr/>
        </p:nvSpPr>
        <p:spPr>
          <a:xfrm>
            <a:off x="736092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60"/>
          <p:cNvSpPr/>
          <p:nvPr/>
        </p:nvSpPr>
        <p:spPr>
          <a:xfrm>
            <a:off x="765360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Run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61"/>
          <p:cNvSpPr/>
          <p:nvPr/>
        </p:nvSpPr>
        <p:spPr>
          <a:xfrm>
            <a:off x="9436680" y="5870520"/>
            <a:ext cx="2057040" cy="429480"/>
          </a:xfrm>
          <a:prstGeom prst="roundRect">
            <a:avLst>
              <a:gd name="adj" fmla="val 16667"/>
            </a:avLst>
          </a:prstGeom>
          <a:solidFill>
            <a:srgbClr val="103A6B"/>
          </a:solidFill>
          <a:ln w="17780">
            <a:solidFill>
              <a:srgbClr val="10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62"/>
          <p:cNvSpPr/>
          <p:nvPr/>
        </p:nvSpPr>
        <p:spPr>
          <a:xfrm>
            <a:off x="9528120" y="5957280"/>
            <a:ext cx="255600" cy="2556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63"/>
          <p:cNvSpPr/>
          <p:nvPr/>
        </p:nvSpPr>
        <p:spPr>
          <a:xfrm>
            <a:off x="9555480" y="5998320"/>
            <a:ext cx="20088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64"/>
          <p:cNvSpPr/>
          <p:nvPr/>
        </p:nvSpPr>
        <p:spPr>
          <a:xfrm>
            <a:off x="9848160" y="6003000"/>
            <a:ext cx="1535760" cy="1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65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13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TEST + REFINE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Test the promise, not just the happy path.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8"/>
          <p:cNvSpPr/>
          <p:nvPr/>
        </p:nvSpPr>
        <p:spPr>
          <a:xfrm>
            <a:off x="10515600" y="71316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9"/>
          <p:cNvSpPr/>
          <p:nvPr/>
        </p:nvSpPr>
        <p:spPr>
          <a:xfrm>
            <a:off x="10588680" y="804600"/>
            <a:ext cx="950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4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10"/>
          <p:cNvSpPr/>
          <p:nvPr/>
        </p:nvSpPr>
        <p:spPr>
          <a:xfrm>
            <a:off x="594360" y="1828800"/>
            <a:ext cx="5577480" cy="354744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11"/>
          <p:cNvSpPr/>
          <p:nvPr/>
        </p:nvSpPr>
        <p:spPr>
          <a:xfrm>
            <a:off x="594360" y="1828800"/>
            <a:ext cx="55774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12"/>
          <p:cNvSpPr/>
          <p:nvPr/>
        </p:nvSpPr>
        <p:spPr>
          <a:xfrm>
            <a:off x="740520" y="1956960"/>
            <a:ext cx="118440" cy="118440"/>
          </a:xfrm>
          <a:prstGeom prst="ellipse">
            <a:avLst/>
          </a:prstGeom>
          <a:solidFill>
            <a:srgbClr val="E85C4A"/>
          </a:solidFill>
          <a:ln w="12700">
            <a:solidFill>
              <a:srgbClr val="E85C4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13"/>
          <p:cNvSpPr/>
          <p:nvPr/>
        </p:nvSpPr>
        <p:spPr>
          <a:xfrm>
            <a:off x="941760" y="1956960"/>
            <a:ext cx="118440" cy="118440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14"/>
          <p:cNvSpPr/>
          <p:nvPr/>
        </p:nvSpPr>
        <p:spPr>
          <a:xfrm>
            <a:off x="1143000" y="1956960"/>
            <a:ext cx="118440" cy="118440"/>
          </a:xfrm>
          <a:prstGeom prst="ellipse">
            <a:avLst/>
          </a:prstGeom>
          <a:solidFill>
            <a:srgbClr val="5FB65F"/>
          </a:solidFill>
          <a:ln w="12700">
            <a:solidFill>
              <a:srgbClr val="5FB65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880" rIns="9000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15"/>
          <p:cNvSpPr/>
          <p:nvPr/>
        </p:nvSpPr>
        <p:spPr>
          <a:xfrm>
            <a:off x="1435680" y="1901880"/>
            <a:ext cx="4553280" cy="23724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16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16"/>
          <p:cNvSpPr/>
          <p:nvPr/>
        </p:nvSpPr>
        <p:spPr>
          <a:xfrm>
            <a:off x="1554480" y="193860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Brainstem / localhost:7071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17"/>
          <p:cNvSpPr/>
          <p:nvPr/>
        </p:nvSpPr>
        <p:spPr>
          <a:xfrm>
            <a:off x="896040" y="234072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USER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18"/>
          <p:cNvSpPr/>
          <p:nvPr/>
        </p:nvSpPr>
        <p:spPr>
          <a:xfrm>
            <a:off x="914400" y="2541960"/>
            <a:ext cx="4205880" cy="548280"/>
          </a:xfrm>
          <a:prstGeom prst="roundRect">
            <a:avLst>
              <a:gd name="adj" fmla="val 8333"/>
            </a:avLst>
          </a:prstGeom>
          <a:solidFill>
            <a:srgbClr val="DCEEFF"/>
          </a:solidFill>
          <a:ln w="12700">
            <a:solidFill>
              <a:srgbClr val="BF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19"/>
          <p:cNvSpPr/>
          <p:nvPr/>
        </p:nvSpPr>
        <p:spPr>
          <a:xfrm>
            <a:off x="1115640" y="2606040"/>
            <a:ext cx="3794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The lights are out on floor 4 near conference room 402. It is blocking a customer meeting.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20"/>
          <p:cNvSpPr/>
          <p:nvPr/>
        </p:nvSpPr>
        <p:spPr>
          <a:xfrm>
            <a:off x="1417320" y="3200400"/>
            <a:ext cx="914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pc="99" strike="noStrike">
                <a:solidFill>
                  <a:srgbClr val="972900"/>
                </a:solidFill>
                <a:effectLst/>
                <a:uFillTx/>
                <a:latin typeface="Segoe UI Semibold"/>
                <a:ea typeface="Segoe UI Semibold"/>
              </a:rPr>
              <a:t>AGENT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21"/>
          <p:cNvSpPr/>
          <p:nvPr/>
        </p:nvSpPr>
        <p:spPr>
          <a:xfrm>
            <a:off x="1417320" y="3401640"/>
            <a:ext cx="4407120" cy="89568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1DF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22"/>
          <p:cNvSpPr/>
          <p:nvPr/>
        </p:nvSpPr>
        <p:spPr>
          <a:xfrm>
            <a:off x="1645920" y="3493080"/>
            <a:ext cx="39315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I can help create a facilities request. I captured: floor 4, lighting issue, high urgency, near room 402. Please confirm the building and contact preference.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23"/>
          <p:cNvSpPr/>
          <p:nvPr/>
        </p:nvSpPr>
        <p:spPr>
          <a:xfrm>
            <a:off x="914400" y="4590360"/>
            <a:ext cx="1371240" cy="3106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DFF6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24"/>
          <p:cNvSpPr/>
          <p:nvPr/>
        </p:nvSpPr>
        <p:spPr>
          <a:xfrm>
            <a:off x="978480" y="4645080"/>
            <a:ext cx="1243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HAPPY PATH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25"/>
          <p:cNvSpPr/>
          <p:nvPr/>
        </p:nvSpPr>
        <p:spPr>
          <a:xfrm>
            <a:off x="2487240" y="4590360"/>
            <a:ext cx="1279800" cy="310680"/>
          </a:xfrm>
          <a:prstGeom prst="roundRect">
            <a:avLst>
              <a:gd name="adj" fmla="val 16667"/>
            </a:avLst>
          </a:prstGeom>
          <a:solidFill>
            <a:srgbClr val="F9E3DB"/>
          </a:solidFill>
          <a:ln w="12700">
            <a:solidFill>
              <a:srgbClr val="F9E3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26"/>
          <p:cNvSpPr/>
          <p:nvPr/>
        </p:nvSpPr>
        <p:spPr>
          <a:xfrm>
            <a:off x="2551320" y="4645080"/>
            <a:ext cx="1151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972900"/>
                </a:solidFill>
                <a:effectLst/>
                <a:uFillTx/>
                <a:latin typeface="Segoe UI Semibold"/>
                <a:ea typeface="Segoe UI Semibold"/>
              </a:rPr>
              <a:t>EDGE CASE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27"/>
          <p:cNvSpPr/>
          <p:nvPr/>
        </p:nvSpPr>
        <p:spPr>
          <a:xfrm>
            <a:off x="3968640" y="4590360"/>
            <a:ext cx="1554120" cy="310680"/>
          </a:xfrm>
          <a:prstGeom prst="roundRect">
            <a:avLst>
              <a:gd name="adj" fmla="val 16667"/>
            </a:avLst>
          </a:prstGeom>
          <a:solidFill>
            <a:srgbClr val="FDE7E9"/>
          </a:solidFill>
          <a:ln w="12700">
            <a:solidFill>
              <a:srgbClr val="FDE7E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28"/>
          <p:cNvSpPr/>
          <p:nvPr/>
        </p:nvSpPr>
        <p:spPr>
          <a:xfrm>
            <a:off x="4032360" y="4645080"/>
            <a:ext cx="1425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A4262C"/>
                </a:solidFill>
                <a:effectLst/>
                <a:uFillTx/>
                <a:latin typeface="Segoe UI Semibold"/>
                <a:ea typeface="Segoe UI Semibold"/>
              </a:rPr>
              <a:t>UNKNOWN VALUE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29"/>
          <p:cNvSpPr/>
          <p:nvPr/>
        </p:nvSpPr>
        <p:spPr>
          <a:xfrm>
            <a:off x="6565320" y="1828800"/>
            <a:ext cx="5028840" cy="3547440"/>
          </a:xfrm>
          <a:prstGeom prst="roundRect">
            <a:avLst>
              <a:gd name="adj" fmla="val 16667"/>
            </a:avLst>
          </a:prstGeom>
          <a:solidFill>
            <a:srgbClr val="F9E3DB"/>
          </a:solidFill>
          <a:ln w="12700">
            <a:solidFill>
              <a:srgbClr val="D83B01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30"/>
          <p:cNvSpPr/>
          <p:nvPr/>
        </p:nvSpPr>
        <p:spPr>
          <a:xfrm>
            <a:off x="6885360" y="212148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pc="99" strike="noStrike">
                <a:solidFill>
                  <a:srgbClr val="972900"/>
                </a:solidFill>
                <a:effectLst/>
                <a:uFillTx/>
                <a:latin typeface="Segoe UI Semibold"/>
                <a:ea typeface="Segoe UI Semibold"/>
              </a:rPr>
              <a:t>SCORE THE AGENT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Shape 31"/>
          <p:cNvSpPr/>
          <p:nvPr/>
        </p:nvSpPr>
        <p:spPr>
          <a:xfrm>
            <a:off x="10104120" y="2066400"/>
            <a:ext cx="1234080" cy="566640"/>
          </a:xfrm>
          <a:prstGeom prst="roundRect">
            <a:avLst>
              <a:gd name="adj" fmla="val 11290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32"/>
          <p:cNvSpPr/>
          <p:nvPr/>
        </p:nvSpPr>
        <p:spPr>
          <a:xfrm>
            <a:off x="10104120" y="2103120"/>
            <a:ext cx="12340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4</a:t>
            </a:r>
            <a:r>
              <a:rPr lang="en-US" sz="1300" b="1" u="none" strike="noStrike">
                <a:solidFill>
                  <a:srgbClr val="FFE0CC"/>
                </a:solidFill>
                <a:effectLst/>
                <a:uFillTx/>
                <a:latin typeface="Segoe UI Semibold"/>
                <a:ea typeface="Segoe UI Semibold"/>
              </a:rPr>
              <a:t> /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33"/>
          <p:cNvSpPr/>
          <p:nvPr/>
        </p:nvSpPr>
        <p:spPr>
          <a:xfrm>
            <a:off x="6885360" y="2816280"/>
            <a:ext cx="237240" cy="2372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 34"/>
          <p:cNvSpPr/>
          <p:nvPr/>
        </p:nvSpPr>
        <p:spPr>
          <a:xfrm>
            <a:off x="6885360" y="2816280"/>
            <a:ext cx="23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35"/>
          <p:cNvSpPr/>
          <p:nvPr/>
        </p:nvSpPr>
        <p:spPr>
          <a:xfrm>
            <a:off x="7242120" y="279792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Understands the request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36"/>
          <p:cNvSpPr/>
          <p:nvPr/>
        </p:nvSpPr>
        <p:spPr>
          <a:xfrm>
            <a:off x="6885360" y="3218760"/>
            <a:ext cx="237240" cy="2372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37"/>
          <p:cNvSpPr/>
          <p:nvPr/>
        </p:nvSpPr>
        <p:spPr>
          <a:xfrm>
            <a:off x="6885360" y="3218760"/>
            <a:ext cx="23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38"/>
          <p:cNvSpPr/>
          <p:nvPr/>
        </p:nvSpPr>
        <p:spPr>
          <a:xfrm>
            <a:off x="7242120" y="32004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Asks only necessary questions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39"/>
          <p:cNvSpPr/>
          <p:nvPr/>
        </p:nvSpPr>
        <p:spPr>
          <a:xfrm>
            <a:off x="6885360" y="3620880"/>
            <a:ext cx="237240" cy="2372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40"/>
          <p:cNvSpPr/>
          <p:nvPr/>
        </p:nvSpPr>
        <p:spPr>
          <a:xfrm>
            <a:off x="6885360" y="3620880"/>
            <a:ext cx="23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41"/>
          <p:cNvSpPr/>
          <p:nvPr/>
        </p:nvSpPr>
        <p:spPr>
          <a:xfrm>
            <a:off x="7242120" y="36028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Uses approved evidence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42"/>
          <p:cNvSpPr/>
          <p:nvPr/>
        </p:nvSpPr>
        <p:spPr>
          <a:xfrm>
            <a:off x="6885360" y="4023360"/>
            <a:ext cx="237240" cy="23724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A426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43"/>
          <p:cNvSpPr/>
          <p:nvPr/>
        </p:nvSpPr>
        <p:spPr>
          <a:xfrm>
            <a:off x="7242120" y="400500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4262C"/>
                </a:solidFill>
                <a:effectLst/>
                <a:uFillTx/>
                <a:latin typeface="Segoe UI"/>
                <a:ea typeface="Segoe UI"/>
              </a:rPr>
              <a:t>Handles unknowns honestly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44"/>
          <p:cNvSpPr/>
          <p:nvPr/>
        </p:nvSpPr>
        <p:spPr>
          <a:xfrm>
            <a:off x="6885360" y="4425840"/>
            <a:ext cx="237240" cy="237240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45"/>
          <p:cNvSpPr/>
          <p:nvPr/>
        </p:nvSpPr>
        <p:spPr>
          <a:xfrm>
            <a:off x="6885360" y="4425840"/>
            <a:ext cx="23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46"/>
          <p:cNvSpPr/>
          <p:nvPr/>
        </p:nvSpPr>
        <p:spPr>
          <a:xfrm>
            <a:off x="7242120" y="440748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Produces the promised artifact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47"/>
          <p:cNvSpPr/>
          <p:nvPr/>
        </p:nvSpPr>
        <p:spPr>
          <a:xfrm>
            <a:off x="594360" y="5541120"/>
            <a:ext cx="10999800" cy="603000"/>
          </a:xfrm>
          <a:prstGeom prst="roundRect">
            <a:avLst>
              <a:gd name="adj" fmla="val 10606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48"/>
          <p:cNvSpPr/>
          <p:nvPr/>
        </p:nvSpPr>
        <p:spPr>
          <a:xfrm>
            <a:off x="868680" y="5541120"/>
            <a:ext cx="1371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60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REFINE LOOP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49"/>
          <p:cNvSpPr/>
          <p:nvPr/>
        </p:nvSpPr>
        <p:spPr>
          <a:xfrm>
            <a:off x="2331720" y="5660280"/>
            <a:ext cx="1572480" cy="365400"/>
          </a:xfrm>
          <a:prstGeom prst="roundRect">
            <a:avLst>
              <a:gd name="adj" fmla="val 15000"/>
            </a:avLst>
          </a:prstGeom>
          <a:solidFill>
            <a:srgbClr val="16406E"/>
          </a:solidFill>
          <a:ln w="1270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50"/>
          <p:cNvSpPr/>
          <p:nvPr/>
        </p:nvSpPr>
        <p:spPr>
          <a:xfrm>
            <a:off x="2331720" y="5660280"/>
            <a:ext cx="1572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EDIT *_agent.py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51"/>
          <p:cNvSpPr/>
          <p:nvPr/>
        </p:nvSpPr>
        <p:spPr>
          <a:xfrm>
            <a:off x="3940920" y="5696640"/>
            <a:ext cx="181080" cy="292320"/>
          </a:xfrm>
          <a:prstGeom prst="chevron">
            <a:avLst>
              <a:gd name="adj" fmla="val 50000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52"/>
          <p:cNvSpPr/>
          <p:nvPr/>
        </p:nvSpPr>
        <p:spPr>
          <a:xfrm>
            <a:off x="4288680" y="5660280"/>
            <a:ext cx="646920" cy="365400"/>
          </a:xfrm>
          <a:prstGeom prst="roundRect">
            <a:avLst>
              <a:gd name="adj" fmla="val 15000"/>
            </a:avLst>
          </a:prstGeom>
          <a:solidFill>
            <a:srgbClr val="16406E"/>
          </a:solidFill>
          <a:ln w="1270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53"/>
          <p:cNvSpPr/>
          <p:nvPr/>
        </p:nvSpPr>
        <p:spPr>
          <a:xfrm>
            <a:off x="4288680" y="5660280"/>
            <a:ext cx="646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SAVE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54"/>
          <p:cNvSpPr/>
          <p:nvPr/>
        </p:nvSpPr>
        <p:spPr>
          <a:xfrm>
            <a:off x="4972680" y="5696640"/>
            <a:ext cx="181080" cy="292320"/>
          </a:xfrm>
          <a:prstGeom prst="chevron">
            <a:avLst>
              <a:gd name="adj" fmla="val 50000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55"/>
          <p:cNvSpPr/>
          <p:nvPr/>
        </p:nvSpPr>
        <p:spPr>
          <a:xfrm>
            <a:off x="5320080" y="5660280"/>
            <a:ext cx="815400" cy="365400"/>
          </a:xfrm>
          <a:prstGeom prst="roundRect">
            <a:avLst>
              <a:gd name="adj" fmla="val 15000"/>
            </a:avLst>
          </a:prstGeom>
          <a:solidFill>
            <a:srgbClr val="16406E"/>
          </a:solidFill>
          <a:ln w="12700">
            <a:solidFill>
              <a:srgbClr val="50E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56"/>
          <p:cNvSpPr/>
          <p:nvPr/>
        </p:nvSpPr>
        <p:spPr>
          <a:xfrm>
            <a:off x="5320080" y="5660280"/>
            <a:ext cx="81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RETEST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57"/>
          <p:cNvSpPr/>
          <p:nvPr/>
        </p:nvSpPr>
        <p:spPr>
          <a:xfrm rot="10800000">
            <a:off x="6245640" y="5706360"/>
            <a:ext cx="273960" cy="273960"/>
          </a:xfrm>
          <a:prstGeom prst="chevron">
            <a:avLst>
              <a:gd name="adj" fmla="val 50000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58"/>
          <p:cNvSpPr/>
          <p:nvPr/>
        </p:nvSpPr>
        <p:spPr>
          <a:xfrm>
            <a:off x="6592680" y="566028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50E6FF"/>
                </a:solidFill>
                <a:effectLst/>
                <a:uFillTx/>
                <a:latin typeface="Segoe UI"/>
                <a:ea typeface="Segoe UI"/>
              </a:rPr>
              <a:t>auto-reloads next request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59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14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A4262C"/>
          </a:solidFill>
          <a:ln w="12700">
            <a:solidFill>
              <a:srgbClr val="A4262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A4262C"/>
                </a:solidFill>
                <a:effectLst/>
                <a:uFillTx/>
                <a:latin typeface="Segoe UI Semibold"/>
                <a:ea typeface="Segoe UI Semibold"/>
              </a:rPr>
              <a:t>RESPONSIBLE PROTOTYPING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Permission. Proof. Production.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8"/>
          <p:cNvSpPr/>
          <p:nvPr/>
        </p:nvSpPr>
        <p:spPr>
          <a:xfrm>
            <a:off x="640080" y="1874520"/>
            <a:ext cx="306288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9"/>
          <p:cNvSpPr/>
          <p:nvPr/>
        </p:nvSpPr>
        <p:spPr>
          <a:xfrm>
            <a:off x="640080" y="1874520"/>
            <a:ext cx="3062880" cy="895680"/>
          </a:xfrm>
          <a:prstGeom prst="roundRect">
            <a:avLst>
              <a:gd name="adj" fmla="val 6122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10"/>
          <p:cNvSpPr/>
          <p:nvPr/>
        </p:nvSpPr>
        <p:spPr>
          <a:xfrm>
            <a:off x="640080" y="2331720"/>
            <a:ext cx="3062880" cy="4384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11"/>
          <p:cNvSpPr/>
          <p:nvPr/>
        </p:nvSpPr>
        <p:spPr>
          <a:xfrm>
            <a:off x="841320" y="1956960"/>
            <a:ext cx="868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01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12"/>
          <p:cNvSpPr/>
          <p:nvPr/>
        </p:nvSpPr>
        <p:spPr>
          <a:xfrm>
            <a:off x="1691640" y="208476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PERMISSION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 13"/>
          <p:cNvSpPr/>
          <p:nvPr/>
        </p:nvSpPr>
        <p:spPr>
          <a:xfrm>
            <a:off x="1691640" y="239580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79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BEFORE YOU AUTHOR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14"/>
          <p:cNvSpPr/>
          <p:nvPr/>
        </p:nvSpPr>
        <p:spPr>
          <a:xfrm>
            <a:off x="914400" y="3054240"/>
            <a:ext cx="145800" cy="14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15"/>
          <p:cNvSpPr/>
          <p:nvPr/>
        </p:nvSpPr>
        <p:spPr>
          <a:xfrm>
            <a:off x="1170360" y="296280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Use only content you may process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16"/>
          <p:cNvSpPr/>
          <p:nvPr/>
        </p:nvSpPr>
        <p:spPr>
          <a:xfrm>
            <a:off x="914400" y="3602880"/>
            <a:ext cx="145800" cy="14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17"/>
          <p:cNvSpPr/>
          <p:nvPr/>
        </p:nvSpPr>
        <p:spPr>
          <a:xfrm>
            <a:off x="1170360" y="35114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Remove sensitive or PII data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18"/>
          <p:cNvSpPr/>
          <p:nvPr/>
        </p:nvSpPr>
        <p:spPr>
          <a:xfrm>
            <a:off x="914400" y="4151520"/>
            <a:ext cx="145800" cy="14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19"/>
          <p:cNvSpPr/>
          <p:nvPr/>
        </p:nvSpPr>
        <p:spPr>
          <a:xfrm>
            <a:off x="1170360" y="406008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Keep sample records synthetic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20"/>
          <p:cNvSpPr/>
          <p:nvPr/>
        </p:nvSpPr>
        <p:spPr>
          <a:xfrm>
            <a:off x="3785760" y="3237120"/>
            <a:ext cx="317160" cy="51156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21"/>
          <p:cNvSpPr/>
          <p:nvPr/>
        </p:nvSpPr>
        <p:spPr>
          <a:xfrm>
            <a:off x="4069080" y="1874520"/>
            <a:ext cx="306288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22"/>
          <p:cNvSpPr/>
          <p:nvPr/>
        </p:nvSpPr>
        <p:spPr>
          <a:xfrm>
            <a:off x="4069080" y="1874520"/>
            <a:ext cx="3062880" cy="895680"/>
          </a:xfrm>
          <a:prstGeom prst="roundRect">
            <a:avLst>
              <a:gd name="adj" fmla="val 6122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23"/>
          <p:cNvSpPr/>
          <p:nvPr/>
        </p:nvSpPr>
        <p:spPr>
          <a:xfrm>
            <a:off x="4069080" y="2331720"/>
            <a:ext cx="3062880" cy="43848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24"/>
          <p:cNvSpPr/>
          <p:nvPr/>
        </p:nvSpPr>
        <p:spPr>
          <a:xfrm>
            <a:off x="4270320" y="1956960"/>
            <a:ext cx="868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02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Text 25"/>
          <p:cNvSpPr/>
          <p:nvPr/>
        </p:nvSpPr>
        <p:spPr>
          <a:xfrm>
            <a:off x="5120640" y="208476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PROOF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26"/>
          <p:cNvSpPr/>
          <p:nvPr/>
        </p:nvSpPr>
        <p:spPr>
          <a:xfrm>
            <a:off x="5120640" y="239580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79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BEFORE YOU TRUST 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27"/>
          <p:cNvSpPr/>
          <p:nvPr/>
        </p:nvSpPr>
        <p:spPr>
          <a:xfrm>
            <a:off x="4343400" y="3054240"/>
            <a:ext cx="145800" cy="14580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8"/>
          <p:cNvSpPr/>
          <p:nvPr/>
        </p:nvSpPr>
        <p:spPr>
          <a:xfrm>
            <a:off x="4599360" y="296280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Check the scope matches the source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29"/>
          <p:cNvSpPr/>
          <p:nvPr/>
        </p:nvSpPr>
        <p:spPr>
          <a:xfrm>
            <a:off x="4343400" y="3602880"/>
            <a:ext cx="145800" cy="14580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30"/>
          <p:cNvSpPr/>
          <p:nvPr/>
        </p:nvSpPr>
        <p:spPr>
          <a:xfrm>
            <a:off x="4599360" y="35114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Test happy path, edge, and unknown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31"/>
          <p:cNvSpPr/>
          <p:nvPr/>
        </p:nvSpPr>
        <p:spPr>
          <a:xfrm>
            <a:off x="4343400" y="4151520"/>
            <a:ext cx="145800" cy="14580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32"/>
          <p:cNvSpPr/>
          <p:nvPr/>
        </p:nvSpPr>
        <p:spPr>
          <a:xfrm>
            <a:off x="4599360" y="406008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Confirm answers with a reviewer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33"/>
          <p:cNvSpPr/>
          <p:nvPr/>
        </p:nvSpPr>
        <p:spPr>
          <a:xfrm>
            <a:off x="7214760" y="3237120"/>
            <a:ext cx="317160" cy="51156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34"/>
          <p:cNvSpPr/>
          <p:nvPr/>
        </p:nvSpPr>
        <p:spPr>
          <a:xfrm>
            <a:off x="7498080" y="1874520"/>
            <a:ext cx="306288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07C1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35"/>
          <p:cNvSpPr/>
          <p:nvPr/>
        </p:nvSpPr>
        <p:spPr>
          <a:xfrm>
            <a:off x="7498080" y="1874520"/>
            <a:ext cx="3062880" cy="895680"/>
          </a:xfrm>
          <a:prstGeom prst="roundRect">
            <a:avLst>
              <a:gd name="adj" fmla="val 6122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36"/>
          <p:cNvSpPr/>
          <p:nvPr/>
        </p:nvSpPr>
        <p:spPr>
          <a:xfrm>
            <a:off x="7498080" y="2331720"/>
            <a:ext cx="3062880" cy="4384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37"/>
          <p:cNvSpPr/>
          <p:nvPr/>
        </p:nvSpPr>
        <p:spPr>
          <a:xfrm>
            <a:off x="7699320" y="1956960"/>
            <a:ext cx="868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03</a:t>
            </a:r>
            <a:endParaRPr lang="en-US" sz="4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38"/>
          <p:cNvSpPr/>
          <p:nvPr/>
        </p:nvSpPr>
        <p:spPr>
          <a:xfrm>
            <a:off x="8549640" y="208476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PRODUCTION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39"/>
          <p:cNvSpPr/>
          <p:nvPr/>
        </p:nvSpPr>
        <p:spPr>
          <a:xfrm>
            <a:off x="8549640" y="2395800"/>
            <a:ext cx="1874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79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BEFORE IT SHIPS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40"/>
          <p:cNvSpPr/>
          <p:nvPr/>
        </p:nvSpPr>
        <p:spPr>
          <a:xfrm>
            <a:off x="7772400" y="3054240"/>
            <a:ext cx="145800" cy="1458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41"/>
          <p:cNvSpPr/>
          <p:nvPr/>
        </p:nvSpPr>
        <p:spPr>
          <a:xfrm>
            <a:off x="8028360" y="296280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A local prototype is not production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Shape 42"/>
          <p:cNvSpPr/>
          <p:nvPr/>
        </p:nvSpPr>
        <p:spPr>
          <a:xfrm>
            <a:off x="7772400" y="3602880"/>
            <a:ext cx="145800" cy="1458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43"/>
          <p:cNvSpPr/>
          <p:nvPr/>
        </p:nvSpPr>
        <p:spPr>
          <a:xfrm>
            <a:off x="8028360" y="351144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Add auth, data, and review to promote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Shape 44"/>
          <p:cNvSpPr/>
          <p:nvPr/>
        </p:nvSpPr>
        <p:spPr>
          <a:xfrm>
            <a:off x="7772400" y="4151520"/>
            <a:ext cx="145800" cy="1458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45"/>
          <p:cNvSpPr/>
          <p:nvPr/>
        </p:nvSpPr>
        <p:spPr>
          <a:xfrm>
            <a:off x="8028360" y="4060080"/>
            <a:ext cx="2331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Promote deliberately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46"/>
          <p:cNvSpPr/>
          <p:nvPr/>
        </p:nvSpPr>
        <p:spPr>
          <a:xfrm>
            <a:off x="640080" y="5468040"/>
            <a:ext cx="10835280" cy="566640"/>
          </a:xfrm>
          <a:prstGeom prst="roundRect">
            <a:avLst>
              <a:gd name="adj" fmla="val 11290"/>
            </a:avLst>
          </a:prstGeom>
          <a:solidFill>
            <a:srgbClr val="FDE7E9"/>
          </a:solidFill>
          <a:ln w="20320">
            <a:solidFill>
              <a:srgbClr val="A426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47"/>
          <p:cNvSpPr/>
          <p:nvPr/>
        </p:nvSpPr>
        <p:spPr>
          <a:xfrm>
            <a:off x="914400" y="5596200"/>
            <a:ext cx="310680" cy="310680"/>
          </a:xfrm>
          <a:prstGeom prst="ellipse">
            <a:avLst/>
          </a:prstGeom>
          <a:solidFill>
            <a:srgbClr val="A4262C"/>
          </a:solidFill>
          <a:ln w="12700">
            <a:solidFill>
              <a:srgbClr val="A4262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48"/>
          <p:cNvSpPr/>
          <p:nvPr/>
        </p:nvSpPr>
        <p:spPr>
          <a:xfrm>
            <a:off x="914400" y="5605200"/>
            <a:ext cx="31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!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49"/>
          <p:cNvSpPr/>
          <p:nvPr/>
        </p:nvSpPr>
        <p:spPr>
          <a:xfrm>
            <a:off x="1371600" y="5468040"/>
            <a:ext cx="98751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4262C"/>
                </a:solidFill>
                <a:effectLst/>
                <a:uFillTx/>
                <a:latin typeface="Segoe UI Semibold"/>
                <a:ea typeface="Segoe UI Semibold"/>
              </a:rPr>
              <a:t>AI-generated content may be wrong. A local prototype is not production — human review is a required RAPP step.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50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15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TEACH-BACK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If you can explain it, you can run it.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8"/>
          <p:cNvSpPr/>
          <p:nvPr/>
        </p:nvSpPr>
        <p:spPr>
          <a:xfrm>
            <a:off x="10515600" y="713160"/>
            <a:ext cx="1096920" cy="365400"/>
          </a:xfrm>
          <a:prstGeom prst="roundRect">
            <a:avLst>
              <a:gd name="adj" fmla="val 16667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9"/>
          <p:cNvSpPr/>
          <p:nvPr/>
        </p:nvSpPr>
        <p:spPr>
          <a:xfrm>
            <a:off x="10588680" y="804600"/>
            <a:ext cx="950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2 MIN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10"/>
          <p:cNvSpPr/>
          <p:nvPr/>
        </p:nvSpPr>
        <p:spPr>
          <a:xfrm>
            <a:off x="594360" y="1965960"/>
            <a:ext cx="2395440" cy="248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11"/>
          <p:cNvSpPr/>
          <p:nvPr/>
        </p:nvSpPr>
        <p:spPr>
          <a:xfrm>
            <a:off x="1408320" y="2212920"/>
            <a:ext cx="767880" cy="767880"/>
          </a:xfrm>
          <a:prstGeom prst="ellipse">
            <a:avLst/>
          </a:prstGeom>
          <a:solidFill>
            <a:srgbClr val="DCEEFF"/>
          </a:solidFill>
          <a:ln w="1524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12"/>
          <p:cNvSpPr/>
          <p:nvPr/>
        </p:nvSpPr>
        <p:spPr>
          <a:xfrm>
            <a:off x="1408320" y="2432160"/>
            <a:ext cx="767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30s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13"/>
          <p:cNvSpPr/>
          <p:nvPr/>
        </p:nvSpPr>
        <p:spPr>
          <a:xfrm>
            <a:off x="777240" y="3163680"/>
            <a:ext cx="202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NAME THE 5 STEPS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14"/>
          <p:cNvSpPr/>
          <p:nvPr/>
        </p:nvSpPr>
        <p:spPr>
          <a:xfrm>
            <a:off x="822960" y="3493080"/>
            <a:ext cx="1938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Sign in · Start · Author · Run · Share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15"/>
          <p:cNvSpPr/>
          <p:nvPr/>
        </p:nvSpPr>
        <p:spPr>
          <a:xfrm>
            <a:off x="1408320" y="4114800"/>
            <a:ext cx="767880" cy="237240"/>
          </a:xfrm>
          <a:prstGeom prst="roundRect">
            <a:avLst>
              <a:gd name="adj" fmla="val 15385"/>
            </a:avLst>
          </a:prstGeom>
          <a:solidFill>
            <a:srgbClr val="DCEEFF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16"/>
          <p:cNvSpPr/>
          <p:nvPr/>
        </p:nvSpPr>
        <p:spPr>
          <a:xfrm>
            <a:off x="1408320" y="4123800"/>
            <a:ext cx="767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30 sec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17"/>
          <p:cNvSpPr/>
          <p:nvPr/>
        </p:nvSpPr>
        <p:spPr>
          <a:xfrm>
            <a:off x="3035880" y="2971800"/>
            <a:ext cx="282960" cy="45684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Shape 18"/>
          <p:cNvSpPr/>
          <p:nvPr/>
        </p:nvSpPr>
        <p:spPr>
          <a:xfrm>
            <a:off x="3374280" y="1965960"/>
            <a:ext cx="2395440" cy="248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19"/>
          <p:cNvSpPr/>
          <p:nvPr/>
        </p:nvSpPr>
        <p:spPr>
          <a:xfrm>
            <a:off x="4187880" y="2212920"/>
            <a:ext cx="767880" cy="767880"/>
          </a:xfrm>
          <a:prstGeom prst="ellipse">
            <a:avLst/>
          </a:prstGeom>
          <a:solidFill>
            <a:srgbClr val="F9E3DB"/>
          </a:solidFill>
          <a:ln w="1524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20"/>
          <p:cNvSpPr/>
          <p:nvPr/>
        </p:nvSpPr>
        <p:spPr>
          <a:xfrm>
            <a:off x="4187880" y="2432160"/>
            <a:ext cx="767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30s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21"/>
          <p:cNvSpPr/>
          <p:nvPr/>
        </p:nvSpPr>
        <p:spPr>
          <a:xfrm>
            <a:off x="3557160" y="3163680"/>
            <a:ext cx="202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SHOW ONE ARTIFACT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22"/>
          <p:cNvSpPr/>
          <p:nvPr/>
        </p:nvSpPr>
        <p:spPr>
          <a:xfrm>
            <a:off x="3602880" y="3493080"/>
            <a:ext cx="1938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Your *_agent.py running locally, or a test result.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23"/>
          <p:cNvSpPr/>
          <p:nvPr/>
        </p:nvSpPr>
        <p:spPr>
          <a:xfrm>
            <a:off x="4187880" y="4114800"/>
            <a:ext cx="767880" cy="237240"/>
          </a:xfrm>
          <a:prstGeom prst="roundRect">
            <a:avLst>
              <a:gd name="adj" fmla="val 15385"/>
            </a:avLst>
          </a:prstGeom>
          <a:solidFill>
            <a:srgbClr val="F9E3DB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 24"/>
          <p:cNvSpPr/>
          <p:nvPr/>
        </p:nvSpPr>
        <p:spPr>
          <a:xfrm>
            <a:off x="4187880" y="4123800"/>
            <a:ext cx="767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30 sec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25"/>
          <p:cNvSpPr/>
          <p:nvPr/>
        </p:nvSpPr>
        <p:spPr>
          <a:xfrm>
            <a:off x="5815440" y="2971800"/>
            <a:ext cx="282960" cy="45684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26"/>
          <p:cNvSpPr/>
          <p:nvPr/>
        </p:nvSpPr>
        <p:spPr>
          <a:xfrm>
            <a:off x="6153840" y="1965960"/>
            <a:ext cx="2395440" cy="248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07C1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Shape 27"/>
          <p:cNvSpPr/>
          <p:nvPr/>
        </p:nvSpPr>
        <p:spPr>
          <a:xfrm>
            <a:off x="6967800" y="2212920"/>
            <a:ext cx="767880" cy="767880"/>
          </a:xfrm>
          <a:prstGeom prst="ellipse">
            <a:avLst/>
          </a:prstGeom>
          <a:solidFill>
            <a:srgbClr val="DFF6DD"/>
          </a:solidFill>
          <a:ln w="1524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28"/>
          <p:cNvSpPr/>
          <p:nvPr/>
        </p:nvSpPr>
        <p:spPr>
          <a:xfrm>
            <a:off x="6967800" y="2432160"/>
            <a:ext cx="767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30s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29"/>
          <p:cNvSpPr/>
          <p:nvPr/>
        </p:nvSpPr>
        <p:spPr>
          <a:xfrm>
            <a:off x="6336720" y="3163680"/>
            <a:ext cx="202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NAME NEXT CHANGE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30"/>
          <p:cNvSpPr/>
          <p:nvPr/>
        </p:nvSpPr>
        <p:spPr>
          <a:xfrm>
            <a:off x="6382440" y="3493080"/>
            <a:ext cx="1938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What would you improve before a customer pilot?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31"/>
          <p:cNvSpPr/>
          <p:nvPr/>
        </p:nvSpPr>
        <p:spPr>
          <a:xfrm>
            <a:off x="6967800" y="4114800"/>
            <a:ext cx="767880" cy="237240"/>
          </a:xfrm>
          <a:prstGeom prst="roundRect">
            <a:avLst>
              <a:gd name="adj" fmla="val 15385"/>
            </a:avLst>
          </a:prstGeom>
          <a:solidFill>
            <a:srgbClr val="DFF6DD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 32"/>
          <p:cNvSpPr/>
          <p:nvPr/>
        </p:nvSpPr>
        <p:spPr>
          <a:xfrm>
            <a:off x="6967800" y="4123800"/>
            <a:ext cx="767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30 sec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33"/>
          <p:cNvSpPr/>
          <p:nvPr/>
        </p:nvSpPr>
        <p:spPr>
          <a:xfrm>
            <a:off x="8595360" y="2971800"/>
            <a:ext cx="282960" cy="45684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Shape 34"/>
          <p:cNvSpPr/>
          <p:nvPr/>
        </p:nvSpPr>
        <p:spPr>
          <a:xfrm>
            <a:off x="8933760" y="1965960"/>
            <a:ext cx="2395440" cy="248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661C5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35"/>
          <p:cNvSpPr/>
          <p:nvPr/>
        </p:nvSpPr>
        <p:spPr>
          <a:xfrm>
            <a:off x="9747360" y="2212920"/>
            <a:ext cx="767880" cy="767880"/>
          </a:xfrm>
          <a:prstGeom prst="ellipse">
            <a:avLst/>
          </a:prstGeom>
          <a:solidFill>
            <a:srgbClr val="EDE7F6"/>
          </a:solidFill>
          <a:ln w="1524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36"/>
          <p:cNvSpPr/>
          <p:nvPr/>
        </p:nvSpPr>
        <p:spPr>
          <a:xfrm rot="10800000">
            <a:off x="9912600" y="2432880"/>
            <a:ext cx="182520" cy="164160"/>
          </a:xfrm>
          <a:prstGeom prst="chevron">
            <a:avLst>
              <a:gd name="adj" fmla="val 50000"/>
            </a:avLst>
          </a:prstGeom>
          <a:solidFill>
            <a:srgbClr val="8661C5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Shape 37"/>
          <p:cNvSpPr/>
          <p:nvPr/>
        </p:nvSpPr>
        <p:spPr>
          <a:xfrm>
            <a:off x="10168200" y="2651760"/>
            <a:ext cx="182520" cy="164160"/>
          </a:xfrm>
          <a:prstGeom prst="chevron">
            <a:avLst>
              <a:gd name="adj" fmla="val 50000"/>
            </a:avLst>
          </a:prstGeom>
          <a:solidFill>
            <a:srgbClr val="8661C5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38"/>
          <p:cNvSpPr/>
          <p:nvPr/>
        </p:nvSpPr>
        <p:spPr>
          <a:xfrm>
            <a:off x="9116640" y="3163680"/>
            <a:ext cx="202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SWITCH ROLES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39"/>
          <p:cNvSpPr/>
          <p:nvPr/>
        </p:nvSpPr>
        <p:spPr>
          <a:xfrm>
            <a:off x="9162360" y="3493080"/>
            <a:ext cx="1938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Trade driver and explainer, then repeat.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Shape 40"/>
          <p:cNvSpPr/>
          <p:nvPr/>
        </p:nvSpPr>
        <p:spPr>
          <a:xfrm>
            <a:off x="9747360" y="4114800"/>
            <a:ext cx="767880" cy="237240"/>
          </a:xfrm>
          <a:prstGeom prst="roundRect">
            <a:avLst>
              <a:gd name="adj" fmla="val 15385"/>
            </a:avLst>
          </a:prstGeom>
          <a:solidFill>
            <a:srgbClr val="EDE7F6"/>
          </a:solidFill>
          <a:ln w="12700">
            <a:solidFill>
              <a:srgbClr val="8661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41"/>
          <p:cNvSpPr/>
          <p:nvPr/>
        </p:nvSpPr>
        <p:spPr>
          <a:xfrm>
            <a:off x="9747360" y="4123800"/>
            <a:ext cx="767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30 sec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42"/>
          <p:cNvSpPr/>
          <p:nvPr/>
        </p:nvSpPr>
        <p:spPr>
          <a:xfrm>
            <a:off x="594360" y="4791600"/>
            <a:ext cx="10999800" cy="785880"/>
          </a:xfrm>
          <a:prstGeom prst="roundRect">
            <a:avLst>
              <a:gd name="adj" fmla="val 16667"/>
            </a:avLst>
          </a:prstGeom>
          <a:solidFill>
            <a:srgbClr val="103A6B"/>
          </a:solidFill>
          <a:ln w="12700">
            <a:solidFill>
              <a:srgbClr val="103A6B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43"/>
          <p:cNvSpPr/>
          <p:nvPr/>
        </p:nvSpPr>
        <p:spPr>
          <a:xfrm>
            <a:off x="914400" y="4791600"/>
            <a:ext cx="103780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2 MIN TOTAL</a:t>
            </a:r>
            <a:r>
              <a:rPr lang="en-US" sz="114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   =  4 × 30 sec   —   DONE = brainstem running + agent authored + discovered + passing local test + owned next step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44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16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8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FFFFFF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5"/>
          <p:cNvSpPr/>
          <p:nvPr/>
        </p:nvSpPr>
        <p:spPr>
          <a:xfrm>
            <a:off x="731520" y="1170360"/>
            <a:ext cx="310680" cy="7272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6"/>
          <p:cNvSpPr/>
          <p:nvPr/>
        </p:nvSpPr>
        <p:spPr>
          <a:xfrm>
            <a:off x="1134000" y="1060560"/>
            <a:ext cx="2742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9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CLOSE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7"/>
          <p:cNvSpPr/>
          <p:nvPr/>
        </p:nvSpPr>
        <p:spPr>
          <a:xfrm>
            <a:off x="713160" y="1371600"/>
            <a:ext cx="6674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Source in.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50E6FF"/>
                </a:solidFill>
                <a:effectLst/>
                <a:uFillTx/>
                <a:latin typeface="Segoe UI Semibold"/>
                <a:ea typeface="Segoe UI Semibold"/>
              </a:rPr>
              <a:t>Running local agent out.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8"/>
          <p:cNvSpPr/>
          <p:nvPr/>
        </p:nvSpPr>
        <p:spPr>
          <a:xfrm>
            <a:off x="731520" y="2797920"/>
            <a:ext cx="6583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BFE6FF"/>
                </a:solidFill>
                <a:effectLst/>
                <a:uFillTx/>
                <a:latin typeface="Segoe UI Semibold"/>
                <a:ea typeface="Segoe UI Semibold"/>
              </a:rPr>
              <a:t>Quick to learn. Quick to teach. Quick to start. Quick to share.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9"/>
          <p:cNvSpPr/>
          <p:nvPr/>
        </p:nvSpPr>
        <p:spPr>
          <a:xfrm>
            <a:off x="731520" y="3145680"/>
            <a:ext cx="4114440" cy="548280"/>
          </a:xfrm>
          <a:prstGeom prst="roundRect">
            <a:avLst>
              <a:gd name="adj" fmla="val 11667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0"/>
          <p:cNvSpPr/>
          <p:nvPr/>
        </p:nvSpPr>
        <p:spPr>
          <a:xfrm>
            <a:off x="731520" y="314568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2A4A"/>
                </a:solidFill>
                <a:effectLst/>
                <a:uFillTx/>
                <a:latin typeface="Segoe UI Semibold"/>
                <a:ea typeface="Segoe UI Semibold"/>
              </a:rPr>
              <a:t>START YOUR FIRST RAPP   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11"/>
          <p:cNvSpPr/>
          <p:nvPr/>
        </p:nvSpPr>
        <p:spPr>
          <a:xfrm>
            <a:off x="4983480" y="314568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sng" strike="noStrike">
                <a:solidFill>
                  <a:srgbClr val="50E6FF"/>
                </a:solidFill>
                <a:effectLst/>
                <a:uFillTx/>
                <a:latin typeface="Consolas"/>
                <a:ea typeface="Consolas"/>
                <a:hlinkClick r:id="rId3"/>
              </a:rPr>
              <a:t>microsoft.github.io/aibast-agents-library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Shape 12"/>
          <p:cNvSpPr/>
          <p:nvPr/>
        </p:nvSpPr>
        <p:spPr>
          <a:xfrm>
            <a:off x="731520" y="3785760"/>
            <a:ext cx="6656400" cy="1060200"/>
          </a:xfrm>
          <a:prstGeom prst="roundRect">
            <a:avLst>
              <a:gd name="adj" fmla="val 6897"/>
            </a:avLst>
          </a:prstGeom>
          <a:solidFill>
            <a:srgbClr val="0B2A4A">
              <a:alpha val="82000"/>
            </a:srgbClr>
          </a:solidFill>
          <a:ln w="16510">
            <a:solidFill>
              <a:srgbClr val="F5B8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Text 13"/>
          <p:cNvSpPr/>
          <p:nvPr/>
        </p:nvSpPr>
        <p:spPr>
          <a:xfrm>
            <a:off x="932760" y="3877200"/>
            <a:ext cx="6309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79" strike="noStrike">
                <a:solidFill>
                  <a:srgbClr val="F5B841"/>
                </a:solidFill>
                <a:effectLst/>
                <a:uFillTx/>
                <a:latin typeface="Segoe UI Semibold"/>
                <a:ea typeface="Segoe UI Semibold"/>
              </a:rPr>
              <a:t>OPTIONAL EXTENSION  ·  FACILITATOR-LED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14"/>
          <p:cNvSpPr/>
          <p:nvPr/>
        </p:nvSpPr>
        <p:spPr>
          <a:xfrm>
            <a:off x="932760" y="4114800"/>
            <a:ext cx="6345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CEEFF"/>
                </a:solidFill>
                <a:effectLst/>
                <a:uFillTx/>
                <a:latin typeface="Segoe UI"/>
                <a:ea typeface="Segoe UI"/>
              </a:rPr>
              <a:t>Drop one portable </a:t>
            </a:r>
            <a:r>
              <a:rPr lang="en-US" sz="1000" b="1" u="none" strike="noStrike">
                <a:solidFill>
                  <a:srgbClr val="50E6FF"/>
                </a:solidFill>
                <a:effectLst/>
                <a:uFillTx/>
                <a:latin typeface="Segoe UI"/>
                <a:ea typeface="Segoe UI"/>
              </a:rPr>
              <a:t>agent.py</a:t>
            </a:r>
            <a:r>
              <a:rPr lang="en-US" sz="1000" b="0" u="none" strike="noStrike">
                <a:solidFill>
                  <a:srgbClr val="DCEEFF"/>
                </a:solidFill>
                <a:effectLst/>
                <a:uFillTx/>
                <a:latin typeface="Segoe UI"/>
                <a:ea typeface="Segoe UI"/>
              </a:rPr>
              <a:t> from Teams into your Brainstem. With connected Copilot Studio rights it can package &amp; deploy; otherwise it generates a local M365-style click-through demo + an exportable ZIP to import later.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15"/>
          <p:cNvSpPr/>
          <p:nvPr/>
        </p:nvSpPr>
        <p:spPr>
          <a:xfrm>
            <a:off x="932760" y="4608720"/>
            <a:ext cx="634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i="1" u="none" strike="noStrike">
                <a:solidFill>
                  <a:srgbClr val="F5B841"/>
                </a:solidFill>
                <a:effectLst/>
                <a:uFillTx/>
                <a:latin typeface="Segoe UI Semibold"/>
                <a:ea typeface="Segoe UI Semibold"/>
              </a:rPr>
              <a:t>Separate license, environment, maker, and deployment rights required for direct deployment.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 16"/>
          <p:cNvSpPr/>
          <p:nvPr/>
        </p:nvSpPr>
        <p:spPr>
          <a:xfrm>
            <a:off x="731520" y="4992480"/>
            <a:ext cx="3657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8FB8DF"/>
                </a:solidFill>
                <a:effectLst/>
                <a:uFillTx/>
                <a:latin typeface="Segoe UI Semibold"/>
                <a:ea typeface="Segoe UI Semibold"/>
              </a:rPr>
              <a:t>THE 5 STEPS YOU JUST RAN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Shape 17"/>
          <p:cNvSpPr/>
          <p:nvPr/>
        </p:nvSpPr>
        <p:spPr>
          <a:xfrm>
            <a:off x="731520" y="5230440"/>
            <a:ext cx="10512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18"/>
          <p:cNvSpPr/>
          <p:nvPr/>
        </p:nvSpPr>
        <p:spPr>
          <a:xfrm>
            <a:off x="795600" y="5285160"/>
            <a:ext cx="92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SIGN IN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19"/>
          <p:cNvSpPr/>
          <p:nvPr/>
        </p:nvSpPr>
        <p:spPr>
          <a:xfrm>
            <a:off x="1801440" y="5312520"/>
            <a:ext cx="127800" cy="182520"/>
          </a:xfrm>
          <a:prstGeom prst="chevron">
            <a:avLst>
              <a:gd name="adj" fmla="val 50000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Shape 20"/>
          <p:cNvSpPr/>
          <p:nvPr/>
        </p:nvSpPr>
        <p:spPr>
          <a:xfrm>
            <a:off x="1974960" y="5230440"/>
            <a:ext cx="10512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21"/>
          <p:cNvSpPr/>
          <p:nvPr/>
        </p:nvSpPr>
        <p:spPr>
          <a:xfrm>
            <a:off x="2039040" y="5285160"/>
            <a:ext cx="92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START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22"/>
          <p:cNvSpPr/>
          <p:nvPr/>
        </p:nvSpPr>
        <p:spPr>
          <a:xfrm>
            <a:off x="3044880" y="5312520"/>
            <a:ext cx="127800" cy="182520"/>
          </a:xfrm>
          <a:prstGeom prst="chevron">
            <a:avLst>
              <a:gd name="adj" fmla="val 50000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23"/>
          <p:cNvSpPr/>
          <p:nvPr/>
        </p:nvSpPr>
        <p:spPr>
          <a:xfrm>
            <a:off x="3218760" y="5230440"/>
            <a:ext cx="10512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Text 24"/>
          <p:cNvSpPr/>
          <p:nvPr/>
        </p:nvSpPr>
        <p:spPr>
          <a:xfrm>
            <a:off x="3282840" y="5285160"/>
            <a:ext cx="92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AUTHOR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Shape 25"/>
          <p:cNvSpPr/>
          <p:nvPr/>
        </p:nvSpPr>
        <p:spPr>
          <a:xfrm>
            <a:off x="4288680" y="5312520"/>
            <a:ext cx="127800" cy="182520"/>
          </a:xfrm>
          <a:prstGeom prst="chevron">
            <a:avLst>
              <a:gd name="adj" fmla="val 50000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Shape 26"/>
          <p:cNvSpPr/>
          <p:nvPr/>
        </p:nvSpPr>
        <p:spPr>
          <a:xfrm>
            <a:off x="4462200" y="5230440"/>
            <a:ext cx="1051200" cy="310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Text 27"/>
          <p:cNvSpPr/>
          <p:nvPr/>
        </p:nvSpPr>
        <p:spPr>
          <a:xfrm>
            <a:off x="4526280" y="5285160"/>
            <a:ext cx="92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RUN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28"/>
          <p:cNvSpPr/>
          <p:nvPr/>
        </p:nvSpPr>
        <p:spPr>
          <a:xfrm>
            <a:off x="5532120" y="5312520"/>
            <a:ext cx="127800" cy="182520"/>
          </a:xfrm>
          <a:prstGeom prst="chevron">
            <a:avLst>
              <a:gd name="adj" fmla="val 50000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Shape 29"/>
          <p:cNvSpPr/>
          <p:nvPr/>
        </p:nvSpPr>
        <p:spPr>
          <a:xfrm>
            <a:off x="5706000" y="5230440"/>
            <a:ext cx="1051200" cy="310680"/>
          </a:xfrm>
          <a:prstGeom prst="roundRect">
            <a:avLst>
              <a:gd name="adj" fmla="val 16667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30"/>
          <p:cNvSpPr/>
          <p:nvPr/>
        </p:nvSpPr>
        <p:spPr>
          <a:xfrm>
            <a:off x="5769720" y="5285160"/>
            <a:ext cx="923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31"/>
          <p:cNvSpPr/>
          <p:nvPr/>
        </p:nvSpPr>
        <p:spPr>
          <a:xfrm>
            <a:off x="7479720" y="1280160"/>
            <a:ext cx="3748680" cy="434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FE6FF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32"/>
          <p:cNvSpPr/>
          <p:nvPr/>
        </p:nvSpPr>
        <p:spPr>
          <a:xfrm>
            <a:off x="7479720" y="1280160"/>
            <a:ext cx="3748680" cy="566640"/>
          </a:xfrm>
          <a:prstGeom prst="roundRect">
            <a:avLst>
              <a:gd name="adj" fmla="val 9677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33"/>
          <p:cNvSpPr/>
          <p:nvPr/>
        </p:nvSpPr>
        <p:spPr>
          <a:xfrm>
            <a:off x="7479720" y="1554480"/>
            <a:ext cx="3748680" cy="292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2" name="Text 34"/>
          <p:cNvSpPr/>
          <p:nvPr/>
        </p:nvSpPr>
        <p:spPr>
          <a:xfrm>
            <a:off x="7772400" y="1280160"/>
            <a:ext cx="3200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111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TAKE IT WITH YOU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Shape 35"/>
          <p:cNvSpPr/>
          <p:nvPr/>
        </p:nvSpPr>
        <p:spPr>
          <a:xfrm>
            <a:off x="7772400" y="2157840"/>
            <a:ext cx="91080" cy="310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 36"/>
          <p:cNvSpPr/>
          <p:nvPr/>
        </p:nvSpPr>
        <p:spPr>
          <a:xfrm>
            <a:off x="7973640" y="2139840"/>
            <a:ext cx="3108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Workshop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 37"/>
          <p:cNvSpPr/>
          <p:nvPr/>
        </p:nvSpPr>
        <p:spPr>
          <a:xfrm>
            <a:off x="7973640" y="245052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Facilitator-provided session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Shape 38"/>
          <p:cNvSpPr/>
          <p:nvPr/>
        </p:nvSpPr>
        <p:spPr>
          <a:xfrm>
            <a:off x="7772400" y="2999160"/>
            <a:ext cx="91080" cy="310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 39"/>
          <p:cNvSpPr/>
          <p:nvPr/>
        </p:nvSpPr>
        <p:spPr>
          <a:xfrm>
            <a:off x="7973640" y="2980800"/>
            <a:ext cx="3108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Install local RAPP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 40"/>
          <p:cNvSpPr/>
          <p:nvPr/>
        </p:nvSpPr>
        <p:spPr>
          <a:xfrm>
            <a:off x="7973640" y="329184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sng" strike="noStrike">
                <a:solidFill>
                  <a:srgbClr val="005A9E"/>
                </a:solidFill>
                <a:effectLst/>
                <a:uFillTx/>
                <a:latin typeface="Consolas"/>
                <a:ea typeface="Consolas"/>
                <a:hlinkClick r:id="rId4"/>
              </a:rPr>
              <a:t>microsoft.github.io/aibast-agents-library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41"/>
          <p:cNvSpPr/>
          <p:nvPr/>
        </p:nvSpPr>
        <p:spPr>
          <a:xfrm>
            <a:off x="7772400" y="3840480"/>
            <a:ext cx="91080" cy="310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 42"/>
          <p:cNvSpPr/>
          <p:nvPr/>
        </p:nvSpPr>
        <p:spPr>
          <a:xfrm>
            <a:off x="7973640" y="3822120"/>
            <a:ext cx="3108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Source &amp; repo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Text 43"/>
          <p:cNvSpPr/>
          <p:nvPr/>
        </p:nvSpPr>
        <p:spPr>
          <a:xfrm>
            <a:off x="7973640" y="41331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sng" strike="noStrike">
                <a:solidFill>
                  <a:srgbClr val="005A9E"/>
                </a:solidFill>
                <a:effectLst/>
                <a:uFillTx/>
                <a:latin typeface="Consolas"/>
                <a:ea typeface="Consolas"/>
                <a:hlinkClick r:id="rId5"/>
              </a:rPr>
              <a:t>github.com/microsoft/aibast-agents-library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44"/>
          <p:cNvSpPr/>
          <p:nvPr/>
        </p:nvSpPr>
        <p:spPr>
          <a:xfrm>
            <a:off x="7772400" y="4681800"/>
            <a:ext cx="91080" cy="310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3" name="Text 45"/>
          <p:cNvSpPr/>
          <p:nvPr/>
        </p:nvSpPr>
        <p:spPr>
          <a:xfrm>
            <a:off x="7973640" y="4663440"/>
            <a:ext cx="3108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Text 46"/>
          <p:cNvSpPr/>
          <p:nvPr/>
        </p:nvSpPr>
        <p:spPr>
          <a:xfrm>
            <a:off x="7973640" y="497448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One portable *_agent.py file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47"/>
          <p:cNvSpPr/>
          <p:nvPr/>
        </p:nvSpPr>
        <p:spPr>
          <a:xfrm>
            <a:off x="731520" y="625464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BFE6FF"/>
                </a:solidFill>
                <a:effectLst/>
                <a:uFillTx/>
                <a:latin typeface="Segoe UI"/>
                <a:ea typeface="Segoe UI"/>
              </a:rPr>
              <a:t>Microsoft  |  MCAPS AIBAST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48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BFE6FF"/>
                </a:solidFill>
                <a:effectLst/>
                <a:uFillTx/>
                <a:latin typeface="Segoe UI"/>
                <a:ea typeface="Segoe UI"/>
              </a:rPr>
              <a:t>FY27 RAPP Workshop  |  17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FACILITATOR APPENDIX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Workshop bill of materials.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8"/>
          <p:cNvSpPr/>
          <p:nvPr/>
        </p:nvSpPr>
        <p:spPr>
          <a:xfrm>
            <a:off x="594360" y="1783080"/>
            <a:ext cx="3501720" cy="3200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9"/>
          <p:cNvSpPr/>
          <p:nvPr/>
        </p:nvSpPr>
        <p:spPr>
          <a:xfrm>
            <a:off x="850320" y="2030040"/>
            <a:ext cx="141696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Text 10"/>
          <p:cNvSpPr/>
          <p:nvPr/>
        </p:nvSpPr>
        <p:spPr>
          <a:xfrm>
            <a:off x="914400" y="2084760"/>
            <a:ext cx="1288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PARTICIPANT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Shape 11"/>
          <p:cNvSpPr/>
          <p:nvPr/>
        </p:nvSpPr>
        <p:spPr>
          <a:xfrm>
            <a:off x="2441520" y="2030040"/>
            <a:ext cx="1444320" cy="310680"/>
          </a:xfrm>
          <a:prstGeom prst="roundRect">
            <a:avLst>
              <a:gd name="adj" fmla="val 16667"/>
            </a:avLst>
          </a:prstGeom>
          <a:solidFill>
            <a:srgbClr val="FFF4CE"/>
          </a:solidFill>
          <a:ln w="12700">
            <a:solidFill>
              <a:srgbClr val="FFF4C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Text 12"/>
          <p:cNvSpPr/>
          <p:nvPr/>
        </p:nvSpPr>
        <p:spPr>
          <a:xfrm>
            <a:off x="2505600" y="208476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60" b="1" u="none" strike="noStrike">
                <a:solidFill>
                  <a:srgbClr val="972900"/>
                </a:solidFill>
                <a:effectLst/>
                <a:uFillTx/>
                <a:latin typeface="Segoe UI Semibold"/>
                <a:ea typeface="Segoe UI Semibold"/>
              </a:rPr>
              <a:t>CONFIRM ACCESS EARLY</a:t>
            </a:r>
            <a:endParaRPr lang="en-US" sz="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Shape 13"/>
          <p:cNvSpPr/>
          <p:nvPr/>
        </p:nvSpPr>
        <p:spPr>
          <a:xfrm>
            <a:off x="850320" y="26791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Text 14"/>
          <p:cNvSpPr/>
          <p:nvPr/>
        </p:nvSpPr>
        <p:spPr>
          <a:xfrm>
            <a:off x="1188720" y="26517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GitHub account with Copilot access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Shape 15"/>
          <p:cNvSpPr/>
          <p:nvPr/>
        </p:nvSpPr>
        <p:spPr>
          <a:xfrm>
            <a:off x="850320" y="31363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 16"/>
          <p:cNvSpPr/>
          <p:nvPr/>
        </p:nvSpPr>
        <p:spPr>
          <a:xfrm>
            <a:off x="1188720" y="31089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Terminal + modern browser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Shape 17"/>
          <p:cNvSpPr/>
          <p:nvPr/>
        </p:nvSpPr>
        <p:spPr>
          <a:xfrm>
            <a:off x="850320" y="35935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Text 18"/>
          <p:cNvSpPr/>
          <p:nvPr/>
        </p:nvSpPr>
        <p:spPr>
          <a:xfrm>
            <a:off x="1188720" y="35661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Editor (VS Code or similar)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Shape 19"/>
          <p:cNvSpPr/>
          <p:nvPr/>
        </p:nvSpPr>
        <p:spPr>
          <a:xfrm>
            <a:off x="850320" y="40507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Text 20"/>
          <p:cNvSpPr/>
          <p:nvPr/>
        </p:nvSpPr>
        <p:spPr>
          <a:xfrm>
            <a:off x="1188720" y="40233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One sanitized source document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21"/>
          <p:cNvSpPr/>
          <p:nvPr/>
        </p:nvSpPr>
        <p:spPr>
          <a:xfrm>
            <a:off x="850320" y="45079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Text 22"/>
          <p:cNvSpPr/>
          <p:nvPr/>
        </p:nvSpPr>
        <p:spPr>
          <a:xfrm>
            <a:off x="1188720" y="44805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Target success measure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23"/>
          <p:cNvSpPr/>
          <p:nvPr/>
        </p:nvSpPr>
        <p:spPr>
          <a:xfrm>
            <a:off x="4343400" y="1783080"/>
            <a:ext cx="3501720" cy="3200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661C5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24"/>
          <p:cNvSpPr/>
          <p:nvPr/>
        </p:nvSpPr>
        <p:spPr>
          <a:xfrm>
            <a:off x="4599360" y="2030040"/>
            <a:ext cx="1416960" cy="310680"/>
          </a:xfrm>
          <a:prstGeom prst="roundRect">
            <a:avLst>
              <a:gd name="adj" fmla="val 16667"/>
            </a:avLst>
          </a:prstGeom>
          <a:solidFill>
            <a:srgbClr val="EDE7F6"/>
          </a:solidFill>
          <a:ln w="12700">
            <a:solidFill>
              <a:srgbClr val="EDE7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Text 25"/>
          <p:cNvSpPr/>
          <p:nvPr/>
        </p:nvSpPr>
        <p:spPr>
          <a:xfrm>
            <a:off x="4663440" y="2084760"/>
            <a:ext cx="1288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FACILITATOR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Shape 26"/>
          <p:cNvSpPr/>
          <p:nvPr/>
        </p:nvSpPr>
        <p:spPr>
          <a:xfrm>
            <a:off x="4599360" y="26791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Text 27"/>
          <p:cNvSpPr/>
          <p:nvPr/>
        </p:nvSpPr>
        <p:spPr>
          <a:xfrm>
            <a:off x="4937760" y="26517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Tested install on the room's OS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Shape 28"/>
          <p:cNvSpPr/>
          <p:nvPr/>
        </p:nvSpPr>
        <p:spPr>
          <a:xfrm>
            <a:off x="4599360" y="31363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Text 29"/>
          <p:cNvSpPr/>
          <p:nvPr/>
        </p:nvSpPr>
        <p:spPr>
          <a:xfrm>
            <a:off x="4937760" y="31089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Scenario source file + answer key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Shape 30"/>
          <p:cNvSpPr/>
          <p:nvPr/>
        </p:nvSpPr>
        <p:spPr>
          <a:xfrm>
            <a:off x="4599360" y="35935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 31"/>
          <p:cNvSpPr/>
          <p:nvPr/>
        </p:nvSpPr>
        <p:spPr>
          <a:xfrm>
            <a:off x="4937760" y="35661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Sample *_agent.py reference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Shape 32"/>
          <p:cNvSpPr/>
          <p:nvPr/>
        </p:nvSpPr>
        <p:spPr>
          <a:xfrm>
            <a:off x="4599360" y="40507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Text 33"/>
          <p:cNvSpPr/>
          <p:nvPr/>
        </p:nvSpPr>
        <p:spPr>
          <a:xfrm>
            <a:off x="4937760" y="40233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Deck + facilitator guide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Shape 34"/>
          <p:cNvSpPr/>
          <p:nvPr/>
        </p:nvSpPr>
        <p:spPr>
          <a:xfrm>
            <a:off x="4599360" y="45079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Text 35"/>
          <p:cNvSpPr/>
          <p:nvPr/>
        </p:nvSpPr>
        <p:spPr>
          <a:xfrm>
            <a:off x="4937760" y="44805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Timer, survey, evidence checklist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36"/>
          <p:cNvSpPr/>
          <p:nvPr/>
        </p:nvSpPr>
        <p:spPr>
          <a:xfrm>
            <a:off x="8092440" y="1783080"/>
            <a:ext cx="3501720" cy="3200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07C1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37"/>
          <p:cNvSpPr/>
          <p:nvPr/>
        </p:nvSpPr>
        <p:spPr>
          <a:xfrm>
            <a:off x="8348400" y="2030040"/>
            <a:ext cx="1416960" cy="3106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DFF6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Text 38"/>
          <p:cNvSpPr/>
          <p:nvPr/>
        </p:nvSpPr>
        <p:spPr>
          <a:xfrm>
            <a:off x="8412480" y="2084760"/>
            <a:ext cx="12888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ENVIRONMENT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Shape 39"/>
          <p:cNvSpPr/>
          <p:nvPr/>
        </p:nvSpPr>
        <p:spPr>
          <a:xfrm>
            <a:off x="8348400" y="26791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40"/>
          <p:cNvSpPr/>
          <p:nvPr/>
        </p:nvSpPr>
        <p:spPr>
          <a:xfrm>
            <a:off x="8686800" y="26517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Local machine, rights to install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41"/>
          <p:cNvSpPr/>
          <p:nvPr/>
        </p:nvSpPr>
        <p:spPr>
          <a:xfrm>
            <a:off x="8348400" y="31363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 42"/>
          <p:cNvSpPr/>
          <p:nvPr/>
        </p:nvSpPr>
        <p:spPr>
          <a:xfrm>
            <a:off x="8686800" y="31089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Install one-liner (mac/Linux/Win)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Shape 43"/>
          <p:cNvSpPr/>
          <p:nvPr/>
        </p:nvSpPr>
        <p:spPr>
          <a:xfrm>
            <a:off x="8348400" y="35935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44"/>
          <p:cNvSpPr/>
          <p:nvPr/>
        </p:nvSpPr>
        <p:spPr>
          <a:xfrm>
            <a:off x="8686800" y="35661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localhost:7071 port free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Shape 45"/>
          <p:cNvSpPr/>
          <p:nvPr/>
        </p:nvSpPr>
        <p:spPr>
          <a:xfrm>
            <a:off x="8348400" y="40507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 46"/>
          <p:cNvSpPr/>
          <p:nvPr/>
        </p:nvSpPr>
        <p:spPr>
          <a:xfrm>
            <a:off x="8686800" y="40233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No API keys required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47"/>
          <p:cNvSpPr/>
          <p:nvPr/>
        </p:nvSpPr>
        <p:spPr>
          <a:xfrm>
            <a:off x="8348400" y="45079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48"/>
          <p:cNvSpPr/>
          <p:nvPr/>
        </p:nvSpPr>
        <p:spPr>
          <a:xfrm>
            <a:off x="8686800" y="4480560"/>
            <a:ext cx="277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Outbound to GitHub for sign-in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49"/>
          <p:cNvSpPr/>
          <p:nvPr/>
        </p:nvSpPr>
        <p:spPr>
          <a:xfrm>
            <a:off x="594360" y="5139000"/>
            <a:ext cx="10999800" cy="566640"/>
          </a:xfrm>
          <a:prstGeom prst="roundRect">
            <a:avLst>
              <a:gd name="adj" fmla="val 11290"/>
            </a:avLst>
          </a:prstGeom>
          <a:solidFill>
            <a:srgbClr val="FFF4CE"/>
          </a:solidFill>
          <a:ln w="1778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Shape 50"/>
          <p:cNvSpPr/>
          <p:nvPr/>
        </p:nvSpPr>
        <p:spPr>
          <a:xfrm>
            <a:off x="786240" y="5248800"/>
            <a:ext cx="2331360" cy="347040"/>
          </a:xfrm>
          <a:prstGeom prst="roundRect">
            <a:avLst>
              <a:gd name="adj" fmla="val 13158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8" name="Text 51"/>
          <p:cNvSpPr/>
          <p:nvPr/>
        </p:nvSpPr>
        <p:spPr>
          <a:xfrm>
            <a:off x="786240" y="5248800"/>
            <a:ext cx="2331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OPTIONAL · COPILOT STUDIO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52"/>
          <p:cNvSpPr/>
          <p:nvPr/>
        </p:nvSpPr>
        <p:spPr>
          <a:xfrm>
            <a:off x="3291840" y="5139000"/>
            <a:ext cx="8137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Only for the optional deploy path: Copilot Studio license + Dataverse environment, maker / System Customizer rights, and deployment rights. Not needed to build or run the local agent.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53"/>
          <p:cNvSpPr/>
          <p:nvPr/>
        </p:nvSpPr>
        <p:spPr>
          <a:xfrm>
            <a:off x="594360" y="5797440"/>
            <a:ext cx="10999800" cy="511560"/>
          </a:xfrm>
          <a:prstGeom prst="roundRect">
            <a:avLst>
              <a:gd name="adj" fmla="val 12500"/>
            </a:avLst>
          </a:prstGeom>
          <a:solidFill>
            <a:srgbClr val="EAF4FD"/>
          </a:solidFill>
          <a:ln w="17780">
            <a:solidFill>
              <a:srgbClr val="10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Shape 54"/>
          <p:cNvSpPr/>
          <p:nvPr/>
        </p:nvSpPr>
        <p:spPr>
          <a:xfrm>
            <a:off x="786240" y="5897880"/>
            <a:ext cx="1325520" cy="310680"/>
          </a:xfrm>
          <a:prstGeom prst="roundRect">
            <a:avLst>
              <a:gd name="adj" fmla="val 14706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2" name="Text 55"/>
          <p:cNvSpPr/>
          <p:nvPr/>
        </p:nvSpPr>
        <p:spPr>
          <a:xfrm>
            <a:off x="786240" y="5897880"/>
            <a:ext cx="1325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FALLBACK RULE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Text 56"/>
          <p:cNvSpPr/>
          <p:nvPr/>
        </p:nvSpPr>
        <p:spPr>
          <a:xfrm>
            <a:off x="2286000" y="5797440"/>
            <a:ext cx="90522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If sign-in or install blocks a participant for more than 3 minutes, pair them with a working driver and use the bundled demo agent to continue.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Text 57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Appendix  |  18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6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8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1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FACILITATOR APPENDIX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Five-minute pre-session survey.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8"/>
          <p:cNvSpPr/>
          <p:nvPr/>
        </p:nvSpPr>
        <p:spPr>
          <a:xfrm>
            <a:off x="9555480" y="731520"/>
            <a:ext cx="1919880" cy="3106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DFF6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Text 9"/>
          <p:cNvSpPr/>
          <p:nvPr/>
        </p:nvSpPr>
        <p:spPr>
          <a:xfrm>
            <a:off x="9619560" y="786240"/>
            <a:ext cx="1791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CUSTOMER INPUT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Shape 10"/>
          <p:cNvSpPr/>
          <p:nvPr/>
        </p:nvSpPr>
        <p:spPr>
          <a:xfrm>
            <a:off x="640080" y="1645920"/>
            <a:ext cx="5257440" cy="80424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Shape 11"/>
          <p:cNvSpPr/>
          <p:nvPr/>
        </p:nvSpPr>
        <p:spPr>
          <a:xfrm>
            <a:off x="804600" y="181980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7" name="Text 12"/>
          <p:cNvSpPr/>
          <p:nvPr/>
        </p:nvSpPr>
        <p:spPr>
          <a:xfrm>
            <a:off x="804600" y="1819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Text 13"/>
          <p:cNvSpPr/>
          <p:nvPr/>
        </p:nvSpPr>
        <p:spPr>
          <a:xfrm>
            <a:off x="1389960" y="17740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What business problem should the agent solve?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Shape 14"/>
          <p:cNvSpPr/>
          <p:nvPr/>
        </p:nvSpPr>
        <p:spPr>
          <a:xfrm>
            <a:off x="4572000" y="189288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15"/>
          <p:cNvSpPr/>
          <p:nvPr/>
        </p:nvSpPr>
        <p:spPr>
          <a:xfrm>
            <a:off x="4636080" y="194760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PARAGRAPH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16"/>
          <p:cNvSpPr/>
          <p:nvPr/>
        </p:nvSpPr>
        <p:spPr>
          <a:xfrm>
            <a:off x="640080" y="2633400"/>
            <a:ext cx="5257440" cy="80424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Shape 17"/>
          <p:cNvSpPr/>
          <p:nvPr/>
        </p:nvSpPr>
        <p:spPr>
          <a:xfrm>
            <a:off x="804600" y="28072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3" name="Text 18"/>
          <p:cNvSpPr/>
          <p:nvPr/>
        </p:nvSpPr>
        <p:spPr>
          <a:xfrm>
            <a:off x="804600" y="280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Text 19"/>
          <p:cNvSpPr/>
          <p:nvPr/>
        </p:nvSpPr>
        <p:spPr>
          <a:xfrm>
            <a:off x="1389960" y="276156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Who uses the process today?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Shape 20"/>
          <p:cNvSpPr/>
          <p:nvPr/>
        </p:nvSpPr>
        <p:spPr>
          <a:xfrm>
            <a:off x="4572000" y="288036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 21"/>
          <p:cNvSpPr/>
          <p:nvPr/>
        </p:nvSpPr>
        <p:spPr>
          <a:xfrm>
            <a:off x="4636080" y="293508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PERSONAS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Shape 22"/>
          <p:cNvSpPr/>
          <p:nvPr/>
        </p:nvSpPr>
        <p:spPr>
          <a:xfrm>
            <a:off x="640080" y="3620880"/>
            <a:ext cx="5257440" cy="80424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Shape 23"/>
          <p:cNvSpPr/>
          <p:nvPr/>
        </p:nvSpPr>
        <p:spPr>
          <a:xfrm>
            <a:off x="804600" y="37947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Text 24"/>
          <p:cNvSpPr/>
          <p:nvPr/>
        </p:nvSpPr>
        <p:spPr>
          <a:xfrm>
            <a:off x="804600" y="379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 25"/>
          <p:cNvSpPr/>
          <p:nvPr/>
        </p:nvSpPr>
        <p:spPr>
          <a:xfrm>
            <a:off x="1389960" y="374904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What happens from trigger to outcome?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26"/>
          <p:cNvSpPr/>
          <p:nvPr/>
        </p:nvSpPr>
        <p:spPr>
          <a:xfrm>
            <a:off x="4572000" y="386784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 27"/>
          <p:cNvSpPr/>
          <p:nvPr/>
        </p:nvSpPr>
        <p:spPr>
          <a:xfrm>
            <a:off x="4636080" y="392292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3–7 STEPS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Shape 28"/>
          <p:cNvSpPr/>
          <p:nvPr/>
        </p:nvSpPr>
        <p:spPr>
          <a:xfrm>
            <a:off x="640080" y="4608720"/>
            <a:ext cx="5257440" cy="80424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29"/>
          <p:cNvSpPr/>
          <p:nvPr/>
        </p:nvSpPr>
        <p:spPr>
          <a:xfrm>
            <a:off x="804600" y="478224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30"/>
          <p:cNvSpPr/>
          <p:nvPr/>
        </p:nvSpPr>
        <p:spPr>
          <a:xfrm>
            <a:off x="804600" y="4782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Text 31"/>
          <p:cNvSpPr/>
          <p:nvPr/>
        </p:nvSpPr>
        <p:spPr>
          <a:xfrm>
            <a:off x="1389960" y="473652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What are the top one to three capabilities?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32"/>
          <p:cNvSpPr/>
          <p:nvPr/>
        </p:nvSpPr>
        <p:spPr>
          <a:xfrm>
            <a:off x="4572000" y="485532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33"/>
          <p:cNvSpPr/>
          <p:nvPr/>
        </p:nvSpPr>
        <p:spPr>
          <a:xfrm>
            <a:off x="4636080" y="491040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RANKED LIST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Shape 34"/>
          <p:cNvSpPr/>
          <p:nvPr/>
        </p:nvSpPr>
        <p:spPr>
          <a:xfrm>
            <a:off x="6263640" y="1645920"/>
            <a:ext cx="5257440" cy="80424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Shape 35"/>
          <p:cNvSpPr/>
          <p:nvPr/>
        </p:nvSpPr>
        <p:spPr>
          <a:xfrm>
            <a:off x="6428160" y="181980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1" name="Text 36"/>
          <p:cNvSpPr/>
          <p:nvPr/>
        </p:nvSpPr>
        <p:spPr>
          <a:xfrm>
            <a:off x="6428160" y="1819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Text 37"/>
          <p:cNvSpPr/>
          <p:nvPr/>
        </p:nvSpPr>
        <p:spPr>
          <a:xfrm>
            <a:off x="7013520" y="177408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Which systems or knowledge sources are involved?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Shape 38"/>
          <p:cNvSpPr/>
          <p:nvPr/>
        </p:nvSpPr>
        <p:spPr>
          <a:xfrm>
            <a:off x="10195560" y="189288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Text 39"/>
          <p:cNvSpPr/>
          <p:nvPr/>
        </p:nvSpPr>
        <p:spPr>
          <a:xfrm>
            <a:off x="10259640" y="194760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NAMES ONLY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Shape 40"/>
          <p:cNvSpPr/>
          <p:nvPr/>
        </p:nvSpPr>
        <p:spPr>
          <a:xfrm>
            <a:off x="6263640" y="2633400"/>
            <a:ext cx="5257440" cy="80424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Shape 41"/>
          <p:cNvSpPr/>
          <p:nvPr/>
        </p:nvSpPr>
        <p:spPr>
          <a:xfrm>
            <a:off x="6428160" y="280728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7" name="Text 42"/>
          <p:cNvSpPr/>
          <p:nvPr/>
        </p:nvSpPr>
        <p:spPr>
          <a:xfrm>
            <a:off x="6428160" y="280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Text 43"/>
          <p:cNvSpPr/>
          <p:nvPr/>
        </p:nvSpPr>
        <p:spPr>
          <a:xfrm>
            <a:off x="7013520" y="276156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What sample file can you safely provide?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Shape 44"/>
          <p:cNvSpPr/>
          <p:nvPr/>
        </p:nvSpPr>
        <p:spPr>
          <a:xfrm>
            <a:off x="10195560" y="288036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45"/>
          <p:cNvSpPr/>
          <p:nvPr/>
        </p:nvSpPr>
        <p:spPr>
          <a:xfrm>
            <a:off x="10259640" y="293508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TYPE + CLASS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Shape 46"/>
          <p:cNvSpPr/>
          <p:nvPr/>
        </p:nvSpPr>
        <p:spPr>
          <a:xfrm>
            <a:off x="6263640" y="3620880"/>
            <a:ext cx="5257440" cy="80424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47"/>
          <p:cNvSpPr/>
          <p:nvPr/>
        </p:nvSpPr>
        <p:spPr>
          <a:xfrm>
            <a:off x="6428160" y="379476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48"/>
          <p:cNvSpPr/>
          <p:nvPr/>
        </p:nvSpPr>
        <p:spPr>
          <a:xfrm>
            <a:off x="6428160" y="37947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Text 49"/>
          <p:cNvSpPr/>
          <p:nvPr/>
        </p:nvSpPr>
        <p:spPr>
          <a:xfrm>
            <a:off x="7013520" y="374904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How will we know the prototype worked?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Shape 50"/>
          <p:cNvSpPr/>
          <p:nvPr/>
        </p:nvSpPr>
        <p:spPr>
          <a:xfrm>
            <a:off x="10195560" y="386784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 51"/>
          <p:cNvSpPr/>
          <p:nvPr/>
        </p:nvSpPr>
        <p:spPr>
          <a:xfrm>
            <a:off x="10259640" y="392292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1 SIGNAL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Shape 52"/>
          <p:cNvSpPr/>
          <p:nvPr/>
        </p:nvSpPr>
        <p:spPr>
          <a:xfrm>
            <a:off x="6263640" y="4608720"/>
            <a:ext cx="5257440" cy="804240"/>
          </a:xfrm>
          <a:prstGeom prst="roundRect">
            <a:avLst>
              <a:gd name="adj" fmla="val 16667"/>
            </a:avLst>
          </a:prstGeom>
          <a:solidFill>
            <a:srgbClr val="FAF9F8"/>
          </a:solidFill>
          <a:ln w="12700">
            <a:solidFill>
              <a:srgbClr val="E1DFDD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53"/>
          <p:cNvSpPr/>
          <p:nvPr/>
        </p:nvSpPr>
        <p:spPr>
          <a:xfrm>
            <a:off x="6428160" y="4782240"/>
            <a:ext cx="456840" cy="456840"/>
          </a:xfrm>
          <a:prstGeom prst="roundRect">
            <a:avLst>
              <a:gd name="adj" fmla="val 12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 54"/>
          <p:cNvSpPr/>
          <p:nvPr/>
        </p:nvSpPr>
        <p:spPr>
          <a:xfrm>
            <a:off x="6428160" y="4782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08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Text 55"/>
          <p:cNvSpPr/>
          <p:nvPr/>
        </p:nvSpPr>
        <p:spPr>
          <a:xfrm>
            <a:off x="7013520" y="473652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Do attendees have a GitHub account with Copilot access?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Shape 56"/>
          <p:cNvSpPr/>
          <p:nvPr/>
        </p:nvSpPr>
        <p:spPr>
          <a:xfrm>
            <a:off x="10195560" y="4855320"/>
            <a:ext cx="117000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Text 57"/>
          <p:cNvSpPr/>
          <p:nvPr/>
        </p:nvSpPr>
        <p:spPr>
          <a:xfrm>
            <a:off x="10259640" y="491040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YES/NO/UNSURE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Shape 58"/>
          <p:cNvSpPr/>
          <p:nvPr/>
        </p:nvSpPr>
        <p:spPr>
          <a:xfrm>
            <a:off x="1005840" y="5504760"/>
            <a:ext cx="10195200" cy="420120"/>
          </a:xfrm>
          <a:prstGeom prst="roundRect">
            <a:avLst>
              <a:gd name="adj" fmla="val 15217"/>
            </a:avLst>
          </a:prstGeom>
          <a:solidFill>
            <a:srgbClr val="FFF4CE"/>
          </a:solidFill>
          <a:ln w="1651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Shape 59"/>
          <p:cNvSpPr/>
          <p:nvPr/>
        </p:nvSpPr>
        <p:spPr>
          <a:xfrm>
            <a:off x="1207080" y="5586840"/>
            <a:ext cx="1371240" cy="255600"/>
          </a:xfrm>
          <a:prstGeom prst="roundRect">
            <a:avLst>
              <a:gd name="adj" fmla="val 17857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5" name="Text 60"/>
          <p:cNvSpPr/>
          <p:nvPr/>
        </p:nvSpPr>
        <p:spPr>
          <a:xfrm>
            <a:off x="1207080" y="55868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OPTIONAL · CS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Text 61"/>
          <p:cNvSpPr/>
          <p:nvPr/>
        </p:nvSpPr>
        <p:spPr>
          <a:xfrm>
            <a:off x="2743200" y="5504760"/>
            <a:ext cx="8320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Only if exploring the optional deploy path: do attendees have a connected Copilot Studio environment with maker + deployment rights?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Shape 62"/>
          <p:cNvSpPr/>
          <p:nvPr/>
        </p:nvSpPr>
        <p:spPr>
          <a:xfrm>
            <a:off x="1005840" y="5980320"/>
            <a:ext cx="10195200" cy="402120"/>
          </a:xfrm>
          <a:prstGeom prst="roundRect">
            <a:avLst>
              <a:gd name="adj" fmla="val 15909"/>
            </a:avLst>
          </a:prstGeom>
          <a:solidFill>
            <a:srgbClr val="FFF4CE"/>
          </a:solidFill>
          <a:ln w="17780">
            <a:solidFill>
              <a:srgbClr val="FFB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Shape 63"/>
          <p:cNvSpPr/>
          <p:nvPr/>
        </p:nvSpPr>
        <p:spPr>
          <a:xfrm>
            <a:off x="1207080" y="6053400"/>
            <a:ext cx="749520" cy="255600"/>
          </a:xfrm>
          <a:prstGeom prst="roundRect">
            <a:avLst>
              <a:gd name="adj" fmla="val 17857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9" name="Text 64"/>
          <p:cNvSpPr/>
          <p:nvPr/>
        </p:nvSpPr>
        <p:spPr>
          <a:xfrm>
            <a:off x="1207080" y="6053400"/>
            <a:ext cx="74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DATA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Text 65"/>
          <p:cNvSpPr/>
          <p:nvPr/>
        </p:nvSpPr>
        <p:spPr>
          <a:xfrm>
            <a:off x="2121480" y="5980320"/>
            <a:ext cx="88693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972900"/>
                </a:solidFill>
                <a:effectLst/>
                <a:uFillTx/>
                <a:latin typeface="Segoe UI Semibold"/>
                <a:ea typeface="Segoe UI Semibold"/>
              </a:rPr>
              <a:t>Do not request customer secrets or production data. Ask only for enough signal to shape the workshop scenario.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66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Appendix  |  19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FACILITATOR APPENDIX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Proposed pilot handoffs: avoid duplicate discovery.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Text 8"/>
          <p:cNvSpPr/>
          <p:nvPr/>
        </p:nvSpPr>
        <p:spPr>
          <a:xfrm>
            <a:off x="868680" y="1682640"/>
            <a:ext cx="2285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7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STAGE / OWNER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Text 9"/>
          <p:cNvSpPr/>
          <p:nvPr/>
        </p:nvSpPr>
        <p:spPr>
          <a:xfrm>
            <a:off x="3246120" y="1682640"/>
            <a:ext cx="5486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7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KEY ACTIVITIES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Text 10"/>
          <p:cNvSpPr/>
          <p:nvPr/>
        </p:nvSpPr>
        <p:spPr>
          <a:xfrm>
            <a:off x="8915400" y="168264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7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HANDS OFF →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11"/>
          <p:cNvSpPr/>
          <p:nvPr/>
        </p:nvSpPr>
        <p:spPr>
          <a:xfrm>
            <a:off x="640080" y="1847160"/>
            <a:ext cx="10899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12"/>
          <p:cNvSpPr/>
          <p:nvPr/>
        </p:nvSpPr>
        <p:spPr>
          <a:xfrm>
            <a:off x="868680" y="1993320"/>
            <a:ext cx="2148480" cy="310680"/>
          </a:xfrm>
          <a:prstGeom prst="roundRect">
            <a:avLst>
              <a:gd name="adj" fmla="val 16667"/>
            </a:avLst>
          </a:prstGeom>
          <a:solidFill>
            <a:srgbClr val="F9E3DB"/>
          </a:solidFill>
          <a:ln w="12700">
            <a:solidFill>
              <a:srgbClr val="F9E3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Text 13"/>
          <p:cNvSpPr/>
          <p:nvPr/>
        </p:nvSpPr>
        <p:spPr>
          <a:xfrm>
            <a:off x="932760" y="2048400"/>
            <a:ext cx="2020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AIDEATE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 14"/>
          <p:cNvSpPr/>
          <p:nvPr/>
        </p:nvSpPr>
        <p:spPr>
          <a:xfrm>
            <a:off x="868680" y="235908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Use-case discovery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Text 15"/>
          <p:cNvSpPr/>
          <p:nvPr/>
        </p:nvSpPr>
        <p:spPr>
          <a:xfrm>
            <a:off x="3200400" y="210312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Problem framing  ·  user + process  ·  prioritization  ·  success metric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Shape 16"/>
          <p:cNvSpPr/>
          <p:nvPr/>
        </p:nvSpPr>
        <p:spPr>
          <a:xfrm>
            <a:off x="8888040" y="2094120"/>
            <a:ext cx="2422800" cy="365400"/>
          </a:xfrm>
          <a:prstGeom prst="roundRect">
            <a:avLst>
              <a:gd name="adj" fmla="val 12500"/>
            </a:avLst>
          </a:prstGeom>
          <a:solidFill>
            <a:srgbClr val="F9E3DB"/>
          </a:solidFill>
          <a:ln w="12700">
            <a:solidFill>
              <a:srgbClr val="D83B01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Text 17"/>
          <p:cNvSpPr/>
          <p:nvPr/>
        </p:nvSpPr>
        <p:spPr>
          <a:xfrm>
            <a:off x="8888040" y="209412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Confirmed scenario brief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Shape 18"/>
          <p:cNvSpPr/>
          <p:nvPr/>
        </p:nvSpPr>
        <p:spPr>
          <a:xfrm rot="5400000">
            <a:off x="9967320" y="2743200"/>
            <a:ext cx="255600" cy="14580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1" name="Shape 19"/>
          <p:cNvSpPr/>
          <p:nvPr/>
        </p:nvSpPr>
        <p:spPr>
          <a:xfrm>
            <a:off x="640080" y="2889360"/>
            <a:ext cx="10899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Shape 20"/>
          <p:cNvSpPr/>
          <p:nvPr/>
        </p:nvSpPr>
        <p:spPr>
          <a:xfrm>
            <a:off x="868680" y="3035880"/>
            <a:ext cx="214848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Text 21"/>
          <p:cNvSpPr/>
          <p:nvPr/>
        </p:nvSpPr>
        <p:spPr>
          <a:xfrm>
            <a:off x="932760" y="3090600"/>
            <a:ext cx="2020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RAPP WORKSHOP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Text 22"/>
          <p:cNvSpPr/>
          <p:nvPr/>
        </p:nvSpPr>
        <p:spPr>
          <a:xfrm>
            <a:off x="868680" y="340164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Local prototype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 23"/>
          <p:cNvSpPr/>
          <p:nvPr/>
        </p:nvSpPr>
        <p:spPr>
          <a:xfrm>
            <a:off x="3200400" y="314568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Source in  ·  scope confirmed  ·  author agent.py  ·  run + test locally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24"/>
          <p:cNvSpPr/>
          <p:nvPr/>
        </p:nvSpPr>
        <p:spPr>
          <a:xfrm>
            <a:off x="8888040" y="3136320"/>
            <a:ext cx="2422800" cy="365400"/>
          </a:xfrm>
          <a:prstGeom prst="roundRect">
            <a:avLst>
              <a:gd name="adj" fmla="val 12500"/>
            </a:avLst>
          </a:prstGeom>
          <a:solidFill>
            <a:srgbClr val="DCEEFF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Text 25"/>
          <p:cNvSpPr/>
          <p:nvPr/>
        </p:nvSpPr>
        <p:spPr>
          <a:xfrm>
            <a:off x="8888040" y="313632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Running local prototype + evidence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Shape 26"/>
          <p:cNvSpPr/>
          <p:nvPr/>
        </p:nvSpPr>
        <p:spPr>
          <a:xfrm rot="5400000">
            <a:off x="9967320" y="3785400"/>
            <a:ext cx="255600" cy="145800"/>
          </a:xfrm>
          <a:prstGeom prst="chevron">
            <a:avLst>
              <a:gd name="adj" fmla="val 50000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9" name="Shape 27"/>
          <p:cNvSpPr/>
          <p:nvPr/>
        </p:nvSpPr>
        <p:spPr>
          <a:xfrm>
            <a:off x="640080" y="3931920"/>
            <a:ext cx="10899360" cy="859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3740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Shape 28"/>
          <p:cNvSpPr/>
          <p:nvPr/>
        </p:nvSpPr>
        <p:spPr>
          <a:xfrm>
            <a:off x="868680" y="4078080"/>
            <a:ext cx="2148480" cy="310680"/>
          </a:xfrm>
          <a:prstGeom prst="roundRect">
            <a:avLst>
              <a:gd name="adj" fmla="val 16667"/>
            </a:avLst>
          </a:prstGeom>
          <a:solidFill>
            <a:srgbClr val="FFF4CE"/>
          </a:solidFill>
          <a:ln w="12700">
            <a:solidFill>
              <a:srgbClr val="FFF4C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 29"/>
          <p:cNvSpPr/>
          <p:nvPr/>
        </p:nvSpPr>
        <p:spPr>
          <a:xfrm>
            <a:off x="932760" y="4133160"/>
            <a:ext cx="2020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B37400"/>
                </a:solidFill>
                <a:effectLst/>
                <a:uFillTx/>
                <a:latin typeface="Segoe UI Semibold"/>
                <a:ea typeface="Segoe UI Semibold"/>
              </a:rPr>
              <a:t>PARTNER / DELIVERY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Text 30"/>
          <p:cNvSpPr/>
          <p:nvPr/>
        </p:nvSpPr>
        <p:spPr>
          <a:xfrm>
            <a:off x="868680" y="4443840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Scale + implement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Text 31"/>
          <p:cNvSpPr/>
          <p:nvPr/>
        </p:nvSpPr>
        <p:spPr>
          <a:xfrm>
            <a:off x="3200400" y="4187880"/>
            <a:ext cx="5577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Integration design  ·  operating model  ·  optional cloud / Copilot Studio  ·  production backlog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Shape 32"/>
          <p:cNvSpPr/>
          <p:nvPr/>
        </p:nvSpPr>
        <p:spPr>
          <a:xfrm>
            <a:off x="8888040" y="4178880"/>
            <a:ext cx="2422800" cy="365400"/>
          </a:xfrm>
          <a:prstGeom prst="roundRect">
            <a:avLst>
              <a:gd name="adj" fmla="val 12500"/>
            </a:avLst>
          </a:prstGeom>
          <a:solidFill>
            <a:srgbClr val="FFF4CE"/>
          </a:solidFill>
          <a:ln w="12700">
            <a:solidFill>
              <a:srgbClr val="B374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 33"/>
          <p:cNvSpPr/>
          <p:nvPr/>
        </p:nvSpPr>
        <p:spPr>
          <a:xfrm>
            <a:off x="8888040" y="417888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B37400"/>
                </a:solidFill>
                <a:effectLst/>
                <a:uFillTx/>
                <a:latin typeface="Segoe UI Semibold"/>
                <a:ea typeface="Segoe UI Semibold"/>
              </a:rPr>
              <a:t>Scale + implementation plan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Shape 34"/>
          <p:cNvSpPr/>
          <p:nvPr/>
        </p:nvSpPr>
        <p:spPr>
          <a:xfrm>
            <a:off x="640080" y="4974480"/>
            <a:ext cx="10899360" cy="731160"/>
          </a:xfrm>
          <a:prstGeom prst="roundRect">
            <a:avLst>
              <a:gd name="adj" fmla="val 8750"/>
            </a:avLst>
          </a:prstGeom>
          <a:solidFill>
            <a:srgbClr val="DFF6DD"/>
          </a:solidFill>
          <a:ln w="2032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Shape 35"/>
          <p:cNvSpPr/>
          <p:nvPr/>
        </p:nvSpPr>
        <p:spPr>
          <a:xfrm>
            <a:off x="868680" y="5139000"/>
            <a:ext cx="2468520" cy="402120"/>
          </a:xfrm>
          <a:prstGeom prst="roundRect">
            <a:avLst>
              <a:gd name="adj" fmla="val 11364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 36"/>
          <p:cNvSpPr/>
          <p:nvPr/>
        </p:nvSpPr>
        <p:spPr>
          <a:xfrm>
            <a:off x="868680" y="5139000"/>
            <a:ext cx="2468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CUSTOMER OWNERS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throughout all stages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Text 37"/>
          <p:cNvSpPr/>
          <p:nvPr/>
        </p:nvSpPr>
        <p:spPr>
          <a:xfrm>
            <a:off x="3520440" y="497448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0B560B"/>
                </a:solidFill>
                <a:effectLst/>
                <a:uFillTx/>
                <a:latin typeface="Segoe UI Semibold"/>
                <a:ea typeface="Segoe UI Semibold"/>
              </a:rPr>
              <a:t>Provide source  ·  confirm scope  ·  validate behavior  ·  own go-live decisions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 38"/>
          <p:cNvSpPr/>
          <p:nvPr/>
        </p:nvSpPr>
        <p:spPr>
          <a:xfrm>
            <a:off x="658440" y="608076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SHARE WITH PILOT LEADS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Text 39"/>
          <p:cNvSpPr/>
          <p:nvPr/>
        </p:nvSpPr>
        <p:spPr>
          <a:xfrm>
            <a:off x="2651760" y="6053400"/>
            <a:ext cx="5760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This deck  |  pre-survey  |  scenario brief  |  local agent + test evidence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Text 40"/>
          <p:cNvSpPr/>
          <p:nvPr/>
        </p:nvSpPr>
        <p:spPr>
          <a:xfrm>
            <a:off x="8595360" y="6053400"/>
            <a:ext cx="2880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Confirm boundaries before each customer cohort.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Text 41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Appendix  |  20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5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7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0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FACILITATOR APPENDIX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Text 7"/>
          <p:cNvSpPr/>
          <p:nvPr/>
        </p:nvSpPr>
        <p:spPr>
          <a:xfrm>
            <a:off x="567000" y="1033200"/>
            <a:ext cx="109724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Fast recovery without losing the room.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Shape 8"/>
          <p:cNvSpPr/>
          <p:nvPr/>
        </p:nvSpPr>
        <p:spPr>
          <a:xfrm>
            <a:off x="640080" y="1737360"/>
            <a:ext cx="273960" cy="72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3" name="Text 9"/>
          <p:cNvSpPr/>
          <p:nvPr/>
        </p:nvSpPr>
        <p:spPr>
          <a:xfrm>
            <a:off x="987480" y="16459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005A9E"/>
                </a:solidFill>
                <a:effectLst/>
                <a:uFillTx/>
                <a:latin typeface="Segoe UI Semibold"/>
                <a:ea typeface="Segoe UI Semibold"/>
              </a:rPr>
              <a:t>BUILD &amp; AUTHOR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Shape 10"/>
          <p:cNvSpPr/>
          <p:nvPr/>
        </p:nvSpPr>
        <p:spPr>
          <a:xfrm>
            <a:off x="640080" y="3675960"/>
            <a:ext cx="273960" cy="72720"/>
          </a:xfrm>
          <a:prstGeom prst="rect">
            <a:avLst/>
          </a:prstGeom>
          <a:solidFill>
            <a:srgbClr val="B37400"/>
          </a:solidFill>
          <a:ln w="12700">
            <a:solidFill>
              <a:srgbClr val="B374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5" name="Text 11"/>
          <p:cNvSpPr/>
          <p:nvPr/>
        </p:nvSpPr>
        <p:spPr>
          <a:xfrm>
            <a:off x="987480" y="35845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99" strike="noStrike">
                <a:solidFill>
                  <a:srgbClr val="B37400"/>
                </a:solidFill>
                <a:effectLst/>
                <a:uFillTx/>
                <a:latin typeface="Segoe UI Semibold"/>
                <a:ea typeface="Segoe UI Semibold"/>
              </a:rPr>
              <a:t>SIGN-IN &amp; RUNTIME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Shape 12"/>
          <p:cNvSpPr/>
          <p:nvPr/>
        </p:nvSpPr>
        <p:spPr>
          <a:xfrm>
            <a:off x="640080" y="1847160"/>
            <a:ext cx="306288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Shape 13"/>
          <p:cNvSpPr/>
          <p:nvPr/>
        </p:nvSpPr>
        <p:spPr>
          <a:xfrm>
            <a:off x="868680" y="2048400"/>
            <a:ext cx="182844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 14"/>
          <p:cNvSpPr/>
          <p:nvPr/>
        </p:nvSpPr>
        <p:spPr>
          <a:xfrm>
            <a:off x="932760" y="2103120"/>
            <a:ext cx="1700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WRONG SCOPE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Text 15"/>
          <p:cNvSpPr/>
          <p:nvPr/>
        </p:nvSpPr>
        <p:spPr>
          <a:xfrm>
            <a:off x="896040" y="2523600"/>
            <a:ext cx="2578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78D4"/>
                </a:solidFill>
                <a:effectLst/>
                <a:uFillTx/>
                <a:latin typeface="Segoe UI"/>
                <a:ea typeface="Segoe UI"/>
              </a:rPr>
              <a:t>Edit </a:t>
            </a:r>
            <a:r>
              <a:rPr lang="en-US" sz="10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the metadata description and parameters in your agent, then retest the next request.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Shape 16"/>
          <p:cNvSpPr/>
          <p:nvPr/>
        </p:nvSpPr>
        <p:spPr>
          <a:xfrm>
            <a:off x="4069080" y="1847160"/>
            <a:ext cx="306288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1" name="Shape 17"/>
          <p:cNvSpPr/>
          <p:nvPr/>
        </p:nvSpPr>
        <p:spPr>
          <a:xfrm>
            <a:off x="4297680" y="2048400"/>
            <a:ext cx="182844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Text 18"/>
          <p:cNvSpPr/>
          <p:nvPr/>
        </p:nvSpPr>
        <p:spPr>
          <a:xfrm>
            <a:off x="4361760" y="2103120"/>
            <a:ext cx="1700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AGENT NOT LOADING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Text 19"/>
          <p:cNvSpPr/>
          <p:nvPr/>
        </p:nvSpPr>
        <p:spPr>
          <a:xfrm>
            <a:off x="4325040" y="2523600"/>
            <a:ext cx="2578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78D4"/>
                </a:solidFill>
                <a:effectLst/>
                <a:uFillTx/>
                <a:latin typeface="Segoe UI"/>
                <a:ea typeface="Segoe UI"/>
              </a:rPr>
              <a:t>Confirm </a:t>
            </a:r>
            <a:r>
              <a:rPr lang="en-US" sz="10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the file is a top-level agents/*_agent.py that defines perform(). Check the terminal log.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Shape 20"/>
          <p:cNvSpPr/>
          <p:nvPr/>
        </p:nvSpPr>
        <p:spPr>
          <a:xfrm>
            <a:off x="7498080" y="1847160"/>
            <a:ext cx="306288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Shape 21"/>
          <p:cNvSpPr/>
          <p:nvPr/>
        </p:nvSpPr>
        <p:spPr>
          <a:xfrm>
            <a:off x="7726680" y="2048400"/>
            <a:ext cx="182844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 22"/>
          <p:cNvSpPr/>
          <p:nvPr/>
        </p:nvSpPr>
        <p:spPr>
          <a:xfrm>
            <a:off x="7790760" y="2103120"/>
            <a:ext cx="1700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BEHAVIOR OFF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Text 23"/>
          <p:cNvSpPr/>
          <p:nvPr/>
        </p:nvSpPr>
        <p:spPr>
          <a:xfrm>
            <a:off x="7754040" y="2523600"/>
            <a:ext cx="2578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78D4"/>
                </a:solidFill>
                <a:effectLst/>
                <a:uFillTx/>
                <a:latin typeface="Segoe UI"/>
                <a:ea typeface="Segoe UI"/>
              </a:rPr>
              <a:t>Tighten </a:t>
            </a:r>
            <a:r>
              <a:rPr lang="en-US" sz="10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the metadata and perform() logic, save, and retest — no restart needed.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Shape 24"/>
          <p:cNvSpPr/>
          <p:nvPr/>
        </p:nvSpPr>
        <p:spPr>
          <a:xfrm>
            <a:off x="640080" y="3895200"/>
            <a:ext cx="306288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3740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Shape 25"/>
          <p:cNvSpPr/>
          <p:nvPr/>
        </p:nvSpPr>
        <p:spPr>
          <a:xfrm>
            <a:off x="868680" y="4096440"/>
            <a:ext cx="1828440" cy="310680"/>
          </a:xfrm>
          <a:prstGeom prst="roundRect">
            <a:avLst>
              <a:gd name="adj" fmla="val 16667"/>
            </a:avLst>
          </a:prstGeom>
          <a:solidFill>
            <a:srgbClr val="FFF4CE"/>
          </a:solidFill>
          <a:ln w="12700">
            <a:solidFill>
              <a:srgbClr val="FFF4C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Text 26"/>
          <p:cNvSpPr/>
          <p:nvPr/>
        </p:nvSpPr>
        <p:spPr>
          <a:xfrm>
            <a:off x="932760" y="4151520"/>
            <a:ext cx="1700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B37400"/>
                </a:solidFill>
                <a:effectLst/>
                <a:uFillTx/>
                <a:latin typeface="Segoe UI Semibold"/>
                <a:ea typeface="Segoe UI Semibold"/>
              </a:rPr>
              <a:t>NOT AUTHENTICATED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Text 27"/>
          <p:cNvSpPr/>
          <p:nvPr/>
        </p:nvSpPr>
        <p:spPr>
          <a:xfrm>
            <a:off x="896040" y="4572000"/>
            <a:ext cx="2578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B37400"/>
                </a:solidFill>
                <a:effectLst/>
                <a:uFillTx/>
                <a:latin typeface="Segoe UI"/>
                <a:ea typeface="Segoe UI"/>
              </a:rPr>
              <a:t>Run </a:t>
            </a:r>
            <a:r>
              <a:rPr lang="en-US" sz="10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gh auth login, or use the web device code at github.com/login/device.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Shape 28"/>
          <p:cNvSpPr/>
          <p:nvPr/>
        </p:nvSpPr>
        <p:spPr>
          <a:xfrm>
            <a:off x="4069080" y="3895200"/>
            <a:ext cx="306288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3740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Shape 29"/>
          <p:cNvSpPr/>
          <p:nvPr/>
        </p:nvSpPr>
        <p:spPr>
          <a:xfrm>
            <a:off x="4297680" y="4096440"/>
            <a:ext cx="1828440" cy="310680"/>
          </a:xfrm>
          <a:prstGeom prst="roundRect">
            <a:avLst>
              <a:gd name="adj" fmla="val 16667"/>
            </a:avLst>
          </a:prstGeom>
          <a:solidFill>
            <a:srgbClr val="FFF4CE"/>
          </a:solidFill>
          <a:ln w="12700">
            <a:solidFill>
              <a:srgbClr val="FFF4C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Text 30"/>
          <p:cNvSpPr/>
          <p:nvPr/>
        </p:nvSpPr>
        <p:spPr>
          <a:xfrm>
            <a:off x="4361760" y="4151520"/>
            <a:ext cx="1700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B37400"/>
                </a:solidFill>
                <a:effectLst/>
                <a:uFillTx/>
                <a:latin typeface="Segoe UI Semibold"/>
                <a:ea typeface="Segoe UI Semibold"/>
              </a:rPr>
              <a:t>NO COPILOT TOKEN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 31"/>
          <p:cNvSpPr/>
          <p:nvPr/>
        </p:nvSpPr>
        <p:spPr>
          <a:xfrm>
            <a:off x="4325040" y="4572000"/>
            <a:ext cx="2578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B37400"/>
                </a:solidFill>
                <a:effectLst/>
                <a:uFillTx/>
                <a:latin typeface="Segoe UI"/>
                <a:ea typeface="Segoe UI"/>
              </a:rPr>
              <a:t>Verify </a:t>
            </a:r>
            <a:r>
              <a:rPr lang="en-US" sz="10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Copilot access, run gh auth token, or delete .copilot_token to re-authenticate.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Shape 32"/>
          <p:cNvSpPr/>
          <p:nvPr/>
        </p:nvSpPr>
        <p:spPr>
          <a:xfrm>
            <a:off x="7498080" y="3895200"/>
            <a:ext cx="306288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B3740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33"/>
          <p:cNvSpPr/>
          <p:nvPr/>
        </p:nvSpPr>
        <p:spPr>
          <a:xfrm>
            <a:off x="7726680" y="4096440"/>
            <a:ext cx="1828440" cy="310680"/>
          </a:xfrm>
          <a:prstGeom prst="roundRect">
            <a:avLst>
              <a:gd name="adj" fmla="val 16667"/>
            </a:avLst>
          </a:prstGeom>
          <a:solidFill>
            <a:srgbClr val="FFF4CE"/>
          </a:solidFill>
          <a:ln w="12700">
            <a:solidFill>
              <a:srgbClr val="FFF4C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Text 34"/>
          <p:cNvSpPr/>
          <p:nvPr/>
        </p:nvSpPr>
        <p:spPr>
          <a:xfrm>
            <a:off x="7790760" y="4151520"/>
            <a:ext cx="1700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B37400"/>
                </a:solidFill>
                <a:effectLst/>
                <a:uFillTx/>
                <a:latin typeface="Segoe UI Semibold"/>
                <a:ea typeface="Segoe UI Semibold"/>
              </a:rPr>
              <a:t>PORT 7071 IN USE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Text 35"/>
          <p:cNvSpPr/>
          <p:nvPr/>
        </p:nvSpPr>
        <p:spPr>
          <a:xfrm>
            <a:off x="7754040" y="4572000"/>
            <a:ext cx="2578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B37400"/>
                </a:solidFill>
                <a:effectLst/>
                <a:uFillTx/>
                <a:latin typeface="Segoe UI"/>
                <a:ea typeface="Segoe UI"/>
              </a:rPr>
              <a:t>Set </a:t>
            </a:r>
            <a:r>
              <a:rPr lang="en-US" sz="105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PORT in .env, then restart brainstem and reopen localhost.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Shape 36"/>
          <p:cNvSpPr/>
          <p:nvPr/>
        </p:nvSpPr>
        <p:spPr>
          <a:xfrm>
            <a:off x="640080" y="5541120"/>
            <a:ext cx="10899360" cy="658080"/>
          </a:xfrm>
          <a:prstGeom prst="roundRect">
            <a:avLst>
              <a:gd name="adj" fmla="val 11111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1" name="Shape 37"/>
          <p:cNvSpPr/>
          <p:nvPr/>
        </p:nvSpPr>
        <p:spPr>
          <a:xfrm>
            <a:off x="859680" y="5687640"/>
            <a:ext cx="1737000" cy="365400"/>
          </a:xfrm>
          <a:prstGeom prst="roundRect">
            <a:avLst>
              <a:gd name="adj" fmla="val 12500"/>
            </a:avLst>
          </a:prstGeom>
          <a:solidFill>
            <a:srgbClr val="50E6FF"/>
          </a:solidFill>
          <a:ln w="12700">
            <a:solidFill>
              <a:srgbClr val="50E6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Text 38"/>
          <p:cNvSpPr/>
          <p:nvPr/>
        </p:nvSpPr>
        <p:spPr>
          <a:xfrm>
            <a:off x="859680" y="56876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2A4A"/>
                </a:solidFill>
                <a:effectLst/>
                <a:uFillTx/>
                <a:latin typeface="Segoe UI Semibold"/>
                <a:ea typeface="Segoe UI Semibold"/>
              </a:rPr>
              <a:t>3-MINUTE RULE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Text 39"/>
          <p:cNvSpPr/>
          <p:nvPr/>
        </p:nvSpPr>
        <p:spPr>
          <a:xfrm>
            <a:off x="2788920" y="5541120"/>
            <a:ext cx="8595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Preserve workshop momentum first. Pair the participant or use the bundled demo agent, then diagnose after the session with the terminal log and /health.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Text 40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Appendix  |  21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5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6" name="Shape 0"/>
          <p:cNvSpPr/>
          <p:nvPr/>
        </p:nvSpPr>
        <p:spPr>
          <a:xfrm>
            <a:off x="567000" y="311040"/>
            <a:ext cx="63720" cy="63720"/>
          </a:xfrm>
          <a:prstGeom prst="rect">
            <a:avLst/>
          </a:prstGeom>
          <a:solidFill>
            <a:srgbClr val="F25022"/>
          </a:solidFill>
          <a:ln w="12700">
            <a:solidFill>
              <a:srgbClr val="F2502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1"/>
          <p:cNvSpPr/>
          <p:nvPr/>
        </p:nvSpPr>
        <p:spPr>
          <a:xfrm>
            <a:off x="642600" y="311040"/>
            <a:ext cx="63720" cy="63720"/>
          </a:xfrm>
          <a:prstGeom prst="rect">
            <a:avLst/>
          </a:prstGeom>
          <a:solidFill>
            <a:srgbClr val="7FBA00"/>
          </a:solidFill>
          <a:ln w="12700">
            <a:solidFill>
              <a:srgbClr val="7FBA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Shape 2"/>
          <p:cNvSpPr/>
          <p:nvPr/>
        </p:nvSpPr>
        <p:spPr>
          <a:xfrm>
            <a:off x="567000" y="386280"/>
            <a:ext cx="63720" cy="63720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9" name="Shape 3"/>
          <p:cNvSpPr/>
          <p:nvPr/>
        </p:nvSpPr>
        <p:spPr>
          <a:xfrm>
            <a:off x="642600" y="386280"/>
            <a:ext cx="63720" cy="63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4"/>
          <p:cNvSpPr/>
          <p:nvPr/>
        </p:nvSpPr>
        <p:spPr>
          <a:xfrm>
            <a:off x="822960" y="2696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20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RAPP  |  Rapid Agent Prototype Platform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Shape 5"/>
          <p:cNvSpPr/>
          <p:nvPr/>
        </p:nvSpPr>
        <p:spPr>
          <a:xfrm>
            <a:off x="567000" y="822960"/>
            <a:ext cx="155160" cy="40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2" name="Text 6"/>
          <p:cNvSpPr/>
          <p:nvPr/>
        </p:nvSpPr>
        <p:spPr>
          <a:xfrm>
            <a:off x="795600" y="749880"/>
            <a:ext cx="5303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9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PARTICIPANT TAKEAWAY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 7"/>
          <p:cNvSpPr/>
          <p:nvPr/>
        </p:nvSpPr>
        <p:spPr>
          <a:xfrm>
            <a:off x="567000" y="1033200"/>
            <a:ext cx="10972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B1A19"/>
                </a:solidFill>
                <a:effectLst/>
                <a:uFillTx/>
                <a:latin typeface="Segoe UI Semibold"/>
                <a:ea typeface="Segoe UI Semibold"/>
              </a:rPr>
              <a:t>RAPP quick reference.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Shape 8"/>
          <p:cNvSpPr/>
          <p:nvPr/>
        </p:nvSpPr>
        <p:spPr>
          <a:xfrm>
            <a:off x="640080" y="1856160"/>
            <a:ext cx="73148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Shape 9"/>
          <p:cNvSpPr/>
          <p:nvPr/>
        </p:nvSpPr>
        <p:spPr>
          <a:xfrm>
            <a:off x="822960" y="1901880"/>
            <a:ext cx="566640" cy="566640"/>
          </a:xfrm>
          <a:prstGeom prst="ellipse">
            <a:avLst/>
          </a:prstGeom>
          <a:solidFill>
            <a:srgbClr val="DCEEFF"/>
          </a:solidFill>
          <a:ln w="1524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 10"/>
          <p:cNvSpPr/>
          <p:nvPr/>
        </p:nvSpPr>
        <p:spPr>
          <a:xfrm>
            <a:off x="905400" y="205740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Text 11"/>
          <p:cNvSpPr/>
          <p:nvPr/>
        </p:nvSpPr>
        <p:spPr>
          <a:xfrm>
            <a:off x="1572840" y="203904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SIGN IN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Text 12"/>
          <p:cNvSpPr/>
          <p:nvPr/>
        </p:nvSpPr>
        <p:spPr>
          <a:xfrm>
            <a:off x="2788920" y="20390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Authenticate with GitHub Copilot.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Shape 13"/>
          <p:cNvSpPr/>
          <p:nvPr/>
        </p:nvSpPr>
        <p:spPr>
          <a:xfrm>
            <a:off x="5806440" y="2030040"/>
            <a:ext cx="1874160" cy="310680"/>
          </a:xfrm>
          <a:prstGeom prst="roundRect">
            <a:avLst>
              <a:gd name="adj" fmla="val 16667"/>
            </a:avLst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Text 14"/>
          <p:cNvSpPr/>
          <p:nvPr/>
        </p:nvSpPr>
        <p:spPr>
          <a:xfrm>
            <a:off x="5870520" y="2084760"/>
            <a:ext cx="1746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0078D4"/>
                </a:solidFill>
                <a:effectLst/>
                <a:uFillTx/>
                <a:latin typeface="Segoe UI Semibold"/>
                <a:ea typeface="Segoe UI Semibold"/>
              </a:rPr>
              <a:t>AUTHENTICATED SESSION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Shape 15"/>
          <p:cNvSpPr/>
          <p:nvPr/>
        </p:nvSpPr>
        <p:spPr>
          <a:xfrm>
            <a:off x="640080" y="2633400"/>
            <a:ext cx="73148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07C10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Shape 16"/>
          <p:cNvSpPr/>
          <p:nvPr/>
        </p:nvSpPr>
        <p:spPr>
          <a:xfrm>
            <a:off x="822960" y="2679120"/>
            <a:ext cx="566640" cy="566640"/>
          </a:xfrm>
          <a:prstGeom prst="ellipse">
            <a:avLst/>
          </a:prstGeom>
          <a:solidFill>
            <a:srgbClr val="DFF6DD"/>
          </a:solidFill>
          <a:ln w="15240">
            <a:solidFill>
              <a:srgbClr val="107C1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Text 17"/>
          <p:cNvSpPr/>
          <p:nvPr/>
        </p:nvSpPr>
        <p:spPr>
          <a:xfrm>
            <a:off x="905400" y="283464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Text 18"/>
          <p:cNvSpPr/>
          <p:nvPr/>
        </p:nvSpPr>
        <p:spPr>
          <a:xfrm>
            <a:off x="1572840" y="281628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START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Text 19"/>
          <p:cNvSpPr/>
          <p:nvPr/>
        </p:nvSpPr>
        <p:spPr>
          <a:xfrm>
            <a:off x="2788920" y="28162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Install, then run brainstem.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Shape 20"/>
          <p:cNvSpPr/>
          <p:nvPr/>
        </p:nvSpPr>
        <p:spPr>
          <a:xfrm>
            <a:off x="5806440" y="2807280"/>
            <a:ext cx="1874160" cy="310680"/>
          </a:xfrm>
          <a:prstGeom prst="roundRect">
            <a:avLst>
              <a:gd name="adj" fmla="val 16667"/>
            </a:avLst>
          </a:prstGeom>
          <a:solidFill>
            <a:srgbClr val="DFF6DD"/>
          </a:solidFill>
          <a:ln w="12700">
            <a:solidFill>
              <a:srgbClr val="DFF6DD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Text 21"/>
          <p:cNvSpPr/>
          <p:nvPr/>
        </p:nvSpPr>
        <p:spPr>
          <a:xfrm>
            <a:off x="5870520" y="2862000"/>
            <a:ext cx="1746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07C10"/>
                </a:solidFill>
                <a:effectLst/>
                <a:uFillTx/>
                <a:latin typeface="Segoe UI Semibold"/>
                <a:ea typeface="Segoe UI Semibold"/>
              </a:rPr>
              <a:t>LOCALHOST:7071 LIVE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Shape 22"/>
          <p:cNvSpPr/>
          <p:nvPr/>
        </p:nvSpPr>
        <p:spPr>
          <a:xfrm>
            <a:off x="640080" y="3410640"/>
            <a:ext cx="73148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Shape 23"/>
          <p:cNvSpPr/>
          <p:nvPr/>
        </p:nvSpPr>
        <p:spPr>
          <a:xfrm>
            <a:off x="822960" y="3456360"/>
            <a:ext cx="566640" cy="566640"/>
          </a:xfrm>
          <a:prstGeom prst="ellipse">
            <a:avLst/>
          </a:prstGeom>
          <a:solidFill>
            <a:srgbClr val="F9E3DB"/>
          </a:solidFill>
          <a:ln w="15240">
            <a:solidFill>
              <a:srgbClr val="D83B0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Text 24"/>
          <p:cNvSpPr/>
          <p:nvPr/>
        </p:nvSpPr>
        <p:spPr>
          <a:xfrm>
            <a:off x="905400" y="361188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Text 25"/>
          <p:cNvSpPr/>
          <p:nvPr/>
        </p:nvSpPr>
        <p:spPr>
          <a:xfrm>
            <a:off x="1572840" y="359352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AUTHOR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Text 26"/>
          <p:cNvSpPr/>
          <p:nvPr/>
        </p:nvSpPr>
        <p:spPr>
          <a:xfrm>
            <a:off x="2788920" y="35935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Write one agents/*_agent.py.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Shape 27"/>
          <p:cNvSpPr/>
          <p:nvPr/>
        </p:nvSpPr>
        <p:spPr>
          <a:xfrm>
            <a:off x="5806440" y="3584520"/>
            <a:ext cx="1874160" cy="310680"/>
          </a:xfrm>
          <a:prstGeom prst="roundRect">
            <a:avLst>
              <a:gd name="adj" fmla="val 16667"/>
            </a:avLst>
          </a:prstGeom>
          <a:solidFill>
            <a:srgbClr val="F9E3DB"/>
          </a:solidFill>
          <a:ln w="12700">
            <a:solidFill>
              <a:srgbClr val="F9E3D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Text 28"/>
          <p:cNvSpPr/>
          <p:nvPr/>
        </p:nvSpPr>
        <p:spPr>
          <a:xfrm>
            <a:off x="5870520" y="3639240"/>
            <a:ext cx="1746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83B01"/>
                </a:solidFill>
                <a:effectLst/>
                <a:uFillTx/>
                <a:latin typeface="Segoe UI Semibold"/>
                <a:ea typeface="Segoe UI Semibold"/>
              </a:rPr>
              <a:t>AGENT FILE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Shape 29"/>
          <p:cNvSpPr/>
          <p:nvPr/>
        </p:nvSpPr>
        <p:spPr>
          <a:xfrm>
            <a:off x="640080" y="4187880"/>
            <a:ext cx="73148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8661C5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Shape 30"/>
          <p:cNvSpPr/>
          <p:nvPr/>
        </p:nvSpPr>
        <p:spPr>
          <a:xfrm>
            <a:off x="822960" y="4233600"/>
            <a:ext cx="566640" cy="566640"/>
          </a:xfrm>
          <a:prstGeom prst="ellipse">
            <a:avLst/>
          </a:prstGeom>
          <a:solidFill>
            <a:srgbClr val="EDE7F6"/>
          </a:solidFill>
          <a:ln w="15240">
            <a:solidFill>
              <a:srgbClr val="8661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31"/>
          <p:cNvSpPr/>
          <p:nvPr/>
        </p:nvSpPr>
        <p:spPr>
          <a:xfrm>
            <a:off x="905400" y="438912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Text 32"/>
          <p:cNvSpPr/>
          <p:nvPr/>
        </p:nvSpPr>
        <p:spPr>
          <a:xfrm>
            <a:off x="1572840" y="437076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RUN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Text 33"/>
          <p:cNvSpPr/>
          <p:nvPr/>
        </p:nvSpPr>
        <p:spPr>
          <a:xfrm>
            <a:off x="2788920" y="43707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Discover and run it locally.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Shape 34"/>
          <p:cNvSpPr/>
          <p:nvPr/>
        </p:nvSpPr>
        <p:spPr>
          <a:xfrm>
            <a:off x="5806440" y="4361760"/>
            <a:ext cx="1874160" cy="310680"/>
          </a:xfrm>
          <a:prstGeom prst="roundRect">
            <a:avLst>
              <a:gd name="adj" fmla="val 16667"/>
            </a:avLst>
          </a:prstGeom>
          <a:solidFill>
            <a:srgbClr val="EDE7F6"/>
          </a:solidFill>
          <a:ln w="12700">
            <a:solidFill>
              <a:srgbClr val="EDE7F6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Text 35"/>
          <p:cNvSpPr/>
          <p:nvPr/>
        </p:nvSpPr>
        <p:spPr>
          <a:xfrm>
            <a:off x="5870520" y="4416480"/>
            <a:ext cx="1746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8661C5"/>
                </a:solidFill>
                <a:effectLst/>
                <a:uFillTx/>
                <a:latin typeface="Segoe UI Semibold"/>
                <a:ea typeface="Segoe UI Semibold"/>
              </a:rPr>
              <a:t>LOCAL PROTOTYPE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36"/>
          <p:cNvSpPr/>
          <p:nvPr/>
        </p:nvSpPr>
        <p:spPr>
          <a:xfrm>
            <a:off x="640080" y="4965120"/>
            <a:ext cx="73148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03A6B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" name="Shape 37"/>
          <p:cNvSpPr/>
          <p:nvPr/>
        </p:nvSpPr>
        <p:spPr>
          <a:xfrm>
            <a:off x="822960" y="5010840"/>
            <a:ext cx="566640" cy="566640"/>
          </a:xfrm>
          <a:prstGeom prst="ellipse">
            <a:avLst/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4" name="Text 38"/>
          <p:cNvSpPr/>
          <p:nvPr/>
        </p:nvSpPr>
        <p:spPr>
          <a:xfrm>
            <a:off x="905400" y="5166360"/>
            <a:ext cx="4021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Text 39"/>
          <p:cNvSpPr/>
          <p:nvPr/>
        </p:nvSpPr>
        <p:spPr>
          <a:xfrm>
            <a:off x="1572840" y="5148000"/>
            <a:ext cx="12340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SHARE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 40"/>
          <p:cNvSpPr/>
          <p:nvPr/>
        </p:nvSpPr>
        <p:spPr>
          <a:xfrm>
            <a:off x="2788920" y="514800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Hand off the one portable file.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Shape 41"/>
          <p:cNvSpPr/>
          <p:nvPr/>
        </p:nvSpPr>
        <p:spPr>
          <a:xfrm>
            <a:off x="5806440" y="5102280"/>
            <a:ext cx="1874160" cy="310680"/>
          </a:xfrm>
          <a:prstGeom prst="roundRect">
            <a:avLst>
              <a:gd name="adj" fmla="val 14706"/>
            </a:avLst>
          </a:prstGeom>
          <a:solidFill>
            <a:srgbClr val="103A6B"/>
          </a:solidFill>
          <a:ln w="12700">
            <a:solidFill>
              <a:srgbClr val="103A6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8" name="Text 42"/>
          <p:cNvSpPr/>
          <p:nvPr/>
        </p:nvSpPr>
        <p:spPr>
          <a:xfrm>
            <a:off x="5806440" y="5102280"/>
            <a:ext cx="187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PORTABLE AGENT.PY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Shape 43"/>
          <p:cNvSpPr/>
          <p:nvPr/>
        </p:nvSpPr>
        <p:spPr>
          <a:xfrm>
            <a:off x="8275320" y="1856160"/>
            <a:ext cx="3273120" cy="372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078D4"/>
            </a:solidFill>
            <a:round/>
          </a:ln>
          <a:effectLst>
            <a:outerShdw algn="bl" blurRad="63360" dir="8100000" dist="50402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Shape 44"/>
          <p:cNvSpPr/>
          <p:nvPr/>
        </p:nvSpPr>
        <p:spPr>
          <a:xfrm>
            <a:off x="8275320" y="1856160"/>
            <a:ext cx="3273120" cy="511560"/>
          </a:xfrm>
          <a:prstGeom prst="roundRect">
            <a:avLst>
              <a:gd name="adj" fmla="val 10714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1" name="Shape 45"/>
          <p:cNvSpPr/>
          <p:nvPr/>
        </p:nvSpPr>
        <p:spPr>
          <a:xfrm>
            <a:off x="8275320" y="2112120"/>
            <a:ext cx="3273120" cy="2556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2" name="Text 46"/>
          <p:cNvSpPr/>
          <p:nvPr/>
        </p:nvSpPr>
        <p:spPr>
          <a:xfrm>
            <a:off x="8595360" y="1856160"/>
            <a:ext cx="27428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FFFFFF"/>
                </a:solidFill>
                <a:effectLst/>
                <a:uFillTx/>
                <a:latin typeface="Segoe UI Semibold"/>
                <a:ea typeface="Segoe UI Semibold"/>
              </a:rPr>
              <a:t>QUALITY CHECK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3" name="Shape 47"/>
          <p:cNvSpPr/>
          <p:nvPr/>
        </p:nvSpPr>
        <p:spPr>
          <a:xfrm>
            <a:off x="8595360" y="257868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Text 48"/>
          <p:cNvSpPr/>
          <p:nvPr/>
        </p:nvSpPr>
        <p:spPr>
          <a:xfrm>
            <a:off x="8915400" y="255132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GitHub Copilot authenticated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Shape 49"/>
          <p:cNvSpPr/>
          <p:nvPr/>
        </p:nvSpPr>
        <p:spPr>
          <a:xfrm>
            <a:off x="8595360" y="294444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Text 50"/>
          <p:cNvSpPr/>
          <p:nvPr/>
        </p:nvSpPr>
        <p:spPr>
          <a:xfrm>
            <a:off x="8915400" y="291708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brainstem running on 7071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7" name="Shape 51"/>
          <p:cNvSpPr/>
          <p:nvPr/>
        </p:nvSpPr>
        <p:spPr>
          <a:xfrm>
            <a:off x="8595360" y="331020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Text 52"/>
          <p:cNvSpPr/>
          <p:nvPr/>
        </p:nvSpPr>
        <p:spPr>
          <a:xfrm>
            <a:off x="8915400" y="328284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File is agents/*_agent.py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Shape 53"/>
          <p:cNvSpPr/>
          <p:nvPr/>
        </p:nvSpPr>
        <p:spPr>
          <a:xfrm>
            <a:off x="8595360" y="367596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Text 54"/>
          <p:cNvSpPr/>
          <p:nvPr/>
        </p:nvSpPr>
        <p:spPr>
          <a:xfrm>
            <a:off x="8915400" y="36486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perform() returns a string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1" name="Shape 55"/>
          <p:cNvSpPr/>
          <p:nvPr/>
        </p:nvSpPr>
        <p:spPr>
          <a:xfrm>
            <a:off x="8595360" y="404172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Text 56"/>
          <p:cNvSpPr/>
          <p:nvPr/>
        </p:nvSpPr>
        <p:spPr>
          <a:xfrm>
            <a:off x="8915400" y="401436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One happy + one edge test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Shape 57"/>
          <p:cNvSpPr/>
          <p:nvPr/>
        </p:nvSpPr>
        <p:spPr>
          <a:xfrm>
            <a:off x="8595360" y="4407480"/>
            <a:ext cx="200880" cy="20088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9050">
            <a:solidFill>
              <a:srgbClr val="007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Text 58"/>
          <p:cNvSpPr/>
          <p:nvPr/>
        </p:nvSpPr>
        <p:spPr>
          <a:xfrm>
            <a:off x="8915400" y="438012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3B3A39"/>
                </a:solidFill>
                <a:effectLst/>
                <a:uFillTx/>
                <a:latin typeface="Segoe UI"/>
                <a:ea typeface="Segoe UI"/>
              </a:rPr>
              <a:t>Next improvement recorded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Text 59"/>
          <p:cNvSpPr/>
          <p:nvPr/>
        </p:nvSpPr>
        <p:spPr>
          <a:xfrm>
            <a:off x="8595360" y="480960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605E5C"/>
                </a:solidFill>
                <a:effectLst/>
                <a:uFillTx/>
                <a:latin typeface="Segoe UI Semibold"/>
                <a:ea typeface="Segoe UI Semibold"/>
              </a:rPr>
              <a:t>INSTALL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Shape 60"/>
          <p:cNvSpPr/>
          <p:nvPr/>
        </p:nvSpPr>
        <p:spPr>
          <a:xfrm>
            <a:off x="8595360" y="4992480"/>
            <a:ext cx="2724480" cy="529920"/>
          </a:xfrm>
          <a:prstGeom prst="roundRect">
            <a:avLst>
              <a:gd name="adj" fmla="val 8621"/>
            </a:avLst>
          </a:prstGeom>
          <a:solidFill>
            <a:srgbClr val="1B1A19"/>
          </a:solidFill>
          <a:ln w="12700">
            <a:solidFill>
              <a:srgbClr val="1B1A19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7" name="Text 61"/>
          <p:cNvSpPr/>
          <p:nvPr/>
        </p:nvSpPr>
        <p:spPr>
          <a:xfrm>
            <a:off x="8723520" y="5010840"/>
            <a:ext cx="24868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9BE6C8"/>
                </a:solidFill>
                <a:effectLst/>
                <a:uFillTx/>
                <a:latin typeface="Consolas"/>
                <a:ea typeface="Consolas"/>
              </a:rPr>
              <a:t>mac/Linux:  curl -fsSL microsoft.github.io/aibast-agents-library/install.sh | bash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BFE6FF"/>
                </a:solidFill>
                <a:effectLst/>
                <a:uFillTx/>
                <a:latin typeface="Consolas"/>
                <a:ea typeface="Consolas"/>
              </a:rPr>
              <a:t>Windows:  irm .../install.ps1 | iex     then:  brainstem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Text 62"/>
          <p:cNvSpPr/>
          <p:nvPr/>
        </p:nvSpPr>
        <p:spPr>
          <a:xfrm>
            <a:off x="1554480" y="587052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03A6B"/>
                </a:solidFill>
                <a:effectLst/>
                <a:uFillTx/>
                <a:latin typeface="Segoe UI Semibold"/>
                <a:ea typeface="Segoe UI Semibold"/>
              </a:rPr>
              <a:t>Source in. Running local agent out.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Text 63"/>
          <p:cNvSpPr/>
          <p:nvPr/>
        </p:nvSpPr>
        <p:spPr>
          <a:xfrm>
            <a:off x="822960" y="6199560"/>
            <a:ext cx="7040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60" b="0" i="1" u="none" strike="noStrike">
                <a:solidFill>
                  <a:srgbClr val="605E5C"/>
                </a:solidFill>
                <a:effectLst/>
                <a:uFillTx/>
                <a:latin typeface="Segoe UI"/>
                <a:ea typeface="Segoe UI"/>
              </a:rPr>
              <a:t>Optional facilitator extension: import a portable agent.py to package via Copilot Studio (rights required), or generate a local M365-style demo + exportable ZIP.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Text 64"/>
          <p:cNvSpPr/>
          <p:nvPr/>
        </p:nvSpPr>
        <p:spPr>
          <a:xfrm>
            <a:off x="9235440" y="6391800"/>
            <a:ext cx="23770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8A8886"/>
                </a:solidFill>
                <a:effectLst/>
                <a:uFillTx/>
                <a:latin typeface="Segoe UI"/>
                <a:ea typeface="Segoe UI"/>
              </a:rPr>
              <a:t>FY27 RAPP Workshop  |  22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itchFamily="0" charset="1"/>
        <a:ea typeface=""/>
        <a:cs typeface=""/>
      </a:majorFont>
      <a:minorFont>
        <a:latin typeface="Segoe U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  <Words>0</Words>
  <Paragraphs>0</Paragraphs>
  <Company>Microsoft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2026-07-13T17:42:21Z</dcterms:created>
  <dc:creator>Microsoft MCAPS AIBAST</dc:creator>
  <dc:description/>
  <dc:language>en-US</dc:language>
  <cp:lastModifiedBy>Microsoft MCAPS AIBAST</cp:lastModifiedBy>
  <dcterms:modified xsi:type="dcterms:W3CDTF">2026-07-13T17:42:21Z</dcterms:modified>
  <cp:revision>1</cp:revision>
  <dc:subject>One-hour Documents to Copilot Studio workshop</dc:subject>
  <dc:title>FY27 RAPP Workshop Deck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22</vt:r8>
  </property>
  <property fmtid="{D5CDD505-2E9C-101B-9397-08002B2CF9AE}" pid="3" name="PresentationFormat">
    <vt:lpwstr>On-screen Show (16:9)</vt:lpwstr>
  </property>
  <property fmtid="{D5CDD505-2E9C-101B-9397-08002B2CF9AE}" pid="4" name="Slides">
    <vt:r8>22</vt:r8>
  </property>
</Properties>
</file>